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2" r:id="rId5"/>
    <p:sldId id="264" r:id="rId6"/>
    <p:sldId id="265" r:id="rId7"/>
  </p:sldIdLst>
  <p:sldSz cx="24323675" cy="13716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" id="{D51F6C0E-C88E-4618-8BD5-D3BB250616FD}">
          <p14:sldIdLst>
            <p14:sldId id="262"/>
            <p14:sldId id="264"/>
          </p14:sldIdLst>
        </p14:section>
        <p14:section name="Python" id="{69314FD5-3573-48CD-9414-26EC9147F7F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F5FD"/>
    <a:srgbClr val="60A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076" autoAdjust="0"/>
  </p:normalViewPr>
  <p:slideViewPr>
    <p:cSldViewPr snapToGrid="0">
      <p:cViewPr varScale="1">
        <p:scale>
          <a:sx n="56" d="100"/>
          <a:sy n="56" d="100"/>
        </p:scale>
        <p:origin x="7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0460" y="2244726"/>
            <a:ext cx="18242756" cy="4775200"/>
          </a:xfrm>
        </p:spPr>
        <p:txBody>
          <a:bodyPr anchor="b"/>
          <a:lstStyle>
            <a:lvl1pPr algn="ctr">
              <a:defRPr sz="1197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0460" y="7204076"/>
            <a:ext cx="18242756" cy="3311524"/>
          </a:xfrm>
        </p:spPr>
        <p:txBody>
          <a:bodyPr/>
          <a:lstStyle>
            <a:lvl1pPr marL="0" indent="0" algn="ctr">
              <a:buNone/>
              <a:defRPr sz="4788"/>
            </a:lvl1pPr>
            <a:lvl2pPr marL="912160" indent="0" algn="ctr">
              <a:buNone/>
              <a:defRPr sz="3990"/>
            </a:lvl2pPr>
            <a:lvl3pPr marL="1824319" indent="0" algn="ctr">
              <a:buNone/>
              <a:defRPr sz="3591"/>
            </a:lvl3pPr>
            <a:lvl4pPr marL="2736479" indent="0" algn="ctr">
              <a:buNone/>
              <a:defRPr sz="3192"/>
            </a:lvl4pPr>
            <a:lvl5pPr marL="3648639" indent="0" algn="ctr">
              <a:buNone/>
              <a:defRPr sz="3192"/>
            </a:lvl5pPr>
            <a:lvl6pPr marL="4560799" indent="0" algn="ctr">
              <a:buNone/>
              <a:defRPr sz="3192"/>
            </a:lvl6pPr>
            <a:lvl7pPr marL="5472958" indent="0" algn="ctr">
              <a:buNone/>
              <a:defRPr sz="3192"/>
            </a:lvl7pPr>
            <a:lvl8pPr marL="6385118" indent="0" algn="ctr">
              <a:buNone/>
              <a:defRPr sz="3192"/>
            </a:lvl8pPr>
            <a:lvl9pPr marL="7297278" indent="0" algn="ctr">
              <a:buNone/>
              <a:defRPr sz="31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5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2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584" y="3419477"/>
            <a:ext cx="20979170" cy="5705474"/>
          </a:xfrm>
        </p:spPr>
        <p:txBody>
          <a:bodyPr anchor="b"/>
          <a:lstStyle>
            <a:lvl1pPr>
              <a:defRPr sz="1197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9584" y="9178927"/>
            <a:ext cx="20979170" cy="3000374"/>
          </a:xfrm>
        </p:spPr>
        <p:txBody>
          <a:bodyPr/>
          <a:lstStyle>
            <a:lvl1pPr marL="0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1pPr>
            <a:lvl2pPr marL="912160" indent="0">
              <a:buNone/>
              <a:defRPr sz="3990">
                <a:solidFill>
                  <a:schemeClr val="tx1">
                    <a:tint val="82000"/>
                  </a:schemeClr>
                </a:solidFill>
              </a:defRPr>
            </a:lvl2pPr>
            <a:lvl3pPr marL="1824319" indent="0">
              <a:buNone/>
              <a:defRPr sz="3591">
                <a:solidFill>
                  <a:schemeClr val="tx1">
                    <a:tint val="82000"/>
                  </a:schemeClr>
                </a:solidFill>
              </a:defRPr>
            </a:lvl3pPr>
            <a:lvl4pPr marL="2736479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4pPr>
            <a:lvl5pPr marL="3648639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5pPr>
            <a:lvl6pPr marL="4560799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6pPr>
            <a:lvl7pPr marL="5472958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7pPr>
            <a:lvl8pPr marL="6385118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8pPr>
            <a:lvl9pPr marL="7297278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9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2253" y="3651250"/>
            <a:ext cx="10337562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13860" y="3651250"/>
            <a:ext cx="10337562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4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21" y="730251"/>
            <a:ext cx="2097917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422" y="3362326"/>
            <a:ext cx="10290054" cy="1647824"/>
          </a:xfrm>
        </p:spPr>
        <p:txBody>
          <a:bodyPr anchor="b"/>
          <a:lstStyle>
            <a:lvl1pPr marL="0" indent="0">
              <a:buNone/>
              <a:defRPr sz="4788" b="1"/>
            </a:lvl1pPr>
            <a:lvl2pPr marL="912160" indent="0">
              <a:buNone/>
              <a:defRPr sz="3990" b="1"/>
            </a:lvl2pPr>
            <a:lvl3pPr marL="1824319" indent="0">
              <a:buNone/>
              <a:defRPr sz="3591" b="1"/>
            </a:lvl3pPr>
            <a:lvl4pPr marL="2736479" indent="0">
              <a:buNone/>
              <a:defRPr sz="3192" b="1"/>
            </a:lvl4pPr>
            <a:lvl5pPr marL="3648639" indent="0">
              <a:buNone/>
              <a:defRPr sz="3192" b="1"/>
            </a:lvl5pPr>
            <a:lvl6pPr marL="4560799" indent="0">
              <a:buNone/>
              <a:defRPr sz="3192" b="1"/>
            </a:lvl6pPr>
            <a:lvl7pPr marL="5472958" indent="0">
              <a:buNone/>
              <a:defRPr sz="3192" b="1"/>
            </a:lvl7pPr>
            <a:lvl8pPr marL="6385118" indent="0">
              <a:buNone/>
              <a:defRPr sz="3192" b="1"/>
            </a:lvl8pPr>
            <a:lvl9pPr marL="7297278" indent="0">
              <a:buNone/>
              <a:defRPr sz="31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5422" y="5010150"/>
            <a:ext cx="1029005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13860" y="3362326"/>
            <a:ext cx="10340730" cy="1647824"/>
          </a:xfrm>
        </p:spPr>
        <p:txBody>
          <a:bodyPr anchor="b"/>
          <a:lstStyle>
            <a:lvl1pPr marL="0" indent="0">
              <a:buNone/>
              <a:defRPr sz="4788" b="1"/>
            </a:lvl1pPr>
            <a:lvl2pPr marL="912160" indent="0">
              <a:buNone/>
              <a:defRPr sz="3990" b="1"/>
            </a:lvl2pPr>
            <a:lvl3pPr marL="1824319" indent="0">
              <a:buNone/>
              <a:defRPr sz="3591" b="1"/>
            </a:lvl3pPr>
            <a:lvl4pPr marL="2736479" indent="0">
              <a:buNone/>
              <a:defRPr sz="3192" b="1"/>
            </a:lvl4pPr>
            <a:lvl5pPr marL="3648639" indent="0">
              <a:buNone/>
              <a:defRPr sz="3192" b="1"/>
            </a:lvl5pPr>
            <a:lvl6pPr marL="4560799" indent="0">
              <a:buNone/>
              <a:defRPr sz="3192" b="1"/>
            </a:lvl6pPr>
            <a:lvl7pPr marL="5472958" indent="0">
              <a:buNone/>
              <a:defRPr sz="3192" b="1"/>
            </a:lvl7pPr>
            <a:lvl8pPr marL="6385118" indent="0">
              <a:buNone/>
              <a:defRPr sz="3192" b="1"/>
            </a:lvl8pPr>
            <a:lvl9pPr marL="7297278" indent="0">
              <a:buNone/>
              <a:defRPr sz="31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13860" y="5010150"/>
            <a:ext cx="1034073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7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1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22" y="914400"/>
            <a:ext cx="7845018" cy="3200400"/>
          </a:xfrm>
        </p:spPr>
        <p:txBody>
          <a:bodyPr anchor="b"/>
          <a:lstStyle>
            <a:lvl1pPr>
              <a:defRPr sz="638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0730" y="1974851"/>
            <a:ext cx="12313860" cy="9747250"/>
          </a:xfrm>
        </p:spPr>
        <p:txBody>
          <a:bodyPr/>
          <a:lstStyle>
            <a:lvl1pPr>
              <a:defRPr sz="6384"/>
            </a:lvl1pPr>
            <a:lvl2pPr>
              <a:defRPr sz="5586"/>
            </a:lvl2pPr>
            <a:lvl3pPr>
              <a:defRPr sz="4788"/>
            </a:lvl3pPr>
            <a:lvl4pPr>
              <a:defRPr sz="3990"/>
            </a:lvl4pPr>
            <a:lvl5pPr>
              <a:defRPr sz="3990"/>
            </a:lvl5pPr>
            <a:lvl6pPr>
              <a:defRPr sz="3990"/>
            </a:lvl6pPr>
            <a:lvl7pPr>
              <a:defRPr sz="3990"/>
            </a:lvl7pPr>
            <a:lvl8pPr>
              <a:defRPr sz="3990"/>
            </a:lvl8pPr>
            <a:lvl9pPr>
              <a:defRPr sz="39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5422" y="4114800"/>
            <a:ext cx="7845018" cy="7623176"/>
          </a:xfrm>
        </p:spPr>
        <p:txBody>
          <a:bodyPr/>
          <a:lstStyle>
            <a:lvl1pPr marL="0" indent="0">
              <a:buNone/>
              <a:defRPr sz="3192"/>
            </a:lvl1pPr>
            <a:lvl2pPr marL="912160" indent="0">
              <a:buNone/>
              <a:defRPr sz="2793"/>
            </a:lvl2pPr>
            <a:lvl3pPr marL="1824319" indent="0">
              <a:buNone/>
              <a:defRPr sz="2394"/>
            </a:lvl3pPr>
            <a:lvl4pPr marL="2736479" indent="0">
              <a:buNone/>
              <a:defRPr sz="1995"/>
            </a:lvl4pPr>
            <a:lvl5pPr marL="3648639" indent="0">
              <a:buNone/>
              <a:defRPr sz="1995"/>
            </a:lvl5pPr>
            <a:lvl6pPr marL="4560799" indent="0">
              <a:buNone/>
              <a:defRPr sz="1995"/>
            </a:lvl6pPr>
            <a:lvl7pPr marL="5472958" indent="0">
              <a:buNone/>
              <a:defRPr sz="1995"/>
            </a:lvl7pPr>
            <a:lvl8pPr marL="6385118" indent="0">
              <a:buNone/>
              <a:defRPr sz="1995"/>
            </a:lvl8pPr>
            <a:lvl9pPr marL="7297278" indent="0">
              <a:buNone/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22" y="914400"/>
            <a:ext cx="7845018" cy="3200400"/>
          </a:xfrm>
        </p:spPr>
        <p:txBody>
          <a:bodyPr anchor="b"/>
          <a:lstStyle>
            <a:lvl1pPr>
              <a:defRPr sz="638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40730" y="1974851"/>
            <a:ext cx="12313860" cy="9747250"/>
          </a:xfrm>
        </p:spPr>
        <p:txBody>
          <a:bodyPr anchor="t"/>
          <a:lstStyle>
            <a:lvl1pPr marL="0" indent="0">
              <a:buNone/>
              <a:defRPr sz="6384"/>
            </a:lvl1pPr>
            <a:lvl2pPr marL="912160" indent="0">
              <a:buNone/>
              <a:defRPr sz="5586"/>
            </a:lvl2pPr>
            <a:lvl3pPr marL="1824319" indent="0">
              <a:buNone/>
              <a:defRPr sz="4788"/>
            </a:lvl3pPr>
            <a:lvl4pPr marL="2736479" indent="0">
              <a:buNone/>
              <a:defRPr sz="3990"/>
            </a:lvl4pPr>
            <a:lvl5pPr marL="3648639" indent="0">
              <a:buNone/>
              <a:defRPr sz="3990"/>
            </a:lvl5pPr>
            <a:lvl6pPr marL="4560799" indent="0">
              <a:buNone/>
              <a:defRPr sz="3990"/>
            </a:lvl6pPr>
            <a:lvl7pPr marL="5472958" indent="0">
              <a:buNone/>
              <a:defRPr sz="3990"/>
            </a:lvl7pPr>
            <a:lvl8pPr marL="6385118" indent="0">
              <a:buNone/>
              <a:defRPr sz="3990"/>
            </a:lvl8pPr>
            <a:lvl9pPr marL="7297278" indent="0">
              <a:buNone/>
              <a:defRPr sz="399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5422" y="4114800"/>
            <a:ext cx="7845018" cy="7623176"/>
          </a:xfrm>
        </p:spPr>
        <p:txBody>
          <a:bodyPr/>
          <a:lstStyle>
            <a:lvl1pPr marL="0" indent="0">
              <a:buNone/>
              <a:defRPr sz="3192"/>
            </a:lvl1pPr>
            <a:lvl2pPr marL="912160" indent="0">
              <a:buNone/>
              <a:defRPr sz="2793"/>
            </a:lvl2pPr>
            <a:lvl3pPr marL="1824319" indent="0">
              <a:buNone/>
              <a:defRPr sz="2394"/>
            </a:lvl3pPr>
            <a:lvl4pPr marL="2736479" indent="0">
              <a:buNone/>
              <a:defRPr sz="1995"/>
            </a:lvl4pPr>
            <a:lvl5pPr marL="3648639" indent="0">
              <a:buNone/>
              <a:defRPr sz="1995"/>
            </a:lvl5pPr>
            <a:lvl6pPr marL="4560799" indent="0">
              <a:buNone/>
              <a:defRPr sz="1995"/>
            </a:lvl6pPr>
            <a:lvl7pPr marL="5472958" indent="0">
              <a:buNone/>
              <a:defRPr sz="1995"/>
            </a:lvl7pPr>
            <a:lvl8pPr marL="6385118" indent="0">
              <a:buNone/>
              <a:defRPr sz="1995"/>
            </a:lvl8pPr>
            <a:lvl9pPr marL="7297278" indent="0">
              <a:buNone/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2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06630" y="730250"/>
            <a:ext cx="5244792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2253" y="730250"/>
            <a:ext cx="15430331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4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2253" y="730251"/>
            <a:ext cx="2097917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2253" y="3651250"/>
            <a:ext cx="2097917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2253" y="12712701"/>
            <a:ext cx="547282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D46D8-BD22-47A1-BD7A-07A5FE3E416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57218" y="12712701"/>
            <a:ext cx="820924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78595" y="12712701"/>
            <a:ext cx="547282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4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4319" rtl="0" eaLnBrk="1" latinLnBrk="0" hangingPunct="1">
        <a:lnSpc>
          <a:spcPct val="90000"/>
        </a:lnSpc>
        <a:spcBef>
          <a:spcPct val="0"/>
        </a:spcBef>
        <a:buNone/>
        <a:defRPr sz="87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080" indent="-456080" algn="l" defTabSz="1824319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5586" kern="1200">
          <a:solidFill>
            <a:schemeClr val="tx1"/>
          </a:solidFill>
          <a:latin typeface="+mn-lt"/>
          <a:ea typeface="+mn-ea"/>
          <a:cs typeface="+mn-cs"/>
        </a:defRPr>
      </a:lvl1pPr>
      <a:lvl2pPr marL="1368240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4788" kern="1200">
          <a:solidFill>
            <a:schemeClr val="tx1"/>
          </a:solidFill>
          <a:latin typeface="+mn-lt"/>
          <a:ea typeface="+mn-ea"/>
          <a:cs typeface="+mn-cs"/>
        </a:defRPr>
      </a:lvl2pPr>
      <a:lvl3pPr marL="2280399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990" kern="1200">
          <a:solidFill>
            <a:schemeClr val="tx1"/>
          </a:solidFill>
          <a:latin typeface="+mn-lt"/>
          <a:ea typeface="+mn-ea"/>
          <a:cs typeface="+mn-cs"/>
        </a:defRPr>
      </a:lvl3pPr>
      <a:lvl4pPr marL="3192559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4pPr>
      <a:lvl5pPr marL="4104719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5pPr>
      <a:lvl6pPr marL="501687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6pPr>
      <a:lvl7pPr marL="592903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7pPr>
      <a:lvl8pPr marL="684119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8pPr>
      <a:lvl9pPr marL="775335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1pPr>
      <a:lvl2pPr marL="912160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2pPr>
      <a:lvl3pPr marL="182431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3pPr>
      <a:lvl4pPr marL="273647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4pPr>
      <a:lvl5pPr marL="364863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5pPr>
      <a:lvl6pPr marL="456079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6pPr>
      <a:lvl7pPr marL="5472958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7pPr>
      <a:lvl8pPr marL="6385118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8pPr>
      <a:lvl9pPr marL="7297278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hyperlink" Target="https://github.com/microsoft/vivainsights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ka.ms/vivainsights/" TargetMode="External"/><Relationship Id="rId5" Type="http://schemas.openxmlformats.org/officeDocument/2006/relationships/hyperlink" Target="https://microsoft.github.io/vivainsights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hyperlink" Target="https://github.com/microsoft/vivainsights-py/" TargetMode="Externa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ka.ms/vivainsight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microsoft.github.io/vivainsights-py/" TargetMode="External"/><Relationship Id="rId10" Type="http://schemas.openxmlformats.org/officeDocument/2006/relationships/image" Target="../media/image4.sv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7346-78DD-09B4-6356-667307B7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">
            <a:extLst>
              <a:ext uri="{FF2B5EF4-FFF2-40B4-BE49-F238E27FC236}">
                <a16:creationId xmlns:a16="http://schemas.microsoft.com/office/drawing/2014/main" id="{5A86C1FF-48E3-3829-F1F5-B1DC203CDCE6}"/>
              </a:ext>
            </a:extLst>
          </p:cNvPr>
          <p:cNvGrpSpPr/>
          <p:nvPr/>
        </p:nvGrpSpPr>
        <p:grpSpPr>
          <a:xfrm>
            <a:off x="18719163" y="-1034750"/>
            <a:ext cx="6159575" cy="3553962"/>
            <a:chOff x="0" y="51032"/>
            <a:chExt cx="6159573" cy="3553961"/>
          </a:xfrm>
        </p:grpSpPr>
        <p:grpSp>
          <p:nvGrpSpPr>
            <p:cNvPr id="27" name="Group">
              <a:extLst>
                <a:ext uri="{FF2B5EF4-FFF2-40B4-BE49-F238E27FC236}">
                  <a16:creationId xmlns:a16="http://schemas.microsoft.com/office/drawing/2014/main" id="{C69798E2-7BFA-12E7-C028-7852D111E094}"/>
                </a:ext>
              </a:extLst>
            </p:cNvPr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34" name="Triangle">
                <a:extLst>
                  <a:ext uri="{FF2B5EF4-FFF2-40B4-BE49-F238E27FC236}">
                    <a16:creationId xmlns:a16="http://schemas.microsoft.com/office/drawing/2014/main" id="{85989BC5-14FA-78FA-2FA8-153620966029}"/>
                  </a:ext>
                </a:extLst>
              </p:cNvPr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5" name="Circle">
                <a:extLst>
                  <a:ext uri="{FF2B5EF4-FFF2-40B4-BE49-F238E27FC236}">
                    <a16:creationId xmlns:a16="http://schemas.microsoft.com/office/drawing/2014/main" id="{F17FEAC5-1E1F-FB33-760F-9B68C27FC9FC}"/>
                  </a:ext>
                </a:extLst>
              </p:cNvPr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7" name="Circle">
                <a:extLst>
                  <a:ext uri="{FF2B5EF4-FFF2-40B4-BE49-F238E27FC236}">
                    <a16:creationId xmlns:a16="http://schemas.microsoft.com/office/drawing/2014/main" id="{900A6952-6B1D-4AEC-23A9-99004A0BF13D}"/>
                  </a:ext>
                </a:extLst>
              </p:cNvPr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8" name="Triangle">
                <a:extLst>
                  <a:ext uri="{FF2B5EF4-FFF2-40B4-BE49-F238E27FC236}">
                    <a16:creationId xmlns:a16="http://schemas.microsoft.com/office/drawing/2014/main" id="{447421E9-A254-34FE-9B30-74531D573EBA}"/>
                  </a:ext>
                </a:extLst>
              </p:cNvPr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0" name="Triangle">
                <a:extLst>
                  <a:ext uri="{FF2B5EF4-FFF2-40B4-BE49-F238E27FC236}">
                    <a16:creationId xmlns:a16="http://schemas.microsoft.com/office/drawing/2014/main" id="{DE26C7B5-C09D-A5BE-58AF-BB365A739A66}"/>
                  </a:ext>
                </a:extLst>
              </p:cNvPr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7F48C60F-5779-5B80-9BCA-9D90ABB0C1FB}"/>
                  </a:ext>
                </a:extLst>
              </p:cNvPr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3" name="Circle">
                <a:extLst>
                  <a:ext uri="{FF2B5EF4-FFF2-40B4-BE49-F238E27FC236}">
                    <a16:creationId xmlns:a16="http://schemas.microsoft.com/office/drawing/2014/main" id="{6B0D1D20-856D-BF3A-E92B-DF0786F95FA5}"/>
                  </a:ext>
                </a:extLst>
              </p:cNvPr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0" name="Triangle">
                <a:extLst>
                  <a:ext uri="{FF2B5EF4-FFF2-40B4-BE49-F238E27FC236}">
                    <a16:creationId xmlns:a16="http://schemas.microsoft.com/office/drawing/2014/main" id="{15E2F6DC-6415-05A7-F397-BACAAD955CAD}"/>
                  </a:ext>
                </a:extLst>
              </p:cNvPr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1" name="Circle">
                <a:extLst>
                  <a:ext uri="{FF2B5EF4-FFF2-40B4-BE49-F238E27FC236}">
                    <a16:creationId xmlns:a16="http://schemas.microsoft.com/office/drawing/2014/main" id="{2EFA0A61-5A03-12E6-406A-9D35713975CE}"/>
                  </a:ext>
                </a:extLst>
              </p:cNvPr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2" name="Triangle">
                <a:extLst>
                  <a:ext uri="{FF2B5EF4-FFF2-40B4-BE49-F238E27FC236}">
                    <a16:creationId xmlns:a16="http://schemas.microsoft.com/office/drawing/2014/main" id="{44F3C9BF-CBA7-5C92-E524-1E316BF3998B}"/>
                  </a:ext>
                </a:extLst>
              </p:cNvPr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A65E4629-FE1F-506C-A57D-9E66073B458F}"/>
                  </a:ext>
                </a:extLst>
              </p:cNvPr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4" name="Triangle">
                <a:extLst>
                  <a:ext uri="{FF2B5EF4-FFF2-40B4-BE49-F238E27FC236}">
                    <a16:creationId xmlns:a16="http://schemas.microsoft.com/office/drawing/2014/main" id="{6294BBC8-8902-183F-9844-147B2C8C8B22}"/>
                  </a:ext>
                </a:extLst>
              </p:cNvPr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5" name="Circle">
                <a:extLst>
                  <a:ext uri="{FF2B5EF4-FFF2-40B4-BE49-F238E27FC236}">
                    <a16:creationId xmlns:a16="http://schemas.microsoft.com/office/drawing/2014/main" id="{7672E5DC-357D-8465-7CDE-78C205F913CD}"/>
                  </a:ext>
                </a:extLst>
              </p:cNvPr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6" name="Triangle">
                <a:extLst>
                  <a:ext uri="{FF2B5EF4-FFF2-40B4-BE49-F238E27FC236}">
                    <a16:creationId xmlns:a16="http://schemas.microsoft.com/office/drawing/2014/main" id="{2981909B-8A12-8BCF-9933-597E72174F31}"/>
                  </a:ext>
                </a:extLst>
              </p:cNvPr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7" name="Circle">
                <a:extLst>
                  <a:ext uri="{FF2B5EF4-FFF2-40B4-BE49-F238E27FC236}">
                    <a16:creationId xmlns:a16="http://schemas.microsoft.com/office/drawing/2014/main" id="{ECA41909-5BF9-2A5E-028B-9331F521E2E8}"/>
                  </a:ext>
                </a:extLst>
              </p:cNvPr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425D7684-BC1A-5301-BBF7-AB1F8578FA01}"/>
                </a:ext>
              </a:extLst>
            </p:cNvPr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32" name="Image" descr="Image">
              <a:extLst>
                <a:ext uri="{FF2B5EF4-FFF2-40B4-BE49-F238E27FC236}">
                  <a16:creationId xmlns:a16="http://schemas.microsoft.com/office/drawing/2014/main" id="{D6CC7B98-9D18-AE12-2D0B-10658552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BC448039-9CE0-B80E-292F-FD6F18576191}"/>
              </a:ext>
            </a:extLst>
          </p:cNvPr>
          <p:cNvSpPr/>
          <p:nvPr/>
        </p:nvSpPr>
        <p:spPr>
          <a:xfrm>
            <a:off x="449020" y="424518"/>
            <a:ext cx="1009198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US" sz="4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vivainsights</a:t>
            </a:r>
            <a:r>
              <a:rPr lang="en-US" sz="4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 library: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CHEAT SHEET (1/2)</a:t>
            </a:r>
            <a:endParaRPr lang="en-US" sz="4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6C81A4B8-AF6C-3685-FDB1-C88E9135FC89}"/>
              </a:ext>
            </a:extLst>
          </p:cNvPr>
          <p:cNvCxnSpPr>
            <a:cxnSpLocks/>
          </p:cNvCxnSpPr>
          <p:nvPr/>
        </p:nvCxnSpPr>
        <p:spPr>
          <a:xfrm>
            <a:off x="449020" y="13115953"/>
            <a:ext cx="2342563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Rectangle 448">
            <a:extLst>
              <a:ext uri="{FF2B5EF4-FFF2-40B4-BE49-F238E27FC236}">
                <a16:creationId xmlns:a16="http://schemas.microsoft.com/office/drawing/2014/main" id="{4D2000CD-AE7F-15BF-06D1-8D7430486B89}"/>
              </a:ext>
            </a:extLst>
          </p:cNvPr>
          <p:cNvSpPr>
            <a:spLocks/>
          </p:cNvSpPr>
          <p:nvPr/>
        </p:nvSpPr>
        <p:spPr>
          <a:xfrm>
            <a:off x="449020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Basics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4BD78CA5-E1CC-AA08-DF19-00E50EC0900E}"/>
              </a:ext>
            </a:extLst>
          </p:cNvPr>
          <p:cNvSpPr>
            <a:spLocks/>
          </p:cNvSpPr>
          <p:nvPr/>
        </p:nvSpPr>
        <p:spPr>
          <a:xfrm>
            <a:off x="449020" y="2972807"/>
            <a:ext cx="5395736" cy="547842"/>
          </a:xfrm>
          <a:prstGeom prst="rect">
            <a:avLst/>
          </a:prstGeom>
          <a:solidFill>
            <a:srgbClr val="DFF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73152" rIns="73152" bIns="73152" rtlCol="0" anchor="ctr">
            <a:spAutoFit/>
          </a:bodyPr>
          <a:lstStyle/>
          <a:p>
            <a:pPr>
              <a:spcAft>
                <a:spcPts val="286"/>
              </a:spcAft>
            </a:pPr>
            <a:r>
              <a:rPr lang="en-US" sz="1300" dirty="0">
                <a:solidFill>
                  <a:schemeClr val="tx1"/>
                </a:solidFill>
              </a:rPr>
              <a:t>You can install or update the package with the following command from CRAN: </a:t>
            </a:r>
            <a:r>
              <a:rPr lang="en-US" sz="1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1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vivainsights</a:t>
            </a:r>
            <a:r>
              <a:rPr lang="en-US" sz="1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4F7F946D-D356-F35C-F22B-A7A87216EBB0}"/>
              </a:ext>
            </a:extLst>
          </p:cNvPr>
          <p:cNvGrpSpPr/>
          <p:nvPr/>
        </p:nvGrpSpPr>
        <p:grpSpPr>
          <a:xfrm>
            <a:off x="449020" y="3840654"/>
            <a:ext cx="5395736" cy="600164"/>
            <a:chOff x="449020" y="4063506"/>
            <a:chExt cx="5395736" cy="600164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74EA9175-6E79-7A1B-F7F4-1CD527C4AAC1}"/>
                </a:ext>
              </a:extLst>
            </p:cNvPr>
            <p:cNvSpPr>
              <a:spLocks/>
            </p:cNvSpPr>
            <p:nvPr/>
          </p:nvSpPr>
          <p:spPr>
            <a:xfrm>
              <a:off x="1148392" y="4063506"/>
              <a:ext cx="4696364" cy="6001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The latest development version and documentation can be found on our GitHub repository: </a:t>
              </a:r>
              <a:r>
                <a:rPr lang="en-US" sz="1300" dirty="0">
                  <a:solidFill>
                    <a:schemeClr val="tx1"/>
                  </a:solidFill>
                  <a:latin typeface="+mj-lt"/>
                  <a:hlinkClick r:id="rId3"/>
                </a:rPr>
                <a:t>https://github.com/microsoft/vivainsights/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  </a:t>
              </a:r>
            </a:p>
          </p:txBody>
        </p:sp>
        <p:pic>
          <p:nvPicPr>
            <p:cNvPr id="453" name="Picture 452">
              <a:extLst>
                <a:ext uri="{FF2B5EF4-FFF2-40B4-BE49-F238E27FC236}">
                  <a16:creationId xmlns:a16="http://schemas.microsoft.com/office/drawing/2014/main" id="{6AE1FC66-5310-F0B0-D03E-51BAF96CB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020" y="4124820"/>
              <a:ext cx="523702" cy="523702"/>
            </a:xfrm>
            <a:prstGeom prst="rect">
              <a:avLst/>
            </a:prstGeom>
          </p:spPr>
        </p:pic>
      </p:grp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1018ABF6-F95C-7989-43C5-8AAD44A49668}"/>
              </a:ext>
            </a:extLst>
          </p:cNvPr>
          <p:cNvCxnSpPr>
            <a:cxnSpLocks/>
          </p:cNvCxnSpPr>
          <p:nvPr/>
        </p:nvCxnSpPr>
        <p:spPr>
          <a:xfrm flipV="1">
            <a:off x="449020" y="9414454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Rectangle 454">
            <a:extLst>
              <a:ext uri="{FF2B5EF4-FFF2-40B4-BE49-F238E27FC236}">
                <a16:creationId xmlns:a16="http://schemas.microsoft.com/office/drawing/2014/main" id="{1F3DB47C-AC43-E726-46BF-72B34330FC12}"/>
              </a:ext>
            </a:extLst>
          </p:cNvPr>
          <p:cNvSpPr>
            <a:spLocks/>
          </p:cNvSpPr>
          <p:nvPr/>
        </p:nvSpPr>
        <p:spPr>
          <a:xfrm>
            <a:off x="449020" y="9557761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>
                <a:solidFill>
                  <a:srgbClr val="0070C0"/>
                </a:solidFill>
                <a:latin typeface="+mj-lt"/>
              </a:rPr>
              <a:t>Data import / export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DDECB0E9-B3FF-1A50-8065-8F9FE43A254F}"/>
              </a:ext>
            </a:extLst>
          </p:cNvPr>
          <p:cNvSpPr>
            <a:spLocks/>
          </p:cNvSpPr>
          <p:nvPr/>
        </p:nvSpPr>
        <p:spPr>
          <a:xfrm>
            <a:off x="449020" y="9934563"/>
            <a:ext cx="5395736" cy="175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tx1"/>
                </a:solidFill>
              </a:rPr>
              <a:t>Use our handy functions below which are optimized for best practice for getting data </a:t>
            </a:r>
            <a:r>
              <a:rPr lang="en-US" sz="1300" i="1" dirty="0">
                <a:solidFill>
                  <a:schemeClr val="tx1"/>
                </a:solidFill>
              </a:rPr>
              <a:t>in</a:t>
            </a:r>
            <a:r>
              <a:rPr lang="en-US" sz="1300" dirty="0">
                <a:solidFill>
                  <a:schemeClr val="tx1"/>
                </a:solidFill>
              </a:rPr>
              <a:t> and </a:t>
            </a:r>
            <a:r>
              <a:rPr lang="en-US" sz="1300" i="1" dirty="0">
                <a:solidFill>
                  <a:schemeClr val="tx1"/>
                </a:solidFill>
              </a:rPr>
              <a:t>out</a:t>
            </a:r>
            <a:r>
              <a:rPr lang="en-US" sz="1300" dirty="0">
                <a:solidFill>
                  <a:schemeClr val="tx1"/>
                </a:solidFill>
              </a:rPr>
              <a:t> of R</a:t>
            </a:r>
          </a:p>
          <a:p>
            <a:pPr marL="298450" indent="-298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tx1"/>
                </a:solidFill>
                <a:latin typeface="+mj-lt"/>
              </a:rPr>
              <a:t>import_query</a:t>
            </a:r>
            <a:r>
              <a:rPr lang="en-US" sz="1300" dirty="0">
                <a:solidFill>
                  <a:schemeClr val="tx1"/>
                </a:solidFill>
                <a:latin typeface="+mj-lt"/>
              </a:rPr>
              <a:t>() </a:t>
            </a:r>
            <a:br>
              <a:rPr lang="en-US" sz="1300" dirty="0">
                <a:solidFill>
                  <a:schemeClr val="tx1"/>
                </a:solidFill>
                <a:latin typeface="+mj-lt"/>
              </a:rPr>
            </a:br>
            <a:r>
              <a:rPr lang="en-US" sz="1300" dirty="0">
                <a:solidFill>
                  <a:schemeClr val="tx1"/>
                </a:solidFill>
              </a:rPr>
              <a:t>Import CSV queries faster and pre-formatted for </a:t>
            </a:r>
            <a:r>
              <a:rPr lang="en-US" sz="1300" dirty="0" err="1">
                <a:solidFill>
                  <a:schemeClr val="tx1"/>
                </a:solidFill>
                <a:latin typeface="+mj-lt"/>
              </a:rPr>
              <a:t>vivainsights</a:t>
            </a:r>
            <a:r>
              <a:rPr lang="en-US" sz="1300" dirty="0">
                <a:solidFill>
                  <a:schemeClr val="tx1"/>
                </a:solidFill>
              </a:rPr>
              <a:t> functions (instead of read.csv())</a:t>
            </a:r>
          </a:p>
          <a:p>
            <a:pPr marL="298450" indent="-298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+mj-lt"/>
              </a:rPr>
              <a:t>export() </a:t>
            </a:r>
            <a:br>
              <a:rPr lang="en-US" sz="1300" dirty="0">
                <a:solidFill>
                  <a:schemeClr val="tx1"/>
                </a:solidFill>
                <a:latin typeface="+mj-lt"/>
              </a:rPr>
            </a:br>
            <a:r>
              <a:rPr lang="en-US" sz="1300" dirty="0">
                <a:solidFill>
                  <a:schemeClr val="tx1"/>
                </a:solidFill>
              </a:rPr>
              <a:t>Copy a data frame to clipboard, or write as a CSV, or a </a:t>
            </a:r>
            <a:r>
              <a:rPr lang="en-US" sz="1300" dirty="0" err="1">
                <a:solidFill>
                  <a:schemeClr val="tx1"/>
                </a:solidFill>
              </a:rPr>
              <a:t>ggplot</a:t>
            </a:r>
            <a:r>
              <a:rPr lang="en-US" sz="1300" dirty="0">
                <a:solidFill>
                  <a:schemeClr val="tx1"/>
                </a:solidFill>
              </a:rPr>
              <a:t> object as PNG or SVG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8A516C4-95EF-DEC5-B9D8-714BF865615E}"/>
              </a:ext>
            </a:extLst>
          </p:cNvPr>
          <p:cNvSpPr>
            <a:spLocks/>
          </p:cNvSpPr>
          <p:nvPr/>
        </p:nvSpPr>
        <p:spPr>
          <a:xfrm>
            <a:off x="449020" y="4760823"/>
            <a:ext cx="5395736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chemeClr val="tx1"/>
                </a:solidFill>
                <a:latin typeface="+mj-lt"/>
              </a:rPr>
              <a:t>?</a:t>
            </a:r>
            <a:r>
              <a:rPr lang="en-US" sz="1300" err="1">
                <a:solidFill>
                  <a:schemeClr val="tx1"/>
                </a:solidFill>
                <a:latin typeface="+mj-lt"/>
              </a:rPr>
              <a:t>function_name</a:t>
            </a:r>
            <a:r>
              <a:rPr lang="en-US" sz="1300">
                <a:solidFill>
                  <a:schemeClr val="tx1"/>
                </a:solidFill>
                <a:latin typeface="+mj-lt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chemeClr val="tx1"/>
                </a:solidFill>
              </a:rPr>
              <a:t>To load the documentation in R, prefix the function name with a question mark</a:t>
            </a: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9DB955CC-554B-CF53-443A-3961492E1515}"/>
              </a:ext>
            </a:extLst>
          </p:cNvPr>
          <p:cNvSpPr>
            <a:spLocks/>
          </p:cNvSpPr>
          <p:nvPr/>
        </p:nvSpPr>
        <p:spPr>
          <a:xfrm>
            <a:off x="449020" y="5757936"/>
            <a:ext cx="5395736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i="1">
                <a:solidFill>
                  <a:schemeClr val="tx1"/>
                </a:solidFill>
              </a:rPr>
              <a:t>Tip! 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chemeClr val="tx1"/>
                </a:solidFill>
              </a:rPr>
              <a:t>Load </a:t>
            </a:r>
            <a:r>
              <a:rPr lang="en-US" sz="1300">
                <a:solidFill>
                  <a:schemeClr val="tx1"/>
                </a:solidFill>
                <a:latin typeface="+mj-lt"/>
              </a:rPr>
              <a:t>{</a:t>
            </a:r>
            <a:r>
              <a:rPr lang="en-US" sz="1300" err="1">
                <a:solidFill>
                  <a:schemeClr val="tx1"/>
                </a:solidFill>
                <a:latin typeface="+mj-lt"/>
              </a:rPr>
              <a:t>tidyverse</a:t>
            </a:r>
            <a:r>
              <a:rPr lang="en-US" sz="1300">
                <a:solidFill>
                  <a:schemeClr val="tx1"/>
                </a:solidFill>
                <a:latin typeface="+mj-lt"/>
              </a:rPr>
              <a:t>} </a:t>
            </a:r>
            <a:r>
              <a:rPr lang="en-US" sz="1300">
                <a:solidFill>
                  <a:schemeClr val="tx1"/>
                </a:solidFill>
              </a:rPr>
              <a:t>as the companion package to </a:t>
            </a:r>
            <a:r>
              <a:rPr lang="en-US" sz="1300">
                <a:solidFill>
                  <a:schemeClr val="tx1"/>
                </a:solidFill>
                <a:latin typeface="+mj-lt"/>
              </a:rPr>
              <a:t>Viva Insights</a:t>
            </a:r>
            <a:r>
              <a:rPr lang="en-US" sz="1300">
                <a:solidFill>
                  <a:schemeClr val="tx1"/>
                </a:solidFill>
              </a:rPr>
              <a:t> for seamless data wrangling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87865134-D199-6872-BAEB-AC94D52C832D}"/>
              </a:ext>
            </a:extLst>
          </p:cNvPr>
          <p:cNvSpPr>
            <a:spLocks/>
          </p:cNvSpPr>
          <p:nvPr/>
        </p:nvSpPr>
        <p:spPr>
          <a:xfrm>
            <a:off x="1148393" y="2052638"/>
            <a:ext cx="4696363" cy="66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300" dirty="0" err="1">
                <a:solidFill>
                  <a:schemeClr val="tx1"/>
                </a:solidFill>
                <a:latin typeface="+mj-lt"/>
                <a:hlinkClick r:id="rId5"/>
              </a:rPr>
              <a:t>vivainsights</a:t>
            </a:r>
            <a:r>
              <a:rPr lang="en-US" sz="13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300" dirty="0">
                <a:solidFill>
                  <a:schemeClr val="tx1"/>
                </a:solidFill>
              </a:rPr>
              <a:t>is an R library that offers a set of tools and functions for </a:t>
            </a:r>
            <a:r>
              <a:rPr lang="en-US" sz="1300" dirty="0" err="1">
                <a:solidFill>
                  <a:schemeClr val="tx1"/>
                </a:solidFill>
              </a:rPr>
              <a:t>analysing</a:t>
            </a:r>
            <a:r>
              <a:rPr lang="en-US" sz="1300" dirty="0">
                <a:solidFill>
                  <a:schemeClr val="tx1"/>
                </a:solidFill>
              </a:rPr>
              <a:t> and </a:t>
            </a:r>
            <a:r>
              <a:rPr lang="en-US" sz="1300" dirty="0" err="1">
                <a:solidFill>
                  <a:schemeClr val="tx1"/>
                </a:solidFill>
              </a:rPr>
              <a:t>visualising</a:t>
            </a:r>
            <a:r>
              <a:rPr lang="en-US" sz="1300" dirty="0">
                <a:solidFill>
                  <a:schemeClr val="tx1"/>
                </a:solidFill>
              </a:rPr>
              <a:t> data from </a:t>
            </a:r>
            <a:r>
              <a:rPr lang="en-US" sz="1500" b="1" dirty="0">
                <a:solidFill>
                  <a:schemeClr val="tx1"/>
                </a:solidFill>
                <a:latin typeface="+mj-lt"/>
                <a:hlinkClick r:id="rId6"/>
              </a:rPr>
              <a:t>Microsoft Viva Insights</a:t>
            </a:r>
            <a:endParaRPr lang="en-US" sz="15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61" name="Graphic 460">
            <a:extLst>
              <a:ext uri="{FF2B5EF4-FFF2-40B4-BE49-F238E27FC236}">
                <a16:creationId xmlns:a16="http://schemas.microsoft.com/office/drawing/2014/main" id="{19846A51-05D9-02C2-896A-5A5D540A5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020" y="2092625"/>
            <a:ext cx="523702" cy="523702"/>
          </a:xfrm>
          <a:prstGeom prst="rect">
            <a:avLst/>
          </a:prstGeom>
        </p:spPr>
      </p:pic>
      <p:sp>
        <p:nvSpPr>
          <p:cNvPr id="464" name="Rectangle 463">
            <a:extLst>
              <a:ext uri="{FF2B5EF4-FFF2-40B4-BE49-F238E27FC236}">
                <a16:creationId xmlns:a16="http://schemas.microsoft.com/office/drawing/2014/main" id="{9AC26065-DAF6-2AF3-FB30-D6A5DC7EF508}"/>
              </a:ext>
            </a:extLst>
          </p:cNvPr>
          <p:cNvSpPr>
            <a:spLocks/>
          </p:cNvSpPr>
          <p:nvPr/>
        </p:nvSpPr>
        <p:spPr>
          <a:xfrm>
            <a:off x="6458986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Data validation</a:t>
            </a: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4228AC01-6459-F1E6-DD85-720AB3C7B3C1}"/>
              </a:ext>
            </a:extLst>
          </p:cNvPr>
          <p:cNvSpPr>
            <a:spLocks/>
          </p:cNvSpPr>
          <p:nvPr/>
        </p:nvSpPr>
        <p:spPr>
          <a:xfrm>
            <a:off x="6458986" y="2052638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300" dirty="0">
                <a:solidFill>
                  <a:schemeClr val="tx1"/>
                </a:solidFill>
              </a:rPr>
              <a:t>Validate and understand your data prior to starting a piece of analysis</a:t>
            </a:r>
          </a:p>
        </p:txBody>
      </p: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35DDFB65-2C1F-1AEA-D25E-E207A0550ABA}"/>
              </a:ext>
            </a:extLst>
          </p:cNvPr>
          <p:cNvCxnSpPr>
            <a:cxnSpLocks/>
          </p:cNvCxnSpPr>
          <p:nvPr/>
        </p:nvCxnSpPr>
        <p:spPr>
          <a:xfrm>
            <a:off x="6458986" y="3168647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F49086D9-27B6-227F-1634-4D51C05F1574}"/>
              </a:ext>
            </a:extLst>
          </p:cNvPr>
          <p:cNvCxnSpPr>
            <a:cxnSpLocks/>
          </p:cNvCxnSpPr>
          <p:nvPr/>
        </p:nvCxnSpPr>
        <p:spPr>
          <a:xfrm>
            <a:off x="6458986" y="378783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4D20713E-B022-E5F0-BAB6-18CF583076BD}"/>
              </a:ext>
            </a:extLst>
          </p:cNvPr>
          <p:cNvCxnSpPr>
            <a:cxnSpLocks/>
          </p:cNvCxnSpPr>
          <p:nvPr/>
        </p:nvCxnSpPr>
        <p:spPr>
          <a:xfrm>
            <a:off x="6458986" y="440701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0219A285-E22C-4470-EC48-0B1ED6C3A388}"/>
              </a:ext>
            </a:extLst>
          </p:cNvPr>
          <p:cNvCxnSpPr>
            <a:cxnSpLocks/>
          </p:cNvCxnSpPr>
          <p:nvPr/>
        </p:nvCxnSpPr>
        <p:spPr>
          <a:xfrm>
            <a:off x="6458986" y="502620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C74C0E3F-5CDF-DC12-DDCA-AE33F982449E}"/>
              </a:ext>
            </a:extLst>
          </p:cNvPr>
          <p:cNvCxnSpPr>
            <a:cxnSpLocks/>
          </p:cNvCxnSpPr>
          <p:nvPr/>
        </p:nvCxnSpPr>
        <p:spPr>
          <a:xfrm>
            <a:off x="6458986" y="584544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F4AEE598-58D4-B7E1-557B-6554894C8F64}"/>
              </a:ext>
            </a:extLst>
          </p:cNvPr>
          <p:cNvCxnSpPr>
            <a:cxnSpLocks/>
          </p:cNvCxnSpPr>
          <p:nvPr/>
        </p:nvCxnSpPr>
        <p:spPr>
          <a:xfrm>
            <a:off x="6458986" y="666468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E35CB1A1-26F6-EDC3-1C70-40B381021902}"/>
              </a:ext>
            </a:extLst>
          </p:cNvPr>
          <p:cNvCxnSpPr>
            <a:cxnSpLocks/>
          </p:cNvCxnSpPr>
          <p:nvPr/>
        </p:nvCxnSpPr>
        <p:spPr>
          <a:xfrm>
            <a:off x="6458986" y="748392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68DE2C5E-70CD-EE5F-DE44-E41E0A5C9982}"/>
              </a:ext>
            </a:extLst>
          </p:cNvPr>
          <p:cNvCxnSpPr>
            <a:cxnSpLocks/>
          </p:cNvCxnSpPr>
          <p:nvPr/>
        </p:nvCxnSpPr>
        <p:spPr>
          <a:xfrm>
            <a:off x="6458986" y="810311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11722372-681A-0209-B89C-51A5B30597F8}"/>
              </a:ext>
            </a:extLst>
          </p:cNvPr>
          <p:cNvCxnSpPr>
            <a:cxnSpLocks/>
          </p:cNvCxnSpPr>
          <p:nvPr/>
        </p:nvCxnSpPr>
        <p:spPr>
          <a:xfrm>
            <a:off x="6458986" y="892235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49FF84C7-806C-27E9-25F4-779FC5603428}"/>
              </a:ext>
            </a:extLst>
          </p:cNvPr>
          <p:cNvCxnSpPr>
            <a:cxnSpLocks/>
          </p:cNvCxnSpPr>
          <p:nvPr/>
        </p:nvCxnSpPr>
        <p:spPr>
          <a:xfrm>
            <a:off x="6458986" y="974159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00B44040-2241-B792-3BA9-7FC87B848C7A}"/>
              </a:ext>
            </a:extLst>
          </p:cNvPr>
          <p:cNvGrpSpPr/>
          <p:nvPr/>
        </p:nvGrpSpPr>
        <p:grpSpPr>
          <a:xfrm>
            <a:off x="6458986" y="3265361"/>
            <a:ext cx="5395736" cy="425758"/>
            <a:chOff x="6458986" y="3540281"/>
            <a:chExt cx="5395736" cy="425758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34D050E-87F9-46EB-4A06-0025D2E0E577}"/>
                </a:ext>
              </a:extLst>
            </p:cNvPr>
            <p:cNvSpPr>
              <a:spLocks/>
            </p:cNvSpPr>
            <p:nvPr/>
          </p:nvSpPr>
          <p:spPr>
            <a:xfrm>
              <a:off x="6458986" y="3540281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hrvar_count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Count number of employees in HR attribute</a:t>
              </a: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4BADFAC8-5B4D-DC21-F5CB-A8160FE871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3540281"/>
              <a:ext cx="299275" cy="253681"/>
            </a:xfrm>
            <a:custGeom>
              <a:avLst/>
              <a:gdLst>
                <a:gd name="connsiteX0" fmla="*/ 125720 w 857250"/>
                <a:gd name="connsiteY0" fmla="*/ 606884 h 726651"/>
                <a:gd name="connsiteX1" fmla="*/ 0 w 857250"/>
                <a:gd name="connsiteY1" fmla="*/ 606884 h 726651"/>
                <a:gd name="connsiteX2" fmla="*/ 0 w 857250"/>
                <a:gd name="connsiteY2" fmla="*/ 726614 h 726651"/>
                <a:gd name="connsiteX3" fmla="*/ 125720 w 857250"/>
                <a:gd name="connsiteY3" fmla="*/ 726614 h 726651"/>
                <a:gd name="connsiteX4" fmla="*/ 731530 w 857250"/>
                <a:gd name="connsiteY4" fmla="*/ 118690 h 726651"/>
                <a:gd name="connsiteX5" fmla="*/ 731530 w 857250"/>
                <a:gd name="connsiteY5" fmla="*/ 726652 h 726651"/>
                <a:gd name="connsiteX6" fmla="*/ 857250 w 857250"/>
                <a:gd name="connsiteY6" fmla="*/ 726615 h 726651"/>
                <a:gd name="connsiteX7" fmla="*/ 857250 w 857250"/>
                <a:gd name="connsiteY7" fmla="*/ 0 h 726651"/>
                <a:gd name="connsiteX8" fmla="*/ 731530 w 857250"/>
                <a:gd name="connsiteY8" fmla="*/ 0 h 726651"/>
                <a:gd name="connsiteX9" fmla="*/ 548659 w 857250"/>
                <a:gd name="connsiteY9" fmla="*/ 374713 h 726651"/>
                <a:gd name="connsiteX10" fmla="*/ 548659 w 857250"/>
                <a:gd name="connsiteY10" fmla="*/ 726652 h 726651"/>
                <a:gd name="connsiteX11" fmla="*/ 674380 w 857250"/>
                <a:gd name="connsiteY11" fmla="*/ 726652 h 726651"/>
                <a:gd name="connsiteX12" fmla="*/ 674380 w 857250"/>
                <a:gd name="connsiteY12" fmla="*/ 175840 h 726651"/>
                <a:gd name="connsiteX13" fmla="*/ 548659 w 857250"/>
                <a:gd name="connsiteY13" fmla="*/ 175840 h 726651"/>
                <a:gd name="connsiteX14" fmla="*/ 491509 w 857250"/>
                <a:gd name="connsiteY14" fmla="*/ 726652 h 726651"/>
                <a:gd name="connsiteX15" fmla="*/ 491509 w 857250"/>
                <a:gd name="connsiteY15" fmla="*/ 431863 h 726651"/>
                <a:gd name="connsiteX16" fmla="*/ 365750 w 857250"/>
                <a:gd name="connsiteY16" fmla="*/ 431863 h 726651"/>
                <a:gd name="connsiteX17" fmla="*/ 365750 w 857250"/>
                <a:gd name="connsiteY17" fmla="*/ 726652 h 726651"/>
                <a:gd name="connsiteX18" fmla="*/ 182880 w 857250"/>
                <a:gd name="connsiteY18" fmla="*/ 549734 h 726651"/>
                <a:gd name="connsiteX19" fmla="*/ 182880 w 857250"/>
                <a:gd name="connsiteY19" fmla="*/ 726614 h 726651"/>
                <a:gd name="connsiteX20" fmla="*/ 308600 w 857250"/>
                <a:gd name="connsiteY20" fmla="*/ 726614 h 726651"/>
                <a:gd name="connsiteX21" fmla="*/ 308600 w 857250"/>
                <a:gd name="connsiteY21" fmla="*/ 288168 h 726651"/>
                <a:gd name="connsiteX22" fmla="*/ 182880 w 857250"/>
                <a:gd name="connsiteY22" fmla="*/ 288168 h 72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0" h="726651">
                  <a:moveTo>
                    <a:pt x="125720" y="606884"/>
                  </a:moveTo>
                  <a:lnTo>
                    <a:pt x="0" y="606884"/>
                  </a:lnTo>
                  <a:lnTo>
                    <a:pt x="0" y="726614"/>
                  </a:lnTo>
                  <a:lnTo>
                    <a:pt x="125720" y="726614"/>
                  </a:lnTo>
                  <a:close/>
                  <a:moveTo>
                    <a:pt x="731530" y="118690"/>
                  </a:moveTo>
                  <a:lnTo>
                    <a:pt x="731530" y="726652"/>
                  </a:lnTo>
                  <a:lnTo>
                    <a:pt x="857250" y="726615"/>
                  </a:lnTo>
                  <a:lnTo>
                    <a:pt x="857250" y="0"/>
                  </a:lnTo>
                  <a:lnTo>
                    <a:pt x="731530" y="0"/>
                  </a:lnTo>
                  <a:close/>
                  <a:moveTo>
                    <a:pt x="548659" y="374713"/>
                  </a:moveTo>
                  <a:lnTo>
                    <a:pt x="548659" y="726652"/>
                  </a:lnTo>
                  <a:lnTo>
                    <a:pt x="674380" y="726652"/>
                  </a:lnTo>
                  <a:lnTo>
                    <a:pt x="674380" y="175840"/>
                  </a:lnTo>
                  <a:lnTo>
                    <a:pt x="548659" y="175840"/>
                  </a:lnTo>
                  <a:close/>
                  <a:moveTo>
                    <a:pt x="491509" y="726652"/>
                  </a:moveTo>
                  <a:lnTo>
                    <a:pt x="491509" y="431863"/>
                  </a:lnTo>
                  <a:lnTo>
                    <a:pt x="365750" y="431863"/>
                  </a:lnTo>
                  <a:lnTo>
                    <a:pt x="365750" y="726652"/>
                  </a:lnTo>
                  <a:close/>
                  <a:moveTo>
                    <a:pt x="182880" y="549734"/>
                  </a:moveTo>
                  <a:lnTo>
                    <a:pt x="182880" y="726614"/>
                  </a:lnTo>
                  <a:lnTo>
                    <a:pt x="308600" y="726614"/>
                  </a:lnTo>
                  <a:lnTo>
                    <a:pt x="308600" y="288168"/>
                  </a:lnTo>
                  <a:lnTo>
                    <a:pt x="182880" y="288168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036FB197-0A71-5A8B-CBF2-1185519A6976}"/>
              </a:ext>
            </a:extLst>
          </p:cNvPr>
          <p:cNvGrpSpPr/>
          <p:nvPr/>
        </p:nvGrpSpPr>
        <p:grpSpPr>
          <a:xfrm>
            <a:off x="6458986" y="5122919"/>
            <a:ext cx="5395736" cy="625812"/>
            <a:chOff x="6458986" y="5691284"/>
            <a:chExt cx="5395736" cy="625812"/>
          </a:xfrm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746A620D-5C9B-72BC-FD4D-17A007DBCA53}"/>
                </a:ext>
              </a:extLst>
            </p:cNvPr>
            <p:cNvSpPr>
              <a:spLocks/>
            </p:cNvSpPr>
            <p:nvPr/>
          </p:nvSpPr>
          <p:spPr>
            <a:xfrm>
              <a:off x="6458986" y="5691284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identify_holidayweeks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Identify likely holiday weeks (for the entire pop) where collaboration hours lie far outside the mean</a:t>
              </a: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4F8B9DA7-3CE6-56B3-CAC5-63828D2C22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5691284"/>
              <a:ext cx="291694" cy="291694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3096B5A4-141C-1172-D7BB-8E279961233B}"/>
              </a:ext>
            </a:extLst>
          </p:cNvPr>
          <p:cNvGrpSpPr/>
          <p:nvPr/>
        </p:nvGrpSpPr>
        <p:grpSpPr>
          <a:xfrm>
            <a:off x="6458986" y="9838305"/>
            <a:ext cx="5395736" cy="625812"/>
            <a:chOff x="6458986" y="9582658"/>
            <a:chExt cx="5395736" cy="625812"/>
          </a:xfrm>
        </p:grpSpPr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EBB4E3B2-EAEC-9E47-137D-21FF1A5926CC}"/>
                </a:ext>
              </a:extLst>
            </p:cNvPr>
            <p:cNvSpPr>
              <a:spLocks/>
            </p:cNvSpPr>
            <p:nvPr/>
          </p:nvSpPr>
          <p:spPr>
            <a:xfrm>
              <a:off x="6458986" y="958265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hr_trend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line chart showing the change in employee count over time</a:t>
              </a: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3708C209-95C1-B1CD-CB38-C8EA7793E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9582658"/>
              <a:ext cx="291694" cy="291694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64BDC8E9-2C03-AF76-B773-C1A3AF94FDBA}"/>
              </a:ext>
            </a:extLst>
          </p:cNvPr>
          <p:cNvGrpSpPr/>
          <p:nvPr/>
        </p:nvGrpSpPr>
        <p:grpSpPr>
          <a:xfrm>
            <a:off x="6458986" y="2446121"/>
            <a:ext cx="5395736" cy="625812"/>
            <a:chOff x="6458986" y="2577059"/>
            <a:chExt cx="5395736" cy="625812"/>
          </a:xfrm>
        </p:grpSpPr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39ECE555-65AB-FB69-851C-6A95653BF201}"/>
                </a:ext>
              </a:extLst>
            </p:cNvPr>
            <p:cNvSpPr>
              <a:spLocks/>
            </p:cNvSpPr>
            <p:nvPr/>
          </p:nvSpPr>
          <p:spPr>
            <a:xfrm>
              <a:off x="6458986" y="257705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validation_report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Generate a report to validate person query data, with options to supply an additional </a:t>
              </a:r>
              <a:r>
                <a:rPr lang="en-US" sz="1300" i="1" dirty="0">
                  <a:solidFill>
                    <a:schemeClr val="tx1"/>
                  </a:solidFill>
                </a:rPr>
                <a:t>meeting query</a:t>
              </a: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0C558FDE-DB0E-FF93-AA7D-9CC1C7192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2577059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8207051B-55F9-F58B-677E-2D14C74D7283}"/>
              </a:ext>
            </a:extLst>
          </p:cNvPr>
          <p:cNvGrpSpPr/>
          <p:nvPr/>
        </p:nvGrpSpPr>
        <p:grpSpPr>
          <a:xfrm>
            <a:off x="6458986" y="3884547"/>
            <a:ext cx="5395736" cy="425758"/>
            <a:chOff x="6458986" y="4257282"/>
            <a:chExt cx="5395736" cy="425758"/>
          </a:xfrm>
        </p:grpSpPr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FB5F690-147E-92DD-D13E-260309C08668}"/>
                </a:ext>
              </a:extLst>
            </p:cNvPr>
            <p:cNvSpPr>
              <a:spLocks/>
            </p:cNvSpPr>
            <p:nvPr/>
          </p:nvSpPr>
          <p:spPr>
            <a:xfrm>
              <a:off x="6458986" y="4257282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extract_hr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Extract HR attributes in a query</a:t>
              </a: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05157748-2637-5745-2071-B69078B99A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4257282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57665665-F9BF-CEC0-D7E4-1AF2230F60B8}"/>
              </a:ext>
            </a:extLst>
          </p:cNvPr>
          <p:cNvGrpSpPr/>
          <p:nvPr/>
        </p:nvGrpSpPr>
        <p:grpSpPr>
          <a:xfrm>
            <a:off x="6458986" y="4503733"/>
            <a:ext cx="5395736" cy="425758"/>
            <a:chOff x="6458986" y="4974283"/>
            <a:chExt cx="5395736" cy="425758"/>
          </a:xfrm>
        </p:grpSpPr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1FB948B0-61C7-F9F7-7752-73D70515199A}"/>
                </a:ext>
              </a:extLst>
            </p:cNvPr>
            <p:cNvSpPr>
              <a:spLocks/>
            </p:cNvSpPr>
            <p:nvPr/>
          </p:nvSpPr>
          <p:spPr>
            <a:xfrm>
              <a:off x="6458986" y="4974283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check_query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Print diagnostic data about the query to the R console</a:t>
              </a: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777ABF43-0EEC-2CA7-F31C-1A61F48B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4974283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48D5E773-B3BD-9469-2D28-88B4E411AAF6}"/>
              </a:ext>
            </a:extLst>
          </p:cNvPr>
          <p:cNvGrpSpPr/>
          <p:nvPr/>
        </p:nvGrpSpPr>
        <p:grpSpPr>
          <a:xfrm>
            <a:off x="6458986" y="5942159"/>
            <a:ext cx="5395736" cy="625812"/>
            <a:chOff x="6458986" y="6654506"/>
            <a:chExt cx="5395736" cy="625812"/>
          </a:xfrm>
        </p:grpSpPr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6625C32E-7AF4-8C39-1A3C-D5187D736FDB}"/>
                </a:ext>
              </a:extLst>
            </p:cNvPr>
            <p:cNvSpPr>
              <a:spLocks/>
            </p:cNvSpPr>
            <p:nvPr/>
          </p:nvSpPr>
          <p:spPr>
            <a:xfrm>
              <a:off x="6458986" y="6654506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identify_nkw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Identify likely non-knowledge workers where average person collaboration hours lie far outside the mean</a:t>
              </a: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E85FEB87-5A37-B5C9-CAA7-E380F595D9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6654506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D1385C55-553A-1DD1-567E-449410EB9728}"/>
              </a:ext>
            </a:extLst>
          </p:cNvPr>
          <p:cNvGrpSpPr/>
          <p:nvPr/>
        </p:nvGrpSpPr>
        <p:grpSpPr>
          <a:xfrm>
            <a:off x="6458986" y="6761399"/>
            <a:ext cx="5395736" cy="625812"/>
            <a:chOff x="6458986" y="7617728"/>
            <a:chExt cx="5395736" cy="625812"/>
          </a:xfrm>
        </p:grpSpPr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B8C3B1D6-35C4-A8EB-A6CD-55DF1F1A5145}"/>
                </a:ext>
              </a:extLst>
            </p:cNvPr>
            <p:cNvSpPr>
              <a:spLocks/>
            </p:cNvSpPr>
            <p:nvPr/>
          </p:nvSpPr>
          <p:spPr>
            <a:xfrm>
              <a:off x="6458986" y="761772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identify_inactiveweeks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Identify likely person-weeks where collaboration hours lie far outside the mean relative to the population average</a:t>
              </a: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D4BCA07-665C-4955-6CFD-DA0A1FF55E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7617728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01E3784A-8500-1C66-6A54-2AF0B8E02014}"/>
              </a:ext>
            </a:extLst>
          </p:cNvPr>
          <p:cNvGrpSpPr/>
          <p:nvPr/>
        </p:nvGrpSpPr>
        <p:grpSpPr>
          <a:xfrm>
            <a:off x="6458986" y="7580639"/>
            <a:ext cx="5395736" cy="425758"/>
            <a:chOff x="6458986" y="8580950"/>
            <a:chExt cx="5395736" cy="425758"/>
          </a:xfrm>
        </p:grpSpPr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8522B3BA-0690-8063-1F12-DF3CB6D35836}"/>
                </a:ext>
              </a:extLst>
            </p:cNvPr>
            <p:cNvSpPr>
              <a:spLocks/>
            </p:cNvSpPr>
            <p:nvPr/>
          </p:nvSpPr>
          <p:spPr>
            <a:xfrm>
              <a:off x="6458986" y="8580950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identify_tenure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Calculate tenure based on a supplied hire date</a:t>
              </a: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86DFD02F-657C-4F19-260A-6264F6BD7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8580950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8F242D79-C0A1-99FD-046E-1001FE881291}"/>
              </a:ext>
            </a:extLst>
          </p:cNvPr>
          <p:cNvGrpSpPr/>
          <p:nvPr/>
        </p:nvGrpSpPr>
        <p:grpSpPr>
          <a:xfrm>
            <a:off x="6458986" y="8199825"/>
            <a:ext cx="5395736" cy="625812"/>
            <a:chOff x="6458986" y="9297951"/>
            <a:chExt cx="5395736" cy="625812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263DE471-9BD7-E7EF-5884-140942F1F3B7}"/>
                </a:ext>
              </a:extLst>
            </p:cNvPr>
            <p:cNvSpPr>
              <a:spLocks/>
            </p:cNvSpPr>
            <p:nvPr/>
          </p:nvSpPr>
          <p:spPr>
            <a:xfrm>
              <a:off x="6458986" y="9297951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identify_outlier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Takes in a selected metric and uses z-score (number of standard deviations) to identify outliers across time</a:t>
              </a: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F2385028-01B7-9D02-CF5C-8FA47E47CB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9297951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6FE57246-C261-8ECC-612F-F056C664958B}"/>
              </a:ext>
            </a:extLst>
          </p:cNvPr>
          <p:cNvGrpSpPr/>
          <p:nvPr/>
        </p:nvGrpSpPr>
        <p:grpSpPr>
          <a:xfrm>
            <a:off x="6458986" y="9019065"/>
            <a:ext cx="5395736" cy="625812"/>
            <a:chOff x="6458986" y="10261173"/>
            <a:chExt cx="5395736" cy="625812"/>
          </a:xfrm>
        </p:grpSpPr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1087D2C6-7683-F478-9BB4-30897F858F1E}"/>
                </a:ext>
              </a:extLst>
            </p:cNvPr>
            <p:cNvSpPr>
              <a:spLocks/>
            </p:cNvSpPr>
            <p:nvPr/>
          </p:nvSpPr>
          <p:spPr>
            <a:xfrm>
              <a:off x="6458986" y="10261173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identify_privacythreshold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This function scans a standard query output for groups with of employees under the privacy threshold</a:t>
              </a: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0FE91625-C56B-8BF5-A7BD-08FC6B2B7C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0261173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A0E06081-A951-78DC-6FB2-CED3671714E5}"/>
              </a:ext>
            </a:extLst>
          </p:cNvPr>
          <p:cNvCxnSpPr>
            <a:cxnSpLocks/>
          </p:cNvCxnSpPr>
          <p:nvPr/>
        </p:nvCxnSpPr>
        <p:spPr>
          <a:xfrm flipV="1">
            <a:off x="449020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8A2C7B13-FDC4-6EE9-414D-B60697C09072}"/>
              </a:ext>
            </a:extLst>
          </p:cNvPr>
          <p:cNvCxnSpPr>
            <a:cxnSpLocks/>
          </p:cNvCxnSpPr>
          <p:nvPr/>
        </p:nvCxnSpPr>
        <p:spPr>
          <a:xfrm flipV="1">
            <a:off x="6458986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DFD1FD1D-6D4C-3412-4B16-625C2BACBBA2}"/>
              </a:ext>
            </a:extLst>
          </p:cNvPr>
          <p:cNvCxnSpPr>
            <a:cxnSpLocks/>
          </p:cNvCxnSpPr>
          <p:nvPr/>
        </p:nvCxnSpPr>
        <p:spPr>
          <a:xfrm flipV="1">
            <a:off x="12468952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963925BA-2B54-49DD-D6F9-97F9F04F5ACB}"/>
              </a:ext>
            </a:extLst>
          </p:cNvPr>
          <p:cNvCxnSpPr>
            <a:cxnSpLocks/>
          </p:cNvCxnSpPr>
          <p:nvPr/>
        </p:nvCxnSpPr>
        <p:spPr>
          <a:xfrm flipV="1">
            <a:off x="18478918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A244C670-7828-F3B5-E182-304495A57BAC}"/>
              </a:ext>
            </a:extLst>
          </p:cNvPr>
          <p:cNvGrpSpPr>
            <a:grpSpLocks/>
          </p:cNvGrpSpPr>
          <p:nvPr/>
        </p:nvGrpSpPr>
        <p:grpSpPr>
          <a:xfrm>
            <a:off x="18478918" y="3955659"/>
            <a:ext cx="5395736" cy="651460"/>
            <a:chOff x="18478918" y="4347913"/>
            <a:chExt cx="5395736" cy="651460"/>
          </a:xfrm>
        </p:grpSpPr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723C02F3-A53B-A713-3D66-C557DFF6EE18}"/>
                </a:ext>
              </a:extLst>
            </p:cNvPr>
            <p:cNvSpPr>
              <a:spLocks/>
            </p:cNvSpPr>
            <p:nvPr/>
          </p:nvSpPr>
          <p:spPr>
            <a:xfrm>
              <a:off x="18478918" y="4347913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*_</a:t>
              </a: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dist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r>
                <a:rPr lang="en-US" sz="1300" i="1" dirty="0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stacked bar plot by default</a:t>
              </a: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CCB9815E-A5B3-29A7-26CC-FAC1B94A58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4347913"/>
              <a:ext cx="320863" cy="320863"/>
            </a:xfrm>
            <a:custGeom>
              <a:avLst/>
              <a:gdLst>
                <a:gd name="connsiteX0" fmla="*/ 361950 w 819150"/>
                <a:gd name="connsiteY0" fmla="*/ 657225 h 819150"/>
                <a:gd name="connsiteX1" fmla="*/ 819150 w 819150"/>
                <a:gd name="connsiteY1" fmla="*/ 657225 h 819150"/>
                <a:gd name="connsiteX2" fmla="*/ 819150 w 819150"/>
                <a:gd name="connsiteY2" fmla="*/ 819150 h 819150"/>
                <a:gd name="connsiteX3" fmla="*/ 361950 w 819150"/>
                <a:gd name="connsiteY3" fmla="*/ 819150 h 819150"/>
                <a:gd name="connsiteX4" fmla="*/ 190500 w 819150"/>
                <a:gd name="connsiteY4" fmla="*/ 657225 h 819150"/>
                <a:gd name="connsiteX5" fmla="*/ 342900 w 819150"/>
                <a:gd name="connsiteY5" fmla="*/ 657225 h 819150"/>
                <a:gd name="connsiteX6" fmla="*/ 342900 w 819150"/>
                <a:gd name="connsiteY6" fmla="*/ 819150 h 819150"/>
                <a:gd name="connsiteX7" fmla="*/ 190500 w 819150"/>
                <a:gd name="connsiteY7" fmla="*/ 819150 h 819150"/>
                <a:gd name="connsiteX8" fmla="*/ 0 w 819150"/>
                <a:gd name="connsiteY8" fmla="*/ 657225 h 819150"/>
                <a:gd name="connsiteX9" fmla="*/ 171450 w 819150"/>
                <a:gd name="connsiteY9" fmla="*/ 657225 h 819150"/>
                <a:gd name="connsiteX10" fmla="*/ 171450 w 819150"/>
                <a:gd name="connsiteY10" fmla="*/ 819150 h 819150"/>
                <a:gd name="connsiteX11" fmla="*/ 0 w 819150"/>
                <a:gd name="connsiteY11" fmla="*/ 819150 h 819150"/>
                <a:gd name="connsiteX12" fmla="*/ 590550 w 819150"/>
                <a:gd name="connsiteY12" fmla="*/ 438150 h 819150"/>
                <a:gd name="connsiteX13" fmla="*/ 819150 w 819150"/>
                <a:gd name="connsiteY13" fmla="*/ 438150 h 819150"/>
                <a:gd name="connsiteX14" fmla="*/ 819150 w 819150"/>
                <a:gd name="connsiteY14" fmla="*/ 600075 h 819150"/>
                <a:gd name="connsiteX15" fmla="*/ 590550 w 819150"/>
                <a:gd name="connsiteY15" fmla="*/ 600075 h 819150"/>
                <a:gd name="connsiteX16" fmla="*/ 276225 w 819150"/>
                <a:gd name="connsiteY16" fmla="*/ 438150 h 819150"/>
                <a:gd name="connsiteX17" fmla="*/ 571500 w 819150"/>
                <a:gd name="connsiteY17" fmla="*/ 438150 h 819150"/>
                <a:gd name="connsiteX18" fmla="*/ 571500 w 819150"/>
                <a:gd name="connsiteY18" fmla="*/ 600075 h 819150"/>
                <a:gd name="connsiteX19" fmla="*/ 276225 w 819150"/>
                <a:gd name="connsiteY19" fmla="*/ 600075 h 819150"/>
                <a:gd name="connsiteX20" fmla="*/ 0 w 819150"/>
                <a:gd name="connsiteY20" fmla="*/ 438150 h 819150"/>
                <a:gd name="connsiteX21" fmla="*/ 257175 w 819150"/>
                <a:gd name="connsiteY21" fmla="*/ 438150 h 819150"/>
                <a:gd name="connsiteX22" fmla="*/ 257175 w 819150"/>
                <a:gd name="connsiteY22" fmla="*/ 600075 h 819150"/>
                <a:gd name="connsiteX23" fmla="*/ 0 w 819150"/>
                <a:gd name="connsiteY23" fmla="*/ 600075 h 819150"/>
                <a:gd name="connsiteX24" fmla="*/ 514350 w 819150"/>
                <a:gd name="connsiteY24" fmla="*/ 219075 h 819150"/>
                <a:gd name="connsiteX25" fmla="*/ 819150 w 819150"/>
                <a:gd name="connsiteY25" fmla="*/ 219075 h 819150"/>
                <a:gd name="connsiteX26" fmla="*/ 819150 w 819150"/>
                <a:gd name="connsiteY26" fmla="*/ 381000 h 819150"/>
                <a:gd name="connsiteX27" fmla="*/ 514350 w 819150"/>
                <a:gd name="connsiteY27" fmla="*/ 381000 h 819150"/>
                <a:gd name="connsiteX28" fmla="*/ 190500 w 819150"/>
                <a:gd name="connsiteY28" fmla="*/ 219075 h 819150"/>
                <a:gd name="connsiteX29" fmla="*/ 495300 w 819150"/>
                <a:gd name="connsiteY29" fmla="*/ 219075 h 819150"/>
                <a:gd name="connsiteX30" fmla="*/ 495300 w 819150"/>
                <a:gd name="connsiteY30" fmla="*/ 381000 h 819150"/>
                <a:gd name="connsiteX31" fmla="*/ 190500 w 819150"/>
                <a:gd name="connsiteY31" fmla="*/ 381000 h 819150"/>
                <a:gd name="connsiteX32" fmla="*/ 0 w 819150"/>
                <a:gd name="connsiteY32" fmla="*/ 219075 h 819150"/>
                <a:gd name="connsiteX33" fmla="*/ 171450 w 819150"/>
                <a:gd name="connsiteY33" fmla="*/ 219075 h 819150"/>
                <a:gd name="connsiteX34" fmla="*/ 171450 w 819150"/>
                <a:gd name="connsiteY34" fmla="*/ 381000 h 819150"/>
                <a:gd name="connsiteX35" fmla="*/ 0 w 819150"/>
                <a:gd name="connsiteY35" fmla="*/ 381000 h 819150"/>
                <a:gd name="connsiteX36" fmla="*/ 400050 w 819150"/>
                <a:gd name="connsiteY36" fmla="*/ 0 h 819150"/>
                <a:gd name="connsiteX37" fmla="*/ 819150 w 819150"/>
                <a:gd name="connsiteY37" fmla="*/ 0 h 819150"/>
                <a:gd name="connsiteX38" fmla="*/ 819150 w 819150"/>
                <a:gd name="connsiteY38" fmla="*/ 161925 h 819150"/>
                <a:gd name="connsiteX39" fmla="*/ 400050 w 819150"/>
                <a:gd name="connsiteY39" fmla="*/ 161925 h 819150"/>
                <a:gd name="connsiteX40" fmla="*/ 323850 w 819150"/>
                <a:gd name="connsiteY40" fmla="*/ 0 h 819150"/>
                <a:gd name="connsiteX41" fmla="*/ 381000 w 819150"/>
                <a:gd name="connsiteY41" fmla="*/ 0 h 819150"/>
                <a:gd name="connsiteX42" fmla="*/ 381000 w 819150"/>
                <a:gd name="connsiteY42" fmla="*/ 161925 h 819150"/>
                <a:gd name="connsiteX43" fmla="*/ 323850 w 819150"/>
                <a:gd name="connsiteY43" fmla="*/ 161925 h 819150"/>
                <a:gd name="connsiteX44" fmla="*/ 0 w 819150"/>
                <a:gd name="connsiteY44" fmla="*/ 0 h 819150"/>
                <a:gd name="connsiteX45" fmla="*/ 304800 w 819150"/>
                <a:gd name="connsiteY45" fmla="*/ 0 h 819150"/>
                <a:gd name="connsiteX46" fmla="*/ 304800 w 819150"/>
                <a:gd name="connsiteY46" fmla="*/ 161925 h 819150"/>
                <a:gd name="connsiteX47" fmla="*/ 0 w 819150"/>
                <a:gd name="connsiteY47" fmla="*/ 16192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19150" h="819150">
                  <a:moveTo>
                    <a:pt x="361950" y="657225"/>
                  </a:moveTo>
                  <a:lnTo>
                    <a:pt x="819150" y="657225"/>
                  </a:lnTo>
                  <a:lnTo>
                    <a:pt x="819150" y="819150"/>
                  </a:lnTo>
                  <a:lnTo>
                    <a:pt x="361950" y="819150"/>
                  </a:lnTo>
                  <a:close/>
                  <a:moveTo>
                    <a:pt x="190500" y="657225"/>
                  </a:moveTo>
                  <a:lnTo>
                    <a:pt x="342900" y="657225"/>
                  </a:lnTo>
                  <a:lnTo>
                    <a:pt x="342900" y="819150"/>
                  </a:lnTo>
                  <a:lnTo>
                    <a:pt x="190500" y="819150"/>
                  </a:lnTo>
                  <a:close/>
                  <a:moveTo>
                    <a:pt x="0" y="657225"/>
                  </a:moveTo>
                  <a:lnTo>
                    <a:pt x="171450" y="657225"/>
                  </a:lnTo>
                  <a:lnTo>
                    <a:pt x="171450" y="819150"/>
                  </a:lnTo>
                  <a:lnTo>
                    <a:pt x="0" y="819150"/>
                  </a:lnTo>
                  <a:close/>
                  <a:moveTo>
                    <a:pt x="590550" y="438150"/>
                  </a:moveTo>
                  <a:lnTo>
                    <a:pt x="819150" y="438150"/>
                  </a:lnTo>
                  <a:lnTo>
                    <a:pt x="819150" y="600075"/>
                  </a:lnTo>
                  <a:lnTo>
                    <a:pt x="590550" y="600075"/>
                  </a:lnTo>
                  <a:close/>
                  <a:moveTo>
                    <a:pt x="276225" y="438150"/>
                  </a:moveTo>
                  <a:lnTo>
                    <a:pt x="571500" y="438150"/>
                  </a:lnTo>
                  <a:lnTo>
                    <a:pt x="571500" y="600075"/>
                  </a:lnTo>
                  <a:lnTo>
                    <a:pt x="276225" y="600075"/>
                  </a:lnTo>
                  <a:close/>
                  <a:moveTo>
                    <a:pt x="0" y="438150"/>
                  </a:moveTo>
                  <a:lnTo>
                    <a:pt x="257175" y="438150"/>
                  </a:lnTo>
                  <a:lnTo>
                    <a:pt x="257175" y="600075"/>
                  </a:lnTo>
                  <a:lnTo>
                    <a:pt x="0" y="600075"/>
                  </a:lnTo>
                  <a:close/>
                  <a:moveTo>
                    <a:pt x="514350" y="219075"/>
                  </a:moveTo>
                  <a:lnTo>
                    <a:pt x="819150" y="219075"/>
                  </a:lnTo>
                  <a:lnTo>
                    <a:pt x="819150" y="381000"/>
                  </a:lnTo>
                  <a:lnTo>
                    <a:pt x="514350" y="381000"/>
                  </a:lnTo>
                  <a:close/>
                  <a:moveTo>
                    <a:pt x="190500" y="219075"/>
                  </a:moveTo>
                  <a:lnTo>
                    <a:pt x="495300" y="219075"/>
                  </a:lnTo>
                  <a:lnTo>
                    <a:pt x="495300" y="381000"/>
                  </a:lnTo>
                  <a:lnTo>
                    <a:pt x="190500" y="381000"/>
                  </a:lnTo>
                  <a:close/>
                  <a:moveTo>
                    <a:pt x="0" y="219075"/>
                  </a:moveTo>
                  <a:lnTo>
                    <a:pt x="171450" y="219075"/>
                  </a:lnTo>
                  <a:lnTo>
                    <a:pt x="171450" y="381000"/>
                  </a:lnTo>
                  <a:lnTo>
                    <a:pt x="0" y="381000"/>
                  </a:lnTo>
                  <a:close/>
                  <a:moveTo>
                    <a:pt x="400050" y="0"/>
                  </a:moveTo>
                  <a:lnTo>
                    <a:pt x="819150" y="0"/>
                  </a:lnTo>
                  <a:lnTo>
                    <a:pt x="819150" y="161925"/>
                  </a:lnTo>
                  <a:lnTo>
                    <a:pt x="400050" y="161925"/>
                  </a:lnTo>
                  <a:close/>
                  <a:moveTo>
                    <a:pt x="323850" y="0"/>
                  </a:moveTo>
                  <a:lnTo>
                    <a:pt x="381000" y="0"/>
                  </a:lnTo>
                  <a:lnTo>
                    <a:pt x="381000" y="161925"/>
                  </a:lnTo>
                  <a:lnTo>
                    <a:pt x="323850" y="161925"/>
                  </a:lnTo>
                  <a:close/>
                  <a:moveTo>
                    <a:pt x="0" y="0"/>
                  </a:moveTo>
                  <a:lnTo>
                    <a:pt x="304800" y="0"/>
                  </a:lnTo>
                  <a:lnTo>
                    <a:pt x="304800" y="161925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C00C627F-D6C1-0AC8-BDCA-27C7B5ABBB50}"/>
              </a:ext>
            </a:extLst>
          </p:cNvPr>
          <p:cNvGrpSpPr>
            <a:grpSpLocks/>
          </p:cNvGrpSpPr>
          <p:nvPr/>
        </p:nvGrpSpPr>
        <p:grpSpPr>
          <a:xfrm>
            <a:off x="18478918" y="3033839"/>
            <a:ext cx="5395736" cy="651460"/>
            <a:chOff x="18478918" y="3393165"/>
            <a:chExt cx="5395736" cy="651460"/>
          </a:xfrm>
        </p:grpSpPr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19C445D7-5C18-94B9-E700-50ABBB0A2778}"/>
                </a:ext>
              </a:extLst>
            </p:cNvPr>
            <p:cNvSpPr>
              <a:spLocks/>
            </p:cNvSpPr>
            <p:nvPr/>
          </p:nvSpPr>
          <p:spPr>
            <a:xfrm>
              <a:off x="18478918" y="3393165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*_summary()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r>
                <a:rPr lang="en-US" sz="1300" i="1" dirty="0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bar plot showing average weekly email hours by default</a:t>
              </a:r>
              <a:endParaRPr lang="en-US" sz="1300" i="1" dirty="0">
                <a:solidFill>
                  <a:schemeClr val="tx1"/>
                </a:solidFill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8252E1E4-C6A7-55A8-0176-C89D9E05EA6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18449345" y="3422739"/>
              <a:ext cx="388244" cy="329097"/>
            </a:xfrm>
            <a:custGeom>
              <a:avLst/>
              <a:gdLst>
                <a:gd name="connsiteX0" fmla="*/ 125720 w 857250"/>
                <a:gd name="connsiteY0" fmla="*/ 606884 h 726651"/>
                <a:gd name="connsiteX1" fmla="*/ 0 w 857250"/>
                <a:gd name="connsiteY1" fmla="*/ 606884 h 726651"/>
                <a:gd name="connsiteX2" fmla="*/ 0 w 857250"/>
                <a:gd name="connsiteY2" fmla="*/ 726614 h 726651"/>
                <a:gd name="connsiteX3" fmla="*/ 125720 w 857250"/>
                <a:gd name="connsiteY3" fmla="*/ 726614 h 726651"/>
                <a:gd name="connsiteX4" fmla="*/ 731530 w 857250"/>
                <a:gd name="connsiteY4" fmla="*/ 118690 h 726651"/>
                <a:gd name="connsiteX5" fmla="*/ 731530 w 857250"/>
                <a:gd name="connsiteY5" fmla="*/ 726652 h 726651"/>
                <a:gd name="connsiteX6" fmla="*/ 857250 w 857250"/>
                <a:gd name="connsiteY6" fmla="*/ 726615 h 726651"/>
                <a:gd name="connsiteX7" fmla="*/ 857250 w 857250"/>
                <a:gd name="connsiteY7" fmla="*/ 0 h 726651"/>
                <a:gd name="connsiteX8" fmla="*/ 731530 w 857250"/>
                <a:gd name="connsiteY8" fmla="*/ 0 h 726651"/>
                <a:gd name="connsiteX9" fmla="*/ 548659 w 857250"/>
                <a:gd name="connsiteY9" fmla="*/ 374713 h 726651"/>
                <a:gd name="connsiteX10" fmla="*/ 548659 w 857250"/>
                <a:gd name="connsiteY10" fmla="*/ 726652 h 726651"/>
                <a:gd name="connsiteX11" fmla="*/ 674380 w 857250"/>
                <a:gd name="connsiteY11" fmla="*/ 726652 h 726651"/>
                <a:gd name="connsiteX12" fmla="*/ 674380 w 857250"/>
                <a:gd name="connsiteY12" fmla="*/ 175840 h 726651"/>
                <a:gd name="connsiteX13" fmla="*/ 548659 w 857250"/>
                <a:gd name="connsiteY13" fmla="*/ 175840 h 726651"/>
                <a:gd name="connsiteX14" fmla="*/ 491509 w 857250"/>
                <a:gd name="connsiteY14" fmla="*/ 726652 h 726651"/>
                <a:gd name="connsiteX15" fmla="*/ 491509 w 857250"/>
                <a:gd name="connsiteY15" fmla="*/ 431863 h 726651"/>
                <a:gd name="connsiteX16" fmla="*/ 365750 w 857250"/>
                <a:gd name="connsiteY16" fmla="*/ 431863 h 726651"/>
                <a:gd name="connsiteX17" fmla="*/ 365750 w 857250"/>
                <a:gd name="connsiteY17" fmla="*/ 726652 h 726651"/>
                <a:gd name="connsiteX18" fmla="*/ 182880 w 857250"/>
                <a:gd name="connsiteY18" fmla="*/ 549734 h 726651"/>
                <a:gd name="connsiteX19" fmla="*/ 182880 w 857250"/>
                <a:gd name="connsiteY19" fmla="*/ 726614 h 726651"/>
                <a:gd name="connsiteX20" fmla="*/ 308600 w 857250"/>
                <a:gd name="connsiteY20" fmla="*/ 726614 h 726651"/>
                <a:gd name="connsiteX21" fmla="*/ 308600 w 857250"/>
                <a:gd name="connsiteY21" fmla="*/ 288168 h 726651"/>
                <a:gd name="connsiteX22" fmla="*/ 182880 w 857250"/>
                <a:gd name="connsiteY22" fmla="*/ 288168 h 72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0" h="726651">
                  <a:moveTo>
                    <a:pt x="125720" y="606884"/>
                  </a:moveTo>
                  <a:lnTo>
                    <a:pt x="0" y="606884"/>
                  </a:lnTo>
                  <a:lnTo>
                    <a:pt x="0" y="726614"/>
                  </a:lnTo>
                  <a:lnTo>
                    <a:pt x="125720" y="726614"/>
                  </a:lnTo>
                  <a:close/>
                  <a:moveTo>
                    <a:pt x="731530" y="118690"/>
                  </a:moveTo>
                  <a:lnTo>
                    <a:pt x="731530" y="726652"/>
                  </a:lnTo>
                  <a:lnTo>
                    <a:pt x="857250" y="726615"/>
                  </a:lnTo>
                  <a:lnTo>
                    <a:pt x="857250" y="0"/>
                  </a:lnTo>
                  <a:lnTo>
                    <a:pt x="731530" y="0"/>
                  </a:lnTo>
                  <a:close/>
                  <a:moveTo>
                    <a:pt x="548659" y="374713"/>
                  </a:moveTo>
                  <a:lnTo>
                    <a:pt x="548659" y="726652"/>
                  </a:lnTo>
                  <a:lnTo>
                    <a:pt x="674380" y="726652"/>
                  </a:lnTo>
                  <a:lnTo>
                    <a:pt x="674380" y="175840"/>
                  </a:lnTo>
                  <a:lnTo>
                    <a:pt x="548659" y="175840"/>
                  </a:lnTo>
                  <a:close/>
                  <a:moveTo>
                    <a:pt x="491509" y="726652"/>
                  </a:moveTo>
                  <a:lnTo>
                    <a:pt x="491509" y="431863"/>
                  </a:lnTo>
                  <a:lnTo>
                    <a:pt x="365750" y="431863"/>
                  </a:lnTo>
                  <a:lnTo>
                    <a:pt x="365750" y="726652"/>
                  </a:lnTo>
                  <a:close/>
                  <a:moveTo>
                    <a:pt x="182880" y="549734"/>
                  </a:moveTo>
                  <a:lnTo>
                    <a:pt x="182880" y="726614"/>
                  </a:lnTo>
                  <a:lnTo>
                    <a:pt x="308600" y="726614"/>
                  </a:lnTo>
                  <a:lnTo>
                    <a:pt x="308600" y="288168"/>
                  </a:lnTo>
                  <a:lnTo>
                    <a:pt x="182880" y="288168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82F92D8E-2341-F323-AF98-79920F77BBD4}"/>
              </a:ext>
            </a:extLst>
          </p:cNvPr>
          <p:cNvGrpSpPr>
            <a:grpSpLocks/>
          </p:cNvGrpSpPr>
          <p:nvPr/>
        </p:nvGrpSpPr>
        <p:grpSpPr>
          <a:xfrm>
            <a:off x="18478918" y="5799299"/>
            <a:ext cx="5395736" cy="651460"/>
            <a:chOff x="18478918" y="6257409"/>
            <a:chExt cx="5395736" cy="651460"/>
          </a:xfrm>
        </p:grpSpPr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75B022D2-FEBA-4BEF-326C-FEB593A0C1FF}"/>
                </a:ext>
              </a:extLst>
            </p:cNvPr>
            <p:cNvSpPr>
              <a:spLocks/>
            </p:cNvSpPr>
            <p:nvPr/>
          </p:nvSpPr>
          <p:spPr>
            <a:xfrm>
              <a:off x="18478918" y="6257409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  <a:latin typeface="+mj-lt"/>
                </a:rPr>
                <a:t>*_line()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line chart for email hours by default</a:t>
              </a: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12072012-B99E-4DB1-CBC9-33E87B64C1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6257409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658E11DD-E45A-DEC7-19B2-D51BD6668337}"/>
              </a:ext>
            </a:extLst>
          </p:cNvPr>
          <p:cNvGrpSpPr>
            <a:grpSpLocks/>
          </p:cNvGrpSpPr>
          <p:nvPr/>
        </p:nvGrpSpPr>
        <p:grpSpPr>
          <a:xfrm>
            <a:off x="18478918" y="6721119"/>
            <a:ext cx="5395736" cy="851515"/>
            <a:chOff x="18478918" y="7212157"/>
            <a:chExt cx="5395736" cy="851515"/>
          </a:xfrm>
        </p:grpSpPr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0F3F4F97-93DC-86C1-4AAB-8CE1298A912F}"/>
                </a:ext>
              </a:extLst>
            </p:cNvPr>
            <p:cNvSpPr>
              <a:spLocks/>
            </p:cNvSpPr>
            <p:nvPr/>
          </p:nvSpPr>
          <p:spPr>
            <a:xfrm>
              <a:off x="18478918" y="7212157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  <a:latin typeface="+mj-lt"/>
                </a:rPr>
                <a:t>*_trend()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By default, returns a week-by-week heatmap, highlighting the time with most activity</a:t>
              </a: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7CAA30F4-C75B-962F-029A-03E3308243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7212157"/>
              <a:ext cx="291694" cy="291694"/>
            </a:xfrm>
            <a:custGeom>
              <a:avLst/>
              <a:gdLst>
                <a:gd name="connsiteX0" fmla="*/ 361950 w 819150"/>
                <a:gd name="connsiteY0" fmla="*/ 657225 h 819150"/>
                <a:gd name="connsiteX1" fmla="*/ 819150 w 819150"/>
                <a:gd name="connsiteY1" fmla="*/ 657225 h 819150"/>
                <a:gd name="connsiteX2" fmla="*/ 819150 w 819150"/>
                <a:gd name="connsiteY2" fmla="*/ 819150 h 819150"/>
                <a:gd name="connsiteX3" fmla="*/ 361950 w 819150"/>
                <a:gd name="connsiteY3" fmla="*/ 819150 h 819150"/>
                <a:gd name="connsiteX4" fmla="*/ 190500 w 819150"/>
                <a:gd name="connsiteY4" fmla="*/ 657225 h 819150"/>
                <a:gd name="connsiteX5" fmla="*/ 342900 w 819150"/>
                <a:gd name="connsiteY5" fmla="*/ 657225 h 819150"/>
                <a:gd name="connsiteX6" fmla="*/ 342900 w 819150"/>
                <a:gd name="connsiteY6" fmla="*/ 819150 h 819150"/>
                <a:gd name="connsiteX7" fmla="*/ 190500 w 819150"/>
                <a:gd name="connsiteY7" fmla="*/ 819150 h 819150"/>
                <a:gd name="connsiteX8" fmla="*/ 0 w 819150"/>
                <a:gd name="connsiteY8" fmla="*/ 657225 h 819150"/>
                <a:gd name="connsiteX9" fmla="*/ 171450 w 819150"/>
                <a:gd name="connsiteY9" fmla="*/ 657225 h 819150"/>
                <a:gd name="connsiteX10" fmla="*/ 171450 w 819150"/>
                <a:gd name="connsiteY10" fmla="*/ 819150 h 819150"/>
                <a:gd name="connsiteX11" fmla="*/ 0 w 819150"/>
                <a:gd name="connsiteY11" fmla="*/ 819150 h 819150"/>
                <a:gd name="connsiteX12" fmla="*/ 590550 w 819150"/>
                <a:gd name="connsiteY12" fmla="*/ 438150 h 819150"/>
                <a:gd name="connsiteX13" fmla="*/ 819150 w 819150"/>
                <a:gd name="connsiteY13" fmla="*/ 438150 h 819150"/>
                <a:gd name="connsiteX14" fmla="*/ 819150 w 819150"/>
                <a:gd name="connsiteY14" fmla="*/ 600075 h 819150"/>
                <a:gd name="connsiteX15" fmla="*/ 590550 w 819150"/>
                <a:gd name="connsiteY15" fmla="*/ 600075 h 819150"/>
                <a:gd name="connsiteX16" fmla="*/ 276225 w 819150"/>
                <a:gd name="connsiteY16" fmla="*/ 438150 h 819150"/>
                <a:gd name="connsiteX17" fmla="*/ 571500 w 819150"/>
                <a:gd name="connsiteY17" fmla="*/ 438150 h 819150"/>
                <a:gd name="connsiteX18" fmla="*/ 571500 w 819150"/>
                <a:gd name="connsiteY18" fmla="*/ 600075 h 819150"/>
                <a:gd name="connsiteX19" fmla="*/ 276225 w 819150"/>
                <a:gd name="connsiteY19" fmla="*/ 600075 h 819150"/>
                <a:gd name="connsiteX20" fmla="*/ 0 w 819150"/>
                <a:gd name="connsiteY20" fmla="*/ 438150 h 819150"/>
                <a:gd name="connsiteX21" fmla="*/ 257175 w 819150"/>
                <a:gd name="connsiteY21" fmla="*/ 438150 h 819150"/>
                <a:gd name="connsiteX22" fmla="*/ 257175 w 819150"/>
                <a:gd name="connsiteY22" fmla="*/ 600075 h 819150"/>
                <a:gd name="connsiteX23" fmla="*/ 0 w 819150"/>
                <a:gd name="connsiteY23" fmla="*/ 600075 h 819150"/>
                <a:gd name="connsiteX24" fmla="*/ 514350 w 819150"/>
                <a:gd name="connsiteY24" fmla="*/ 219075 h 819150"/>
                <a:gd name="connsiteX25" fmla="*/ 819150 w 819150"/>
                <a:gd name="connsiteY25" fmla="*/ 219075 h 819150"/>
                <a:gd name="connsiteX26" fmla="*/ 819150 w 819150"/>
                <a:gd name="connsiteY26" fmla="*/ 381000 h 819150"/>
                <a:gd name="connsiteX27" fmla="*/ 514350 w 819150"/>
                <a:gd name="connsiteY27" fmla="*/ 381000 h 819150"/>
                <a:gd name="connsiteX28" fmla="*/ 190500 w 819150"/>
                <a:gd name="connsiteY28" fmla="*/ 219075 h 819150"/>
                <a:gd name="connsiteX29" fmla="*/ 495300 w 819150"/>
                <a:gd name="connsiteY29" fmla="*/ 219075 h 819150"/>
                <a:gd name="connsiteX30" fmla="*/ 495300 w 819150"/>
                <a:gd name="connsiteY30" fmla="*/ 381000 h 819150"/>
                <a:gd name="connsiteX31" fmla="*/ 190500 w 819150"/>
                <a:gd name="connsiteY31" fmla="*/ 381000 h 819150"/>
                <a:gd name="connsiteX32" fmla="*/ 0 w 819150"/>
                <a:gd name="connsiteY32" fmla="*/ 219075 h 819150"/>
                <a:gd name="connsiteX33" fmla="*/ 171450 w 819150"/>
                <a:gd name="connsiteY33" fmla="*/ 219075 h 819150"/>
                <a:gd name="connsiteX34" fmla="*/ 171450 w 819150"/>
                <a:gd name="connsiteY34" fmla="*/ 381000 h 819150"/>
                <a:gd name="connsiteX35" fmla="*/ 0 w 819150"/>
                <a:gd name="connsiteY35" fmla="*/ 381000 h 819150"/>
                <a:gd name="connsiteX36" fmla="*/ 400050 w 819150"/>
                <a:gd name="connsiteY36" fmla="*/ 0 h 819150"/>
                <a:gd name="connsiteX37" fmla="*/ 819150 w 819150"/>
                <a:gd name="connsiteY37" fmla="*/ 0 h 819150"/>
                <a:gd name="connsiteX38" fmla="*/ 819150 w 819150"/>
                <a:gd name="connsiteY38" fmla="*/ 161925 h 819150"/>
                <a:gd name="connsiteX39" fmla="*/ 400050 w 819150"/>
                <a:gd name="connsiteY39" fmla="*/ 161925 h 819150"/>
                <a:gd name="connsiteX40" fmla="*/ 323850 w 819150"/>
                <a:gd name="connsiteY40" fmla="*/ 0 h 819150"/>
                <a:gd name="connsiteX41" fmla="*/ 381000 w 819150"/>
                <a:gd name="connsiteY41" fmla="*/ 0 h 819150"/>
                <a:gd name="connsiteX42" fmla="*/ 381000 w 819150"/>
                <a:gd name="connsiteY42" fmla="*/ 161925 h 819150"/>
                <a:gd name="connsiteX43" fmla="*/ 323850 w 819150"/>
                <a:gd name="connsiteY43" fmla="*/ 161925 h 819150"/>
                <a:gd name="connsiteX44" fmla="*/ 0 w 819150"/>
                <a:gd name="connsiteY44" fmla="*/ 0 h 819150"/>
                <a:gd name="connsiteX45" fmla="*/ 304800 w 819150"/>
                <a:gd name="connsiteY45" fmla="*/ 0 h 819150"/>
                <a:gd name="connsiteX46" fmla="*/ 304800 w 819150"/>
                <a:gd name="connsiteY46" fmla="*/ 161925 h 819150"/>
                <a:gd name="connsiteX47" fmla="*/ 0 w 819150"/>
                <a:gd name="connsiteY47" fmla="*/ 16192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19150" h="819150">
                  <a:moveTo>
                    <a:pt x="361950" y="657225"/>
                  </a:moveTo>
                  <a:lnTo>
                    <a:pt x="819150" y="657225"/>
                  </a:lnTo>
                  <a:lnTo>
                    <a:pt x="819150" y="819150"/>
                  </a:lnTo>
                  <a:lnTo>
                    <a:pt x="361950" y="819150"/>
                  </a:lnTo>
                  <a:close/>
                  <a:moveTo>
                    <a:pt x="190500" y="657225"/>
                  </a:moveTo>
                  <a:lnTo>
                    <a:pt x="342900" y="657225"/>
                  </a:lnTo>
                  <a:lnTo>
                    <a:pt x="342900" y="819150"/>
                  </a:lnTo>
                  <a:lnTo>
                    <a:pt x="190500" y="819150"/>
                  </a:lnTo>
                  <a:close/>
                  <a:moveTo>
                    <a:pt x="0" y="657225"/>
                  </a:moveTo>
                  <a:lnTo>
                    <a:pt x="171450" y="657225"/>
                  </a:lnTo>
                  <a:lnTo>
                    <a:pt x="171450" y="819150"/>
                  </a:lnTo>
                  <a:lnTo>
                    <a:pt x="0" y="819150"/>
                  </a:lnTo>
                  <a:close/>
                  <a:moveTo>
                    <a:pt x="590550" y="438150"/>
                  </a:moveTo>
                  <a:lnTo>
                    <a:pt x="819150" y="438150"/>
                  </a:lnTo>
                  <a:lnTo>
                    <a:pt x="819150" y="600075"/>
                  </a:lnTo>
                  <a:lnTo>
                    <a:pt x="590550" y="600075"/>
                  </a:lnTo>
                  <a:close/>
                  <a:moveTo>
                    <a:pt x="276225" y="438150"/>
                  </a:moveTo>
                  <a:lnTo>
                    <a:pt x="571500" y="438150"/>
                  </a:lnTo>
                  <a:lnTo>
                    <a:pt x="571500" y="600075"/>
                  </a:lnTo>
                  <a:lnTo>
                    <a:pt x="276225" y="600075"/>
                  </a:lnTo>
                  <a:close/>
                  <a:moveTo>
                    <a:pt x="0" y="438150"/>
                  </a:moveTo>
                  <a:lnTo>
                    <a:pt x="257175" y="438150"/>
                  </a:lnTo>
                  <a:lnTo>
                    <a:pt x="257175" y="600075"/>
                  </a:lnTo>
                  <a:lnTo>
                    <a:pt x="0" y="600075"/>
                  </a:lnTo>
                  <a:close/>
                  <a:moveTo>
                    <a:pt x="514350" y="219075"/>
                  </a:moveTo>
                  <a:lnTo>
                    <a:pt x="819150" y="219075"/>
                  </a:lnTo>
                  <a:lnTo>
                    <a:pt x="819150" y="381000"/>
                  </a:lnTo>
                  <a:lnTo>
                    <a:pt x="514350" y="381000"/>
                  </a:lnTo>
                  <a:close/>
                  <a:moveTo>
                    <a:pt x="190500" y="219075"/>
                  </a:moveTo>
                  <a:lnTo>
                    <a:pt x="495300" y="219075"/>
                  </a:lnTo>
                  <a:lnTo>
                    <a:pt x="495300" y="381000"/>
                  </a:lnTo>
                  <a:lnTo>
                    <a:pt x="190500" y="381000"/>
                  </a:lnTo>
                  <a:close/>
                  <a:moveTo>
                    <a:pt x="0" y="219075"/>
                  </a:moveTo>
                  <a:lnTo>
                    <a:pt x="171450" y="219075"/>
                  </a:lnTo>
                  <a:lnTo>
                    <a:pt x="171450" y="381000"/>
                  </a:lnTo>
                  <a:lnTo>
                    <a:pt x="0" y="381000"/>
                  </a:lnTo>
                  <a:close/>
                  <a:moveTo>
                    <a:pt x="400050" y="0"/>
                  </a:moveTo>
                  <a:lnTo>
                    <a:pt x="819150" y="0"/>
                  </a:lnTo>
                  <a:lnTo>
                    <a:pt x="819150" y="161925"/>
                  </a:lnTo>
                  <a:lnTo>
                    <a:pt x="400050" y="161925"/>
                  </a:lnTo>
                  <a:close/>
                  <a:moveTo>
                    <a:pt x="323850" y="0"/>
                  </a:moveTo>
                  <a:lnTo>
                    <a:pt x="381000" y="0"/>
                  </a:lnTo>
                  <a:lnTo>
                    <a:pt x="381000" y="161925"/>
                  </a:lnTo>
                  <a:lnTo>
                    <a:pt x="323850" y="161925"/>
                  </a:lnTo>
                  <a:close/>
                  <a:moveTo>
                    <a:pt x="0" y="0"/>
                  </a:moveTo>
                  <a:lnTo>
                    <a:pt x="304800" y="0"/>
                  </a:lnTo>
                  <a:lnTo>
                    <a:pt x="304800" y="161925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DB841839-E5A3-8345-58C2-E717D6DEE6AB}"/>
              </a:ext>
            </a:extLst>
          </p:cNvPr>
          <p:cNvGrpSpPr>
            <a:grpSpLocks/>
          </p:cNvGrpSpPr>
          <p:nvPr/>
        </p:nvGrpSpPr>
        <p:grpSpPr>
          <a:xfrm>
            <a:off x="18478918" y="7842995"/>
            <a:ext cx="5395736" cy="1051570"/>
            <a:chOff x="18478918" y="8413121"/>
            <a:chExt cx="5395736" cy="1051570"/>
          </a:xfrm>
        </p:grpSpPr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5B1C0D8B-8162-8998-FC5E-7627A5AB252C}"/>
                </a:ext>
              </a:extLst>
            </p:cNvPr>
            <p:cNvSpPr>
              <a:spLocks/>
            </p:cNvSpPr>
            <p:nvPr/>
          </p:nvSpPr>
          <p:spPr>
            <a:xfrm>
              <a:off x="18478918" y="8413121"/>
              <a:ext cx="5395736" cy="1051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*_rank()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endParaRPr lang="en-US" sz="1300" i="1" dirty="0">
                <a:solidFill>
                  <a:schemeClr val="tx1"/>
                </a:solidFill>
              </a:endParaRP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plot by default, with an option to return a table with a all of groups (across multiple HR attributes) ranked by hours of digital collaboration</a:t>
              </a: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2F6DA240-E614-8323-E103-BCE2CDD271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8413121"/>
              <a:ext cx="291694" cy="291694"/>
            </a:xfrm>
            <a:custGeom>
              <a:avLst/>
              <a:gdLst>
                <a:gd name="connsiteX0" fmla="*/ 466725 w 476250"/>
                <a:gd name="connsiteY0" fmla="*/ 0 h 476250"/>
                <a:gd name="connsiteX1" fmla="*/ 78353 w 476250"/>
                <a:gd name="connsiteY1" fmla="*/ 0 h 476250"/>
                <a:gd name="connsiteX2" fmla="*/ 9525 w 476250"/>
                <a:gd name="connsiteY2" fmla="*/ 0 h 476250"/>
                <a:gd name="connsiteX3" fmla="*/ 0 w 476250"/>
                <a:gd name="connsiteY3" fmla="*/ 9525 h 476250"/>
                <a:gd name="connsiteX4" fmla="*/ 0 w 476250"/>
                <a:gd name="connsiteY4" fmla="*/ 78334 h 476250"/>
                <a:gd name="connsiteX5" fmla="*/ 0 w 476250"/>
                <a:gd name="connsiteY5" fmla="*/ 466725 h 476250"/>
                <a:gd name="connsiteX6" fmla="*/ 9525 w 476250"/>
                <a:gd name="connsiteY6" fmla="*/ 476250 h 476250"/>
                <a:gd name="connsiteX7" fmla="*/ 78353 w 476250"/>
                <a:gd name="connsiteY7" fmla="*/ 476250 h 476250"/>
                <a:gd name="connsiteX8" fmla="*/ 207721 w 476250"/>
                <a:gd name="connsiteY8" fmla="*/ 476250 h 476250"/>
                <a:gd name="connsiteX9" fmla="*/ 207855 w 476250"/>
                <a:gd name="connsiteY9" fmla="*/ 476221 h 476250"/>
                <a:gd name="connsiteX10" fmla="*/ 207978 w 476250"/>
                <a:gd name="connsiteY10" fmla="*/ 476250 h 476250"/>
                <a:gd name="connsiteX11" fmla="*/ 337356 w 476250"/>
                <a:gd name="connsiteY11" fmla="*/ 476250 h 476250"/>
                <a:gd name="connsiteX12" fmla="*/ 466725 w 476250"/>
                <a:gd name="connsiteY12" fmla="*/ 476250 h 476250"/>
                <a:gd name="connsiteX13" fmla="*/ 476250 w 476250"/>
                <a:gd name="connsiteY13" fmla="*/ 466725 h 476250"/>
                <a:gd name="connsiteX14" fmla="*/ 476250 w 476250"/>
                <a:gd name="connsiteY14" fmla="*/ 401984 h 476250"/>
                <a:gd name="connsiteX15" fmla="*/ 476250 w 476250"/>
                <a:gd name="connsiteY15" fmla="*/ 337261 h 476250"/>
                <a:gd name="connsiteX16" fmla="*/ 476250 w 476250"/>
                <a:gd name="connsiteY16" fmla="*/ 272520 h 476250"/>
                <a:gd name="connsiteX17" fmla="*/ 476250 w 476250"/>
                <a:gd name="connsiteY17" fmla="*/ 207788 h 476250"/>
                <a:gd name="connsiteX18" fmla="*/ 476250 w 476250"/>
                <a:gd name="connsiteY18" fmla="*/ 143066 h 476250"/>
                <a:gd name="connsiteX19" fmla="*/ 476250 w 476250"/>
                <a:gd name="connsiteY19" fmla="*/ 78334 h 476250"/>
                <a:gd name="connsiteX20" fmla="*/ 476250 w 476250"/>
                <a:gd name="connsiteY20" fmla="*/ 9525 h 476250"/>
                <a:gd name="connsiteX21" fmla="*/ 466725 w 476250"/>
                <a:gd name="connsiteY21" fmla="*/ 0 h 476250"/>
                <a:gd name="connsiteX22" fmla="*/ 457200 w 476250"/>
                <a:gd name="connsiteY22" fmla="*/ 87859 h 476250"/>
                <a:gd name="connsiteX23" fmla="*/ 457200 w 476250"/>
                <a:gd name="connsiteY23" fmla="*/ 133541 h 476250"/>
                <a:gd name="connsiteX24" fmla="*/ 346881 w 476250"/>
                <a:gd name="connsiteY24" fmla="*/ 133541 h 476250"/>
                <a:gd name="connsiteX25" fmla="*/ 346881 w 476250"/>
                <a:gd name="connsiteY25" fmla="*/ 87859 h 476250"/>
                <a:gd name="connsiteX26" fmla="*/ 457200 w 476250"/>
                <a:gd name="connsiteY26" fmla="*/ 87859 h 476250"/>
                <a:gd name="connsiteX27" fmla="*/ 457200 w 476250"/>
                <a:gd name="connsiteY27" fmla="*/ 198263 h 476250"/>
                <a:gd name="connsiteX28" fmla="*/ 346881 w 476250"/>
                <a:gd name="connsiteY28" fmla="*/ 198263 h 476250"/>
                <a:gd name="connsiteX29" fmla="*/ 346881 w 476250"/>
                <a:gd name="connsiteY29" fmla="*/ 152591 h 476250"/>
                <a:gd name="connsiteX30" fmla="*/ 457200 w 476250"/>
                <a:gd name="connsiteY30" fmla="*/ 152591 h 476250"/>
                <a:gd name="connsiteX31" fmla="*/ 457200 w 476250"/>
                <a:gd name="connsiteY31" fmla="*/ 198263 h 476250"/>
                <a:gd name="connsiteX32" fmla="*/ 457200 w 476250"/>
                <a:gd name="connsiteY32" fmla="*/ 262995 h 476250"/>
                <a:gd name="connsiteX33" fmla="*/ 346881 w 476250"/>
                <a:gd name="connsiteY33" fmla="*/ 262995 h 476250"/>
                <a:gd name="connsiteX34" fmla="*/ 346881 w 476250"/>
                <a:gd name="connsiteY34" fmla="*/ 217313 h 476250"/>
                <a:gd name="connsiteX35" fmla="*/ 457200 w 476250"/>
                <a:gd name="connsiteY35" fmla="*/ 217313 h 476250"/>
                <a:gd name="connsiteX36" fmla="*/ 457200 w 476250"/>
                <a:gd name="connsiteY36" fmla="*/ 262995 h 476250"/>
                <a:gd name="connsiteX37" fmla="*/ 457200 w 476250"/>
                <a:gd name="connsiteY37" fmla="*/ 327736 h 476250"/>
                <a:gd name="connsiteX38" fmla="*/ 346881 w 476250"/>
                <a:gd name="connsiteY38" fmla="*/ 327736 h 476250"/>
                <a:gd name="connsiteX39" fmla="*/ 346881 w 476250"/>
                <a:gd name="connsiteY39" fmla="*/ 282045 h 476250"/>
                <a:gd name="connsiteX40" fmla="*/ 457200 w 476250"/>
                <a:gd name="connsiteY40" fmla="*/ 282045 h 476250"/>
                <a:gd name="connsiteX41" fmla="*/ 457200 w 476250"/>
                <a:gd name="connsiteY41" fmla="*/ 327736 h 476250"/>
                <a:gd name="connsiteX42" fmla="*/ 87878 w 476250"/>
                <a:gd name="connsiteY42" fmla="*/ 217313 h 476250"/>
                <a:gd name="connsiteX43" fmla="*/ 198196 w 476250"/>
                <a:gd name="connsiteY43" fmla="*/ 217313 h 476250"/>
                <a:gd name="connsiteX44" fmla="*/ 198196 w 476250"/>
                <a:gd name="connsiteY44" fmla="*/ 262995 h 476250"/>
                <a:gd name="connsiteX45" fmla="*/ 87878 w 476250"/>
                <a:gd name="connsiteY45" fmla="*/ 262995 h 476250"/>
                <a:gd name="connsiteX46" fmla="*/ 87878 w 476250"/>
                <a:gd name="connsiteY46" fmla="*/ 217313 h 476250"/>
                <a:gd name="connsiteX47" fmla="*/ 217503 w 476250"/>
                <a:gd name="connsiteY47" fmla="*/ 217313 h 476250"/>
                <a:gd name="connsiteX48" fmla="*/ 327831 w 476250"/>
                <a:gd name="connsiteY48" fmla="*/ 217313 h 476250"/>
                <a:gd name="connsiteX49" fmla="*/ 327831 w 476250"/>
                <a:gd name="connsiteY49" fmla="*/ 262995 h 476250"/>
                <a:gd name="connsiteX50" fmla="*/ 217503 w 476250"/>
                <a:gd name="connsiteY50" fmla="*/ 262995 h 476250"/>
                <a:gd name="connsiteX51" fmla="*/ 217503 w 476250"/>
                <a:gd name="connsiteY51" fmla="*/ 217313 h 476250"/>
                <a:gd name="connsiteX52" fmla="*/ 327831 w 476250"/>
                <a:gd name="connsiteY52" fmla="*/ 198263 h 476250"/>
                <a:gd name="connsiteX53" fmla="*/ 217503 w 476250"/>
                <a:gd name="connsiteY53" fmla="*/ 198263 h 476250"/>
                <a:gd name="connsiteX54" fmla="*/ 217503 w 476250"/>
                <a:gd name="connsiteY54" fmla="*/ 152591 h 476250"/>
                <a:gd name="connsiteX55" fmla="*/ 327831 w 476250"/>
                <a:gd name="connsiteY55" fmla="*/ 152591 h 476250"/>
                <a:gd name="connsiteX56" fmla="*/ 327831 w 476250"/>
                <a:gd name="connsiteY56" fmla="*/ 198263 h 476250"/>
                <a:gd name="connsiteX57" fmla="*/ 198196 w 476250"/>
                <a:gd name="connsiteY57" fmla="*/ 198263 h 476250"/>
                <a:gd name="connsiteX58" fmla="*/ 87878 w 476250"/>
                <a:gd name="connsiteY58" fmla="*/ 198263 h 476250"/>
                <a:gd name="connsiteX59" fmla="*/ 87878 w 476250"/>
                <a:gd name="connsiteY59" fmla="*/ 152591 h 476250"/>
                <a:gd name="connsiteX60" fmla="*/ 198196 w 476250"/>
                <a:gd name="connsiteY60" fmla="*/ 152591 h 476250"/>
                <a:gd name="connsiteX61" fmla="*/ 198196 w 476250"/>
                <a:gd name="connsiteY61" fmla="*/ 198263 h 476250"/>
                <a:gd name="connsiteX62" fmla="*/ 87878 w 476250"/>
                <a:gd name="connsiteY62" fmla="*/ 282045 h 476250"/>
                <a:gd name="connsiteX63" fmla="*/ 198196 w 476250"/>
                <a:gd name="connsiteY63" fmla="*/ 282045 h 476250"/>
                <a:gd name="connsiteX64" fmla="*/ 198196 w 476250"/>
                <a:gd name="connsiteY64" fmla="*/ 327736 h 476250"/>
                <a:gd name="connsiteX65" fmla="*/ 87878 w 476250"/>
                <a:gd name="connsiteY65" fmla="*/ 327736 h 476250"/>
                <a:gd name="connsiteX66" fmla="*/ 87878 w 476250"/>
                <a:gd name="connsiteY66" fmla="*/ 282045 h 476250"/>
                <a:gd name="connsiteX67" fmla="*/ 217503 w 476250"/>
                <a:gd name="connsiteY67" fmla="*/ 282045 h 476250"/>
                <a:gd name="connsiteX68" fmla="*/ 327831 w 476250"/>
                <a:gd name="connsiteY68" fmla="*/ 282045 h 476250"/>
                <a:gd name="connsiteX69" fmla="*/ 327831 w 476250"/>
                <a:gd name="connsiteY69" fmla="*/ 327736 h 476250"/>
                <a:gd name="connsiteX70" fmla="*/ 217503 w 476250"/>
                <a:gd name="connsiteY70" fmla="*/ 327736 h 476250"/>
                <a:gd name="connsiteX71" fmla="*/ 217503 w 476250"/>
                <a:gd name="connsiteY71" fmla="*/ 282045 h 476250"/>
                <a:gd name="connsiteX72" fmla="*/ 327831 w 476250"/>
                <a:gd name="connsiteY72" fmla="*/ 133541 h 476250"/>
                <a:gd name="connsiteX73" fmla="*/ 217503 w 476250"/>
                <a:gd name="connsiteY73" fmla="*/ 133541 h 476250"/>
                <a:gd name="connsiteX74" fmla="*/ 217503 w 476250"/>
                <a:gd name="connsiteY74" fmla="*/ 87859 h 476250"/>
                <a:gd name="connsiteX75" fmla="*/ 327831 w 476250"/>
                <a:gd name="connsiteY75" fmla="*/ 87859 h 476250"/>
                <a:gd name="connsiteX76" fmla="*/ 327831 w 476250"/>
                <a:gd name="connsiteY76" fmla="*/ 133541 h 476250"/>
                <a:gd name="connsiteX77" fmla="*/ 198196 w 476250"/>
                <a:gd name="connsiteY77" fmla="*/ 133541 h 476250"/>
                <a:gd name="connsiteX78" fmla="*/ 87878 w 476250"/>
                <a:gd name="connsiteY78" fmla="*/ 133541 h 476250"/>
                <a:gd name="connsiteX79" fmla="*/ 87878 w 476250"/>
                <a:gd name="connsiteY79" fmla="*/ 87859 h 476250"/>
                <a:gd name="connsiteX80" fmla="*/ 198196 w 476250"/>
                <a:gd name="connsiteY80" fmla="*/ 87859 h 476250"/>
                <a:gd name="connsiteX81" fmla="*/ 198196 w 476250"/>
                <a:gd name="connsiteY81" fmla="*/ 133541 h 476250"/>
                <a:gd name="connsiteX82" fmla="*/ 87878 w 476250"/>
                <a:gd name="connsiteY82" fmla="*/ 346796 h 476250"/>
                <a:gd name="connsiteX83" fmla="*/ 198196 w 476250"/>
                <a:gd name="connsiteY83" fmla="*/ 346796 h 476250"/>
                <a:gd name="connsiteX84" fmla="*/ 198196 w 476250"/>
                <a:gd name="connsiteY84" fmla="*/ 392459 h 476250"/>
                <a:gd name="connsiteX85" fmla="*/ 87878 w 476250"/>
                <a:gd name="connsiteY85" fmla="*/ 392459 h 476250"/>
                <a:gd name="connsiteX86" fmla="*/ 87878 w 476250"/>
                <a:gd name="connsiteY86" fmla="*/ 346796 h 476250"/>
                <a:gd name="connsiteX87" fmla="*/ 217503 w 476250"/>
                <a:gd name="connsiteY87" fmla="*/ 346786 h 476250"/>
                <a:gd name="connsiteX88" fmla="*/ 327831 w 476250"/>
                <a:gd name="connsiteY88" fmla="*/ 346786 h 476250"/>
                <a:gd name="connsiteX89" fmla="*/ 327831 w 476250"/>
                <a:gd name="connsiteY89" fmla="*/ 392459 h 476250"/>
                <a:gd name="connsiteX90" fmla="*/ 217503 w 476250"/>
                <a:gd name="connsiteY90" fmla="*/ 392459 h 476250"/>
                <a:gd name="connsiteX91" fmla="*/ 217503 w 476250"/>
                <a:gd name="connsiteY91" fmla="*/ 346786 h 476250"/>
                <a:gd name="connsiteX92" fmla="*/ 346881 w 476250"/>
                <a:gd name="connsiteY92" fmla="*/ 346786 h 476250"/>
                <a:gd name="connsiteX93" fmla="*/ 457200 w 476250"/>
                <a:gd name="connsiteY93" fmla="*/ 346786 h 476250"/>
                <a:gd name="connsiteX94" fmla="*/ 457200 w 476250"/>
                <a:gd name="connsiteY94" fmla="*/ 392459 h 476250"/>
                <a:gd name="connsiteX95" fmla="*/ 346881 w 476250"/>
                <a:gd name="connsiteY95" fmla="*/ 392459 h 476250"/>
                <a:gd name="connsiteX96" fmla="*/ 346881 w 476250"/>
                <a:gd name="connsiteY96" fmla="*/ 346786 h 476250"/>
                <a:gd name="connsiteX97" fmla="*/ 457200 w 476250"/>
                <a:gd name="connsiteY97" fmla="*/ 68809 h 476250"/>
                <a:gd name="connsiteX98" fmla="*/ 337356 w 476250"/>
                <a:gd name="connsiteY98" fmla="*/ 68809 h 476250"/>
                <a:gd name="connsiteX99" fmla="*/ 207978 w 476250"/>
                <a:gd name="connsiteY99" fmla="*/ 68809 h 476250"/>
                <a:gd name="connsiteX100" fmla="*/ 207721 w 476250"/>
                <a:gd name="connsiteY100" fmla="*/ 68809 h 476250"/>
                <a:gd name="connsiteX101" fmla="*/ 87878 w 476250"/>
                <a:gd name="connsiteY101" fmla="*/ 68809 h 476250"/>
                <a:gd name="connsiteX102" fmla="*/ 87878 w 476250"/>
                <a:gd name="connsiteY102" fmla="*/ 19050 h 476250"/>
                <a:gd name="connsiteX103" fmla="*/ 457200 w 476250"/>
                <a:gd name="connsiteY103" fmla="*/ 19050 h 476250"/>
                <a:gd name="connsiteX104" fmla="*/ 457200 w 476250"/>
                <a:gd name="connsiteY104" fmla="*/ 68809 h 476250"/>
                <a:gd name="connsiteX105" fmla="*/ 19050 w 476250"/>
                <a:gd name="connsiteY105" fmla="*/ 19050 h 476250"/>
                <a:gd name="connsiteX106" fmla="*/ 68828 w 476250"/>
                <a:gd name="connsiteY106" fmla="*/ 19050 h 476250"/>
                <a:gd name="connsiteX107" fmla="*/ 68828 w 476250"/>
                <a:gd name="connsiteY107" fmla="*/ 68809 h 476250"/>
                <a:gd name="connsiteX108" fmla="*/ 19050 w 476250"/>
                <a:gd name="connsiteY108" fmla="*/ 68809 h 476250"/>
                <a:gd name="connsiteX109" fmla="*/ 19050 w 476250"/>
                <a:gd name="connsiteY109" fmla="*/ 19050 h 476250"/>
                <a:gd name="connsiteX110" fmla="*/ 19050 w 476250"/>
                <a:gd name="connsiteY110" fmla="*/ 87859 h 476250"/>
                <a:gd name="connsiteX111" fmla="*/ 68828 w 476250"/>
                <a:gd name="connsiteY111" fmla="*/ 87859 h 476250"/>
                <a:gd name="connsiteX112" fmla="*/ 68828 w 476250"/>
                <a:gd name="connsiteY112" fmla="*/ 143066 h 476250"/>
                <a:gd name="connsiteX113" fmla="*/ 68828 w 476250"/>
                <a:gd name="connsiteY113" fmla="*/ 143066 h 476250"/>
                <a:gd name="connsiteX114" fmla="*/ 68828 w 476250"/>
                <a:gd name="connsiteY114" fmla="*/ 207788 h 476250"/>
                <a:gd name="connsiteX115" fmla="*/ 68828 w 476250"/>
                <a:gd name="connsiteY115" fmla="*/ 272520 h 476250"/>
                <a:gd name="connsiteX116" fmla="*/ 68828 w 476250"/>
                <a:gd name="connsiteY116" fmla="*/ 337261 h 476250"/>
                <a:gd name="connsiteX117" fmla="*/ 68828 w 476250"/>
                <a:gd name="connsiteY117" fmla="*/ 337271 h 476250"/>
                <a:gd name="connsiteX118" fmla="*/ 68828 w 476250"/>
                <a:gd name="connsiteY118" fmla="*/ 401984 h 476250"/>
                <a:gd name="connsiteX119" fmla="*/ 68828 w 476250"/>
                <a:gd name="connsiteY119" fmla="*/ 457200 h 476250"/>
                <a:gd name="connsiteX120" fmla="*/ 19050 w 476250"/>
                <a:gd name="connsiteY120" fmla="*/ 457200 h 476250"/>
                <a:gd name="connsiteX121" fmla="*/ 19050 w 476250"/>
                <a:gd name="connsiteY121" fmla="*/ 87859 h 476250"/>
                <a:gd name="connsiteX122" fmla="*/ 198196 w 476250"/>
                <a:gd name="connsiteY122" fmla="*/ 457200 h 476250"/>
                <a:gd name="connsiteX123" fmla="*/ 87878 w 476250"/>
                <a:gd name="connsiteY123" fmla="*/ 457200 h 476250"/>
                <a:gd name="connsiteX124" fmla="*/ 87878 w 476250"/>
                <a:gd name="connsiteY124" fmla="*/ 411509 h 476250"/>
                <a:gd name="connsiteX125" fmla="*/ 198196 w 476250"/>
                <a:gd name="connsiteY125" fmla="*/ 411509 h 476250"/>
                <a:gd name="connsiteX126" fmla="*/ 198196 w 476250"/>
                <a:gd name="connsiteY126" fmla="*/ 457200 h 476250"/>
                <a:gd name="connsiteX127" fmla="*/ 217503 w 476250"/>
                <a:gd name="connsiteY127" fmla="*/ 411509 h 476250"/>
                <a:gd name="connsiteX128" fmla="*/ 327831 w 476250"/>
                <a:gd name="connsiteY128" fmla="*/ 411509 h 476250"/>
                <a:gd name="connsiteX129" fmla="*/ 327831 w 476250"/>
                <a:gd name="connsiteY129" fmla="*/ 457200 h 476250"/>
                <a:gd name="connsiteX130" fmla="*/ 217503 w 476250"/>
                <a:gd name="connsiteY130" fmla="*/ 457200 h 476250"/>
                <a:gd name="connsiteX131" fmla="*/ 217503 w 476250"/>
                <a:gd name="connsiteY131" fmla="*/ 411509 h 476250"/>
                <a:gd name="connsiteX132" fmla="*/ 457200 w 476250"/>
                <a:gd name="connsiteY132" fmla="*/ 457200 h 476250"/>
                <a:gd name="connsiteX133" fmla="*/ 346881 w 476250"/>
                <a:gd name="connsiteY133" fmla="*/ 457200 h 476250"/>
                <a:gd name="connsiteX134" fmla="*/ 346881 w 476250"/>
                <a:gd name="connsiteY134" fmla="*/ 411509 h 476250"/>
                <a:gd name="connsiteX135" fmla="*/ 457200 w 476250"/>
                <a:gd name="connsiteY135" fmla="*/ 411509 h 476250"/>
                <a:gd name="connsiteX136" fmla="*/ 457200 w 476250"/>
                <a:gd name="connsiteY136" fmla="*/ 45720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476250" h="476250">
                  <a:moveTo>
                    <a:pt x="466725" y="0"/>
                  </a:moveTo>
                  <a:lnTo>
                    <a:pt x="78353" y="0"/>
                  </a:lnTo>
                  <a:lnTo>
                    <a:pt x="9525" y="0"/>
                  </a:lnTo>
                  <a:cubicBezTo>
                    <a:pt x="4267" y="0"/>
                    <a:pt x="0" y="4267"/>
                    <a:pt x="0" y="9525"/>
                  </a:cubicBezTo>
                  <a:lnTo>
                    <a:pt x="0" y="78334"/>
                  </a:lnTo>
                  <a:lnTo>
                    <a:pt x="0" y="466725"/>
                  </a:lnTo>
                  <a:cubicBezTo>
                    <a:pt x="0" y="471992"/>
                    <a:pt x="4267" y="476250"/>
                    <a:pt x="9525" y="476250"/>
                  </a:cubicBezTo>
                  <a:lnTo>
                    <a:pt x="78353" y="476250"/>
                  </a:lnTo>
                  <a:lnTo>
                    <a:pt x="207721" y="476250"/>
                  </a:lnTo>
                  <a:cubicBezTo>
                    <a:pt x="207769" y="476250"/>
                    <a:pt x="207807" y="476221"/>
                    <a:pt x="207855" y="476221"/>
                  </a:cubicBezTo>
                  <a:cubicBezTo>
                    <a:pt x="207902" y="476221"/>
                    <a:pt x="207931" y="476250"/>
                    <a:pt x="207978" y="476250"/>
                  </a:cubicBezTo>
                  <a:lnTo>
                    <a:pt x="337356" y="476250"/>
                  </a:lnTo>
                  <a:lnTo>
                    <a:pt x="466725" y="476250"/>
                  </a:lnTo>
                  <a:cubicBezTo>
                    <a:pt x="471992" y="476250"/>
                    <a:pt x="476250" y="471992"/>
                    <a:pt x="476250" y="466725"/>
                  </a:cubicBezTo>
                  <a:lnTo>
                    <a:pt x="476250" y="401984"/>
                  </a:lnTo>
                  <a:lnTo>
                    <a:pt x="476250" y="337261"/>
                  </a:lnTo>
                  <a:lnTo>
                    <a:pt x="476250" y="272520"/>
                  </a:lnTo>
                  <a:lnTo>
                    <a:pt x="476250" y="207788"/>
                  </a:lnTo>
                  <a:lnTo>
                    <a:pt x="476250" y="143066"/>
                  </a:lnTo>
                  <a:lnTo>
                    <a:pt x="476250" y="78334"/>
                  </a:lnTo>
                  <a:lnTo>
                    <a:pt x="476250" y="9525"/>
                  </a:lnTo>
                  <a:cubicBezTo>
                    <a:pt x="476250" y="4267"/>
                    <a:pt x="471992" y="0"/>
                    <a:pt x="466725" y="0"/>
                  </a:cubicBezTo>
                  <a:close/>
                  <a:moveTo>
                    <a:pt x="457200" y="87859"/>
                  </a:moveTo>
                  <a:lnTo>
                    <a:pt x="457200" y="133541"/>
                  </a:lnTo>
                  <a:lnTo>
                    <a:pt x="346881" y="133541"/>
                  </a:lnTo>
                  <a:lnTo>
                    <a:pt x="346881" y="87859"/>
                  </a:lnTo>
                  <a:lnTo>
                    <a:pt x="457200" y="87859"/>
                  </a:lnTo>
                  <a:close/>
                  <a:moveTo>
                    <a:pt x="457200" y="198263"/>
                  </a:moveTo>
                  <a:lnTo>
                    <a:pt x="346881" y="198263"/>
                  </a:lnTo>
                  <a:lnTo>
                    <a:pt x="346881" y="152591"/>
                  </a:lnTo>
                  <a:lnTo>
                    <a:pt x="457200" y="152591"/>
                  </a:lnTo>
                  <a:lnTo>
                    <a:pt x="457200" y="198263"/>
                  </a:lnTo>
                  <a:close/>
                  <a:moveTo>
                    <a:pt x="457200" y="262995"/>
                  </a:moveTo>
                  <a:lnTo>
                    <a:pt x="346881" y="262995"/>
                  </a:lnTo>
                  <a:lnTo>
                    <a:pt x="346881" y="217313"/>
                  </a:lnTo>
                  <a:lnTo>
                    <a:pt x="457200" y="217313"/>
                  </a:lnTo>
                  <a:lnTo>
                    <a:pt x="457200" y="262995"/>
                  </a:lnTo>
                  <a:close/>
                  <a:moveTo>
                    <a:pt x="457200" y="327736"/>
                  </a:moveTo>
                  <a:lnTo>
                    <a:pt x="346881" y="327736"/>
                  </a:lnTo>
                  <a:lnTo>
                    <a:pt x="346881" y="282045"/>
                  </a:lnTo>
                  <a:lnTo>
                    <a:pt x="457200" y="282045"/>
                  </a:lnTo>
                  <a:lnTo>
                    <a:pt x="457200" y="327736"/>
                  </a:lnTo>
                  <a:close/>
                  <a:moveTo>
                    <a:pt x="87878" y="217313"/>
                  </a:moveTo>
                  <a:lnTo>
                    <a:pt x="198196" y="217313"/>
                  </a:lnTo>
                  <a:lnTo>
                    <a:pt x="198196" y="262995"/>
                  </a:lnTo>
                  <a:lnTo>
                    <a:pt x="87878" y="262995"/>
                  </a:lnTo>
                  <a:lnTo>
                    <a:pt x="87878" y="217313"/>
                  </a:lnTo>
                  <a:close/>
                  <a:moveTo>
                    <a:pt x="217503" y="217313"/>
                  </a:moveTo>
                  <a:lnTo>
                    <a:pt x="327831" y="217313"/>
                  </a:lnTo>
                  <a:lnTo>
                    <a:pt x="327831" y="262995"/>
                  </a:lnTo>
                  <a:lnTo>
                    <a:pt x="217503" y="262995"/>
                  </a:lnTo>
                  <a:lnTo>
                    <a:pt x="217503" y="217313"/>
                  </a:lnTo>
                  <a:close/>
                  <a:moveTo>
                    <a:pt x="327831" y="198263"/>
                  </a:moveTo>
                  <a:lnTo>
                    <a:pt x="217503" y="198263"/>
                  </a:lnTo>
                  <a:lnTo>
                    <a:pt x="217503" y="152591"/>
                  </a:lnTo>
                  <a:lnTo>
                    <a:pt x="327831" y="152591"/>
                  </a:lnTo>
                  <a:lnTo>
                    <a:pt x="327831" y="198263"/>
                  </a:lnTo>
                  <a:close/>
                  <a:moveTo>
                    <a:pt x="198196" y="198263"/>
                  </a:moveTo>
                  <a:lnTo>
                    <a:pt x="87878" y="198263"/>
                  </a:lnTo>
                  <a:lnTo>
                    <a:pt x="87878" y="152591"/>
                  </a:lnTo>
                  <a:lnTo>
                    <a:pt x="198196" y="152591"/>
                  </a:lnTo>
                  <a:lnTo>
                    <a:pt x="198196" y="198263"/>
                  </a:lnTo>
                  <a:close/>
                  <a:moveTo>
                    <a:pt x="87878" y="282045"/>
                  </a:moveTo>
                  <a:lnTo>
                    <a:pt x="198196" y="282045"/>
                  </a:lnTo>
                  <a:lnTo>
                    <a:pt x="198196" y="327736"/>
                  </a:lnTo>
                  <a:lnTo>
                    <a:pt x="87878" y="327736"/>
                  </a:lnTo>
                  <a:lnTo>
                    <a:pt x="87878" y="282045"/>
                  </a:lnTo>
                  <a:close/>
                  <a:moveTo>
                    <a:pt x="217503" y="282045"/>
                  </a:moveTo>
                  <a:lnTo>
                    <a:pt x="327831" y="282045"/>
                  </a:lnTo>
                  <a:lnTo>
                    <a:pt x="327831" y="327736"/>
                  </a:lnTo>
                  <a:lnTo>
                    <a:pt x="217503" y="327736"/>
                  </a:lnTo>
                  <a:lnTo>
                    <a:pt x="217503" y="282045"/>
                  </a:lnTo>
                  <a:close/>
                  <a:moveTo>
                    <a:pt x="327831" y="133541"/>
                  </a:moveTo>
                  <a:lnTo>
                    <a:pt x="217503" y="133541"/>
                  </a:lnTo>
                  <a:lnTo>
                    <a:pt x="217503" y="87859"/>
                  </a:lnTo>
                  <a:lnTo>
                    <a:pt x="327831" y="87859"/>
                  </a:lnTo>
                  <a:lnTo>
                    <a:pt x="327831" y="133541"/>
                  </a:lnTo>
                  <a:close/>
                  <a:moveTo>
                    <a:pt x="198196" y="133541"/>
                  </a:moveTo>
                  <a:lnTo>
                    <a:pt x="87878" y="133541"/>
                  </a:lnTo>
                  <a:lnTo>
                    <a:pt x="87878" y="87859"/>
                  </a:lnTo>
                  <a:lnTo>
                    <a:pt x="198196" y="87859"/>
                  </a:lnTo>
                  <a:lnTo>
                    <a:pt x="198196" y="133541"/>
                  </a:lnTo>
                  <a:close/>
                  <a:moveTo>
                    <a:pt x="87878" y="346796"/>
                  </a:moveTo>
                  <a:lnTo>
                    <a:pt x="198196" y="346796"/>
                  </a:lnTo>
                  <a:lnTo>
                    <a:pt x="198196" y="392459"/>
                  </a:lnTo>
                  <a:lnTo>
                    <a:pt x="87878" y="392459"/>
                  </a:lnTo>
                  <a:lnTo>
                    <a:pt x="87878" y="346796"/>
                  </a:lnTo>
                  <a:close/>
                  <a:moveTo>
                    <a:pt x="217503" y="346786"/>
                  </a:moveTo>
                  <a:lnTo>
                    <a:pt x="327831" y="346786"/>
                  </a:lnTo>
                  <a:lnTo>
                    <a:pt x="327831" y="392459"/>
                  </a:lnTo>
                  <a:lnTo>
                    <a:pt x="217503" y="392459"/>
                  </a:lnTo>
                  <a:lnTo>
                    <a:pt x="217503" y="346786"/>
                  </a:lnTo>
                  <a:close/>
                  <a:moveTo>
                    <a:pt x="346881" y="346786"/>
                  </a:moveTo>
                  <a:lnTo>
                    <a:pt x="457200" y="346786"/>
                  </a:lnTo>
                  <a:lnTo>
                    <a:pt x="457200" y="392459"/>
                  </a:lnTo>
                  <a:lnTo>
                    <a:pt x="346881" y="392459"/>
                  </a:lnTo>
                  <a:lnTo>
                    <a:pt x="346881" y="346786"/>
                  </a:lnTo>
                  <a:close/>
                  <a:moveTo>
                    <a:pt x="457200" y="68809"/>
                  </a:moveTo>
                  <a:lnTo>
                    <a:pt x="337356" y="68809"/>
                  </a:lnTo>
                  <a:lnTo>
                    <a:pt x="207978" y="68809"/>
                  </a:lnTo>
                  <a:lnTo>
                    <a:pt x="207721" y="68809"/>
                  </a:lnTo>
                  <a:lnTo>
                    <a:pt x="87878" y="68809"/>
                  </a:lnTo>
                  <a:lnTo>
                    <a:pt x="87878" y="19050"/>
                  </a:lnTo>
                  <a:lnTo>
                    <a:pt x="457200" y="19050"/>
                  </a:lnTo>
                  <a:lnTo>
                    <a:pt x="457200" y="68809"/>
                  </a:lnTo>
                  <a:close/>
                  <a:moveTo>
                    <a:pt x="19050" y="19050"/>
                  </a:moveTo>
                  <a:lnTo>
                    <a:pt x="68828" y="19050"/>
                  </a:lnTo>
                  <a:lnTo>
                    <a:pt x="68828" y="68809"/>
                  </a:lnTo>
                  <a:lnTo>
                    <a:pt x="19050" y="68809"/>
                  </a:lnTo>
                  <a:lnTo>
                    <a:pt x="19050" y="19050"/>
                  </a:lnTo>
                  <a:close/>
                  <a:moveTo>
                    <a:pt x="19050" y="87859"/>
                  </a:moveTo>
                  <a:lnTo>
                    <a:pt x="68828" y="87859"/>
                  </a:lnTo>
                  <a:lnTo>
                    <a:pt x="68828" y="143066"/>
                  </a:lnTo>
                  <a:lnTo>
                    <a:pt x="68828" y="143066"/>
                  </a:lnTo>
                  <a:lnTo>
                    <a:pt x="68828" y="207788"/>
                  </a:lnTo>
                  <a:lnTo>
                    <a:pt x="68828" y="272520"/>
                  </a:lnTo>
                  <a:lnTo>
                    <a:pt x="68828" y="337261"/>
                  </a:lnTo>
                  <a:lnTo>
                    <a:pt x="68828" y="337271"/>
                  </a:lnTo>
                  <a:lnTo>
                    <a:pt x="68828" y="401984"/>
                  </a:lnTo>
                  <a:lnTo>
                    <a:pt x="68828" y="457200"/>
                  </a:lnTo>
                  <a:lnTo>
                    <a:pt x="19050" y="457200"/>
                  </a:lnTo>
                  <a:lnTo>
                    <a:pt x="19050" y="87859"/>
                  </a:lnTo>
                  <a:close/>
                  <a:moveTo>
                    <a:pt x="198196" y="457200"/>
                  </a:moveTo>
                  <a:lnTo>
                    <a:pt x="87878" y="457200"/>
                  </a:lnTo>
                  <a:lnTo>
                    <a:pt x="87878" y="411509"/>
                  </a:lnTo>
                  <a:lnTo>
                    <a:pt x="198196" y="411509"/>
                  </a:lnTo>
                  <a:lnTo>
                    <a:pt x="198196" y="457200"/>
                  </a:lnTo>
                  <a:close/>
                  <a:moveTo>
                    <a:pt x="217503" y="411509"/>
                  </a:moveTo>
                  <a:lnTo>
                    <a:pt x="327831" y="411509"/>
                  </a:lnTo>
                  <a:lnTo>
                    <a:pt x="327831" y="457200"/>
                  </a:lnTo>
                  <a:lnTo>
                    <a:pt x="217503" y="457200"/>
                  </a:lnTo>
                  <a:lnTo>
                    <a:pt x="217503" y="411509"/>
                  </a:lnTo>
                  <a:close/>
                  <a:moveTo>
                    <a:pt x="457200" y="457200"/>
                  </a:moveTo>
                  <a:lnTo>
                    <a:pt x="346881" y="457200"/>
                  </a:lnTo>
                  <a:lnTo>
                    <a:pt x="346881" y="411509"/>
                  </a:lnTo>
                  <a:lnTo>
                    <a:pt x="457200" y="411509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/>
              <a:endParaRPr lang="en-US" sz="130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648CE874-DFF6-AEE5-CB61-7FFF4C736EE1}"/>
              </a:ext>
            </a:extLst>
          </p:cNvPr>
          <p:cNvGrpSpPr>
            <a:grpSpLocks/>
          </p:cNvGrpSpPr>
          <p:nvPr/>
        </p:nvGrpSpPr>
        <p:grpSpPr>
          <a:xfrm>
            <a:off x="18478918" y="4877479"/>
            <a:ext cx="5395736" cy="651460"/>
            <a:chOff x="18478918" y="5302661"/>
            <a:chExt cx="5395736" cy="651460"/>
          </a:xfrm>
        </p:grpSpPr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D03F330F-C40B-9654-64E4-1C20A12CE9A2}"/>
                </a:ext>
              </a:extLst>
            </p:cNvPr>
            <p:cNvSpPr>
              <a:spLocks/>
            </p:cNvSpPr>
            <p:nvPr/>
          </p:nvSpPr>
          <p:spPr>
            <a:xfrm>
              <a:off x="18478918" y="5302661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*_fizz()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r>
                <a:rPr lang="en-US" sz="1300" i="1" dirty="0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'fizzy scatter plot by default</a:t>
              </a: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6B7BBA-2CE2-BCFF-8D11-521FB4ECA8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5302661"/>
              <a:ext cx="352949" cy="352661"/>
            </a:xfrm>
            <a:custGeom>
              <a:avLst/>
              <a:gdLst>
                <a:gd name="connsiteX0" fmla="*/ 189099 w 857953"/>
                <a:gd name="connsiteY0" fmla="*/ 147638 h 857250"/>
                <a:gd name="connsiteX1" fmla="*/ 189114 w 857953"/>
                <a:gd name="connsiteY1" fmla="*/ 170321 h 857250"/>
                <a:gd name="connsiteX2" fmla="*/ 189099 w 857953"/>
                <a:gd name="connsiteY2" fmla="*/ 170336 h 857250"/>
                <a:gd name="connsiteX3" fmla="*/ 189099 w 857953"/>
                <a:gd name="connsiteY3" fmla="*/ 170336 h 857250"/>
                <a:gd name="connsiteX4" fmla="*/ 168011 w 857953"/>
                <a:gd name="connsiteY4" fmla="*/ 171717 h 857250"/>
                <a:gd name="connsiteX5" fmla="*/ 166420 w 857953"/>
                <a:gd name="connsiteY5" fmla="*/ 170364 h 857250"/>
                <a:gd name="connsiteX6" fmla="*/ 166406 w 857953"/>
                <a:gd name="connsiteY6" fmla="*/ 147680 h 857250"/>
                <a:gd name="connsiteX7" fmla="*/ 166420 w 857953"/>
                <a:gd name="connsiteY7" fmla="*/ 147666 h 857250"/>
                <a:gd name="connsiteX8" fmla="*/ 166420 w 857953"/>
                <a:gd name="connsiteY8" fmla="*/ 147666 h 857250"/>
                <a:gd name="connsiteX9" fmla="*/ 166420 w 857953"/>
                <a:gd name="connsiteY9" fmla="*/ 147666 h 857250"/>
                <a:gd name="connsiteX10" fmla="*/ 187432 w 857953"/>
                <a:gd name="connsiteY10" fmla="*/ 146285 h 857250"/>
                <a:gd name="connsiteX11" fmla="*/ 189061 w 857953"/>
                <a:gd name="connsiteY11" fmla="*/ 147666 h 857250"/>
                <a:gd name="connsiteX12" fmla="*/ 293265 w 857953"/>
                <a:gd name="connsiteY12" fmla="*/ 208912 h 857250"/>
                <a:gd name="connsiteX13" fmla="*/ 294655 w 857953"/>
                <a:gd name="connsiteY13" fmla="*/ 229972 h 857250"/>
                <a:gd name="connsiteX14" fmla="*/ 293265 w 857953"/>
                <a:gd name="connsiteY14" fmla="*/ 231610 h 857250"/>
                <a:gd name="connsiteX15" fmla="*/ 270594 w 857953"/>
                <a:gd name="connsiteY15" fmla="*/ 231677 h 857250"/>
                <a:gd name="connsiteX16" fmla="*/ 269214 w 857953"/>
                <a:gd name="connsiteY16" fmla="*/ 210503 h 857250"/>
                <a:gd name="connsiteX17" fmla="*/ 270567 w 857953"/>
                <a:gd name="connsiteY17" fmla="*/ 208921 h 857250"/>
                <a:gd name="connsiteX18" fmla="*/ 293250 w 857953"/>
                <a:gd name="connsiteY18" fmla="*/ 208907 h 857250"/>
                <a:gd name="connsiteX19" fmla="*/ 293265 w 857953"/>
                <a:gd name="connsiteY19" fmla="*/ 208921 h 857250"/>
                <a:gd name="connsiteX20" fmla="*/ 248316 w 857953"/>
                <a:gd name="connsiteY20" fmla="*/ 327431 h 857250"/>
                <a:gd name="connsiteX21" fmla="*/ 248311 w 857953"/>
                <a:gd name="connsiteY21" fmla="*/ 350115 h 857250"/>
                <a:gd name="connsiteX22" fmla="*/ 225628 w 857953"/>
                <a:gd name="connsiteY22" fmla="*/ 350111 h 857250"/>
                <a:gd name="connsiteX23" fmla="*/ 220932 w 857953"/>
                <a:gd name="connsiteY23" fmla="*/ 338757 h 857250"/>
                <a:gd name="connsiteX24" fmla="*/ 224256 w 857953"/>
                <a:gd name="connsiteY24" fmla="*/ 329041 h 857250"/>
                <a:gd name="connsiteX25" fmla="*/ 225637 w 857953"/>
                <a:gd name="connsiteY25" fmla="*/ 327403 h 857250"/>
                <a:gd name="connsiteX26" fmla="*/ 248335 w 857953"/>
                <a:gd name="connsiteY26" fmla="*/ 327403 h 857250"/>
                <a:gd name="connsiteX27" fmla="*/ 248335 w 857953"/>
                <a:gd name="connsiteY27" fmla="*/ 327403 h 857250"/>
                <a:gd name="connsiteX28" fmla="*/ 342261 w 857953"/>
                <a:gd name="connsiteY28" fmla="*/ 327431 h 857250"/>
                <a:gd name="connsiteX29" fmla="*/ 342105 w 857953"/>
                <a:gd name="connsiteY29" fmla="*/ 350048 h 857250"/>
                <a:gd name="connsiteX30" fmla="*/ 319489 w 857953"/>
                <a:gd name="connsiteY30" fmla="*/ 349891 h 857250"/>
                <a:gd name="connsiteX31" fmla="*/ 319645 w 857953"/>
                <a:gd name="connsiteY31" fmla="*/ 327275 h 857250"/>
                <a:gd name="connsiteX32" fmla="*/ 330936 w 857953"/>
                <a:gd name="connsiteY32" fmla="*/ 322669 h 857250"/>
                <a:gd name="connsiteX33" fmla="*/ 342261 w 857953"/>
                <a:gd name="connsiteY33" fmla="*/ 327431 h 857250"/>
                <a:gd name="connsiteX34" fmla="*/ 342261 w 857953"/>
                <a:gd name="connsiteY34" fmla="*/ 327431 h 857250"/>
                <a:gd name="connsiteX35" fmla="*/ 372922 w 857953"/>
                <a:gd name="connsiteY35" fmla="*/ 245707 h 857250"/>
                <a:gd name="connsiteX36" fmla="*/ 372937 w 857953"/>
                <a:gd name="connsiteY36" fmla="*/ 268418 h 857250"/>
                <a:gd name="connsiteX37" fmla="*/ 350227 w 857953"/>
                <a:gd name="connsiteY37" fmla="*/ 268434 h 857250"/>
                <a:gd name="connsiteX38" fmla="*/ 350211 w 857953"/>
                <a:gd name="connsiteY38" fmla="*/ 245722 h 857250"/>
                <a:gd name="connsiteX39" fmla="*/ 361578 w 857953"/>
                <a:gd name="connsiteY39" fmla="*/ 241011 h 857250"/>
                <a:gd name="connsiteX40" fmla="*/ 372922 w 857953"/>
                <a:gd name="connsiteY40" fmla="*/ 245707 h 857250"/>
                <a:gd name="connsiteX41" fmla="*/ 76771 w 857953"/>
                <a:gd name="connsiteY41" fmla="*/ 754275 h 857250"/>
                <a:gd name="connsiteX42" fmla="*/ 76780 w 857953"/>
                <a:gd name="connsiteY42" fmla="*/ 776973 h 857250"/>
                <a:gd name="connsiteX43" fmla="*/ 76771 w 857953"/>
                <a:gd name="connsiteY43" fmla="*/ 776983 h 857250"/>
                <a:gd name="connsiteX44" fmla="*/ 76771 w 857953"/>
                <a:gd name="connsiteY44" fmla="*/ 776983 h 857250"/>
                <a:gd name="connsiteX45" fmla="*/ 54060 w 857953"/>
                <a:gd name="connsiteY45" fmla="*/ 777042 h 857250"/>
                <a:gd name="connsiteX46" fmla="*/ 54001 w 857953"/>
                <a:gd name="connsiteY46" fmla="*/ 754331 h 857250"/>
                <a:gd name="connsiteX47" fmla="*/ 75171 w 857953"/>
                <a:gd name="connsiteY47" fmla="*/ 752923 h 857250"/>
                <a:gd name="connsiteX48" fmla="*/ 76800 w 857953"/>
                <a:gd name="connsiteY48" fmla="*/ 754304 h 857250"/>
                <a:gd name="connsiteX49" fmla="*/ 111499 w 857953"/>
                <a:gd name="connsiteY49" fmla="*/ 684838 h 857250"/>
                <a:gd name="connsiteX50" fmla="*/ 111476 w 857953"/>
                <a:gd name="connsiteY50" fmla="*/ 707549 h 857250"/>
                <a:gd name="connsiteX51" fmla="*/ 100145 w 857953"/>
                <a:gd name="connsiteY51" fmla="*/ 712241 h 857250"/>
                <a:gd name="connsiteX52" fmla="*/ 90382 w 857953"/>
                <a:gd name="connsiteY52" fmla="*/ 708889 h 857250"/>
                <a:gd name="connsiteX53" fmla="*/ 88791 w 857953"/>
                <a:gd name="connsiteY53" fmla="*/ 707536 h 857250"/>
                <a:gd name="connsiteX54" fmla="*/ 88814 w 857953"/>
                <a:gd name="connsiteY54" fmla="*/ 684825 h 857250"/>
                <a:gd name="connsiteX55" fmla="*/ 100145 w 857953"/>
                <a:gd name="connsiteY55" fmla="*/ 680133 h 857250"/>
                <a:gd name="connsiteX56" fmla="*/ 109908 w 857953"/>
                <a:gd name="connsiteY56" fmla="*/ 683485 h 857250"/>
                <a:gd name="connsiteX57" fmla="*/ 111499 w 857953"/>
                <a:gd name="connsiteY57" fmla="*/ 684838 h 857250"/>
                <a:gd name="connsiteX58" fmla="*/ 111499 w 857953"/>
                <a:gd name="connsiteY58" fmla="*/ 592931 h 857250"/>
                <a:gd name="connsiteX59" fmla="*/ 111634 w 857953"/>
                <a:gd name="connsiteY59" fmla="*/ 615602 h 857250"/>
                <a:gd name="connsiteX60" fmla="*/ 90382 w 857953"/>
                <a:gd name="connsiteY60" fmla="*/ 616982 h 857250"/>
                <a:gd name="connsiteX61" fmla="*/ 88791 w 857953"/>
                <a:gd name="connsiteY61" fmla="*/ 615629 h 857250"/>
                <a:gd name="connsiteX62" fmla="*/ 88796 w 857953"/>
                <a:gd name="connsiteY62" fmla="*/ 592926 h 857250"/>
                <a:gd name="connsiteX63" fmla="*/ 111499 w 857953"/>
                <a:gd name="connsiteY63" fmla="*/ 592931 h 857250"/>
                <a:gd name="connsiteX64" fmla="*/ 150294 w 857953"/>
                <a:gd name="connsiteY64" fmla="*/ 488766 h 857250"/>
                <a:gd name="connsiteX65" fmla="*/ 150309 w 857953"/>
                <a:gd name="connsiteY65" fmla="*/ 511478 h 857250"/>
                <a:gd name="connsiteX66" fmla="*/ 127596 w 857953"/>
                <a:gd name="connsiteY66" fmla="*/ 511493 h 857250"/>
                <a:gd name="connsiteX67" fmla="*/ 127596 w 857953"/>
                <a:gd name="connsiteY67" fmla="*/ 511493 h 857250"/>
                <a:gd name="connsiteX68" fmla="*/ 127596 w 857953"/>
                <a:gd name="connsiteY68" fmla="*/ 511493 h 857250"/>
                <a:gd name="connsiteX69" fmla="*/ 127534 w 857953"/>
                <a:gd name="connsiteY69" fmla="*/ 488849 h 857250"/>
                <a:gd name="connsiteX70" fmla="*/ 148666 w 857953"/>
                <a:gd name="connsiteY70" fmla="*/ 487461 h 857250"/>
                <a:gd name="connsiteX71" fmla="*/ 150294 w 857953"/>
                <a:gd name="connsiteY71" fmla="*/ 488842 h 857250"/>
                <a:gd name="connsiteX72" fmla="*/ 225866 w 857953"/>
                <a:gd name="connsiteY72" fmla="*/ 566376 h 857250"/>
                <a:gd name="connsiteX73" fmla="*/ 227247 w 857953"/>
                <a:gd name="connsiteY73" fmla="*/ 587445 h 857250"/>
                <a:gd name="connsiteX74" fmla="*/ 225866 w 857953"/>
                <a:gd name="connsiteY74" fmla="*/ 589074 h 857250"/>
                <a:gd name="connsiteX75" fmla="*/ 203195 w 857953"/>
                <a:gd name="connsiteY75" fmla="*/ 589209 h 857250"/>
                <a:gd name="connsiteX76" fmla="*/ 201815 w 857953"/>
                <a:gd name="connsiteY76" fmla="*/ 567957 h 857250"/>
                <a:gd name="connsiteX77" fmla="*/ 203168 w 857953"/>
                <a:gd name="connsiteY77" fmla="*/ 566376 h 857250"/>
                <a:gd name="connsiteX78" fmla="*/ 225851 w 857953"/>
                <a:gd name="connsiteY78" fmla="*/ 566361 h 857250"/>
                <a:gd name="connsiteX79" fmla="*/ 225866 w 857953"/>
                <a:gd name="connsiteY79" fmla="*/ 566376 h 857250"/>
                <a:gd name="connsiteX80" fmla="*/ 366769 w 857953"/>
                <a:gd name="connsiteY80" fmla="*/ 535762 h 857250"/>
                <a:gd name="connsiteX81" fmla="*/ 366998 w 857953"/>
                <a:gd name="connsiteY81" fmla="*/ 558432 h 857250"/>
                <a:gd name="connsiteX82" fmla="*/ 344328 w 857953"/>
                <a:gd name="connsiteY82" fmla="*/ 558660 h 857250"/>
                <a:gd name="connsiteX83" fmla="*/ 344100 w 857953"/>
                <a:gd name="connsiteY83" fmla="*/ 558432 h 857250"/>
                <a:gd name="connsiteX84" fmla="*/ 344100 w 857953"/>
                <a:gd name="connsiteY84" fmla="*/ 558432 h 857250"/>
                <a:gd name="connsiteX85" fmla="*/ 344100 w 857953"/>
                <a:gd name="connsiteY85" fmla="*/ 558432 h 857250"/>
                <a:gd name="connsiteX86" fmla="*/ 344123 w 857953"/>
                <a:gd name="connsiteY86" fmla="*/ 535757 h 857250"/>
                <a:gd name="connsiteX87" fmla="*/ 366798 w 857953"/>
                <a:gd name="connsiteY87" fmla="*/ 535781 h 857250"/>
                <a:gd name="connsiteX88" fmla="*/ 366798 w 857953"/>
                <a:gd name="connsiteY88" fmla="*/ 535781 h 857250"/>
                <a:gd name="connsiteX89" fmla="*/ 297332 w 857953"/>
                <a:gd name="connsiteY89" fmla="*/ 519427 h 857250"/>
                <a:gd name="connsiteX90" fmla="*/ 298713 w 857953"/>
                <a:gd name="connsiteY90" fmla="*/ 540515 h 857250"/>
                <a:gd name="connsiteX91" fmla="*/ 297351 w 857953"/>
                <a:gd name="connsiteY91" fmla="*/ 542096 h 857250"/>
                <a:gd name="connsiteX92" fmla="*/ 274686 w 857953"/>
                <a:gd name="connsiteY92" fmla="*/ 542629 h 857250"/>
                <a:gd name="connsiteX93" fmla="*/ 274155 w 857953"/>
                <a:gd name="connsiteY93" fmla="*/ 519964 h 857250"/>
                <a:gd name="connsiteX94" fmla="*/ 274672 w 857953"/>
                <a:gd name="connsiteY94" fmla="*/ 519446 h 857250"/>
                <a:gd name="connsiteX95" fmla="*/ 274672 w 857953"/>
                <a:gd name="connsiteY95" fmla="*/ 519446 h 857250"/>
                <a:gd name="connsiteX96" fmla="*/ 297275 w 857953"/>
                <a:gd name="connsiteY96" fmla="*/ 519398 h 857250"/>
                <a:gd name="connsiteX97" fmla="*/ 297322 w 857953"/>
                <a:gd name="connsiteY97" fmla="*/ 519446 h 857250"/>
                <a:gd name="connsiteX98" fmla="*/ 297322 w 857953"/>
                <a:gd name="connsiteY98" fmla="*/ 519446 h 857250"/>
                <a:gd name="connsiteX99" fmla="*/ 505663 w 857953"/>
                <a:gd name="connsiteY99" fmla="*/ 490852 h 857250"/>
                <a:gd name="connsiteX100" fmla="*/ 505784 w 857953"/>
                <a:gd name="connsiteY100" fmla="*/ 513496 h 857250"/>
                <a:gd name="connsiteX101" fmla="*/ 484622 w 857953"/>
                <a:gd name="connsiteY101" fmla="*/ 514912 h 857250"/>
                <a:gd name="connsiteX102" fmla="*/ 482984 w 857953"/>
                <a:gd name="connsiteY102" fmla="*/ 513521 h 857250"/>
                <a:gd name="connsiteX103" fmla="*/ 482936 w 857953"/>
                <a:gd name="connsiteY103" fmla="*/ 490919 h 857250"/>
                <a:gd name="connsiteX104" fmla="*/ 482984 w 857953"/>
                <a:gd name="connsiteY104" fmla="*/ 490871 h 857250"/>
                <a:gd name="connsiteX105" fmla="*/ 482984 w 857953"/>
                <a:gd name="connsiteY105" fmla="*/ 490823 h 857250"/>
                <a:gd name="connsiteX106" fmla="*/ 505586 w 857953"/>
                <a:gd name="connsiteY106" fmla="*/ 490776 h 857250"/>
                <a:gd name="connsiteX107" fmla="*/ 505634 w 857953"/>
                <a:gd name="connsiteY107" fmla="*/ 490823 h 857250"/>
                <a:gd name="connsiteX108" fmla="*/ 505634 w 857953"/>
                <a:gd name="connsiteY108" fmla="*/ 490823 h 857250"/>
                <a:gd name="connsiteX109" fmla="*/ 585339 w 857953"/>
                <a:gd name="connsiteY109" fmla="*/ 468354 h 857250"/>
                <a:gd name="connsiteX110" fmla="*/ 585430 w 857953"/>
                <a:gd name="connsiteY110" fmla="*/ 491092 h 857250"/>
                <a:gd name="connsiteX111" fmla="*/ 562692 w 857953"/>
                <a:gd name="connsiteY111" fmla="*/ 491181 h 857250"/>
                <a:gd name="connsiteX112" fmla="*/ 561251 w 857953"/>
                <a:gd name="connsiteY112" fmla="*/ 469992 h 857250"/>
                <a:gd name="connsiteX113" fmla="*/ 562641 w 857953"/>
                <a:gd name="connsiteY113" fmla="*/ 468354 h 857250"/>
                <a:gd name="connsiteX114" fmla="*/ 583749 w 857953"/>
                <a:gd name="connsiteY114" fmla="*/ 467001 h 857250"/>
                <a:gd name="connsiteX115" fmla="*/ 585339 w 857953"/>
                <a:gd name="connsiteY115" fmla="*/ 468354 h 857250"/>
                <a:gd name="connsiteX116" fmla="*/ 701754 w 857953"/>
                <a:gd name="connsiteY116" fmla="*/ 161973 h 857250"/>
                <a:gd name="connsiteX117" fmla="*/ 701768 w 857953"/>
                <a:gd name="connsiteY117" fmla="*/ 184656 h 857250"/>
                <a:gd name="connsiteX118" fmla="*/ 701754 w 857953"/>
                <a:gd name="connsiteY118" fmla="*/ 184671 h 857250"/>
                <a:gd name="connsiteX119" fmla="*/ 701754 w 857953"/>
                <a:gd name="connsiteY119" fmla="*/ 184671 h 857250"/>
                <a:gd name="connsiteX120" fmla="*/ 679057 w 857953"/>
                <a:gd name="connsiteY120" fmla="*/ 184722 h 857250"/>
                <a:gd name="connsiteX121" fmla="*/ 679004 w 857953"/>
                <a:gd name="connsiteY121" fmla="*/ 162025 h 857250"/>
                <a:gd name="connsiteX122" fmla="*/ 700144 w 857953"/>
                <a:gd name="connsiteY122" fmla="*/ 160611 h 857250"/>
                <a:gd name="connsiteX123" fmla="*/ 701773 w 857953"/>
                <a:gd name="connsiteY123" fmla="*/ 162001 h 857250"/>
                <a:gd name="connsiteX124" fmla="*/ 683352 w 857953"/>
                <a:gd name="connsiteY124" fmla="*/ 266157 h 857250"/>
                <a:gd name="connsiteX125" fmla="*/ 683418 w 857953"/>
                <a:gd name="connsiteY125" fmla="*/ 288869 h 857250"/>
                <a:gd name="connsiteX126" fmla="*/ 660708 w 857953"/>
                <a:gd name="connsiteY126" fmla="*/ 288935 h 857250"/>
                <a:gd name="connsiteX127" fmla="*/ 659291 w 857953"/>
                <a:gd name="connsiteY127" fmla="*/ 267767 h 857250"/>
                <a:gd name="connsiteX128" fmla="*/ 660672 w 857953"/>
                <a:gd name="connsiteY128" fmla="*/ 266138 h 857250"/>
                <a:gd name="connsiteX129" fmla="*/ 683370 w 857953"/>
                <a:gd name="connsiteY129" fmla="*/ 266129 h 857250"/>
                <a:gd name="connsiteX130" fmla="*/ 683380 w 857953"/>
                <a:gd name="connsiteY130" fmla="*/ 266138 h 857250"/>
                <a:gd name="connsiteX131" fmla="*/ 683380 w 857953"/>
                <a:gd name="connsiteY131" fmla="*/ 266138 h 857250"/>
                <a:gd name="connsiteX132" fmla="*/ 607809 w 857953"/>
                <a:gd name="connsiteY132" fmla="*/ 223237 h 857250"/>
                <a:gd name="connsiteX133" fmla="*/ 607824 w 857953"/>
                <a:gd name="connsiteY133" fmla="*/ 245949 h 857250"/>
                <a:gd name="connsiteX134" fmla="*/ 585114 w 857953"/>
                <a:gd name="connsiteY134" fmla="*/ 245964 h 857250"/>
                <a:gd name="connsiteX135" fmla="*/ 585097 w 857953"/>
                <a:gd name="connsiteY135" fmla="*/ 223253 h 857250"/>
                <a:gd name="connsiteX136" fmla="*/ 596455 w 857953"/>
                <a:gd name="connsiteY136" fmla="*/ 218542 h 857250"/>
                <a:gd name="connsiteX137" fmla="*/ 607809 w 857953"/>
                <a:gd name="connsiteY137" fmla="*/ 223237 h 857250"/>
                <a:gd name="connsiteX138" fmla="*/ 607809 w 857953"/>
                <a:gd name="connsiteY138" fmla="*/ 313115 h 857250"/>
                <a:gd name="connsiteX139" fmla="*/ 607800 w 857953"/>
                <a:gd name="connsiteY139" fmla="*/ 335813 h 857250"/>
                <a:gd name="connsiteX140" fmla="*/ 585102 w 857953"/>
                <a:gd name="connsiteY140" fmla="*/ 335804 h 857250"/>
                <a:gd name="connsiteX141" fmla="*/ 585112 w 857953"/>
                <a:gd name="connsiteY141" fmla="*/ 313107 h 857250"/>
                <a:gd name="connsiteX142" fmla="*/ 596455 w 857953"/>
                <a:gd name="connsiteY142" fmla="*/ 308410 h 857250"/>
                <a:gd name="connsiteX143" fmla="*/ 607809 w 857953"/>
                <a:gd name="connsiteY143" fmla="*/ 313115 h 857250"/>
                <a:gd name="connsiteX144" fmla="*/ 564946 w 857953"/>
                <a:gd name="connsiteY144" fmla="*/ 368303 h 857250"/>
                <a:gd name="connsiteX145" fmla="*/ 564922 w 857953"/>
                <a:gd name="connsiteY145" fmla="*/ 390977 h 857250"/>
                <a:gd name="connsiteX146" fmla="*/ 542248 w 857953"/>
                <a:gd name="connsiteY146" fmla="*/ 390954 h 857250"/>
                <a:gd name="connsiteX147" fmla="*/ 542248 w 857953"/>
                <a:gd name="connsiteY147" fmla="*/ 390954 h 857250"/>
                <a:gd name="connsiteX148" fmla="*/ 541767 w 857953"/>
                <a:gd name="connsiteY148" fmla="*/ 368275 h 857250"/>
                <a:gd name="connsiteX149" fmla="*/ 564446 w 857953"/>
                <a:gd name="connsiteY149" fmla="*/ 367794 h 857250"/>
                <a:gd name="connsiteX150" fmla="*/ 564927 w 857953"/>
                <a:gd name="connsiteY150" fmla="*/ 368275 h 857250"/>
                <a:gd name="connsiteX151" fmla="*/ 564927 w 857953"/>
                <a:gd name="connsiteY151" fmla="*/ 368275 h 857250"/>
                <a:gd name="connsiteX152" fmla="*/ 564927 w 857953"/>
                <a:gd name="connsiteY152" fmla="*/ 368275 h 857250"/>
                <a:gd name="connsiteX153" fmla="*/ 505710 w 857953"/>
                <a:gd name="connsiteY153" fmla="*/ 353959 h 857250"/>
                <a:gd name="connsiteX154" fmla="*/ 507063 w 857953"/>
                <a:gd name="connsiteY154" fmla="*/ 375075 h 857250"/>
                <a:gd name="connsiteX155" fmla="*/ 505710 w 857953"/>
                <a:gd name="connsiteY155" fmla="*/ 376666 h 857250"/>
                <a:gd name="connsiteX156" fmla="*/ 483007 w 857953"/>
                <a:gd name="connsiteY156" fmla="*/ 376661 h 857250"/>
                <a:gd name="connsiteX157" fmla="*/ 483012 w 857953"/>
                <a:gd name="connsiteY157" fmla="*/ 353959 h 857250"/>
                <a:gd name="connsiteX158" fmla="*/ 483012 w 857953"/>
                <a:gd name="connsiteY158" fmla="*/ 353959 h 857250"/>
                <a:gd name="connsiteX159" fmla="*/ 505602 w 857953"/>
                <a:gd name="connsiteY159" fmla="*/ 353879 h 857250"/>
                <a:gd name="connsiteX160" fmla="*/ 505682 w 857953"/>
                <a:gd name="connsiteY160" fmla="*/ 353959 h 857250"/>
                <a:gd name="connsiteX161" fmla="*/ 552688 w 857953"/>
                <a:gd name="connsiteY161" fmla="*/ 309029 h 857250"/>
                <a:gd name="connsiteX162" fmla="*/ 552702 w 857953"/>
                <a:gd name="connsiteY162" fmla="*/ 331713 h 857250"/>
                <a:gd name="connsiteX163" fmla="*/ 552688 w 857953"/>
                <a:gd name="connsiteY163" fmla="*/ 331727 h 857250"/>
                <a:gd name="connsiteX164" fmla="*/ 552688 w 857953"/>
                <a:gd name="connsiteY164" fmla="*/ 331727 h 857250"/>
                <a:gd name="connsiteX165" fmla="*/ 552688 w 857953"/>
                <a:gd name="connsiteY165" fmla="*/ 331727 h 857250"/>
                <a:gd name="connsiteX166" fmla="*/ 531675 w 857953"/>
                <a:gd name="connsiteY166" fmla="*/ 333108 h 857250"/>
                <a:gd name="connsiteX167" fmla="*/ 530037 w 857953"/>
                <a:gd name="connsiteY167" fmla="*/ 331727 h 857250"/>
                <a:gd name="connsiteX168" fmla="*/ 528685 w 857953"/>
                <a:gd name="connsiteY168" fmla="*/ 310620 h 857250"/>
                <a:gd name="connsiteX169" fmla="*/ 530037 w 857953"/>
                <a:gd name="connsiteY169" fmla="*/ 309020 h 857250"/>
                <a:gd name="connsiteX170" fmla="*/ 552734 w 857953"/>
                <a:gd name="connsiteY170" fmla="*/ 309020 h 857250"/>
                <a:gd name="connsiteX171" fmla="*/ 552735 w 857953"/>
                <a:gd name="connsiteY171" fmla="*/ 309020 h 857250"/>
                <a:gd name="connsiteX172" fmla="*/ 534304 w 857953"/>
                <a:gd name="connsiteY172" fmla="*/ 247755 h 857250"/>
                <a:gd name="connsiteX173" fmla="*/ 534328 w 857953"/>
                <a:gd name="connsiteY173" fmla="*/ 270429 h 857250"/>
                <a:gd name="connsiteX174" fmla="*/ 511654 w 857953"/>
                <a:gd name="connsiteY174" fmla="*/ 270453 h 857250"/>
                <a:gd name="connsiteX175" fmla="*/ 511606 w 857953"/>
                <a:gd name="connsiteY175" fmla="*/ 270453 h 857250"/>
                <a:gd name="connsiteX176" fmla="*/ 511559 w 857953"/>
                <a:gd name="connsiteY176" fmla="*/ 247850 h 857250"/>
                <a:gd name="connsiteX177" fmla="*/ 511606 w 857953"/>
                <a:gd name="connsiteY177" fmla="*/ 247802 h 857250"/>
                <a:gd name="connsiteX178" fmla="*/ 511606 w 857953"/>
                <a:gd name="connsiteY178" fmla="*/ 247802 h 857250"/>
                <a:gd name="connsiteX179" fmla="*/ 532695 w 857953"/>
                <a:gd name="connsiteY179" fmla="*/ 246431 h 857250"/>
                <a:gd name="connsiteX180" fmla="*/ 534276 w 857953"/>
                <a:gd name="connsiteY180" fmla="*/ 247783 h 857250"/>
                <a:gd name="connsiteX181" fmla="*/ 503672 w 857953"/>
                <a:gd name="connsiteY181" fmla="*/ 292684 h 857250"/>
                <a:gd name="connsiteX182" fmla="*/ 503701 w 857953"/>
                <a:gd name="connsiteY182" fmla="*/ 315287 h 857250"/>
                <a:gd name="connsiteX183" fmla="*/ 503672 w 857953"/>
                <a:gd name="connsiteY183" fmla="*/ 315316 h 857250"/>
                <a:gd name="connsiteX184" fmla="*/ 503605 w 857953"/>
                <a:gd name="connsiteY184" fmla="*/ 315382 h 857250"/>
                <a:gd name="connsiteX185" fmla="*/ 480988 w 857953"/>
                <a:gd name="connsiteY185" fmla="*/ 315416 h 857250"/>
                <a:gd name="connsiteX186" fmla="*/ 480955 w 857953"/>
                <a:gd name="connsiteY186" fmla="*/ 315382 h 857250"/>
                <a:gd name="connsiteX187" fmla="*/ 480955 w 857953"/>
                <a:gd name="connsiteY187" fmla="*/ 315382 h 857250"/>
                <a:gd name="connsiteX188" fmla="*/ 480955 w 857953"/>
                <a:gd name="connsiteY188" fmla="*/ 315382 h 857250"/>
                <a:gd name="connsiteX189" fmla="*/ 479574 w 857953"/>
                <a:gd name="connsiteY189" fmla="*/ 294370 h 857250"/>
                <a:gd name="connsiteX190" fmla="*/ 480955 w 857953"/>
                <a:gd name="connsiteY190" fmla="*/ 292732 h 857250"/>
                <a:gd name="connsiteX191" fmla="*/ 503653 w 857953"/>
                <a:gd name="connsiteY191" fmla="*/ 292732 h 857250"/>
                <a:gd name="connsiteX192" fmla="*/ 76771 w 857953"/>
                <a:gd name="connsiteY192" fmla="*/ 114995 h 857250"/>
                <a:gd name="connsiteX193" fmla="*/ 76757 w 857953"/>
                <a:gd name="connsiteY193" fmla="*/ 137679 h 857250"/>
                <a:gd name="connsiteX194" fmla="*/ 54072 w 857953"/>
                <a:gd name="connsiteY194" fmla="*/ 137665 h 857250"/>
                <a:gd name="connsiteX195" fmla="*/ 54087 w 857953"/>
                <a:gd name="connsiteY195" fmla="*/ 114981 h 857250"/>
                <a:gd name="connsiteX196" fmla="*/ 65427 w 857953"/>
                <a:gd name="connsiteY196" fmla="*/ 110290 h 857250"/>
                <a:gd name="connsiteX197" fmla="*/ 76771 w 857953"/>
                <a:gd name="connsiteY197" fmla="*/ 114995 h 857250"/>
                <a:gd name="connsiteX198" fmla="*/ 414966 w 857953"/>
                <a:gd name="connsiteY198" fmla="*/ 12992 h 857250"/>
                <a:gd name="connsiteX199" fmla="*/ 414966 w 857953"/>
                <a:gd name="connsiteY199" fmla="*/ 414614 h 857250"/>
                <a:gd name="connsiteX200" fmla="*/ 13344 w 857953"/>
                <a:gd name="connsiteY200" fmla="*/ 414614 h 857250"/>
                <a:gd name="connsiteX201" fmla="*/ 5 w 857953"/>
                <a:gd name="connsiteY201" fmla="*/ 427250 h 857250"/>
                <a:gd name="connsiteX202" fmla="*/ 12640 w 857953"/>
                <a:gd name="connsiteY202" fmla="*/ 440588 h 857250"/>
                <a:gd name="connsiteX203" fmla="*/ 13344 w 857953"/>
                <a:gd name="connsiteY203" fmla="*/ 440588 h 857250"/>
                <a:gd name="connsiteX204" fmla="*/ 414966 w 857953"/>
                <a:gd name="connsiteY204" fmla="*/ 440588 h 857250"/>
                <a:gd name="connsiteX205" fmla="*/ 414966 w 857953"/>
                <a:gd name="connsiteY205" fmla="*/ 844258 h 857250"/>
                <a:gd name="connsiteX206" fmla="*/ 427958 w 857953"/>
                <a:gd name="connsiteY206" fmla="*/ 857250 h 857250"/>
                <a:gd name="connsiteX207" fmla="*/ 440950 w 857953"/>
                <a:gd name="connsiteY207" fmla="*/ 844258 h 857250"/>
                <a:gd name="connsiteX208" fmla="*/ 440950 w 857953"/>
                <a:gd name="connsiteY208" fmla="*/ 440588 h 857250"/>
                <a:gd name="connsiteX209" fmla="*/ 844610 w 857953"/>
                <a:gd name="connsiteY209" fmla="*/ 440588 h 857250"/>
                <a:gd name="connsiteX210" fmla="*/ 857949 w 857953"/>
                <a:gd name="connsiteY210" fmla="*/ 427953 h 857250"/>
                <a:gd name="connsiteX211" fmla="*/ 845314 w 857953"/>
                <a:gd name="connsiteY211" fmla="*/ 414614 h 857250"/>
                <a:gd name="connsiteX212" fmla="*/ 844610 w 857953"/>
                <a:gd name="connsiteY212" fmla="*/ 414614 h 857250"/>
                <a:gd name="connsiteX213" fmla="*/ 440950 w 857953"/>
                <a:gd name="connsiteY213" fmla="*/ 414614 h 857250"/>
                <a:gd name="connsiteX214" fmla="*/ 440950 w 857953"/>
                <a:gd name="connsiteY214" fmla="*/ 12992 h 857250"/>
                <a:gd name="connsiteX215" fmla="*/ 427958 w 857953"/>
                <a:gd name="connsiteY215" fmla="*/ 0 h 857250"/>
                <a:gd name="connsiteX216" fmla="*/ 414966 w 857953"/>
                <a:gd name="connsiteY216" fmla="*/ 12992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</a:cxnLst>
              <a:rect l="l" t="t" r="r" b="b"/>
              <a:pathLst>
                <a:path w="857953" h="857250">
                  <a:moveTo>
                    <a:pt x="189099" y="147638"/>
                  </a:moveTo>
                  <a:cubicBezTo>
                    <a:pt x="195367" y="153897"/>
                    <a:pt x="195373" y="164054"/>
                    <a:pt x="189114" y="170321"/>
                  </a:cubicBezTo>
                  <a:cubicBezTo>
                    <a:pt x="189109" y="170326"/>
                    <a:pt x="189104" y="170331"/>
                    <a:pt x="189099" y="170336"/>
                  </a:cubicBezTo>
                  <a:lnTo>
                    <a:pt x="189099" y="170336"/>
                  </a:lnTo>
                  <a:cubicBezTo>
                    <a:pt x="183436" y="176073"/>
                    <a:pt x="174375" y="176667"/>
                    <a:pt x="168011" y="171717"/>
                  </a:cubicBezTo>
                  <a:cubicBezTo>
                    <a:pt x="167446" y="171309"/>
                    <a:pt x="166914" y="170857"/>
                    <a:pt x="166420" y="170364"/>
                  </a:cubicBezTo>
                  <a:cubicBezTo>
                    <a:pt x="160153" y="164104"/>
                    <a:pt x="160146" y="153948"/>
                    <a:pt x="166406" y="147680"/>
                  </a:cubicBezTo>
                  <a:cubicBezTo>
                    <a:pt x="166411" y="147676"/>
                    <a:pt x="166415" y="147671"/>
                    <a:pt x="166420" y="147666"/>
                  </a:cubicBezTo>
                  <a:lnTo>
                    <a:pt x="166420" y="147666"/>
                  </a:lnTo>
                  <a:lnTo>
                    <a:pt x="166420" y="147666"/>
                  </a:lnTo>
                  <a:cubicBezTo>
                    <a:pt x="172070" y="141963"/>
                    <a:pt x="181085" y="141371"/>
                    <a:pt x="187432" y="146285"/>
                  </a:cubicBezTo>
                  <a:cubicBezTo>
                    <a:pt x="188014" y="146697"/>
                    <a:pt x="188559" y="147159"/>
                    <a:pt x="189061" y="147666"/>
                  </a:cubicBezTo>
                  <a:close/>
                  <a:moveTo>
                    <a:pt x="293265" y="208912"/>
                  </a:moveTo>
                  <a:cubicBezTo>
                    <a:pt x="298964" y="214580"/>
                    <a:pt x="299560" y="223603"/>
                    <a:pt x="294655" y="229972"/>
                  </a:cubicBezTo>
                  <a:cubicBezTo>
                    <a:pt x="294240" y="230557"/>
                    <a:pt x="293775" y="231105"/>
                    <a:pt x="293265" y="231610"/>
                  </a:cubicBezTo>
                  <a:cubicBezTo>
                    <a:pt x="287023" y="237889"/>
                    <a:pt x="276873" y="237918"/>
                    <a:pt x="270594" y="231677"/>
                  </a:cubicBezTo>
                  <a:cubicBezTo>
                    <a:pt x="264860" y="225977"/>
                    <a:pt x="264269" y="216899"/>
                    <a:pt x="269214" y="210503"/>
                  </a:cubicBezTo>
                  <a:cubicBezTo>
                    <a:pt x="269623" y="209941"/>
                    <a:pt x="270075" y="209412"/>
                    <a:pt x="270567" y="208921"/>
                  </a:cubicBezTo>
                  <a:cubicBezTo>
                    <a:pt x="276826" y="202654"/>
                    <a:pt x="286983" y="202647"/>
                    <a:pt x="293250" y="208907"/>
                  </a:cubicBezTo>
                  <a:cubicBezTo>
                    <a:pt x="293255" y="208912"/>
                    <a:pt x="293260" y="208917"/>
                    <a:pt x="293265" y="208921"/>
                  </a:cubicBezTo>
                  <a:close/>
                  <a:moveTo>
                    <a:pt x="248316" y="327431"/>
                  </a:moveTo>
                  <a:cubicBezTo>
                    <a:pt x="254579" y="333697"/>
                    <a:pt x="254577" y="343853"/>
                    <a:pt x="248311" y="350115"/>
                  </a:cubicBezTo>
                  <a:cubicBezTo>
                    <a:pt x="242047" y="356378"/>
                    <a:pt x="231890" y="356376"/>
                    <a:pt x="225628" y="350111"/>
                  </a:cubicBezTo>
                  <a:cubicBezTo>
                    <a:pt x="222618" y="347100"/>
                    <a:pt x="220928" y="343014"/>
                    <a:pt x="220932" y="338757"/>
                  </a:cubicBezTo>
                  <a:cubicBezTo>
                    <a:pt x="220933" y="335239"/>
                    <a:pt x="222101" y="331821"/>
                    <a:pt x="224256" y="329041"/>
                  </a:cubicBezTo>
                  <a:cubicBezTo>
                    <a:pt x="224671" y="328458"/>
                    <a:pt x="225133" y="327911"/>
                    <a:pt x="225637" y="327403"/>
                  </a:cubicBezTo>
                  <a:cubicBezTo>
                    <a:pt x="231907" y="321140"/>
                    <a:pt x="242065" y="321140"/>
                    <a:pt x="248335" y="327403"/>
                  </a:cubicBezTo>
                  <a:lnTo>
                    <a:pt x="248335" y="327403"/>
                  </a:lnTo>
                  <a:close/>
                  <a:moveTo>
                    <a:pt x="342261" y="327431"/>
                  </a:moveTo>
                  <a:cubicBezTo>
                    <a:pt x="348463" y="333720"/>
                    <a:pt x="348393" y="343846"/>
                    <a:pt x="342105" y="350048"/>
                  </a:cubicBezTo>
                  <a:cubicBezTo>
                    <a:pt x="335817" y="356249"/>
                    <a:pt x="325691" y="356180"/>
                    <a:pt x="319489" y="349891"/>
                  </a:cubicBezTo>
                  <a:cubicBezTo>
                    <a:pt x="313286" y="343603"/>
                    <a:pt x="313357" y="333477"/>
                    <a:pt x="319645" y="327275"/>
                  </a:cubicBezTo>
                  <a:cubicBezTo>
                    <a:pt x="322653" y="324308"/>
                    <a:pt x="326712" y="322653"/>
                    <a:pt x="330936" y="322669"/>
                  </a:cubicBezTo>
                  <a:cubicBezTo>
                    <a:pt x="335194" y="322691"/>
                    <a:pt x="339268" y="324403"/>
                    <a:pt x="342261" y="327431"/>
                  </a:cubicBezTo>
                  <a:lnTo>
                    <a:pt x="342261" y="327431"/>
                  </a:lnTo>
                  <a:close/>
                  <a:moveTo>
                    <a:pt x="372922" y="245707"/>
                  </a:moveTo>
                  <a:cubicBezTo>
                    <a:pt x="379198" y="251974"/>
                    <a:pt x="379205" y="262142"/>
                    <a:pt x="372937" y="268418"/>
                  </a:cubicBezTo>
                  <a:cubicBezTo>
                    <a:pt x="366671" y="274693"/>
                    <a:pt x="356503" y="274701"/>
                    <a:pt x="350227" y="268434"/>
                  </a:cubicBezTo>
                  <a:cubicBezTo>
                    <a:pt x="343951" y="262166"/>
                    <a:pt x="343944" y="251998"/>
                    <a:pt x="350211" y="245722"/>
                  </a:cubicBezTo>
                  <a:cubicBezTo>
                    <a:pt x="353225" y="242706"/>
                    <a:pt x="357314" y="241010"/>
                    <a:pt x="361578" y="241011"/>
                  </a:cubicBezTo>
                  <a:cubicBezTo>
                    <a:pt x="365833" y="241008"/>
                    <a:pt x="369914" y="242697"/>
                    <a:pt x="372922" y="245707"/>
                  </a:cubicBezTo>
                  <a:close/>
                  <a:moveTo>
                    <a:pt x="76771" y="754275"/>
                  </a:moveTo>
                  <a:cubicBezTo>
                    <a:pt x="83041" y="760540"/>
                    <a:pt x="83046" y="770702"/>
                    <a:pt x="76780" y="776973"/>
                  </a:cubicBezTo>
                  <a:cubicBezTo>
                    <a:pt x="76778" y="776976"/>
                    <a:pt x="76774" y="776980"/>
                    <a:pt x="76771" y="776983"/>
                  </a:cubicBezTo>
                  <a:lnTo>
                    <a:pt x="76771" y="776983"/>
                  </a:lnTo>
                  <a:cubicBezTo>
                    <a:pt x="70516" y="783270"/>
                    <a:pt x="60348" y="783297"/>
                    <a:pt x="54060" y="777042"/>
                  </a:cubicBezTo>
                  <a:cubicBezTo>
                    <a:pt x="47772" y="770787"/>
                    <a:pt x="47746" y="760618"/>
                    <a:pt x="54001" y="754331"/>
                  </a:cubicBezTo>
                  <a:cubicBezTo>
                    <a:pt x="59699" y="748603"/>
                    <a:pt x="68764" y="748000"/>
                    <a:pt x="75171" y="752923"/>
                  </a:cubicBezTo>
                  <a:cubicBezTo>
                    <a:pt x="75748" y="753341"/>
                    <a:pt x="76293" y="753802"/>
                    <a:pt x="76800" y="754304"/>
                  </a:cubicBezTo>
                  <a:close/>
                  <a:moveTo>
                    <a:pt x="111499" y="684838"/>
                  </a:moveTo>
                  <a:cubicBezTo>
                    <a:pt x="117765" y="691116"/>
                    <a:pt x="117754" y="701284"/>
                    <a:pt x="111476" y="707549"/>
                  </a:cubicBezTo>
                  <a:cubicBezTo>
                    <a:pt x="108469" y="710551"/>
                    <a:pt x="104394" y="712238"/>
                    <a:pt x="100145" y="712241"/>
                  </a:cubicBezTo>
                  <a:cubicBezTo>
                    <a:pt x="96609" y="712241"/>
                    <a:pt x="93173" y="711062"/>
                    <a:pt x="90382" y="708889"/>
                  </a:cubicBezTo>
                  <a:cubicBezTo>
                    <a:pt x="89817" y="708481"/>
                    <a:pt x="89285" y="708029"/>
                    <a:pt x="88791" y="707536"/>
                  </a:cubicBezTo>
                  <a:cubicBezTo>
                    <a:pt x="82526" y="701258"/>
                    <a:pt x="82536" y="691090"/>
                    <a:pt x="88814" y="684825"/>
                  </a:cubicBezTo>
                  <a:cubicBezTo>
                    <a:pt x="91821" y="681823"/>
                    <a:pt x="95896" y="680136"/>
                    <a:pt x="100145" y="680133"/>
                  </a:cubicBezTo>
                  <a:cubicBezTo>
                    <a:pt x="103683" y="680131"/>
                    <a:pt x="107119" y="681311"/>
                    <a:pt x="109908" y="683485"/>
                  </a:cubicBezTo>
                  <a:cubicBezTo>
                    <a:pt x="110473" y="683893"/>
                    <a:pt x="111006" y="684346"/>
                    <a:pt x="111499" y="684838"/>
                  </a:cubicBezTo>
                  <a:close/>
                  <a:moveTo>
                    <a:pt x="111499" y="592931"/>
                  </a:moveTo>
                  <a:cubicBezTo>
                    <a:pt x="117797" y="599154"/>
                    <a:pt x="117857" y="609304"/>
                    <a:pt x="111634" y="615602"/>
                  </a:cubicBezTo>
                  <a:cubicBezTo>
                    <a:pt x="105924" y="621381"/>
                    <a:pt x="96792" y="621974"/>
                    <a:pt x="90382" y="616982"/>
                  </a:cubicBezTo>
                  <a:cubicBezTo>
                    <a:pt x="89821" y="616569"/>
                    <a:pt x="89290" y="616116"/>
                    <a:pt x="88791" y="615629"/>
                  </a:cubicBezTo>
                  <a:cubicBezTo>
                    <a:pt x="82524" y="609359"/>
                    <a:pt x="82526" y="599194"/>
                    <a:pt x="88796" y="592926"/>
                  </a:cubicBezTo>
                  <a:cubicBezTo>
                    <a:pt x="95067" y="586659"/>
                    <a:pt x="105232" y="586661"/>
                    <a:pt x="111499" y="592931"/>
                  </a:cubicBezTo>
                  <a:close/>
                  <a:moveTo>
                    <a:pt x="150294" y="488766"/>
                  </a:moveTo>
                  <a:cubicBezTo>
                    <a:pt x="156570" y="495033"/>
                    <a:pt x="156576" y="505202"/>
                    <a:pt x="150309" y="511478"/>
                  </a:cubicBezTo>
                  <a:cubicBezTo>
                    <a:pt x="144041" y="517754"/>
                    <a:pt x="133872" y="517760"/>
                    <a:pt x="127596" y="511493"/>
                  </a:cubicBezTo>
                  <a:lnTo>
                    <a:pt x="127596" y="511493"/>
                  </a:lnTo>
                  <a:lnTo>
                    <a:pt x="127596" y="511493"/>
                  </a:lnTo>
                  <a:cubicBezTo>
                    <a:pt x="121326" y="505256"/>
                    <a:pt x="121298" y="495119"/>
                    <a:pt x="127534" y="488849"/>
                  </a:cubicBezTo>
                  <a:cubicBezTo>
                    <a:pt x="133223" y="483129"/>
                    <a:pt x="142278" y="482535"/>
                    <a:pt x="148666" y="487461"/>
                  </a:cubicBezTo>
                  <a:cubicBezTo>
                    <a:pt x="149248" y="487873"/>
                    <a:pt x="149792" y="488335"/>
                    <a:pt x="150294" y="488842"/>
                  </a:cubicBezTo>
                  <a:close/>
                  <a:moveTo>
                    <a:pt x="225866" y="566376"/>
                  </a:moveTo>
                  <a:cubicBezTo>
                    <a:pt x="231568" y="572048"/>
                    <a:pt x="232160" y="581076"/>
                    <a:pt x="227247" y="587445"/>
                  </a:cubicBezTo>
                  <a:cubicBezTo>
                    <a:pt x="226832" y="588025"/>
                    <a:pt x="226370" y="588570"/>
                    <a:pt x="225866" y="589074"/>
                  </a:cubicBezTo>
                  <a:cubicBezTo>
                    <a:pt x="219643" y="595372"/>
                    <a:pt x="209493" y="595432"/>
                    <a:pt x="203195" y="589209"/>
                  </a:cubicBezTo>
                  <a:cubicBezTo>
                    <a:pt x="197416" y="583499"/>
                    <a:pt x="196823" y="574367"/>
                    <a:pt x="201815" y="567957"/>
                  </a:cubicBezTo>
                  <a:cubicBezTo>
                    <a:pt x="202224" y="567395"/>
                    <a:pt x="202676" y="566866"/>
                    <a:pt x="203168" y="566376"/>
                  </a:cubicBezTo>
                  <a:cubicBezTo>
                    <a:pt x="209428" y="560108"/>
                    <a:pt x="219584" y="560101"/>
                    <a:pt x="225851" y="566361"/>
                  </a:cubicBezTo>
                  <a:cubicBezTo>
                    <a:pt x="225856" y="566366"/>
                    <a:pt x="225861" y="566371"/>
                    <a:pt x="225866" y="566376"/>
                  </a:cubicBezTo>
                  <a:close/>
                  <a:moveTo>
                    <a:pt x="366769" y="535762"/>
                  </a:moveTo>
                  <a:cubicBezTo>
                    <a:pt x="373093" y="541959"/>
                    <a:pt x="373195" y="552108"/>
                    <a:pt x="366998" y="558432"/>
                  </a:cubicBezTo>
                  <a:cubicBezTo>
                    <a:pt x="360802" y="564755"/>
                    <a:pt x="350652" y="564857"/>
                    <a:pt x="344328" y="558660"/>
                  </a:cubicBezTo>
                  <a:cubicBezTo>
                    <a:pt x="344251" y="558585"/>
                    <a:pt x="344175" y="558509"/>
                    <a:pt x="344100" y="558432"/>
                  </a:cubicBezTo>
                  <a:lnTo>
                    <a:pt x="344100" y="558432"/>
                  </a:lnTo>
                  <a:lnTo>
                    <a:pt x="344100" y="558432"/>
                  </a:lnTo>
                  <a:cubicBezTo>
                    <a:pt x="337845" y="552164"/>
                    <a:pt x="337856" y="542013"/>
                    <a:pt x="344123" y="535757"/>
                  </a:cubicBezTo>
                  <a:cubicBezTo>
                    <a:pt x="350391" y="529502"/>
                    <a:pt x="360543" y="529513"/>
                    <a:pt x="366798" y="535781"/>
                  </a:cubicBezTo>
                  <a:lnTo>
                    <a:pt x="366798" y="535781"/>
                  </a:lnTo>
                  <a:close/>
                  <a:moveTo>
                    <a:pt x="297332" y="519427"/>
                  </a:moveTo>
                  <a:cubicBezTo>
                    <a:pt x="303057" y="525096"/>
                    <a:pt x="303651" y="534148"/>
                    <a:pt x="298713" y="540515"/>
                  </a:cubicBezTo>
                  <a:cubicBezTo>
                    <a:pt x="298301" y="541077"/>
                    <a:pt x="297845" y="541606"/>
                    <a:pt x="297351" y="542096"/>
                  </a:cubicBezTo>
                  <a:cubicBezTo>
                    <a:pt x="291240" y="548502"/>
                    <a:pt x="281092" y="548740"/>
                    <a:pt x="274686" y="542629"/>
                  </a:cubicBezTo>
                  <a:cubicBezTo>
                    <a:pt x="268281" y="536517"/>
                    <a:pt x="268042" y="526370"/>
                    <a:pt x="274155" y="519964"/>
                  </a:cubicBezTo>
                  <a:cubicBezTo>
                    <a:pt x="274323" y="519788"/>
                    <a:pt x="274496" y="519614"/>
                    <a:pt x="274672" y="519446"/>
                  </a:cubicBezTo>
                  <a:lnTo>
                    <a:pt x="274672" y="519446"/>
                  </a:lnTo>
                  <a:cubicBezTo>
                    <a:pt x="280900" y="513191"/>
                    <a:pt x="291021" y="513170"/>
                    <a:pt x="297275" y="519398"/>
                  </a:cubicBezTo>
                  <a:cubicBezTo>
                    <a:pt x="297291" y="519414"/>
                    <a:pt x="297307" y="519430"/>
                    <a:pt x="297322" y="519446"/>
                  </a:cubicBezTo>
                  <a:lnTo>
                    <a:pt x="297322" y="519446"/>
                  </a:lnTo>
                  <a:close/>
                  <a:moveTo>
                    <a:pt x="505663" y="490852"/>
                  </a:moveTo>
                  <a:cubicBezTo>
                    <a:pt x="511949" y="497071"/>
                    <a:pt x="512003" y="507209"/>
                    <a:pt x="505784" y="513496"/>
                  </a:cubicBezTo>
                  <a:cubicBezTo>
                    <a:pt x="500099" y="519241"/>
                    <a:pt x="491023" y="519849"/>
                    <a:pt x="484622" y="514912"/>
                  </a:cubicBezTo>
                  <a:cubicBezTo>
                    <a:pt x="484039" y="514494"/>
                    <a:pt x="483491" y="514029"/>
                    <a:pt x="482984" y="513521"/>
                  </a:cubicBezTo>
                  <a:cubicBezTo>
                    <a:pt x="476729" y="507293"/>
                    <a:pt x="476708" y="497173"/>
                    <a:pt x="482936" y="490919"/>
                  </a:cubicBezTo>
                  <a:cubicBezTo>
                    <a:pt x="482952" y="490902"/>
                    <a:pt x="482967" y="490886"/>
                    <a:pt x="482984" y="490871"/>
                  </a:cubicBezTo>
                  <a:lnTo>
                    <a:pt x="482984" y="490823"/>
                  </a:lnTo>
                  <a:cubicBezTo>
                    <a:pt x="489212" y="484568"/>
                    <a:pt x="499332" y="484547"/>
                    <a:pt x="505586" y="490776"/>
                  </a:cubicBezTo>
                  <a:cubicBezTo>
                    <a:pt x="505603" y="490792"/>
                    <a:pt x="505619" y="490807"/>
                    <a:pt x="505634" y="490823"/>
                  </a:cubicBezTo>
                  <a:lnTo>
                    <a:pt x="505634" y="490823"/>
                  </a:lnTo>
                  <a:close/>
                  <a:moveTo>
                    <a:pt x="585339" y="468354"/>
                  </a:moveTo>
                  <a:cubicBezTo>
                    <a:pt x="591643" y="474608"/>
                    <a:pt x="591684" y="484788"/>
                    <a:pt x="585430" y="491092"/>
                  </a:cubicBezTo>
                  <a:cubicBezTo>
                    <a:pt x="579176" y="497396"/>
                    <a:pt x="568995" y="497436"/>
                    <a:pt x="562692" y="491181"/>
                  </a:cubicBezTo>
                  <a:cubicBezTo>
                    <a:pt x="556951" y="485486"/>
                    <a:pt x="556334" y="476413"/>
                    <a:pt x="561251" y="469992"/>
                  </a:cubicBezTo>
                  <a:cubicBezTo>
                    <a:pt x="561669" y="469409"/>
                    <a:pt x="562134" y="468861"/>
                    <a:pt x="562641" y="468354"/>
                  </a:cubicBezTo>
                  <a:cubicBezTo>
                    <a:pt x="568327" y="462638"/>
                    <a:pt x="577380" y="462058"/>
                    <a:pt x="583749" y="467001"/>
                  </a:cubicBezTo>
                  <a:cubicBezTo>
                    <a:pt x="584313" y="467409"/>
                    <a:pt x="584846" y="467861"/>
                    <a:pt x="585339" y="468354"/>
                  </a:cubicBezTo>
                  <a:close/>
                  <a:moveTo>
                    <a:pt x="701754" y="161973"/>
                  </a:moveTo>
                  <a:cubicBezTo>
                    <a:pt x="708022" y="168232"/>
                    <a:pt x="708028" y="178389"/>
                    <a:pt x="701768" y="184656"/>
                  </a:cubicBezTo>
                  <a:cubicBezTo>
                    <a:pt x="701763" y="184661"/>
                    <a:pt x="701759" y="184666"/>
                    <a:pt x="701754" y="184671"/>
                  </a:cubicBezTo>
                  <a:lnTo>
                    <a:pt x="701754" y="184671"/>
                  </a:lnTo>
                  <a:cubicBezTo>
                    <a:pt x="695501" y="190952"/>
                    <a:pt x="685338" y="190976"/>
                    <a:pt x="679057" y="184722"/>
                  </a:cubicBezTo>
                  <a:cubicBezTo>
                    <a:pt x="672774" y="178469"/>
                    <a:pt x="672751" y="168307"/>
                    <a:pt x="679004" y="162025"/>
                  </a:cubicBezTo>
                  <a:cubicBezTo>
                    <a:pt x="684695" y="156309"/>
                    <a:pt x="693743" y="155703"/>
                    <a:pt x="700144" y="160611"/>
                  </a:cubicBezTo>
                  <a:cubicBezTo>
                    <a:pt x="700726" y="161027"/>
                    <a:pt x="701271" y="161492"/>
                    <a:pt x="701773" y="162001"/>
                  </a:cubicBezTo>
                  <a:close/>
                  <a:moveTo>
                    <a:pt x="683352" y="266157"/>
                  </a:moveTo>
                  <a:cubicBezTo>
                    <a:pt x="689642" y="272410"/>
                    <a:pt x="689671" y="282578"/>
                    <a:pt x="683418" y="288869"/>
                  </a:cubicBezTo>
                  <a:cubicBezTo>
                    <a:pt x="677166" y="295158"/>
                    <a:pt x="666998" y="295188"/>
                    <a:pt x="660708" y="288935"/>
                  </a:cubicBezTo>
                  <a:cubicBezTo>
                    <a:pt x="654978" y="283239"/>
                    <a:pt x="654372" y="274174"/>
                    <a:pt x="659291" y="267767"/>
                  </a:cubicBezTo>
                  <a:cubicBezTo>
                    <a:pt x="659707" y="267188"/>
                    <a:pt x="660169" y="266643"/>
                    <a:pt x="660672" y="266138"/>
                  </a:cubicBezTo>
                  <a:cubicBezTo>
                    <a:pt x="666937" y="259868"/>
                    <a:pt x="677099" y="259863"/>
                    <a:pt x="683370" y="266129"/>
                  </a:cubicBezTo>
                  <a:cubicBezTo>
                    <a:pt x="683373" y="266131"/>
                    <a:pt x="683376" y="266135"/>
                    <a:pt x="683380" y="266138"/>
                  </a:cubicBezTo>
                  <a:lnTo>
                    <a:pt x="683380" y="266138"/>
                  </a:lnTo>
                  <a:close/>
                  <a:moveTo>
                    <a:pt x="607809" y="223237"/>
                  </a:moveTo>
                  <a:cubicBezTo>
                    <a:pt x="614085" y="229505"/>
                    <a:pt x="614091" y="239673"/>
                    <a:pt x="607824" y="245949"/>
                  </a:cubicBezTo>
                  <a:cubicBezTo>
                    <a:pt x="601557" y="252224"/>
                    <a:pt x="591389" y="252232"/>
                    <a:pt x="585114" y="245964"/>
                  </a:cubicBezTo>
                  <a:cubicBezTo>
                    <a:pt x="578838" y="239697"/>
                    <a:pt x="578831" y="229529"/>
                    <a:pt x="585097" y="223253"/>
                  </a:cubicBezTo>
                  <a:cubicBezTo>
                    <a:pt x="588108" y="220238"/>
                    <a:pt x="592194" y="218544"/>
                    <a:pt x="596455" y="218542"/>
                  </a:cubicBezTo>
                  <a:cubicBezTo>
                    <a:pt x="600714" y="218534"/>
                    <a:pt x="604800" y="220224"/>
                    <a:pt x="607809" y="223237"/>
                  </a:cubicBezTo>
                  <a:close/>
                  <a:moveTo>
                    <a:pt x="607809" y="313115"/>
                  </a:moveTo>
                  <a:cubicBezTo>
                    <a:pt x="614074" y="319386"/>
                    <a:pt x="614071" y="329548"/>
                    <a:pt x="607800" y="335813"/>
                  </a:cubicBezTo>
                  <a:cubicBezTo>
                    <a:pt x="601530" y="342078"/>
                    <a:pt x="591368" y="342074"/>
                    <a:pt x="585102" y="335804"/>
                  </a:cubicBezTo>
                  <a:cubicBezTo>
                    <a:pt x="578837" y="329534"/>
                    <a:pt x="578841" y="319371"/>
                    <a:pt x="585112" y="313107"/>
                  </a:cubicBezTo>
                  <a:cubicBezTo>
                    <a:pt x="588121" y="310100"/>
                    <a:pt x="592201" y="308410"/>
                    <a:pt x="596455" y="308410"/>
                  </a:cubicBezTo>
                  <a:cubicBezTo>
                    <a:pt x="600715" y="308402"/>
                    <a:pt x="604803" y="310096"/>
                    <a:pt x="607809" y="313115"/>
                  </a:cubicBezTo>
                  <a:close/>
                  <a:moveTo>
                    <a:pt x="564946" y="368303"/>
                  </a:moveTo>
                  <a:cubicBezTo>
                    <a:pt x="571201" y="374571"/>
                    <a:pt x="571190" y="384722"/>
                    <a:pt x="564922" y="390977"/>
                  </a:cubicBezTo>
                  <a:cubicBezTo>
                    <a:pt x="558655" y="397233"/>
                    <a:pt x="548503" y="397221"/>
                    <a:pt x="542248" y="390954"/>
                  </a:cubicBezTo>
                  <a:lnTo>
                    <a:pt x="542248" y="390954"/>
                  </a:lnTo>
                  <a:cubicBezTo>
                    <a:pt x="535853" y="384824"/>
                    <a:pt x="535637" y="374670"/>
                    <a:pt x="541767" y="368275"/>
                  </a:cubicBezTo>
                  <a:cubicBezTo>
                    <a:pt x="547897" y="361880"/>
                    <a:pt x="558050" y="361663"/>
                    <a:pt x="564446" y="367794"/>
                  </a:cubicBezTo>
                  <a:cubicBezTo>
                    <a:pt x="564610" y="367951"/>
                    <a:pt x="564770" y="368111"/>
                    <a:pt x="564927" y="368275"/>
                  </a:cubicBezTo>
                  <a:lnTo>
                    <a:pt x="564927" y="368275"/>
                  </a:lnTo>
                  <a:lnTo>
                    <a:pt x="564927" y="368275"/>
                  </a:lnTo>
                  <a:close/>
                  <a:moveTo>
                    <a:pt x="505710" y="353959"/>
                  </a:moveTo>
                  <a:cubicBezTo>
                    <a:pt x="511423" y="359649"/>
                    <a:pt x="512003" y="368703"/>
                    <a:pt x="507063" y="375075"/>
                  </a:cubicBezTo>
                  <a:cubicBezTo>
                    <a:pt x="506655" y="375640"/>
                    <a:pt x="506203" y="376173"/>
                    <a:pt x="505710" y="376666"/>
                  </a:cubicBezTo>
                  <a:cubicBezTo>
                    <a:pt x="499440" y="382934"/>
                    <a:pt x="489275" y="382932"/>
                    <a:pt x="483007" y="376661"/>
                  </a:cubicBezTo>
                  <a:cubicBezTo>
                    <a:pt x="476740" y="370391"/>
                    <a:pt x="476742" y="360226"/>
                    <a:pt x="483012" y="353959"/>
                  </a:cubicBezTo>
                  <a:lnTo>
                    <a:pt x="483012" y="353959"/>
                  </a:lnTo>
                  <a:cubicBezTo>
                    <a:pt x="489228" y="347699"/>
                    <a:pt x="499342" y="347663"/>
                    <a:pt x="505602" y="353879"/>
                  </a:cubicBezTo>
                  <a:cubicBezTo>
                    <a:pt x="505628" y="353905"/>
                    <a:pt x="505655" y="353932"/>
                    <a:pt x="505682" y="353959"/>
                  </a:cubicBezTo>
                  <a:close/>
                  <a:moveTo>
                    <a:pt x="552688" y="309029"/>
                  </a:moveTo>
                  <a:cubicBezTo>
                    <a:pt x="558955" y="315289"/>
                    <a:pt x="558962" y="325445"/>
                    <a:pt x="552702" y="331713"/>
                  </a:cubicBezTo>
                  <a:cubicBezTo>
                    <a:pt x="552697" y="331718"/>
                    <a:pt x="552692" y="331722"/>
                    <a:pt x="552688" y="331727"/>
                  </a:cubicBezTo>
                  <a:lnTo>
                    <a:pt x="552688" y="331727"/>
                  </a:lnTo>
                  <a:lnTo>
                    <a:pt x="552688" y="331727"/>
                  </a:lnTo>
                  <a:cubicBezTo>
                    <a:pt x="547033" y="337417"/>
                    <a:pt x="538027" y="338009"/>
                    <a:pt x="531675" y="333108"/>
                  </a:cubicBezTo>
                  <a:cubicBezTo>
                    <a:pt x="531092" y="332693"/>
                    <a:pt x="530545" y="332231"/>
                    <a:pt x="530037" y="331727"/>
                  </a:cubicBezTo>
                  <a:cubicBezTo>
                    <a:pt x="524321" y="326042"/>
                    <a:pt x="523741" y="316988"/>
                    <a:pt x="528685" y="310620"/>
                  </a:cubicBezTo>
                  <a:cubicBezTo>
                    <a:pt x="529090" y="310049"/>
                    <a:pt x="529543" y="309514"/>
                    <a:pt x="530037" y="309020"/>
                  </a:cubicBezTo>
                  <a:cubicBezTo>
                    <a:pt x="536305" y="302752"/>
                    <a:pt x="546467" y="302751"/>
                    <a:pt x="552734" y="309020"/>
                  </a:cubicBezTo>
                  <a:cubicBezTo>
                    <a:pt x="552735" y="309020"/>
                    <a:pt x="552735" y="309020"/>
                    <a:pt x="552735" y="309020"/>
                  </a:cubicBezTo>
                  <a:close/>
                  <a:moveTo>
                    <a:pt x="534304" y="247755"/>
                  </a:moveTo>
                  <a:cubicBezTo>
                    <a:pt x="540572" y="254010"/>
                    <a:pt x="540583" y="264162"/>
                    <a:pt x="534328" y="270429"/>
                  </a:cubicBezTo>
                  <a:cubicBezTo>
                    <a:pt x="528073" y="276696"/>
                    <a:pt x="517921" y="276708"/>
                    <a:pt x="511654" y="270453"/>
                  </a:cubicBezTo>
                  <a:lnTo>
                    <a:pt x="511606" y="270453"/>
                  </a:lnTo>
                  <a:cubicBezTo>
                    <a:pt x="505351" y="264224"/>
                    <a:pt x="505330" y="254104"/>
                    <a:pt x="511559" y="247850"/>
                  </a:cubicBezTo>
                  <a:cubicBezTo>
                    <a:pt x="511575" y="247834"/>
                    <a:pt x="511590" y="247818"/>
                    <a:pt x="511606" y="247802"/>
                  </a:cubicBezTo>
                  <a:lnTo>
                    <a:pt x="511606" y="247802"/>
                  </a:lnTo>
                  <a:cubicBezTo>
                    <a:pt x="517275" y="242071"/>
                    <a:pt x="526332" y="241483"/>
                    <a:pt x="532695" y="246431"/>
                  </a:cubicBezTo>
                  <a:cubicBezTo>
                    <a:pt x="533258" y="246837"/>
                    <a:pt x="533787" y="247289"/>
                    <a:pt x="534276" y="247783"/>
                  </a:cubicBezTo>
                  <a:close/>
                  <a:moveTo>
                    <a:pt x="503672" y="292684"/>
                  </a:moveTo>
                  <a:cubicBezTo>
                    <a:pt x="509921" y="298918"/>
                    <a:pt x="509934" y="309038"/>
                    <a:pt x="503701" y="315287"/>
                  </a:cubicBezTo>
                  <a:cubicBezTo>
                    <a:pt x="503691" y="315297"/>
                    <a:pt x="503681" y="315306"/>
                    <a:pt x="503672" y="315316"/>
                  </a:cubicBezTo>
                  <a:lnTo>
                    <a:pt x="503605" y="315382"/>
                  </a:lnTo>
                  <a:cubicBezTo>
                    <a:pt x="497369" y="321637"/>
                    <a:pt x="487243" y="321652"/>
                    <a:pt x="480988" y="315416"/>
                  </a:cubicBezTo>
                  <a:cubicBezTo>
                    <a:pt x="480978" y="315405"/>
                    <a:pt x="480966" y="315394"/>
                    <a:pt x="480955" y="315382"/>
                  </a:cubicBezTo>
                  <a:lnTo>
                    <a:pt x="480955" y="315382"/>
                  </a:lnTo>
                  <a:lnTo>
                    <a:pt x="480955" y="315382"/>
                  </a:lnTo>
                  <a:cubicBezTo>
                    <a:pt x="475252" y="309733"/>
                    <a:pt x="474660" y="300718"/>
                    <a:pt x="479574" y="294370"/>
                  </a:cubicBezTo>
                  <a:cubicBezTo>
                    <a:pt x="479989" y="293787"/>
                    <a:pt x="480451" y="293240"/>
                    <a:pt x="480955" y="292732"/>
                  </a:cubicBezTo>
                  <a:cubicBezTo>
                    <a:pt x="487225" y="286469"/>
                    <a:pt x="497383" y="286469"/>
                    <a:pt x="503653" y="292732"/>
                  </a:cubicBezTo>
                  <a:close/>
                  <a:moveTo>
                    <a:pt x="76771" y="114995"/>
                  </a:moveTo>
                  <a:cubicBezTo>
                    <a:pt x="83031" y="121264"/>
                    <a:pt x="83024" y="131419"/>
                    <a:pt x="76757" y="137679"/>
                  </a:cubicBezTo>
                  <a:cubicBezTo>
                    <a:pt x="70488" y="143940"/>
                    <a:pt x="60332" y="143933"/>
                    <a:pt x="54072" y="137665"/>
                  </a:cubicBezTo>
                  <a:cubicBezTo>
                    <a:pt x="47812" y="131396"/>
                    <a:pt x="47819" y="121241"/>
                    <a:pt x="54087" y="114981"/>
                  </a:cubicBezTo>
                  <a:cubicBezTo>
                    <a:pt x="57095" y="111976"/>
                    <a:pt x="61175" y="110289"/>
                    <a:pt x="65427" y="110290"/>
                  </a:cubicBezTo>
                  <a:cubicBezTo>
                    <a:pt x="69683" y="110287"/>
                    <a:pt x="73766" y="111981"/>
                    <a:pt x="76771" y="114995"/>
                  </a:cubicBezTo>
                  <a:close/>
                  <a:moveTo>
                    <a:pt x="414966" y="12992"/>
                  </a:moveTo>
                  <a:lnTo>
                    <a:pt x="414966" y="414614"/>
                  </a:lnTo>
                  <a:lnTo>
                    <a:pt x="13344" y="414614"/>
                  </a:lnTo>
                  <a:cubicBezTo>
                    <a:pt x="6171" y="414419"/>
                    <a:pt x="199" y="420076"/>
                    <a:pt x="5" y="427250"/>
                  </a:cubicBezTo>
                  <a:cubicBezTo>
                    <a:pt x="-189" y="434422"/>
                    <a:pt x="5468" y="440394"/>
                    <a:pt x="12640" y="440588"/>
                  </a:cubicBezTo>
                  <a:cubicBezTo>
                    <a:pt x="12875" y="440595"/>
                    <a:pt x="13110" y="440595"/>
                    <a:pt x="13344" y="440588"/>
                  </a:cubicBezTo>
                  <a:lnTo>
                    <a:pt x="414966" y="440588"/>
                  </a:lnTo>
                  <a:lnTo>
                    <a:pt x="414966" y="844258"/>
                  </a:lnTo>
                  <a:cubicBezTo>
                    <a:pt x="414966" y="851433"/>
                    <a:pt x="420783" y="857250"/>
                    <a:pt x="427958" y="857250"/>
                  </a:cubicBezTo>
                  <a:cubicBezTo>
                    <a:pt x="435133" y="857250"/>
                    <a:pt x="440950" y="851433"/>
                    <a:pt x="440950" y="844258"/>
                  </a:cubicBezTo>
                  <a:lnTo>
                    <a:pt x="440950" y="440588"/>
                  </a:lnTo>
                  <a:lnTo>
                    <a:pt x="844610" y="440588"/>
                  </a:lnTo>
                  <a:cubicBezTo>
                    <a:pt x="851782" y="440783"/>
                    <a:pt x="857754" y="435126"/>
                    <a:pt x="857949" y="427953"/>
                  </a:cubicBezTo>
                  <a:cubicBezTo>
                    <a:pt x="858143" y="420780"/>
                    <a:pt x="852486" y="414808"/>
                    <a:pt x="845314" y="414614"/>
                  </a:cubicBezTo>
                  <a:cubicBezTo>
                    <a:pt x="845078" y="414607"/>
                    <a:pt x="844844" y="414607"/>
                    <a:pt x="844610" y="414614"/>
                  </a:cubicBezTo>
                  <a:lnTo>
                    <a:pt x="440950" y="414614"/>
                  </a:lnTo>
                  <a:lnTo>
                    <a:pt x="440950" y="12992"/>
                  </a:lnTo>
                  <a:cubicBezTo>
                    <a:pt x="440950" y="5817"/>
                    <a:pt x="435133" y="0"/>
                    <a:pt x="427958" y="0"/>
                  </a:cubicBezTo>
                  <a:cubicBezTo>
                    <a:pt x="420783" y="0"/>
                    <a:pt x="414966" y="5817"/>
                    <a:pt x="414966" y="12992"/>
                  </a:cubicBezTo>
                  <a:close/>
                </a:path>
              </a:pathLst>
            </a:custGeom>
            <a:solidFill>
              <a:srgbClr val="0070C0"/>
            </a:solidFill>
            <a:ln w="3175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sp>
        <p:nvSpPr>
          <p:cNvPr id="573" name="Rectangle 572">
            <a:extLst>
              <a:ext uri="{FF2B5EF4-FFF2-40B4-BE49-F238E27FC236}">
                <a16:creationId xmlns:a16="http://schemas.microsoft.com/office/drawing/2014/main" id="{C1741737-56E5-9E9A-9218-763A21324C5D}"/>
              </a:ext>
            </a:extLst>
          </p:cNvPr>
          <p:cNvSpPr>
            <a:spLocks/>
          </p:cNvSpPr>
          <p:nvPr/>
        </p:nvSpPr>
        <p:spPr>
          <a:xfrm>
            <a:off x="18478918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>
                <a:solidFill>
                  <a:srgbClr val="0070C0"/>
                </a:solidFill>
                <a:latin typeface="+mj-lt"/>
              </a:rPr>
              <a:t>Basic analysis</a:t>
            </a: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DE3DBA1B-C3E4-27B8-AE9A-6C47060B5DAA}"/>
              </a:ext>
            </a:extLst>
          </p:cNvPr>
          <p:cNvSpPr>
            <a:spLocks/>
          </p:cNvSpPr>
          <p:nvPr/>
        </p:nvSpPr>
        <p:spPr>
          <a:xfrm>
            <a:off x="18478918" y="2052638"/>
            <a:ext cx="5395736" cy="825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</a:rPr>
              <a:t>Combine prefix with plot type to create a specific analysis on a Viva Insights metric</a:t>
            </a:r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</a:rPr>
              <a:t>Available prefixes: </a:t>
            </a:r>
            <a:r>
              <a:rPr lang="en-US" sz="1300" dirty="0">
                <a:solidFill>
                  <a:schemeClr val="tx1"/>
                </a:solidFill>
                <a:latin typeface="+mj-lt"/>
              </a:rPr>
              <a:t>collab, email, meeting, afterhours, one2one, workloads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E003D3E-F1CF-2D05-0954-4B810F220B07}"/>
              </a:ext>
            </a:extLst>
          </p:cNvPr>
          <p:cNvCxnSpPr>
            <a:cxnSpLocks/>
          </p:cNvCxnSpPr>
          <p:nvPr/>
        </p:nvCxnSpPr>
        <p:spPr>
          <a:xfrm>
            <a:off x="18478918" y="382047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3E25364-5B6B-A8F1-0B38-DEA0C95A9A06}"/>
              </a:ext>
            </a:extLst>
          </p:cNvPr>
          <p:cNvCxnSpPr>
            <a:cxnSpLocks/>
          </p:cNvCxnSpPr>
          <p:nvPr/>
        </p:nvCxnSpPr>
        <p:spPr>
          <a:xfrm>
            <a:off x="18478918" y="474229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A1E336D-355E-695E-8F50-07C9B950733D}"/>
              </a:ext>
            </a:extLst>
          </p:cNvPr>
          <p:cNvCxnSpPr>
            <a:cxnSpLocks/>
          </p:cNvCxnSpPr>
          <p:nvPr/>
        </p:nvCxnSpPr>
        <p:spPr>
          <a:xfrm>
            <a:off x="18478918" y="566411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AAD0831-FDEE-9EF2-85CF-EAB6FD8803F5}"/>
              </a:ext>
            </a:extLst>
          </p:cNvPr>
          <p:cNvCxnSpPr>
            <a:cxnSpLocks/>
          </p:cNvCxnSpPr>
          <p:nvPr/>
        </p:nvCxnSpPr>
        <p:spPr>
          <a:xfrm>
            <a:off x="18478918" y="658593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BE3CF48-1F3B-230B-1ACA-61FAD99C2A0B}"/>
              </a:ext>
            </a:extLst>
          </p:cNvPr>
          <p:cNvCxnSpPr>
            <a:cxnSpLocks/>
          </p:cNvCxnSpPr>
          <p:nvPr/>
        </p:nvCxnSpPr>
        <p:spPr>
          <a:xfrm>
            <a:off x="18478918" y="770781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8F4A775-8A19-F556-3749-49E863310839}"/>
              </a:ext>
            </a:extLst>
          </p:cNvPr>
          <p:cNvGrpSpPr/>
          <p:nvPr/>
        </p:nvGrpSpPr>
        <p:grpSpPr>
          <a:xfrm>
            <a:off x="449020" y="6755050"/>
            <a:ext cx="5395736" cy="1948333"/>
            <a:chOff x="449020" y="7074381"/>
            <a:chExt cx="5395736" cy="194833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5874AEB-BFDF-AF4F-4474-12E0E0D354C2}"/>
                </a:ext>
              </a:extLst>
            </p:cNvPr>
            <p:cNvSpPr>
              <a:spLocks/>
            </p:cNvSpPr>
            <p:nvPr/>
          </p:nvSpPr>
          <p:spPr>
            <a:xfrm>
              <a:off x="449020" y="7482292"/>
              <a:ext cx="5395736" cy="1540422"/>
            </a:xfrm>
            <a:prstGeom prst="rect">
              <a:avLst/>
            </a:prstGeom>
            <a:solidFill>
              <a:srgbClr val="DFF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73152" rIns="73152" bIns="73152" rtlCol="0" anchor="t">
              <a:spAutoFit/>
            </a:bodyPr>
            <a:lstStyle/>
            <a:p>
              <a:pPr>
                <a:spcAft>
                  <a:spcPts val="286"/>
                </a:spcAft>
              </a:pP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library(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vivainsights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>
                <a:spcAft>
                  <a:spcPts val="286"/>
                </a:spcAft>
              </a:pP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library(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tidyverse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pPr>
                <a:spcAft>
                  <a:spcPts val="286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pq_df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&lt;- 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import_query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("path/…csv")</a:t>
              </a:r>
            </a:p>
            <a:p>
              <a:pPr>
                <a:spcAft>
                  <a:spcPts val="286"/>
                </a:spcAft>
              </a:pPr>
              <a:endParaRPr lang="en-US" sz="1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Aft>
                  <a:spcPts val="286"/>
                </a:spcAft>
              </a:pP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Collaboration hours - summary</a:t>
              </a:r>
            </a:p>
            <a:p>
              <a:pPr>
                <a:spcAft>
                  <a:spcPts val="286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collab_sum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pq_df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))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B898069-D435-39B2-03D9-7D924EDFAFE9}"/>
                </a:ext>
              </a:extLst>
            </p:cNvPr>
            <p:cNvSpPr>
              <a:spLocks/>
            </p:cNvSpPr>
            <p:nvPr/>
          </p:nvSpPr>
          <p:spPr>
            <a:xfrm>
              <a:off x="449020" y="7074381"/>
              <a:ext cx="5395736" cy="2000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286"/>
                </a:spcAft>
              </a:pPr>
              <a:r>
                <a:rPr 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Example set up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64B9BC3-220A-8276-129F-D9EAC479C6EE}"/>
              </a:ext>
            </a:extLst>
          </p:cNvPr>
          <p:cNvSpPr txBox="1"/>
          <p:nvPr/>
        </p:nvSpPr>
        <p:spPr>
          <a:xfrm>
            <a:off x="16826723" y="488316"/>
            <a:ext cx="4686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Full documentation site: </a:t>
            </a:r>
          </a:p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https://microsoft.github.io/vivainsights/</a:t>
            </a:r>
          </a:p>
        </p:txBody>
      </p:sp>
      <p:sp>
        <p:nvSpPr>
          <p:cNvPr id="73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4093654A-5584-F8DD-943C-BFBE642B52C1}"/>
              </a:ext>
            </a:extLst>
          </p:cNvPr>
          <p:cNvSpPr txBox="1"/>
          <p:nvPr/>
        </p:nvSpPr>
        <p:spPr>
          <a:xfrm>
            <a:off x="762316" y="13262839"/>
            <a:ext cx="23112338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sz="1200" dirty="0"/>
              <a:t>CC by Martin Chan •  martinchan@microsoft.com • Learn more at </a:t>
            </a:r>
            <a:r>
              <a:rPr lang="en-US" sz="1200" b="1" dirty="0"/>
              <a:t>microsoft.github.io/</a:t>
            </a:r>
            <a:r>
              <a:rPr lang="en-US" sz="1200" b="1" dirty="0" err="1"/>
              <a:t>vivainsights</a:t>
            </a:r>
            <a:r>
              <a:rPr lang="en-US" sz="1200" dirty="0"/>
              <a:t> • package version  0.7.4 •  Updated: 2026-02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D25DCAD-F74E-7B29-EFF5-8BECF798DC78}"/>
              </a:ext>
            </a:extLst>
          </p:cNvPr>
          <p:cNvSpPr>
            <a:spLocks/>
          </p:cNvSpPr>
          <p:nvPr/>
        </p:nvSpPr>
        <p:spPr>
          <a:xfrm>
            <a:off x="12468952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Inbuilt datasets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3C1D510-4A29-0CE7-D66A-EC00904B232C}"/>
              </a:ext>
            </a:extLst>
          </p:cNvPr>
          <p:cNvSpPr>
            <a:spLocks/>
          </p:cNvSpPr>
          <p:nvPr/>
        </p:nvSpPr>
        <p:spPr>
          <a:xfrm>
            <a:off x="12468952" y="2052638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</a:rPr>
              <a:t>Explore </a:t>
            </a:r>
            <a:r>
              <a:rPr lang="en-US" sz="1300" dirty="0" err="1">
                <a:solidFill>
                  <a:schemeClr val="tx1"/>
                </a:solidFill>
                <a:latin typeface="+mj-lt"/>
              </a:rPr>
              <a:t>vivainsights</a:t>
            </a:r>
            <a:r>
              <a:rPr lang="en-US" sz="1300" dirty="0">
                <a:solidFill>
                  <a:schemeClr val="tx1"/>
                </a:solidFill>
              </a:rPr>
              <a:t> by using inbuilt demo datasets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52BFB0C-A64E-BF18-E7AA-CDAEE920A46F}"/>
              </a:ext>
            </a:extLst>
          </p:cNvPr>
          <p:cNvCxnSpPr>
            <a:cxnSpLocks/>
          </p:cNvCxnSpPr>
          <p:nvPr/>
        </p:nvCxnSpPr>
        <p:spPr>
          <a:xfrm>
            <a:off x="12468952" y="3005472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C9A82EE-4D1E-4815-72FA-15243775A574}"/>
              </a:ext>
            </a:extLst>
          </p:cNvPr>
          <p:cNvCxnSpPr>
            <a:cxnSpLocks/>
          </p:cNvCxnSpPr>
          <p:nvPr/>
        </p:nvCxnSpPr>
        <p:spPr>
          <a:xfrm>
            <a:off x="12468952" y="3698416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FF22409-A30B-10E8-8965-492259FFC1C6}"/>
              </a:ext>
            </a:extLst>
          </p:cNvPr>
          <p:cNvCxnSpPr>
            <a:cxnSpLocks/>
          </p:cNvCxnSpPr>
          <p:nvPr/>
        </p:nvCxnSpPr>
        <p:spPr>
          <a:xfrm>
            <a:off x="12468952" y="439136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79E3B8D-15B6-4F73-4DC0-529B87B1ECE2}"/>
              </a:ext>
            </a:extLst>
          </p:cNvPr>
          <p:cNvGrpSpPr/>
          <p:nvPr/>
        </p:nvGrpSpPr>
        <p:grpSpPr>
          <a:xfrm>
            <a:off x="12468952" y="2446121"/>
            <a:ext cx="5395736" cy="425758"/>
            <a:chOff x="12468952" y="2446121"/>
            <a:chExt cx="5395736" cy="425758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5601C9F-2A93-1787-75B4-CDE95BD48A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2446121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36575">
                <a:spcAft>
                  <a:spcPts val="200"/>
                </a:spcAft>
              </a:pPr>
              <a:endParaRPr lang="en-US" sz="13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6B11C67-3B44-B3D7-1F96-E1DC19B70A48}"/>
                </a:ext>
              </a:extLst>
            </p:cNvPr>
            <p:cNvSpPr>
              <a:spLocks/>
            </p:cNvSpPr>
            <p:nvPr/>
          </p:nvSpPr>
          <p:spPr>
            <a:xfrm>
              <a:off x="12468952" y="2446121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pq_data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Person query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A0E4ED0-57BB-041C-5FEA-9B20E99BFAC5}"/>
              </a:ext>
            </a:extLst>
          </p:cNvPr>
          <p:cNvGrpSpPr/>
          <p:nvPr/>
        </p:nvGrpSpPr>
        <p:grpSpPr>
          <a:xfrm>
            <a:off x="12468952" y="3832009"/>
            <a:ext cx="5395736" cy="425758"/>
            <a:chOff x="12468952" y="4029253"/>
            <a:chExt cx="5395736" cy="425758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098EE53-6B1D-A262-896A-EA00BF6F4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4029253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36575">
                <a:spcAft>
                  <a:spcPts val="200"/>
                </a:spcAft>
              </a:pPr>
              <a:endParaRPr lang="en-US" sz="130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FB6A9BD-D20D-96AC-D696-C8EE363F778A}"/>
                </a:ext>
              </a:extLst>
            </p:cNvPr>
            <p:cNvSpPr>
              <a:spLocks/>
            </p:cNvSpPr>
            <p:nvPr/>
          </p:nvSpPr>
          <p:spPr>
            <a:xfrm>
              <a:off x="12468952" y="4029253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p2p_data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Person-to-Person query 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F45DFA4-98F1-9676-FE12-A29DE01E8AB1}"/>
              </a:ext>
            </a:extLst>
          </p:cNvPr>
          <p:cNvGrpSpPr/>
          <p:nvPr/>
        </p:nvGrpSpPr>
        <p:grpSpPr>
          <a:xfrm>
            <a:off x="12468952" y="3139065"/>
            <a:ext cx="5395736" cy="425758"/>
            <a:chOff x="12468952" y="3331768"/>
            <a:chExt cx="5395736" cy="425758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AD004DC-60AE-6B67-8A9F-E01BE1C04F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3331768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36575">
                <a:spcAft>
                  <a:spcPts val="200"/>
                </a:spcAft>
              </a:pPr>
              <a:endParaRPr lang="en-US" sz="130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285C322-058D-A102-CB67-41DC60771718}"/>
                </a:ext>
              </a:extLst>
            </p:cNvPr>
            <p:cNvSpPr>
              <a:spLocks/>
            </p:cNvSpPr>
            <p:nvPr/>
          </p:nvSpPr>
          <p:spPr>
            <a:xfrm>
              <a:off x="12468952" y="3331768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mt_data</a:t>
              </a:r>
              <a:endParaRPr lang="en-US" sz="1300" dirty="0">
                <a:solidFill>
                  <a:schemeClr val="tx1"/>
                </a:solidFill>
                <a:latin typeface="+mj-lt"/>
              </a:endParaRP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Meeting query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B0A2D60-5879-FC4C-2065-2E4876333815}"/>
              </a:ext>
            </a:extLst>
          </p:cNvPr>
          <p:cNvGrpSpPr/>
          <p:nvPr/>
        </p:nvGrpSpPr>
        <p:grpSpPr>
          <a:xfrm>
            <a:off x="12468952" y="4524953"/>
            <a:ext cx="5395736" cy="625812"/>
            <a:chOff x="12468952" y="4726740"/>
            <a:chExt cx="5395736" cy="625812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8117E82-2459-2D8D-7D4A-8D1E5F1A94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4726740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36575">
                <a:spcAft>
                  <a:spcPts val="200"/>
                </a:spcAft>
              </a:pPr>
              <a:endParaRPr lang="en-US" sz="13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9652F62-740C-5D10-FDC8-453F881D6FFA}"/>
                </a:ext>
              </a:extLst>
            </p:cNvPr>
            <p:cNvSpPr>
              <a:spLocks/>
            </p:cNvSpPr>
            <p:nvPr/>
          </p:nvSpPr>
          <p:spPr>
            <a:xfrm>
              <a:off x="12468952" y="4726740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p2p_data_sim()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Person to Person query / edge list based on the graph (Watts-</a:t>
              </a:r>
              <a:r>
                <a:rPr lang="en-US" sz="1300" dirty="0" err="1">
                  <a:solidFill>
                    <a:schemeClr val="tx1"/>
                  </a:solidFill>
                </a:rPr>
                <a:t>Strogatz</a:t>
              </a:r>
              <a:r>
                <a:rPr lang="en-US" sz="1300" dirty="0">
                  <a:solidFill>
                    <a:schemeClr val="tx1"/>
                  </a:solidFill>
                </a:rPr>
                <a:t> small-world network model)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985388B-9210-DAD7-8077-B07503ED9F8E}"/>
              </a:ext>
            </a:extLst>
          </p:cNvPr>
          <p:cNvGrpSpPr/>
          <p:nvPr/>
        </p:nvGrpSpPr>
        <p:grpSpPr>
          <a:xfrm>
            <a:off x="12468952" y="5417953"/>
            <a:ext cx="5395736" cy="625812"/>
            <a:chOff x="12468952" y="5877637"/>
            <a:chExt cx="5395736" cy="625812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343469A-B018-BEF5-E0C2-3625BA10D6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5877637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36575">
                <a:spcAft>
                  <a:spcPts val="200"/>
                </a:spcAft>
              </a:pPr>
              <a:endParaRPr lang="en-US" sz="130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8999D40-A07F-793E-D7BA-8F555900AFF6}"/>
                </a:ext>
              </a:extLst>
            </p:cNvPr>
            <p:cNvSpPr>
              <a:spLocks/>
            </p:cNvSpPr>
            <p:nvPr/>
          </p:nvSpPr>
          <p:spPr>
            <a:xfrm>
              <a:off x="12468952" y="5877637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g2g_data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Loads a sample group-to-group (edge-list) dataset for network analysis demos and examples</a:t>
              </a: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DE1E89F-B26C-FDA6-5E66-A1BC030BBBEE}"/>
              </a:ext>
            </a:extLst>
          </p:cNvPr>
          <p:cNvCxnSpPr>
            <a:cxnSpLocks/>
          </p:cNvCxnSpPr>
          <p:nvPr/>
        </p:nvCxnSpPr>
        <p:spPr>
          <a:xfrm>
            <a:off x="12468952" y="5284358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EA57A29-C384-F1AD-883A-2A236C31BB56}"/>
              </a:ext>
            </a:extLst>
          </p:cNvPr>
          <p:cNvCxnSpPr>
            <a:cxnSpLocks/>
          </p:cNvCxnSpPr>
          <p:nvPr/>
        </p:nvCxnSpPr>
        <p:spPr>
          <a:xfrm>
            <a:off x="6458986" y="1138007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80523AC-C901-E8F5-10ED-B45AD889EC5A}"/>
              </a:ext>
            </a:extLst>
          </p:cNvPr>
          <p:cNvCxnSpPr>
            <a:cxnSpLocks/>
          </p:cNvCxnSpPr>
          <p:nvPr/>
        </p:nvCxnSpPr>
        <p:spPr>
          <a:xfrm>
            <a:off x="6458986" y="1219931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A3203AE-D44F-01BA-890E-2CBDA5FB4377}"/>
              </a:ext>
            </a:extLst>
          </p:cNvPr>
          <p:cNvCxnSpPr>
            <a:cxnSpLocks/>
          </p:cNvCxnSpPr>
          <p:nvPr/>
        </p:nvCxnSpPr>
        <p:spPr>
          <a:xfrm>
            <a:off x="6458986" y="1056083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43FF1FA-2AC6-D311-8DB9-748787FA40E1}"/>
              </a:ext>
            </a:extLst>
          </p:cNvPr>
          <p:cNvGrpSpPr/>
          <p:nvPr/>
        </p:nvGrpSpPr>
        <p:grpSpPr>
          <a:xfrm>
            <a:off x="6458986" y="11476785"/>
            <a:ext cx="5395736" cy="625812"/>
            <a:chOff x="6458986" y="15038195"/>
            <a:chExt cx="5395736" cy="625812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75B730B-358F-C571-6A92-8B1B0EAC1C5A}"/>
                </a:ext>
              </a:extLst>
            </p:cNvPr>
            <p:cNvSpPr>
              <a:spLocks/>
            </p:cNvSpPr>
            <p:nvPr/>
          </p:nvSpPr>
          <p:spPr>
            <a:xfrm>
              <a:off x="6458986" y="15038195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identify_churn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Flags employees who have “churned” (dropped out) between time periods based on presence/absence across dates.</a:t>
              </a: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3FB071D-B8F8-A32B-5ED1-0C4218F5BA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5038195"/>
              <a:ext cx="299275" cy="261967"/>
            </a:xfrm>
            <a:custGeom>
              <a:avLst/>
              <a:gdLst>
                <a:gd name="connsiteX0" fmla="*/ 125720 w 857250"/>
                <a:gd name="connsiteY0" fmla="*/ 606884 h 726651"/>
                <a:gd name="connsiteX1" fmla="*/ 0 w 857250"/>
                <a:gd name="connsiteY1" fmla="*/ 606884 h 726651"/>
                <a:gd name="connsiteX2" fmla="*/ 0 w 857250"/>
                <a:gd name="connsiteY2" fmla="*/ 726614 h 726651"/>
                <a:gd name="connsiteX3" fmla="*/ 125720 w 857250"/>
                <a:gd name="connsiteY3" fmla="*/ 726614 h 726651"/>
                <a:gd name="connsiteX4" fmla="*/ 731530 w 857250"/>
                <a:gd name="connsiteY4" fmla="*/ 118690 h 726651"/>
                <a:gd name="connsiteX5" fmla="*/ 731530 w 857250"/>
                <a:gd name="connsiteY5" fmla="*/ 726652 h 726651"/>
                <a:gd name="connsiteX6" fmla="*/ 857250 w 857250"/>
                <a:gd name="connsiteY6" fmla="*/ 726615 h 726651"/>
                <a:gd name="connsiteX7" fmla="*/ 857250 w 857250"/>
                <a:gd name="connsiteY7" fmla="*/ 0 h 726651"/>
                <a:gd name="connsiteX8" fmla="*/ 731530 w 857250"/>
                <a:gd name="connsiteY8" fmla="*/ 0 h 726651"/>
                <a:gd name="connsiteX9" fmla="*/ 548659 w 857250"/>
                <a:gd name="connsiteY9" fmla="*/ 374713 h 726651"/>
                <a:gd name="connsiteX10" fmla="*/ 548659 w 857250"/>
                <a:gd name="connsiteY10" fmla="*/ 726652 h 726651"/>
                <a:gd name="connsiteX11" fmla="*/ 674380 w 857250"/>
                <a:gd name="connsiteY11" fmla="*/ 726652 h 726651"/>
                <a:gd name="connsiteX12" fmla="*/ 674380 w 857250"/>
                <a:gd name="connsiteY12" fmla="*/ 175840 h 726651"/>
                <a:gd name="connsiteX13" fmla="*/ 548659 w 857250"/>
                <a:gd name="connsiteY13" fmla="*/ 175840 h 726651"/>
                <a:gd name="connsiteX14" fmla="*/ 491509 w 857250"/>
                <a:gd name="connsiteY14" fmla="*/ 726652 h 726651"/>
                <a:gd name="connsiteX15" fmla="*/ 491509 w 857250"/>
                <a:gd name="connsiteY15" fmla="*/ 431863 h 726651"/>
                <a:gd name="connsiteX16" fmla="*/ 365750 w 857250"/>
                <a:gd name="connsiteY16" fmla="*/ 431863 h 726651"/>
                <a:gd name="connsiteX17" fmla="*/ 365750 w 857250"/>
                <a:gd name="connsiteY17" fmla="*/ 726652 h 726651"/>
                <a:gd name="connsiteX18" fmla="*/ 182880 w 857250"/>
                <a:gd name="connsiteY18" fmla="*/ 549734 h 726651"/>
                <a:gd name="connsiteX19" fmla="*/ 182880 w 857250"/>
                <a:gd name="connsiteY19" fmla="*/ 726614 h 726651"/>
                <a:gd name="connsiteX20" fmla="*/ 308600 w 857250"/>
                <a:gd name="connsiteY20" fmla="*/ 726614 h 726651"/>
                <a:gd name="connsiteX21" fmla="*/ 308600 w 857250"/>
                <a:gd name="connsiteY21" fmla="*/ 288168 h 726651"/>
                <a:gd name="connsiteX22" fmla="*/ 182880 w 857250"/>
                <a:gd name="connsiteY22" fmla="*/ 288168 h 72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0" h="726651">
                  <a:moveTo>
                    <a:pt x="125720" y="606884"/>
                  </a:moveTo>
                  <a:lnTo>
                    <a:pt x="0" y="606884"/>
                  </a:lnTo>
                  <a:lnTo>
                    <a:pt x="0" y="726614"/>
                  </a:lnTo>
                  <a:lnTo>
                    <a:pt x="125720" y="726614"/>
                  </a:lnTo>
                  <a:close/>
                  <a:moveTo>
                    <a:pt x="731530" y="118690"/>
                  </a:moveTo>
                  <a:lnTo>
                    <a:pt x="731530" y="726652"/>
                  </a:lnTo>
                  <a:lnTo>
                    <a:pt x="857250" y="726615"/>
                  </a:lnTo>
                  <a:lnTo>
                    <a:pt x="857250" y="0"/>
                  </a:lnTo>
                  <a:lnTo>
                    <a:pt x="731530" y="0"/>
                  </a:lnTo>
                  <a:close/>
                  <a:moveTo>
                    <a:pt x="548659" y="374713"/>
                  </a:moveTo>
                  <a:lnTo>
                    <a:pt x="548659" y="726652"/>
                  </a:lnTo>
                  <a:lnTo>
                    <a:pt x="674380" y="726652"/>
                  </a:lnTo>
                  <a:lnTo>
                    <a:pt x="674380" y="175840"/>
                  </a:lnTo>
                  <a:lnTo>
                    <a:pt x="548659" y="175840"/>
                  </a:lnTo>
                  <a:close/>
                  <a:moveTo>
                    <a:pt x="491509" y="726652"/>
                  </a:moveTo>
                  <a:lnTo>
                    <a:pt x="491509" y="431863"/>
                  </a:lnTo>
                  <a:lnTo>
                    <a:pt x="365750" y="431863"/>
                  </a:lnTo>
                  <a:lnTo>
                    <a:pt x="365750" y="726652"/>
                  </a:lnTo>
                  <a:close/>
                  <a:moveTo>
                    <a:pt x="182880" y="549734"/>
                  </a:moveTo>
                  <a:lnTo>
                    <a:pt x="182880" y="726614"/>
                  </a:lnTo>
                  <a:lnTo>
                    <a:pt x="308600" y="726614"/>
                  </a:lnTo>
                  <a:lnTo>
                    <a:pt x="308600" y="288168"/>
                  </a:lnTo>
                  <a:lnTo>
                    <a:pt x="182880" y="288168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C9D6CF6-9053-7E07-6B35-DD71E36868F2}"/>
              </a:ext>
            </a:extLst>
          </p:cNvPr>
          <p:cNvGrpSpPr/>
          <p:nvPr/>
        </p:nvGrpSpPr>
        <p:grpSpPr>
          <a:xfrm>
            <a:off x="6458986" y="10657545"/>
            <a:ext cx="5395736" cy="625812"/>
            <a:chOff x="6458986" y="13803069"/>
            <a:chExt cx="5395736" cy="625812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A51878B-7048-8567-E7FE-BD605BEE1AE7}"/>
                </a:ext>
              </a:extLst>
            </p:cNvPr>
            <p:cNvSpPr>
              <a:spLocks/>
            </p:cNvSpPr>
            <p:nvPr/>
          </p:nvSpPr>
          <p:spPr>
            <a:xfrm>
              <a:off x="6458986" y="1380306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hrvar_trend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Tracks distinct employee counts over time for a chosen HR attribute (e.g., org, level) and returns a trend plot.</a:t>
              </a: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4830877-F3EE-B514-D2E6-6EEB6F487D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3803069"/>
              <a:ext cx="258379" cy="364477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A672B84-3BDD-9B76-BE3E-8B6C94312BE5}"/>
              </a:ext>
            </a:extLst>
          </p:cNvPr>
          <p:cNvGrpSpPr/>
          <p:nvPr/>
        </p:nvGrpSpPr>
        <p:grpSpPr>
          <a:xfrm>
            <a:off x="6458986" y="12296026"/>
            <a:ext cx="5395736" cy="625812"/>
            <a:chOff x="6458986" y="15849281"/>
            <a:chExt cx="5395736" cy="625812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6FCC44E-8A8B-8899-4644-A79F54F9B7FA}"/>
                </a:ext>
              </a:extLst>
            </p:cNvPr>
            <p:cNvSpPr>
              <a:spLocks/>
            </p:cNvSpPr>
            <p:nvPr/>
          </p:nvSpPr>
          <p:spPr>
            <a:xfrm>
              <a:off x="6458986" y="15849281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identify_usage_segments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Classifies people into usage segments based on a selected metric (passed as a metric/column)</a:t>
              </a: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10BDEB9-78EE-339E-4E5C-6A3B7DDA22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5849281"/>
              <a:ext cx="258379" cy="364477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3078E26-88AC-5D40-4AC1-724B56CB042E}"/>
              </a:ext>
            </a:extLst>
          </p:cNvPr>
          <p:cNvCxnSpPr>
            <a:cxnSpLocks/>
          </p:cNvCxnSpPr>
          <p:nvPr/>
        </p:nvCxnSpPr>
        <p:spPr>
          <a:xfrm flipV="1">
            <a:off x="12419769" y="10031046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645AC87-7032-ACA6-A29C-4D8B01E57B1D}"/>
              </a:ext>
            </a:extLst>
          </p:cNvPr>
          <p:cNvCxnSpPr>
            <a:cxnSpLocks/>
          </p:cNvCxnSpPr>
          <p:nvPr/>
        </p:nvCxnSpPr>
        <p:spPr>
          <a:xfrm>
            <a:off x="12468952" y="1149525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1FC6464-0C0D-1909-A4D0-A13E285B8750}"/>
              </a:ext>
            </a:extLst>
          </p:cNvPr>
          <p:cNvCxnSpPr>
            <a:cxnSpLocks/>
          </p:cNvCxnSpPr>
          <p:nvPr/>
        </p:nvCxnSpPr>
        <p:spPr>
          <a:xfrm>
            <a:off x="12468952" y="12184346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7D9573A-90D9-C02E-426A-B482AA16A85A}"/>
              </a:ext>
            </a:extLst>
          </p:cNvPr>
          <p:cNvGrpSpPr/>
          <p:nvPr/>
        </p:nvGrpSpPr>
        <p:grpSpPr>
          <a:xfrm>
            <a:off x="12468952" y="11626921"/>
            <a:ext cx="5395736" cy="425758"/>
            <a:chOff x="12468952" y="11732383"/>
            <a:chExt cx="5395736" cy="425758"/>
          </a:xfrm>
        </p:grpSpPr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DF9B4B8-5072-71BC-B4B4-C6D36DF5B9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11732383"/>
              <a:ext cx="352949" cy="331560"/>
            </a:xfrm>
            <a:custGeom>
              <a:avLst/>
              <a:gdLst>
                <a:gd name="connsiteX0" fmla="*/ 66675 w 628650"/>
                <a:gd name="connsiteY0" fmla="*/ 400050 h 590550"/>
                <a:gd name="connsiteX1" fmla="*/ 225552 w 628650"/>
                <a:gd name="connsiteY1" fmla="*/ 250889 h 590550"/>
                <a:gd name="connsiteX2" fmla="*/ 333375 w 628650"/>
                <a:gd name="connsiteY2" fmla="*/ 133350 h 590550"/>
                <a:gd name="connsiteX3" fmla="*/ 441198 w 628650"/>
                <a:gd name="connsiteY3" fmla="*/ 250889 h 590550"/>
                <a:gd name="connsiteX4" fmla="*/ 600075 w 628650"/>
                <a:gd name="connsiteY4" fmla="*/ 400050 h 590550"/>
                <a:gd name="connsiteX5" fmla="*/ 628650 w 628650"/>
                <a:gd name="connsiteY5" fmla="*/ 400050 h 590550"/>
                <a:gd name="connsiteX6" fmla="*/ 628650 w 628650"/>
                <a:gd name="connsiteY6" fmla="*/ 342900 h 590550"/>
                <a:gd name="connsiteX7" fmla="*/ 600075 w 628650"/>
                <a:gd name="connsiteY7" fmla="*/ 342900 h 590550"/>
                <a:gd name="connsiteX8" fmla="*/ 492252 w 628650"/>
                <a:gd name="connsiteY8" fmla="*/ 225362 h 590550"/>
                <a:gd name="connsiteX9" fmla="*/ 333375 w 628650"/>
                <a:gd name="connsiteY9" fmla="*/ 76200 h 590550"/>
                <a:gd name="connsiteX10" fmla="*/ 174498 w 628650"/>
                <a:gd name="connsiteY10" fmla="*/ 225362 h 590550"/>
                <a:gd name="connsiteX11" fmla="*/ 66675 w 628650"/>
                <a:gd name="connsiteY11" fmla="*/ 342900 h 590550"/>
                <a:gd name="connsiteX12" fmla="*/ 57150 w 628650"/>
                <a:gd name="connsiteY12" fmla="*/ 342900 h 590550"/>
                <a:gd name="connsiteX13" fmla="*/ 57150 w 628650"/>
                <a:gd name="connsiteY13" fmla="*/ 0 h 590550"/>
                <a:gd name="connsiteX14" fmla="*/ 0 w 628650"/>
                <a:gd name="connsiteY14" fmla="*/ 0 h 590550"/>
                <a:gd name="connsiteX15" fmla="*/ 0 w 628650"/>
                <a:gd name="connsiteY15" fmla="*/ 561975 h 590550"/>
                <a:gd name="connsiteX16" fmla="*/ 28575 w 628650"/>
                <a:gd name="connsiteY16" fmla="*/ 590550 h 590550"/>
                <a:gd name="connsiteX17" fmla="*/ 628650 w 628650"/>
                <a:gd name="connsiteY17" fmla="*/ 590550 h 590550"/>
                <a:gd name="connsiteX18" fmla="*/ 628650 w 628650"/>
                <a:gd name="connsiteY18" fmla="*/ 533400 h 590550"/>
                <a:gd name="connsiteX19" fmla="*/ 57150 w 628650"/>
                <a:gd name="connsiteY19" fmla="*/ 533400 h 590550"/>
                <a:gd name="connsiteX20" fmla="*/ 57150 w 628650"/>
                <a:gd name="connsiteY20" fmla="*/ 4000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8650" h="590550">
                  <a:moveTo>
                    <a:pt x="66675" y="400050"/>
                  </a:moveTo>
                  <a:cubicBezTo>
                    <a:pt x="150971" y="400050"/>
                    <a:pt x="190500" y="320802"/>
                    <a:pt x="225552" y="250889"/>
                  </a:cubicBezTo>
                  <a:cubicBezTo>
                    <a:pt x="260604" y="180975"/>
                    <a:pt x="287750" y="133350"/>
                    <a:pt x="333375" y="133350"/>
                  </a:cubicBezTo>
                  <a:cubicBezTo>
                    <a:pt x="379000" y="133350"/>
                    <a:pt x="405670" y="179927"/>
                    <a:pt x="441198" y="250889"/>
                  </a:cubicBezTo>
                  <a:cubicBezTo>
                    <a:pt x="476726" y="321850"/>
                    <a:pt x="515779" y="400050"/>
                    <a:pt x="600075" y="400050"/>
                  </a:cubicBezTo>
                  <a:lnTo>
                    <a:pt x="628650" y="400050"/>
                  </a:lnTo>
                  <a:lnTo>
                    <a:pt x="628650" y="342900"/>
                  </a:lnTo>
                  <a:lnTo>
                    <a:pt x="600075" y="342900"/>
                  </a:lnTo>
                  <a:cubicBezTo>
                    <a:pt x="554450" y="342900"/>
                    <a:pt x="527780" y="296323"/>
                    <a:pt x="492252" y="225362"/>
                  </a:cubicBezTo>
                  <a:cubicBezTo>
                    <a:pt x="456724" y="154400"/>
                    <a:pt x="417671" y="76200"/>
                    <a:pt x="333375" y="76200"/>
                  </a:cubicBezTo>
                  <a:cubicBezTo>
                    <a:pt x="249079" y="76200"/>
                    <a:pt x="209550" y="155448"/>
                    <a:pt x="174498" y="225362"/>
                  </a:cubicBezTo>
                  <a:cubicBezTo>
                    <a:pt x="139446" y="295275"/>
                    <a:pt x="112300" y="342900"/>
                    <a:pt x="66675" y="342900"/>
                  </a:cubicBezTo>
                  <a:lnTo>
                    <a:pt x="57150" y="34290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561975"/>
                  </a:lnTo>
                  <a:cubicBezTo>
                    <a:pt x="0" y="577757"/>
                    <a:pt x="12793" y="590550"/>
                    <a:pt x="28575" y="590550"/>
                  </a:cubicBezTo>
                  <a:lnTo>
                    <a:pt x="628650" y="590550"/>
                  </a:lnTo>
                  <a:lnTo>
                    <a:pt x="628650" y="533400"/>
                  </a:lnTo>
                  <a:lnTo>
                    <a:pt x="57150" y="533400"/>
                  </a:lnTo>
                  <a:lnTo>
                    <a:pt x="57150" y="400050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3E4E8CAF-582D-1362-AF57-81EA5E953669}"/>
                </a:ext>
              </a:extLst>
            </p:cNvPr>
            <p:cNvSpPr>
              <a:spLocks/>
            </p:cNvSpPr>
            <p:nvPr/>
          </p:nvSpPr>
          <p:spPr>
            <a:xfrm>
              <a:off x="12468952" y="11732383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create_density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faceted density plot by default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719CF73-1A69-5159-2FF2-4E54EEE9AD82}"/>
              </a:ext>
            </a:extLst>
          </p:cNvPr>
          <p:cNvGrpSpPr/>
          <p:nvPr/>
        </p:nvGrpSpPr>
        <p:grpSpPr>
          <a:xfrm>
            <a:off x="12468952" y="12316015"/>
            <a:ext cx="5395736" cy="425758"/>
            <a:chOff x="12468952" y="12465303"/>
            <a:chExt cx="5395736" cy="425758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13DCD21-9C0F-1E2D-AFDD-203D655777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12465303"/>
              <a:ext cx="352949" cy="352949"/>
            </a:xfrm>
            <a:custGeom>
              <a:avLst/>
              <a:gdLst>
                <a:gd name="connsiteX0" fmla="*/ 609600 w 762000"/>
                <a:gd name="connsiteY0" fmla="*/ 274706 h 762000"/>
                <a:gd name="connsiteX1" fmla="*/ 457200 w 762000"/>
                <a:gd name="connsiteY1" fmla="*/ 274706 h 762000"/>
                <a:gd name="connsiteX2" fmla="*/ 457200 w 762000"/>
                <a:gd name="connsiteY2" fmla="*/ 478323 h 762000"/>
                <a:gd name="connsiteX3" fmla="*/ 304800 w 762000"/>
                <a:gd name="connsiteY3" fmla="*/ 478323 h 762000"/>
                <a:gd name="connsiteX4" fmla="*/ 304800 w 762000"/>
                <a:gd name="connsiteY4" fmla="*/ 0 h 762000"/>
                <a:gd name="connsiteX5" fmla="*/ 152400 w 762000"/>
                <a:gd name="connsiteY5" fmla="*/ 0 h 762000"/>
                <a:gd name="connsiteX6" fmla="*/ 152400 w 762000"/>
                <a:gd name="connsiteY6" fmla="*/ 194645 h 762000"/>
                <a:gd name="connsiteX7" fmla="*/ 0 w 762000"/>
                <a:gd name="connsiteY7" fmla="*/ 194645 h 762000"/>
                <a:gd name="connsiteX8" fmla="*/ 0 w 762000"/>
                <a:gd name="connsiteY8" fmla="*/ 762000 h 762000"/>
                <a:gd name="connsiteX9" fmla="*/ 152400 w 762000"/>
                <a:gd name="connsiteY9" fmla="*/ 762000 h 762000"/>
                <a:gd name="connsiteX10" fmla="*/ 304800 w 762000"/>
                <a:gd name="connsiteY10" fmla="*/ 762000 h 762000"/>
                <a:gd name="connsiteX11" fmla="*/ 457200 w 762000"/>
                <a:gd name="connsiteY11" fmla="*/ 762000 h 762000"/>
                <a:gd name="connsiteX12" fmla="*/ 609600 w 762000"/>
                <a:gd name="connsiteY12" fmla="*/ 762000 h 762000"/>
                <a:gd name="connsiteX13" fmla="*/ 762000 w 762000"/>
                <a:gd name="connsiteY13" fmla="*/ 762000 h 762000"/>
                <a:gd name="connsiteX14" fmla="*/ 762000 w 762000"/>
                <a:gd name="connsiteY14" fmla="*/ 154464 h 762000"/>
                <a:gd name="connsiteX15" fmla="*/ 609600 w 762000"/>
                <a:gd name="connsiteY15" fmla="*/ 154464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2000" h="762000">
                  <a:moveTo>
                    <a:pt x="609600" y="274706"/>
                  </a:moveTo>
                  <a:lnTo>
                    <a:pt x="457200" y="274706"/>
                  </a:lnTo>
                  <a:lnTo>
                    <a:pt x="457200" y="478323"/>
                  </a:lnTo>
                  <a:lnTo>
                    <a:pt x="304800" y="478323"/>
                  </a:lnTo>
                  <a:lnTo>
                    <a:pt x="304800" y="0"/>
                  </a:lnTo>
                  <a:lnTo>
                    <a:pt x="152400" y="0"/>
                  </a:lnTo>
                  <a:lnTo>
                    <a:pt x="152400" y="194645"/>
                  </a:lnTo>
                  <a:lnTo>
                    <a:pt x="0" y="194645"/>
                  </a:lnTo>
                  <a:lnTo>
                    <a:pt x="0" y="762000"/>
                  </a:lnTo>
                  <a:lnTo>
                    <a:pt x="152400" y="762000"/>
                  </a:lnTo>
                  <a:lnTo>
                    <a:pt x="304800" y="762000"/>
                  </a:lnTo>
                  <a:lnTo>
                    <a:pt x="457200" y="762000"/>
                  </a:lnTo>
                  <a:lnTo>
                    <a:pt x="609600" y="762000"/>
                  </a:lnTo>
                  <a:lnTo>
                    <a:pt x="762000" y="762000"/>
                  </a:lnTo>
                  <a:lnTo>
                    <a:pt x="762000" y="154464"/>
                  </a:lnTo>
                  <a:lnTo>
                    <a:pt x="609600" y="154464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21BF1AF-60C3-82A0-305F-232F80C64D1C}"/>
                </a:ext>
              </a:extLst>
            </p:cNvPr>
            <p:cNvSpPr>
              <a:spLocks/>
            </p:cNvSpPr>
            <p:nvPr/>
          </p:nvSpPr>
          <p:spPr>
            <a:xfrm>
              <a:off x="12468952" y="12465303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create_hist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faceted histogram by default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25C457E-4B5F-E5CA-D5F3-3936A6CF68A2}"/>
              </a:ext>
            </a:extLst>
          </p:cNvPr>
          <p:cNvGrpSpPr/>
          <p:nvPr/>
        </p:nvGrpSpPr>
        <p:grpSpPr>
          <a:xfrm>
            <a:off x="12468952" y="10937829"/>
            <a:ext cx="5395736" cy="425758"/>
            <a:chOff x="12468952" y="10753241"/>
            <a:chExt cx="5395736" cy="425758"/>
          </a:xfrm>
        </p:grpSpPr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4E6DF7F-DE43-E9DE-F9BD-884A8FD6AA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10753241"/>
              <a:ext cx="315966" cy="352949"/>
            </a:xfrm>
            <a:custGeom>
              <a:avLst/>
              <a:gdLst>
                <a:gd name="connsiteX0" fmla="*/ 581044 w 651748"/>
                <a:gd name="connsiteY0" fmla="*/ 0 h 728034"/>
                <a:gd name="connsiteX1" fmla="*/ 601094 w 651748"/>
                <a:gd name="connsiteY1" fmla="*/ 0 h 728034"/>
                <a:gd name="connsiteX2" fmla="*/ 601094 w 651748"/>
                <a:gd name="connsiteY2" fmla="*/ 47501 h 728034"/>
                <a:gd name="connsiteX3" fmla="*/ 651748 w 651748"/>
                <a:gd name="connsiteY3" fmla="*/ 47501 h 728034"/>
                <a:gd name="connsiteX4" fmla="*/ 651748 w 651748"/>
                <a:gd name="connsiteY4" fmla="*/ 537534 h 728034"/>
                <a:gd name="connsiteX5" fmla="*/ 601094 w 651748"/>
                <a:gd name="connsiteY5" fmla="*/ 537534 h 728034"/>
                <a:gd name="connsiteX6" fmla="*/ 601094 w 651748"/>
                <a:gd name="connsiteY6" fmla="*/ 728034 h 728034"/>
                <a:gd name="connsiteX7" fmla="*/ 581044 w 651748"/>
                <a:gd name="connsiteY7" fmla="*/ 728034 h 728034"/>
                <a:gd name="connsiteX8" fmla="*/ 581044 w 651748"/>
                <a:gd name="connsiteY8" fmla="*/ 537534 h 728034"/>
                <a:gd name="connsiteX9" fmla="*/ 530390 w 651748"/>
                <a:gd name="connsiteY9" fmla="*/ 537534 h 728034"/>
                <a:gd name="connsiteX10" fmla="*/ 530390 w 651748"/>
                <a:gd name="connsiteY10" fmla="*/ 47501 h 728034"/>
                <a:gd name="connsiteX11" fmla="*/ 581044 w 651748"/>
                <a:gd name="connsiteY11" fmla="*/ 47501 h 728034"/>
                <a:gd name="connsiteX12" fmla="*/ 403955 w 651748"/>
                <a:gd name="connsiteY12" fmla="*/ 0 h 728034"/>
                <a:gd name="connsiteX13" fmla="*/ 423996 w 651748"/>
                <a:gd name="connsiteY13" fmla="*/ 0 h 728034"/>
                <a:gd name="connsiteX14" fmla="*/ 423996 w 651748"/>
                <a:gd name="connsiteY14" fmla="*/ 172707 h 728034"/>
                <a:gd name="connsiteX15" fmla="*/ 474650 w 651748"/>
                <a:gd name="connsiteY15" fmla="*/ 172707 h 728034"/>
                <a:gd name="connsiteX16" fmla="*/ 474650 w 651748"/>
                <a:gd name="connsiteY16" fmla="*/ 592360 h 728034"/>
                <a:gd name="connsiteX17" fmla="*/ 423996 w 651748"/>
                <a:gd name="connsiteY17" fmla="*/ 592360 h 728034"/>
                <a:gd name="connsiteX18" fmla="*/ 423996 w 651748"/>
                <a:gd name="connsiteY18" fmla="*/ 728034 h 728034"/>
                <a:gd name="connsiteX19" fmla="*/ 403955 w 651748"/>
                <a:gd name="connsiteY19" fmla="*/ 728034 h 728034"/>
                <a:gd name="connsiteX20" fmla="*/ 403955 w 651748"/>
                <a:gd name="connsiteY20" fmla="*/ 592360 h 728034"/>
                <a:gd name="connsiteX21" fmla="*/ 353292 w 651748"/>
                <a:gd name="connsiteY21" fmla="*/ 592360 h 728034"/>
                <a:gd name="connsiteX22" fmla="*/ 353292 w 651748"/>
                <a:gd name="connsiteY22" fmla="*/ 172707 h 728034"/>
                <a:gd name="connsiteX23" fmla="*/ 403955 w 651748"/>
                <a:gd name="connsiteY23" fmla="*/ 172707 h 728034"/>
                <a:gd name="connsiteX24" fmla="*/ 227752 w 651748"/>
                <a:gd name="connsiteY24" fmla="*/ 0 h 728034"/>
                <a:gd name="connsiteX25" fmla="*/ 247793 w 651748"/>
                <a:gd name="connsiteY25" fmla="*/ 0 h 728034"/>
                <a:gd name="connsiteX26" fmla="*/ 247793 w 651748"/>
                <a:gd name="connsiteY26" fmla="*/ 102889 h 728034"/>
                <a:gd name="connsiteX27" fmla="*/ 298447 w 651748"/>
                <a:gd name="connsiteY27" fmla="*/ 102889 h 728034"/>
                <a:gd name="connsiteX28" fmla="*/ 298447 w 651748"/>
                <a:gd name="connsiteY28" fmla="*/ 625469 h 728034"/>
                <a:gd name="connsiteX29" fmla="*/ 247793 w 651748"/>
                <a:gd name="connsiteY29" fmla="*/ 625469 h 728034"/>
                <a:gd name="connsiteX30" fmla="*/ 247793 w 651748"/>
                <a:gd name="connsiteY30" fmla="*/ 728034 h 728034"/>
                <a:gd name="connsiteX31" fmla="*/ 227752 w 651748"/>
                <a:gd name="connsiteY31" fmla="*/ 728034 h 728034"/>
                <a:gd name="connsiteX32" fmla="*/ 227752 w 651748"/>
                <a:gd name="connsiteY32" fmla="*/ 625469 h 728034"/>
                <a:gd name="connsiteX33" fmla="*/ 177089 w 651748"/>
                <a:gd name="connsiteY33" fmla="*/ 625469 h 728034"/>
                <a:gd name="connsiteX34" fmla="*/ 177089 w 651748"/>
                <a:gd name="connsiteY34" fmla="*/ 102889 h 728034"/>
                <a:gd name="connsiteX35" fmla="*/ 227752 w 651748"/>
                <a:gd name="connsiteY35" fmla="*/ 102889 h 728034"/>
                <a:gd name="connsiteX36" fmla="*/ 50654 w 651748"/>
                <a:gd name="connsiteY36" fmla="*/ 0 h 728034"/>
                <a:gd name="connsiteX37" fmla="*/ 70704 w 651748"/>
                <a:gd name="connsiteY37" fmla="*/ 0 h 728034"/>
                <a:gd name="connsiteX38" fmla="*/ 70704 w 651748"/>
                <a:gd name="connsiteY38" fmla="*/ 211646 h 728034"/>
                <a:gd name="connsiteX39" fmla="*/ 121358 w 651748"/>
                <a:gd name="connsiteY39" fmla="*/ 211646 h 728034"/>
                <a:gd name="connsiteX40" fmla="*/ 121358 w 651748"/>
                <a:gd name="connsiteY40" fmla="*/ 420053 h 728034"/>
                <a:gd name="connsiteX41" fmla="*/ 70704 w 651748"/>
                <a:gd name="connsiteY41" fmla="*/ 420053 h 728034"/>
                <a:gd name="connsiteX42" fmla="*/ 70704 w 651748"/>
                <a:gd name="connsiteY42" fmla="*/ 728034 h 728034"/>
                <a:gd name="connsiteX43" fmla="*/ 50654 w 651748"/>
                <a:gd name="connsiteY43" fmla="*/ 728034 h 728034"/>
                <a:gd name="connsiteX44" fmla="*/ 50654 w 651748"/>
                <a:gd name="connsiteY44" fmla="*/ 420053 h 728034"/>
                <a:gd name="connsiteX45" fmla="*/ 0 w 651748"/>
                <a:gd name="connsiteY45" fmla="*/ 420053 h 728034"/>
                <a:gd name="connsiteX46" fmla="*/ 0 w 651748"/>
                <a:gd name="connsiteY46" fmla="*/ 211646 h 728034"/>
                <a:gd name="connsiteX47" fmla="*/ 50654 w 651748"/>
                <a:gd name="connsiteY47" fmla="*/ 211646 h 728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51748" h="728034">
                  <a:moveTo>
                    <a:pt x="581044" y="0"/>
                  </a:moveTo>
                  <a:lnTo>
                    <a:pt x="601094" y="0"/>
                  </a:lnTo>
                  <a:lnTo>
                    <a:pt x="601094" y="47501"/>
                  </a:lnTo>
                  <a:lnTo>
                    <a:pt x="651748" y="47501"/>
                  </a:lnTo>
                  <a:lnTo>
                    <a:pt x="651748" y="537534"/>
                  </a:lnTo>
                  <a:lnTo>
                    <a:pt x="601094" y="537534"/>
                  </a:lnTo>
                  <a:lnTo>
                    <a:pt x="601094" y="728034"/>
                  </a:lnTo>
                  <a:lnTo>
                    <a:pt x="581044" y="728034"/>
                  </a:lnTo>
                  <a:lnTo>
                    <a:pt x="581044" y="537534"/>
                  </a:lnTo>
                  <a:lnTo>
                    <a:pt x="530390" y="537534"/>
                  </a:lnTo>
                  <a:lnTo>
                    <a:pt x="530390" y="47501"/>
                  </a:lnTo>
                  <a:lnTo>
                    <a:pt x="581044" y="47501"/>
                  </a:lnTo>
                  <a:close/>
                  <a:moveTo>
                    <a:pt x="403955" y="0"/>
                  </a:moveTo>
                  <a:lnTo>
                    <a:pt x="423996" y="0"/>
                  </a:lnTo>
                  <a:lnTo>
                    <a:pt x="423996" y="172707"/>
                  </a:lnTo>
                  <a:lnTo>
                    <a:pt x="474650" y="172707"/>
                  </a:lnTo>
                  <a:lnTo>
                    <a:pt x="474650" y="592360"/>
                  </a:lnTo>
                  <a:lnTo>
                    <a:pt x="423996" y="592360"/>
                  </a:lnTo>
                  <a:lnTo>
                    <a:pt x="423996" y="728034"/>
                  </a:lnTo>
                  <a:lnTo>
                    <a:pt x="403955" y="728034"/>
                  </a:lnTo>
                  <a:lnTo>
                    <a:pt x="403955" y="592360"/>
                  </a:lnTo>
                  <a:lnTo>
                    <a:pt x="353292" y="592360"/>
                  </a:lnTo>
                  <a:lnTo>
                    <a:pt x="353292" y="172707"/>
                  </a:lnTo>
                  <a:lnTo>
                    <a:pt x="403955" y="172707"/>
                  </a:lnTo>
                  <a:close/>
                  <a:moveTo>
                    <a:pt x="227752" y="0"/>
                  </a:moveTo>
                  <a:lnTo>
                    <a:pt x="247793" y="0"/>
                  </a:lnTo>
                  <a:lnTo>
                    <a:pt x="247793" y="102889"/>
                  </a:lnTo>
                  <a:lnTo>
                    <a:pt x="298447" y="102889"/>
                  </a:lnTo>
                  <a:lnTo>
                    <a:pt x="298447" y="625469"/>
                  </a:lnTo>
                  <a:lnTo>
                    <a:pt x="247793" y="625469"/>
                  </a:lnTo>
                  <a:lnTo>
                    <a:pt x="247793" y="728034"/>
                  </a:lnTo>
                  <a:lnTo>
                    <a:pt x="227752" y="728034"/>
                  </a:lnTo>
                  <a:lnTo>
                    <a:pt x="227752" y="625469"/>
                  </a:lnTo>
                  <a:lnTo>
                    <a:pt x="177089" y="625469"/>
                  </a:lnTo>
                  <a:lnTo>
                    <a:pt x="177089" y="102889"/>
                  </a:lnTo>
                  <a:lnTo>
                    <a:pt x="227752" y="102889"/>
                  </a:lnTo>
                  <a:close/>
                  <a:moveTo>
                    <a:pt x="50654" y="0"/>
                  </a:moveTo>
                  <a:lnTo>
                    <a:pt x="70704" y="0"/>
                  </a:lnTo>
                  <a:lnTo>
                    <a:pt x="70704" y="211646"/>
                  </a:lnTo>
                  <a:lnTo>
                    <a:pt x="121358" y="211646"/>
                  </a:lnTo>
                  <a:lnTo>
                    <a:pt x="121358" y="420053"/>
                  </a:lnTo>
                  <a:lnTo>
                    <a:pt x="70704" y="420053"/>
                  </a:lnTo>
                  <a:lnTo>
                    <a:pt x="70704" y="728034"/>
                  </a:lnTo>
                  <a:lnTo>
                    <a:pt x="50654" y="728034"/>
                  </a:lnTo>
                  <a:lnTo>
                    <a:pt x="50654" y="420053"/>
                  </a:lnTo>
                  <a:lnTo>
                    <a:pt x="0" y="420053"/>
                  </a:lnTo>
                  <a:lnTo>
                    <a:pt x="0" y="211646"/>
                  </a:lnTo>
                  <a:lnTo>
                    <a:pt x="50654" y="211646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38E6CC1-BF81-018E-305F-792932DC8777}"/>
                </a:ext>
              </a:extLst>
            </p:cNvPr>
            <p:cNvSpPr>
              <a:spLocks/>
            </p:cNvSpPr>
            <p:nvPr/>
          </p:nvSpPr>
          <p:spPr>
            <a:xfrm>
              <a:off x="12468952" y="10753241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create_boxplot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Analyzes a selected metric and returns a box plot by default</a:t>
              </a:r>
            </a:p>
          </p:txBody>
        </p: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28EBFFC-771B-FB8F-F971-E0F0C9D19921}"/>
              </a:ext>
            </a:extLst>
          </p:cNvPr>
          <p:cNvSpPr>
            <a:spLocks/>
          </p:cNvSpPr>
          <p:nvPr/>
        </p:nvSpPr>
        <p:spPr>
          <a:xfrm>
            <a:off x="12468952" y="10147327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Distribution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EC76A57-CC5C-4E60-2199-65746A30C500}"/>
              </a:ext>
            </a:extLst>
          </p:cNvPr>
          <p:cNvSpPr>
            <a:spLocks/>
          </p:cNvSpPr>
          <p:nvPr/>
        </p:nvSpPr>
        <p:spPr>
          <a:xfrm>
            <a:off x="12468952" y="10544346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</a:rPr>
              <a:t>Understand the distribution of a metric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E114501-B706-27AD-252A-C43370BD1717}"/>
              </a:ext>
            </a:extLst>
          </p:cNvPr>
          <p:cNvCxnSpPr>
            <a:cxnSpLocks/>
          </p:cNvCxnSpPr>
          <p:nvPr/>
        </p:nvCxnSpPr>
        <p:spPr>
          <a:xfrm flipV="1">
            <a:off x="12468952" y="6603394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CC4D3C7-7220-E678-A997-A92004ED36A3}"/>
              </a:ext>
            </a:extLst>
          </p:cNvPr>
          <p:cNvCxnSpPr>
            <a:cxnSpLocks/>
          </p:cNvCxnSpPr>
          <p:nvPr/>
        </p:nvCxnSpPr>
        <p:spPr>
          <a:xfrm>
            <a:off x="12468952" y="8483102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DB35BBF-74CA-3A18-FE40-D461AFC29005}"/>
              </a:ext>
            </a:extLst>
          </p:cNvPr>
          <p:cNvGrpSpPr/>
          <p:nvPr/>
        </p:nvGrpSpPr>
        <p:grpSpPr>
          <a:xfrm>
            <a:off x="12468952" y="8630161"/>
            <a:ext cx="5395736" cy="825867"/>
            <a:chOff x="12468952" y="8774097"/>
            <a:chExt cx="5395736" cy="825867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F94C9AC5-7966-2DC9-2EDA-C4C921220AE2}"/>
                </a:ext>
              </a:extLst>
            </p:cNvPr>
            <p:cNvSpPr/>
            <p:nvPr/>
          </p:nvSpPr>
          <p:spPr>
            <a:xfrm>
              <a:off x="12468952" y="8774097"/>
              <a:ext cx="320865" cy="320863"/>
            </a:xfrm>
            <a:custGeom>
              <a:avLst/>
              <a:gdLst>
                <a:gd name="connsiteX0" fmla="*/ 181493 w 265177"/>
                <a:gd name="connsiteY0" fmla="*/ 161907 h 265176"/>
                <a:gd name="connsiteX1" fmla="*/ 265177 w 265177"/>
                <a:gd name="connsiteY1" fmla="*/ 161907 h 265176"/>
                <a:gd name="connsiteX2" fmla="*/ 265177 w 265177"/>
                <a:gd name="connsiteY2" fmla="*/ 171051 h 265176"/>
                <a:gd name="connsiteX3" fmla="*/ 181493 w 265177"/>
                <a:gd name="connsiteY3" fmla="*/ 171051 h 265176"/>
                <a:gd name="connsiteX4" fmla="*/ 188637 w 265177"/>
                <a:gd name="connsiteY4" fmla="*/ 51381 h 265176"/>
                <a:gd name="connsiteX5" fmla="*/ 265177 w 265177"/>
                <a:gd name="connsiteY5" fmla="*/ 51381 h 265176"/>
                <a:gd name="connsiteX6" fmla="*/ 265177 w 265177"/>
                <a:gd name="connsiteY6" fmla="*/ 60525 h 265176"/>
                <a:gd name="connsiteX7" fmla="*/ 188637 w 265177"/>
                <a:gd name="connsiteY7" fmla="*/ 60525 h 265176"/>
                <a:gd name="connsiteX8" fmla="*/ 157030 w 265177"/>
                <a:gd name="connsiteY8" fmla="*/ 26198 h 265176"/>
                <a:gd name="connsiteX9" fmla="*/ 186257 w 265177"/>
                <a:gd name="connsiteY9" fmla="*/ 55953 h 265176"/>
                <a:gd name="connsiteX10" fmla="*/ 157030 w 265177"/>
                <a:gd name="connsiteY10" fmla="*/ 85708 h 265176"/>
                <a:gd name="connsiteX11" fmla="*/ 127803 w 265177"/>
                <a:gd name="connsiteY11" fmla="*/ 55953 h 265176"/>
                <a:gd name="connsiteX12" fmla="*/ 157030 w 265177"/>
                <a:gd name="connsiteY12" fmla="*/ 26198 h 265176"/>
                <a:gd name="connsiteX13" fmla="*/ 1 w 265177"/>
                <a:gd name="connsiteY13" fmla="*/ 0 h 265176"/>
                <a:gd name="connsiteX14" fmla="*/ 18289 w 265177"/>
                <a:gd name="connsiteY14" fmla="*/ 0 h 265176"/>
                <a:gd name="connsiteX15" fmla="*/ 18289 w 265177"/>
                <a:gd name="connsiteY15" fmla="*/ 51381 h 265176"/>
                <a:gd name="connsiteX16" fmla="*/ 126724 w 265177"/>
                <a:gd name="connsiteY16" fmla="*/ 51381 h 265176"/>
                <a:gd name="connsiteX17" fmla="*/ 126724 w 265177"/>
                <a:gd name="connsiteY17" fmla="*/ 60525 h 265176"/>
                <a:gd name="connsiteX18" fmla="*/ 18289 w 265177"/>
                <a:gd name="connsiteY18" fmla="*/ 60525 h 265176"/>
                <a:gd name="connsiteX19" fmla="*/ 18289 w 265177"/>
                <a:gd name="connsiteY19" fmla="*/ 161907 h 265176"/>
                <a:gd name="connsiteX20" fmla="*/ 78705 w 265177"/>
                <a:gd name="connsiteY20" fmla="*/ 161907 h 265176"/>
                <a:gd name="connsiteX21" fmla="*/ 81780 w 265177"/>
                <a:gd name="connsiteY21" fmla="*/ 146405 h 265176"/>
                <a:gd name="connsiteX22" fmla="*/ 128456 w 265177"/>
                <a:gd name="connsiteY22" fmla="*/ 114907 h 265176"/>
                <a:gd name="connsiteX23" fmla="*/ 179113 w 265177"/>
                <a:gd name="connsiteY23" fmla="*/ 166479 h 265176"/>
                <a:gd name="connsiteX24" fmla="*/ 128456 w 265177"/>
                <a:gd name="connsiteY24" fmla="*/ 218051 h 265176"/>
                <a:gd name="connsiteX25" fmla="*/ 81780 w 265177"/>
                <a:gd name="connsiteY25" fmla="*/ 186553 h 265176"/>
                <a:gd name="connsiteX26" fmla="*/ 78705 w 265177"/>
                <a:gd name="connsiteY26" fmla="*/ 171051 h 265176"/>
                <a:gd name="connsiteX27" fmla="*/ 18289 w 265177"/>
                <a:gd name="connsiteY27" fmla="*/ 171051 h 265176"/>
                <a:gd name="connsiteX28" fmla="*/ 18289 w 265177"/>
                <a:gd name="connsiteY28" fmla="*/ 246888 h 265176"/>
                <a:gd name="connsiteX29" fmla="*/ 265177 w 265177"/>
                <a:gd name="connsiteY29" fmla="*/ 246888 h 265176"/>
                <a:gd name="connsiteX30" fmla="*/ 265177 w 265177"/>
                <a:gd name="connsiteY30" fmla="*/ 265176 h 265176"/>
                <a:gd name="connsiteX31" fmla="*/ 1 w 265177"/>
                <a:gd name="connsiteY31" fmla="*/ 265176 h 265176"/>
                <a:gd name="connsiteX32" fmla="*/ 1 w 265177"/>
                <a:gd name="connsiteY32" fmla="*/ 171051 h 265176"/>
                <a:gd name="connsiteX33" fmla="*/ 0 w 265177"/>
                <a:gd name="connsiteY33" fmla="*/ 171051 h 265176"/>
                <a:gd name="connsiteX34" fmla="*/ 0 w 265177"/>
                <a:gd name="connsiteY34" fmla="*/ 161907 h 265176"/>
                <a:gd name="connsiteX35" fmla="*/ 1 w 265177"/>
                <a:gd name="connsiteY35" fmla="*/ 161907 h 265176"/>
                <a:gd name="connsiteX36" fmla="*/ 1 w 265177"/>
                <a:gd name="connsiteY36" fmla="*/ 60525 h 265176"/>
                <a:gd name="connsiteX37" fmla="*/ 0 w 265177"/>
                <a:gd name="connsiteY37" fmla="*/ 60525 h 265176"/>
                <a:gd name="connsiteX38" fmla="*/ 0 w 265177"/>
                <a:gd name="connsiteY38" fmla="*/ 51381 h 265176"/>
                <a:gd name="connsiteX39" fmla="*/ 1 w 265177"/>
                <a:gd name="connsiteY39" fmla="*/ 51381 h 265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65177" h="265176">
                  <a:moveTo>
                    <a:pt x="181493" y="161907"/>
                  </a:moveTo>
                  <a:lnTo>
                    <a:pt x="265177" y="161907"/>
                  </a:lnTo>
                  <a:lnTo>
                    <a:pt x="265177" y="171051"/>
                  </a:lnTo>
                  <a:lnTo>
                    <a:pt x="181493" y="171051"/>
                  </a:lnTo>
                  <a:close/>
                  <a:moveTo>
                    <a:pt x="188637" y="51381"/>
                  </a:moveTo>
                  <a:lnTo>
                    <a:pt x="265177" y="51381"/>
                  </a:lnTo>
                  <a:lnTo>
                    <a:pt x="265177" y="60525"/>
                  </a:lnTo>
                  <a:lnTo>
                    <a:pt x="188637" y="60525"/>
                  </a:lnTo>
                  <a:close/>
                  <a:moveTo>
                    <a:pt x="157030" y="26198"/>
                  </a:moveTo>
                  <a:cubicBezTo>
                    <a:pt x="173172" y="26198"/>
                    <a:pt x="186257" y="39520"/>
                    <a:pt x="186257" y="55953"/>
                  </a:cubicBezTo>
                  <a:cubicBezTo>
                    <a:pt x="186257" y="72386"/>
                    <a:pt x="173172" y="85708"/>
                    <a:pt x="157030" y="85708"/>
                  </a:cubicBezTo>
                  <a:cubicBezTo>
                    <a:pt x="140888" y="85708"/>
                    <a:pt x="127803" y="72386"/>
                    <a:pt x="127803" y="55953"/>
                  </a:cubicBezTo>
                  <a:cubicBezTo>
                    <a:pt x="127803" y="39520"/>
                    <a:pt x="140888" y="26198"/>
                    <a:pt x="157030" y="26198"/>
                  </a:cubicBezTo>
                  <a:close/>
                  <a:moveTo>
                    <a:pt x="1" y="0"/>
                  </a:moveTo>
                  <a:lnTo>
                    <a:pt x="18289" y="0"/>
                  </a:lnTo>
                  <a:lnTo>
                    <a:pt x="18289" y="51381"/>
                  </a:lnTo>
                  <a:lnTo>
                    <a:pt x="126724" y="51381"/>
                  </a:lnTo>
                  <a:lnTo>
                    <a:pt x="126724" y="60525"/>
                  </a:lnTo>
                  <a:lnTo>
                    <a:pt x="18289" y="60525"/>
                  </a:lnTo>
                  <a:lnTo>
                    <a:pt x="18289" y="161907"/>
                  </a:lnTo>
                  <a:lnTo>
                    <a:pt x="78705" y="161907"/>
                  </a:lnTo>
                  <a:lnTo>
                    <a:pt x="81780" y="146405"/>
                  </a:lnTo>
                  <a:cubicBezTo>
                    <a:pt x="89470" y="127895"/>
                    <a:pt x="107473" y="114907"/>
                    <a:pt x="128456" y="114907"/>
                  </a:cubicBezTo>
                  <a:cubicBezTo>
                    <a:pt x="156433" y="114907"/>
                    <a:pt x="179113" y="137997"/>
                    <a:pt x="179113" y="166479"/>
                  </a:cubicBezTo>
                  <a:cubicBezTo>
                    <a:pt x="179113" y="194961"/>
                    <a:pt x="156433" y="218051"/>
                    <a:pt x="128456" y="218051"/>
                  </a:cubicBezTo>
                  <a:cubicBezTo>
                    <a:pt x="107473" y="218051"/>
                    <a:pt x="89470" y="205063"/>
                    <a:pt x="81780" y="186553"/>
                  </a:cubicBezTo>
                  <a:lnTo>
                    <a:pt x="78705" y="171051"/>
                  </a:lnTo>
                  <a:lnTo>
                    <a:pt x="18289" y="171051"/>
                  </a:lnTo>
                  <a:lnTo>
                    <a:pt x="18289" y="246888"/>
                  </a:lnTo>
                  <a:lnTo>
                    <a:pt x="265177" y="246888"/>
                  </a:lnTo>
                  <a:lnTo>
                    <a:pt x="265177" y="265176"/>
                  </a:lnTo>
                  <a:lnTo>
                    <a:pt x="1" y="265176"/>
                  </a:lnTo>
                  <a:lnTo>
                    <a:pt x="1" y="171051"/>
                  </a:lnTo>
                  <a:lnTo>
                    <a:pt x="0" y="171051"/>
                  </a:lnTo>
                  <a:lnTo>
                    <a:pt x="0" y="161907"/>
                  </a:lnTo>
                  <a:lnTo>
                    <a:pt x="1" y="161907"/>
                  </a:lnTo>
                  <a:lnTo>
                    <a:pt x="1" y="60525"/>
                  </a:lnTo>
                  <a:lnTo>
                    <a:pt x="0" y="60525"/>
                  </a:lnTo>
                  <a:lnTo>
                    <a:pt x="0" y="51381"/>
                  </a:lnTo>
                  <a:lnTo>
                    <a:pt x="1" y="5138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0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9A143E1B-5F9D-4EC4-1700-799950A99563}"/>
                </a:ext>
              </a:extLst>
            </p:cNvPr>
            <p:cNvSpPr>
              <a:spLocks/>
            </p:cNvSpPr>
            <p:nvPr/>
          </p:nvSpPr>
          <p:spPr>
            <a:xfrm>
              <a:off x="12468952" y="8774097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create_rank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(), </a:t>
              </a: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create_rank_combine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plot by default, with an option to return a table with all groups (across multiple HR attributes) ranked by the specified metric</a:t>
              </a: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9FBB1E3-CE66-74D1-6D20-7349CF6785E4}"/>
              </a:ext>
            </a:extLst>
          </p:cNvPr>
          <p:cNvSpPr>
            <a:spLocks/>
          </p:cNvSpPr>
          <p:nvPr/>
        </p:nvSpPr>
        <p:spPr>
          <a:xfrm>
            <a:off x="12468952" y="6719675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Exploratory analysis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DFB309E-4D8E-04B1-2A16-3D00C976233F}"/>
              </a:ext>
            </a:extLst>
          </p:cNvPr>
          <p:cNvSpPr>
            <a:spLocks/>
          </p:cNvSpPr>
          <p:nvPr/>
        </p:nvSpPr>
        <p:spPr>
          <a:xfrm>
            <a:off x="12468952" y="7116694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300" dirty="0">
                <a:solidFill>
                  <a:schemeClr val="tx1"/>
                </a:solidFill>
              </a:rPr>
              <a:t>Explore the data and surface initial hypotheses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19C5B3E-4E71-9619-CEE6-CAC821606812}"/>
              </a:ext>
            </a:extLst>
          </p:cNvPr>
          <p:cNvGrpSpPr/>
          <p:nvPr/>
        </p:nvGrpSpPr>
        <p:grpSpPr>
          <a:xfrm>
            <a:off x="12468952" y="7510177"/>
            <a:ext cx="5395736" cy="825867"/>
            <a:chOff x="12468952" y="7561751"/>
            <a:chExt cx="5395736" cy="825867"/>
          </a:xfrm>
        </p:grpSpPr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CA90F9B-8222-B8E0-DFF2-27F1B02E4A9C}"/>
                </a:ext>
              </a:extLst>
            </p:cNvPr>
            <p:cNvSpPr/>
            <p:nvPr/>
          </p:nvSpPr>
          <p:spPr>
            <a:xfrm>
              <a:off x="12468952" y="7561751"/>
              <a:ext cx="320863" cy="320863"/>
            </a:xfrm>
            <a:custGeom>
              <a:avLst/>
              <a:gdLst>
                <a:gd name="connsiteX0" fmla="*/ 69773 w 548219"/>
                <a:gd name="connsiteY0" fmla="*/ 0 h 548219"/>
                <a:gd name="connsiteX1" fmla="*/ 0 w 548219"/>
                <a:gd name="connsiteY1" fmla="*/ 0 h 548219"/>
                <a:gd name="connsiteX2" fmla="*/ 0 w 548219"/>
                <a:gd name="connsiteY2" fmla="*/ 69773 h 548219"/>
                <a:gd name="connsiteX3" fmla="*/ 69773 w 548219"/>
                <a:gd name="connsiteY3" fmla="*/ 69773 h 548219"/>
                <a:gd name="connsiteX4" fmla="*/ 69773 w 548219"/>
                <a:gd name="connsiteY4" fmla="*/ 0 h 548219"/>
                <a:gd name="connsiteX5" fmla="*/ 79741 w 548219"/>
                <a:gd name="connsiteY5" fmla="*/ 0 h 548219"/>
                <a:gd name="connsiteX6" fmla="*/ 79741 w 548219"/>
                <a:gd name="connsiteY6" fmla="*/ 69773 h 548219"/>
                <a:gd name="connsiteX7" fmla="*/ 149515 w 548219"/>
                <a:gd name="connsiteY7" fmla="*/ 69773 h 548219"/>
                <a:gd name="connsiteX8" fmla="*/ 149515 w 548219"/>
                <a:gd name="connsiteY8" fmla="*/ 0 h 548219"/>
                <a:gd name="connsiteX9" fmla="*/ 79741 w 548219"/>
                <a:gd name="connsiteY9" fmla="*/ 0 h 548219"/>
                <a:gd name="connsiteX10" fmla="*/ 159482 w 548219"/>
                <a:gd name="connsiteY10" fmla="*/ 0 h 548219"/>
                <a:gd name="connsiteX11" fmla="*/ 159482 w 548219"/>
                <a:gd name="connsiteY11" fmla="*/ 69773 h 548219"/>
                <a:gd name="connsiteX12" fmla="*/ 229256 w 548219"/>
                <a:gd name="connsiteY12" fmla="*/ 69773 h 548219"/>
                <a:gd name="connsiteX13" fmla="*/ 229256 w 548219"/>
                <a:gd name="connsiteY13" fmla="*/ 0 h 548219"/>
                <a:gd name="connsiteX14" fmla="*/ 159482 w 548219"/>
                <a:gd name="connsiteY14" fmla="*/ 0 h 548219"/>
                <a:gd name="connsiteX15" fmla="*/ 239223 w 548219"/>
                <a:gd name="connsiteY15" fmla="*/ 0 h 548219"/>
                <a:gd name="connsiteX16" fmla="*/ 239223 w 548219"/>
                <a:gd name="connsiteY16" fmla="*/ 69773 h 548219"/>
                <a:gd name="connsiteX17" fmla="*/ 308996 w 548219"/>
                <a:gd name="connsiteY17" fmla="*/ 69773 h 548219"/>
                <a:gd name="connsiteX18" fmla="*/ 308996 w 548219"/>
                <a:gd name="connsiteY18" fmla="*/ 0 h 548219"/>
                <a:gd name="connsiteX19" fmla="*/ 239223 w 548219"/>
                <a:gd name="connsiteY19" fmla="*/ 0 h 548219"/>
                <a:gd name="connsiteX20" fmla="*/ 318965 w 548219"/>
                <a:gd name="connsiteY20" fmla="*/ 0 h 548219"/>
                <a:gd name="connsiteX21" fmla="*/ 318965 w 548219"/>
                <a:gd name="connsiteY21" fmla="*/ 69773 h 548219"/>
                <a:gd name="connsiteX22" fmla="*/ 388738 w 548219"/>
                <a:gd name="connsiteY22" fmla="*/ 69773 h 548219"/>
                <a:gd name="connsiteX23" fmla="*/ 388738 w 548219"/>
                <a:gd name="connsiteY23" fmla="*/ 0 h 548219"/>
                <a:gd name="connsiteX24" fmla="*/ 318965 w 548219"/>
                <a:gd name="connsiteY24" fmla="*/ 0 h 548219"/>
                <a:gd name="connsiteX25" fmla="*/ 388738 w 548219"/>
                <a:gd name="connsiteY25" fmla="*/ 149515 h 548219"/>
                <a:gd name="connsiteX26" fmla="*/ 388738 w 548219"/>
                <a:gd name="connsiteY26" fmla="*/ 79742 h 548219"/>
                <a:gd name="connsiteX27" fmla="*/ 318965 w 548219"/>
                <a:gd name="connsiteY27" fmla="*/ 79742 h 548219"/>
                <a:gd name="connsiteX28" fmla="*/ 318965 w 548219"/>
                <a:gd name="connsiteY28" fmla="*/ 149515 h 548219"/>
                <a:gd name="connsiteX29" fmla="*/ 388738 w 548219"/>
                <a:gd name="connsiteY29" fmla="*/ 149515 h 548219"/>
                <a:gd name="connsiteX30" fmla="*/ 388738 w 548219"/>
                <a:gd name="connsiteY30" fmla="*/ 229256 h 548219"/>
                <a:gd name="connsiteX31" fmla="*/ 388738 w 548219"/>
                <a:gd name="connsiteY31" fmla="*/ 159482 h 548219"/>
                <a:gd name="connsiteX32" fmla="*/ 318965 w 548219"/>
                <a:gd name="connsiteY32" fmla="*/ 159482 h 548219"/>
                <a:gd name="connsiteX33" fmla="*/ 318965 w 548219"/>
                <a:gd name="connsiteY33" fmla="*/ 229256 h 548219"/>
                <a:gd name="connsiteX34" fmla="*/ 388738 w 548219"/>
                <a:gd name="connsiteY34" fmla="*/ 229256 h 548219"/>
                <a:gd name="connsiteX35" fmla="*/ 388738 w 548219"/>
                <a:gd name="connsiteY35" fmla="*/ 308996 h 548219"/>
                <a:gd name="connsiteX36" fmla="*/ 388738 w 548219"/>
                <a:gd name="connsiteY36" fmla="*/ 239223 h 548219"/>
                <a:gd name="connsiteX37" fmla="*/ 318965 w 548219"/>
                <a:gd name="connsiteY37" fmla="*/ 239223 h 548219"/>
                <a:gd name="connsiteX38" fmla="*/ 318965 w 548219"/>
                <a:gd name="connsiteY38" fmla="*/ 308996 h 548219"/>
                <a:gd name="connsiteX39" fmla="*/ 388738 w 548219"/>
                <a:gd name="connsiteY39" fmla="*/ 308996 h 548219"/>
                <a:gd name="connsiteX40" fmla="*/ 388738 w 548219"/>
                <a:gd name="connsiteY40" fmla="*/ 388738 h 548219"/>
                <a:gd name="connsiteX41" fmla="*/ 388738 w 548219"/>
                <a:gd name="connsiteY41" fmla="*/ 318965 h 548219"/>
                <a:gd name="connsiteX42" fmla="*/ 318965 w 548219"/>
                <a:gd name="connsiteY42" fmla="*/ 318965 h 548219"/>
                <a:gd name="connsiteX43" fmla="*/ 318965 w 548219"/>
                <a:gd name="connsiteY43" fmla="*/ 388738 h 548219"/>
                <a:gd name="connsiteX44" fmla="*/ 388738 w 548219"/>
                <a:gd name="connsiteY44" fmla="*/ 388738 h 548219"/>
                <a:gd name="connsiteX45" fmla="*/ 388738 w 548219"/>
                <a:gd name="connsiteY45" fmla="*/ 468479 h 548219"/>
                <a:gd name="connsiteX46" fmla="*/ 388738 w 548219"/>
                <a:gd name="connsiteY46" fmla="*/ 398705 h 548219"/>
                <a:gd name="connsiteX47" fmla="*/ 318965 w 548219"/>
                <a:gd name="connsiteY47" fmla="*/ 398705 h 548219"/>
                <a:gd name="connsiteX48" fmla="*/ 318965 w 548219"/>
                <a:gd name="connsiteY48" fmla="*/ 468479 h 548219"/>
                <a:gd name="connsiteX49" fmla="*/ 388738 w 548219"/>
                <a:gd name="connsiteY49" fmla="*/ 468479 h 548219"/>
                <a:gd name="connsiteX50" fmla="*/ 318965 w 548219"/>
                <a:gd name="connsiteY50" fmla="*/ 548220 h 548219"/>
                <a:gd name="connsiteX51" fmla="*/ 388738 w 548219"/>
                <a:gd name="connsiteY51" fmla="*/ 548220 h 548219"/>
                <a:gd name="connsiteX52" fmla="*/ 388738 w 548219"/>
                <a:gd name="connsiteY52" fmla="*/ 478447 h 548219"/>
                <a:gd name="connsiteX53" fmla="*/ 318965 w 548219"/>
                <a:gd name="connsiteY53" fmla="*/ 478447 h 548219"/>
                <a:gd name="connsiteX54" fmla="*/ 318965 w 548219"/>
                <a:gd name="connsiteY54" fmla="*/ 548220 h 548219"/>
                <a:gd name="connsiteX55" fmla="*/ 239223 w 548219"/>
                <a:gd name="connsiteY55" fmla="*/ 548220 h 548219"/>
                <a:gd name="connsiteX56" fmla="*/ 308996 w 548219"/>
                <a:gd name="connsiteY56" fmla="*/ 548220 h 548219"/>
                <a:gd name="connsiteX57" fmla="*/ 308996 w 548219"/>
                <a:gd name="connsiteY57" fmla="*/ 478447 h 548219"/>
                <a:gd name="connsiteX58" fmla="*/ 239223 w 548219"/>
                <a:gd name="connsiteY58" fmla="*/ 478447 h 548219"/>
                <a:gd name="connsiteX59" fmla="*/ 239223 w 548219"/>
                <a:gd name="connsiteY59" fmla="*/ 548220 h 548219"/>
                <a:gd name="connsiteX60" fmla="*/ 159482 w 548219"/>
                <a:gd name="connsiteY60" fmla="*/ 548220 h 548219"/>
                <a:gd name="connsiteX61" fmla="*/ 229256 w 548219"/>
                <a:gd name="connsiteY61" fmla="*/ 548220 h 548219"/>
                <a:gd name="connsiteX62" fmla="*/ 229256 w 548219"/>
                <a:gd name="connsiteY62" fmla="*/ 478447 h 548219"/>
                <a:gd name="connsiteX63" fmla="*/ 159482 w 548219"/>
                <a:gd name="connsiteY63" fmla="*/ 478447 h 548219"/>
                <a:gd name="connsiteX64" fmla="*/ 159482 w 548219"/>
                <a:gd name="connsiteY64" fmla="*/ 548220 h 548219"/>
                <a:gd name="connsiteX65" fmla="*/ 79741 w 548219"/>
                <a:gd name="connsiteY65" fmla="*/ 548220 h 548219"/>
                <a:gd name="connsiteX66" fmla="*/ 149515 w 548219"/>
                <a:gd name="connsiteY66" fmla="*/ 548220 h 548219"/>
                <a:gd name="connsiteX67" fmla="*/ 149515 w 548219"/>
                <a:gd name="connsiteY67" fmla="*/ 478447 h 548219"/>
                <a:gd name="connsiteX68" fmla="*/ 79741 w 548219"/>
                <a:gd name="connsiteY68" fmla="*/ 478447 h 548219"/>
                <a:gd name="connsiteX69" fmla="*/ 79741 w 548219"/>
                <a:gd name="connsiteY69" fmla="*/ 548220 h 548219"/>
                <a:gd name="connsiteX70" fmla="*/ 0 w 548219"/>
                <a:gd name="connsiteY70" fmla="*/ 478447 h 548219"/>
                <a:gd name="connsiteX71" fmla="*/ 0 w 548219"/>
                <a:gd name="connsiteY71" fmla="*/ 548220 h 548219"/>
                <a:gd name="connsiteX72" fmla="*/ 69773 w 548219"/>
                <a:gd name="connsiteY72" fmla="*/ 548220 h 548219"/>
                <a:gd name="connsiteX73" fmla="*/ 69773 w 548219"/>
                <a:gd name="connsiteY73" fmla="*/ 478447 h 548219"/>
                <a:gd name="connsiteX74" fmla="*/ 0 w 548219"/>
                <a:gd name="connsiteY74" fmla="*/ 478447 h 548219"/>
                <a:gd name="connsiteX75" fmla="*/ 0 w 548219"/>
                <a:gd name="connsiteY75" fmla="*/ 398705 h 548219"/>
                <a:gd name="connsiteX76" fmla="*/ 0 w 548219"/>
                <a:gd name="connsiteY76" fmla="*/ 468479 h 548219"/>
                <a:gd name="connsiteX77" fmla="*/ 69773 w 548219"/>
                <a:gd name="connsiteY77" fmla="*/ 468479 h 548219"/>
                <a:gd name="connsiteX78" fmla="*/ 69773 w 548219"/>
                <a:gd name="connsiteY78" fmla="*/ 398705 h 548219"/>
                <a:gd name="connsiteX79" fmla="*/ 0 w 548219"/>
                <a:gd name="connsiteY79" fmla="*/ 398705 h 548219"/>
                <a:gd name="connsiteX80" fmla="*/ 0 w 548219"/>
                <a:gd name="connsiteY80" fmla="*/ 318965 h 548219"/>
                <a:gd name="connsiteX81" fmla="*/ 0 w 548219"/>
                <a:gd name="connsiteY81" fmla="*/ 388738 h 548219"/>
                <a:gd name="connsiteX82" fmla="*/ 69773 w 548219"/>
                <a:gd name="connsiteY82" fmla="*/ 388738 h 548219"/>
                <a:gd name="connsiteX83" fmla="*/ 69773 w 548219"/>
                <a:gd name="connsiteY83" fmla="*/ 318965 h 548219"/>
                <a:gd name="connsiteX84" fmla="*/ 0 w 548219"/>
                <a:gd name="connsiteY84" fmla="*/ 318965 h 548219"/>
                <a:gd name="connsiteX85" fmla="*/ 0 w 548219"/>
                <a:gd name="connsiteY85" fmla="*/ 239223 h 548219"/>
                <a:gd name="connsiteX86" fmla="*/ 0 w 548219"/>
                <a:gd name="connsiteY86" fmla="*/ 308996 h 548219"/>
                <a:gd name="connsiteX87" fmla="*/ 69773 w 548219"/>
                <a:gd name="connsiteY87" fmla="*/ 308996 h 548219"/>
                <a:gd name="connsiteX88" fmla="*/ 69773 w 548219"/>
                <a:gd name="connsiteY88" fmla="*/ 239223 h 548219"/>
                <a:gd name="connsiteX89" fmla="*/ 0 w 548219"/>
                <a:gd name="connsiteY89" fmla="*/ 239223 h 548219"/>
                <a:gd name="connsiteX90" fmla="*/ 0 w 548219"/>
                <a:gd name="connsiteY90" fmla="*/ 159482 h 548219"/>
                <a:gd name="connsiteX91" fmla="*/ 0 w 548219"/>
                <a:gd name="connsiteY91" fmla="*/ 229256 h 548219"/>
                <a:gd name="connsiteX92" fmla="*/ 69773 w 548219"/>
                <a:gd name="connsiteY92" fmla="*/ 229256 h 548219"/>
                <a:gd name="connsiteX93" fmla="*/ 69773 w 548219"/>
                <a:gd name="connsiteY93" fmla="*/ 159482 h 548219"/>
                <a:gd name="connsiteX94" fmla="*/ 0 w 548219"/>
                <a:gd name="connsiteY94" fmla="*/ 159482 h 548219"/>
                <a:gd name="connsiteX95" fmla="*/ 0 w 548219"/>
                <a:gd name="connsiteY95" fmla="*/ 79742 h 548219"/>
                <a:gd name="connsiteX96" fmla="*/ 0 w 548219"/>
                <a:gd name="connsiteY96" fmla="*/ 149515 h 548219"/>
                <a:gd name="connsiteX97" fmla="*/ 69773 w 548219"/>
                <a:gd name="connsiteY97" fmla="*/ 149515 h 548219"/>
                <a:gd name="connsiteX98" fmla="*/ 69773 w 548219"/>
                <a:gd name="connsiteY98" fmla="*/ 79742 h 548219"/>
                <a:gd name="connsiteX99" fmla="*/ 0 w 548219"/>
                <a:gd name="connsiteY99" fmla="*/ 79742 h 548219"/>
                <a:gd name="connsiteX100" fmla="*/ 149515 w 548219"/>
                <a:gd name="connsiteY100" fmla="*/ 79742 h 548219"/>
                <a:gd name="connsiteX101" fmla="*/ 79741 w 548219"/>
                <a:gd name="connsiteY101" fmla="*/ 79742 h 548219"/>
                <a:gd name="connsiteX102" fmla="*/ 79741 w 548219"/>
                <a:gd name="connsiteY102" fmla="*/ 149515 h 548219"/>
                <a:gd name="connsiteX103" fmla="*/ 149515 w 548219"/>
                <a:gd name="connsiteY103" fmla="*/ 149515 h 548219"/>
                <a:gd name="connsiteX104" fmla="*/ 149515 w 548219"/>
                <a:gd name="connsiteY104" fmla="*/ 79742 h 548219"/>
                <a:gd name="connsiteX105" fmla="*/ 229256 w 548219"/>
                <a:gd name="connsiteY105" fmla="*/ 79742 h 548219"/>
                <a:gd name="connsiteX106" fmla="*/ 159482 w 548219"/>
                <a:gd name="connsiteY106" fmla="*/ 79742 h 548219"/>
                <a:gd name="connsiteX107" fmla="*/ 159482 w 548219"/>
                <a:gd name="connsiteY107" fmla="*/ 149515 h 548219"/>
                <a:gd name="connsiteX108" fmla="*/ 229256 w 548219"/>
                <a:gd name="connsiteY108" fmla="*/ 149515 h 548219"/>
                <a:gd name="connsiteX109" fmla="*/ 229256 w 548219"/>
                <a:gd name="connsiteY109" fmla="*/ 79742 h 548219"/>
                <a:gd name="connsiteX110" fmla="*/ 308996 w 548219"/>
                <a:gd name="connsiteY110" fmla="*/ 79742 h 548219"/>
                <a:gd name="connsiteX111" fmla="*/ 239223 w 548219"/>
                <a:gd name="connsiteY111" fmla="*/ 79742 h 548219"/>
                <a:gd name="connsiteX112" fmla="*/ 239223 w 548219"/>
                <a:gd name="connsiteY112" fmla="*/ 149515 h 548219"/>
                <a:gd name="connsiteX113" fmla="*/ 308996 w 548219"/>
                <a:gd name="connsiteY113" fmla="*/ 149515 h 548219"/>
                <a:gd name="connsiteX114" fmla="*/ 308996 w 548219"/>
                <a:gd name="connsiteY114" fmla="*/ 79742 h 548219"/>
                <a:gd name="connsiteX115" fmla="*/ 308996 w 548219"/>
                <a:gd name="connsiteY115" fmla="*/ 229256 h 548219"/>
                <a:gd name="connsiteX116" fmla="*/ 308996 w 548219"/>
                <a:gd name="connsiteY116" fmla="*/ 159482 h 548219"/>
                <a:gd name="connsiteX117" fmla="*/ 239223 w 548219"/>
                <a:gd name="connsiteY117" fmla="*/ 159482 h 548219"/>
                <a:gd name="connsiteX118" fmla="*/ 239223 w 548219"/>
                <a:gd name="connsiteY118" fmla="*/ 229256 h 548219"/>
                <a:gd name="connsiteX119" fmla="*/ 308996 w 548219"/>
                <a:gd name="connsiteY119" fmla="*/ 229256 h 548219"/>
                <a:gd name="connsiteX120" fmla="*/ 308996 w 548219"/>
                <a:gd name="connsiteY120" fmla="*/ 308996 h 548219"/>
                <a:gd name="connsiteX121" fmla="*/ 308996 w 548219"/>
                <a:gd name="connsiteY121" fmla="*/ 239223 h 548219"/>
                <a:gd name="connsiteX122" fmla="*/ 239223 w 548219"/>
                <a:gd name="connsiteY122" fmla="*/ 239223 h 548219"/>
                <a:gd name="connsiteX123" fmla="*/ 239223 w 548219"/>
                <a:gd name="connsiteY123" fmla="*/ 308996 h 548219"/>
                <a:gd name="connsiteX124" fmla="*/ 308996 w 548219"/>
                <a:gd name="connsiteY124" fmla="*/ 308996 h 548219"/>
                <a:gd name="connsiteX125" fmla="*/ 308996 w 548219"/>
                <a:gd name="connsiteY125" fmla="*/ 388738 h 548219"/>
                <a:gd name="connsiteX126" fmla="*/ 308996 w 548219"/>
                <a:gd name="connsiteY126" fmla="*/ 318965 h 548219"/>
                <a:gd name="connsiteX127" fmla="*/ 239223 w 548219"/>
                <a:gd name="connsiteY127" fmla="*/ 318965 h 548219"/>
                <a:gd name="connsiteX128" fmla="*/ 239223 w 548219"/>
                <a:gd name="connsiteY128" fmla="*/ 388738 h 548219"/>
                <a:gd name="connsiteX129" fmla="*/ 308996 w 548219"/>
                <a:gd name="connsiteY129" fmla="*/ 388738 h 548219"/>
                <a:gd name="connsiteX130" fmla="*/ 308996 w 548219"/>
                <a:gd name="connsiteY130" fmla="*/ 468479 h 548219"/>
                <a:gd name="connsiteX131" fmla="*/ 308996 w 548219"/>
                <a:gd name="connsiteY131" fmla="*/ 398705 h 548219"/>
                <a:gd name="connsiteX132" fmla="*/ 239223 w 548219"/>
                <a:gd name="connsiteY132" fmla="*/ 398705 h 548219"/>
                <a:gd name="connsiteX133" fmla="*/ 239223 w 548219"/>
                <a:gd name="connsiteY133" fmla="*/ 468479 h 548219"/>
                <a:gd name="connsiteX134" fmla="*/ 308996 w 548219"/>
                <a:gd name="connsiteY134" fmla="*/ 468479 h 548219"/>
                <a:gd name="connsiteX135" fmla="*/ 159482 w 548219"/>
                <a:gd name="connsiteY135" fmla="*/ 468479 h 548219"/>
                <a:gd name="connsiteX136" fmla="*/ 229256 w 548219"/>
                <a:gd name="connsiteY136" fmla="*/ 468479 h 548219"/>
                <a:gd name="connsiteX137" fmla="*/ 229256 w 548219"/>
                <a:gd name="connsiteY137" fmla="*/ 398705 h 548219"/>
                <a:gd name="connsiteX138" fmla="*/ 159482 w 548219"/>
                <a:gd name="connsiteY138" fmla="*/ 398705 h 548219"/>
                <a:gd name="connsiteX139" fmla="*/ 159482 w 548219"/>
                <a:gd name="connsiteY139" fmla="*/ 468479 h 548219"/>
                <a:gd name="connsiteX140" fmla="*/ 79741 w 548219"/>
                <a:gd name="connsiteY140" fmla="*/ 468479 h 548219"/>
                <a:gd name="connsiteX141" fmla="*/ 149515 w 548219"/>
                <a:gd name="connsiteY141" fmla="*/ 468479 h 548219"/>
                <a:gd name="connsiteX142" fmla="*/ 149515 w 548219"/>
                <a:gd name="connsiteY142" fmla="*/ 398705 h 548219"/>
                <a:gd name="connsiteX143" fmla="*/ 79741 w 548219"/>
                <a:gd name="connsiteY143" fmla="*/ 398705 h 548219"/>
                <a:gd name="connsiteX144" fmla="*/ 79741 w 548219"/>
                <a:gd name="connsiteY144" fmla="*/ 468479 h 548219"/>
                <a:gd name="connsiteX145" fmla="*/ 79741 w 548219"/>
                <a:gd name="connsiteY145" fmla="*/ 318965 h 548219"/>
                <a:gd name="connsiteX146" fmla="*/ 79741 w 548219"/>
                <a:gd name="connsiteY146" fmla="*/ 388738 h 548219"/>
                <a:gd name="connsiteX147" fmla="*/ 149515 w 548219"/>
                <a:gd name="connsiteY147" fmla="*/ 388738 h 548219"/>
                <a:gd name="connsiteX148" fmla="*/ 149515 w 548219"/>
                <a:gd name="connsiteY148" fmla="*/ 318965 h 548219"/>
                <a:gd name="connsiteX149" fmla="*/ 79741 w 548219"/>
                <a:gd name="connsiteY149" fmla="*/ 318965 h 548219"/>
                <a:gd name="connsiteX150" fmla="*/ 79741 w 548219"/>
                <a:gd name="connsiteY150" fmla="*/ 239223 h 548219"/>
                <a:gd name="connsiteX151" fmla="*/ 79741 w 548219"/>
                <a:gd name="connsiteY151" fmla="*/ 308996 h 548219"/>
                <a:gd name="connsiteX152" fmla="*/ 149515 w 548219"/>
                <a:gd name="connsiteY152" fmla="*/ 308996 h 548219"/>
                <a:gd name="connsiteX153" fmla="*/ 149515 w 548219"/>
                <a:gd name="connsiteY153" fmla="*/ 239223 h 548219"/>
                <a:gd name="connsiteX154" fmla="*/ 79741 w 548219"/>
                <a:gd name="connsiteY154" fmla="*/ 239223 h 548219"/>
                <a:gd name="connsiteX155" fmla="*/ 79741 w 548219"/>
                <a:gd name="connsiteY155" fmla="*/ 159482 h 548219"/>
                <a:gd name="connsiteX156" fmla="*/ 79741 w 548219"/>
                <a:gd name="connsiteY156" fmla="*/ 229256 h 548219"/>
                <a:gd name="connsiteX157" fmla="*/ 149515 w 548219"/>
                <a:gd name="connsiteY157" fmla="*/ 229256 h 548219"/>
                <a:gd name="connsiteX158" fmla="*/ 149515 w 548219"/>
                <a:gd name="connsiteY158" fmla="*/ 159482 h 548219"/>
                <a:gd name="connsiteX159" fmla="*/ 79741 w 548219"/>
                <a:gd name="connsiteY159" fmla="*/ 159482 h 548219"/>
                <a:gd name="connsiteX160" fmla="*/ 229256 w 548219"/>
                <a:gd name="connsiteY160" fmla="*/ 159482 h 548219"/>
                <a:gd name="connsiteX161" fmla="*/ 159482 w 548219"/>
                <a:gd name="connsiteY161" fmla="*/ 159482 h 548219"/>
                <a:gd name="connsiteX162" fmla="*/ 159482 w 548219"/>
                <a:gd name="connsiteY162" fmla="*/ 229256 h 548219"/>
                <a:gd name="connsiteX163" fmla="*/ 229256 w 548219"/>
                <a:gd name="connsiteY163" fmla="*/ 229256 h 548219"/>
                <a:gd name="connsiteX164" fmla="*/ 229256 w 548219"/>
                <a:gd name="connsiteY164" fmla="*/ 159482 h 548219"/>
                <a:gd name="connsiteX165" fmla="*/ 229256 w 548219"/>
                <a:gd name="connsiteY165" fmla="*/ 308996 h 548219"/>
                <a:gd name="connsiteX166" fmla="*/ 229256 w 548219"/>
                <a:gd name="connsiteY166" fmla="*/ 239223 h 548219"/>
                <a:gd name="connsiteX167" fmla="*/ 159482 w 548219"/>
                <a:gd name="connsiteY167" fmla="*/ 239223 h 548219"/>
                <a:gd name="connsiteX168" fmla="*/ 159482 w 548219"/>
                <a:gd name="connsiteY168" fmla="*/ 308996 h 548219"/>
                <a:gd name="connsiteX169" fmla="*/ 229256 w 548219"/>
                <a:gd name="connsiteY169" fmla="*/ 308996 h 548219"/>
                <a:gd name="connsiteX170" fmla="*/ 229256 w 548219"/>
                <a:gd name="connsiteY170" fmla="*/ 388738 h 548219"/>
                <a:gd name="connsiteX171" fmla="*/ 229256 w 548219"/>
                <a:gd name="connsiteY171" fmla="*/ 318965 h 548219"/>
                <a:gd name="connsiteX172" fmla="*/ 159482 w 548219"/>
                <a:gd name="connsiteY172" fmla="*/ 318965 h 548219"/>
                <a:gd name="connsiteX173" fmla="*/ 159482 w 548219"/>
                <a:gd name="connsiteY173" fmla="*/ 388738 h 548219"/>
                <a:gd name="connsiteX174" fmla="*/ 229256 w 548219"/>
                <a:gd name="connsiteY174" fmla="*/ 388738 h 548219"/>
                <a:gd name="connsiteX175" fmla="*/ 548220 w 548219"/>
                <a:gd name="connsiteY175" fmla="*/ 69773 h 548219"/>
                <a:gd name="connsiteX176" fmla="*/ 548220 w 548219"/>
                <a:gd name="connsiteY176" fmla="*/ 0 h 548219"/>
                <a:gd name="connsiteX177" fmla="*/ 478446 w 548219"/>
                <a:gd name="connsiteY177" fmla="*/ 0 h 548219"/>
                <a:gd name="connsiteX178" fmla="*/ 478446 w 548219"/>
                <a:gd name="connsiteY178" fmla="*/ 39870 h 548219"/>
                <a:gd name="connsiteX179" fmla="*/ 478446 w 548219"/>
                <a:gd name="connsiteY179" fmla="*/ 69773 h 548219"/>
                <a:gd name="connsiteX180" fmla="*/ 548220 w 548219"/>
                <a:gd name="connsiteY180" fmla="*/ 69773 h 548219"/>
                <a:gd name="connsiteX181" fmla="*/ 548220 w 548219"/>
                <a:gd name="connsiteY181" fmla="*/ 149515 h 548219"/>
                <a:gd name="connsiteX182" fmla="*/ 548220 w 548219"/>
                <a:gd name="connsiteY182" fmla="*/ 79742 h 548219"/>
                <a:gd name="connsiteX183" fmla="*/ 478446 w 548219"/>
                <a:gd name="connsiteY183" fmla="*/ 79742 h 548219"/>
                <a:gd name="connsiteX184" fmla="*/ 478446 w 548219"/>
                <a:gd name="connsiteY184" fmla="*/ 149515 h 548219"/>
                <a:gd name="connsiteX185" fmla="*/ 548220 w 548219"/>
                <a:gd name="connsiteY185" fmla="*/ 149515 h 548219"/>
                <a:gd name="connsiteX186" fmla="*/ 548220 w 548219"/>
                <a:gd name="connsiteY186" fmla="*/ 229256 h 548219"/>
                <a:gd name="connsiteX187" fmla="*/ 548220 w 548219"/>
                <a:gd name="connsiteY187" fmla="*/ 159482 h 548219"/>
                <a:gd name="connsiteX188" fmla="*/ 478446 w 548219"/>
                <a:gd name="connsiteY188" fmla="*/ 159482 h 548219"/>
                <a:gd name="connsiteX189" fmla="*/ 478446 w 548219"/>
                <a:gd name="connsiteY189" fmla="*/ 229256 h 548219"/>
                <a:gd name="connsiteX190" fmla="*/ 548220 w 548219"/>
                <a:gd name="connsiteY190" fmla="*/ 229256 h 548219"/>
                <a:gd name="connsiteX191" fmla="*/ 548220 w 548219"/>
                <a:gd name="connsiteY191" fmla="*/ 308996 h 548219"/>
                <a:gd name="connsiteX192" fmla="*/ 548220 w 548219"/>
                <a:gd name="connsiteY192" fmla="*/ 239223 h 548219"/>
                <a:gd name="connsiteX193" fmla="*/ 478446 w 548219"/>
                <a:gd name="connsiteY193" fmla="*/ 239223 h 548219"/>
                <a:gd name="connsiteX194" fmla="*/ 478446 w 548219"/>
                <a:gd name="connsiteY194" fmla="*/ 308996 h 548219"/>
                <a:gd name="connsiteX195" fmla="*/ 548220 w 548219"/>
                <a:gd name="connsiteY195" fmla="*/ 308996 h 548219"/>
                <a:gd name="connsiteX196" fmla="*/ 548220 w 548219"/>
                <a:gd name="connsiteY196" fmla="*/ 388738 h 548219"/>
                <a:gd name="connsiteX197" fmla="*/ 548220 w 548219"/>
                <a:gd name="connsiteY197" fmla="*/ 318965 h 548219"/>
                <a:gd name="connsiteX198" fmla="*/ 478446 w 548219"/>
                <a:gd name="connsiteY198" fmla="*/ 318965 h 548219"/>
                <a:gd name="connsiteX199" fmla="*/ 478446 w 548219"/>
                <a:gd name="connsiteY199" fmla="*/ 388738 h 548219"/>
                <a:gd name="connsiteX200" fmla="*/ 548220 w 548219"/>
                <a:gd name="connsiteY200" fmla="*/ 388738 h 548219"/>
                <a:gd name="connsiteX201" fmla="*/ 548220 w 548219"/>
                <a:gd name="connsiteY201" fmla="*/ 468479 h 548219"/>
                <a:gd name="connsiteX202" fmla="*/ 548220 w 548219"/>
                <a:gd name="connsiteY202" fmla="*/ 398705 h 548219"/>
                <a:gd name="connsiteX203" fmla="*/ 478446 w 548219"/>
                <a:gd name="connsiteY203" fmla="*/ 398705 h 548219"/>
                <a:gd name="connsiteX204" fmla="*/ 478446 w 548219"/>
                <a:gd name="connsiteY204" fmla="*/ 468479 h 548219"/>
                <a:gd name="connsiteX205" fmla="*/ 548220 w 548219"/>
                <a:gd name="connsiteY205" fmla="*/ 468479 h 548219"/>
                <a:gd name="connsiteX206" fmla="*/ 478446 w 548219"/>
                <a:gd name="connsiteY206" fmla="*/ 478447 h 548219"/>
                <a:gd name="connsiteX207" fmla="*/ 478446 w 548219"/>
                <a:gd name="connsiteY207" fmla="*/ 548220 h 548219"/>
                <a:gd name="connsiteX208" fmla="*/ 548220 w 548219"/>
                <a:gd name="connsiteY208" fmla="*/ 548220 h 548219"/>
                <a:gd name="connsiteX209" fmla="*/ 548220 w 548219"/>
                <a:gd name="connsiteY209" fmla="*/ 478447 h 548219"/>
                <a:gd name="connsiteX210" fmla="*/ 478446 w 548219"/>
                <a:gd name="connsiteY210" fmla="*/ 478447 h 54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548219" h="548219">
                  <a:moveTo>
                    <a:pt x="69773" y="0"/>
                  </a:moveTo>
                  <a:cubicBezTo>
                    <a:pt x="69773" y="0"/>
                    <a:pt x="0" y="0"/>
                    <a:pt x="0" y="0"/>
                  </a:cubicBezTo>
                  <a:lnTo>
                    <a:pt x="0" y="69773"/>
                  </a:lnTo>
                  <a:lnTo>
                    <a:pt x="69773" y="69773"/>
                  </a:lnTo>
                  <a:lnTo>
                    <a:pt x="69773" y="0"/>
                  </a:lnTo>
                  <a:close/>
                  <a:moveTo>
                    <a:pt x="79741" y="0"/>
                  </a:moveTo>
                  <a:lnTo>
                    <a:pt x="79741" y="69773"/>
                  </a:lnTo>
                  <a:lnTo>
                    <a:pt x="149515" y="69773"/>
                  </a:lnTo>
                  <a:lnTo>
                    <a:pt x="149515" y="0"/>
                  </a:lnTo>
                  <a:cubicBezTo>
                    <a:pt x="149515" y="0"/>
                    <a:pt x="79741" y="0"/>
                    <a:pt x="79741" y="0"/>
                  </a:cubicBezTo>
                  <a:close/>
                  <a:moveTo>
                    <a:pt x="159482" y="0"/>
                  </a:moveTo>
                  <a:lnTo>
                    <a:pt x="159482" y="69773"/>
                  </a:lnTo>
                  <a:lnTo>
                    <a:pt x="229256" y="69773"/>
                  </a:lnTo>
                  <a:lnTo>
                    <a:pt x="229256" y="0"/>
                  </a:lnTo>
                  <a:cubicBezTo>
                    <a:pt x="229256" y="0"/>
                    <a:pt x="159482" y="0"/>
                    <a:pt x="159482" y="0"/>
                  </a:cubicBezTo>
                  <a:close/>
                  <a:moveTo>
                    <a:pt x="239223" y="0"/>
                  </a:moveTo>
                  <a:lnTo>
                    <a:pt x="239223" y="69773"/>
                  </a:lnTo>
                  <a:lnTo>
                    <a:pt x="308996" y="69773"/>
                  </a:lnTo>
                  <a:lnTo>
                    <a:pt x="308996" y="0"/>
                  </a:lnTo>
                  <a:cubicBezTo>
                    <a:pt x="308996" y="0"/>
                    <a:pt x="239223" y="0"/>
                    <a:pt x="239223" y="0"/>
                  </a:cubicBezTo>
                  <a:close/>
                  <a:moveTo>
                    <a:pt x="318965" y="0"/>
                  </a:moveTo>
                  <a:lnTo>
                    <a:pt x="318965" y="69773"/>
                  </a:lnTo>
                  <a:lnTo>
                    <a:pt x="388738" y="69773"/>
                  </a:lnTo>
                  <a:lnTo>
                    <a:pt x="388738" y="0"/>
                  </a:lnTo>
                  <a:cubicBezTo>
                    <a:pt x="388738" y="0"/>
                    <a:pt x="318965" y="0"/>
                    <a:pt x="318965" y="0"/>
                  </a:cubicBezTo>
                  <a:close/>
                  <a:moveTo>
                    <a:pt x="388738" y="149515"/>
                  </a:moveTo>
                  <a:lnTo>
                    <a:pt x="388738" y="79742"/>
                  </a:lnTo>
                  <a:lnTo>
                    <a:pt x="318965" y="79742"/>
                  </a:lnTo>
                  <a:lnTo>
                    <a:pt x="318965" y="149515"/>
                  </a:lnTo>
                  <a:lnTo>
                    <a:pt x="388738" y="149515"/>
                  </a:lnTo>
                  <a:close/>
                  <a:moveTo>
                    <a:pt x="388738" y="229256"/>
                  </a:moveTo>
                  <a:lnTo>
                    <a:pt x="388738" y="159482"/>
                  </a:lnTo>
                  <a:lnTo>
                    <a:pt x="318965" y="159482"/>
                  </a:lnTo>
                  <a:lnTo>
                    <a:pt x="318965" y="229256"/>
                  </a:lnTo>
                  <a:lnTo>
                    <a:pt x="388738" y="229256"/>
                  </a:lnTo>
                  <a:close/>
                  <a:moveTo>
                    <a:pt x="388738" y="308996"/>
                  </a:moveTo>
                  <a:lnTo>
                    <a:pt x="388738" y="239223"/>
                  </a:lnTo>
                  <a:lnTo>
                    <a:pt x="318965" y="239223"/>
                  </a:lnTo>
                  <a:lnTo>
                    <a:pt x="318965" y="308996"/>
                  </a:lnTo>
                  <a:lnTo>
                    <a:pt x="388738" y="308996"/>
                  </a:lnTo>
                  <a:close/>
                  <a:moveTo>
                    <a:pt x="388738" y="388738"/>
                  </a:moveTo>
                  <a:lnTo>
                    <a:pt x="388738" y="318965"/>
                  </a:lnTo>
                  <a:lnTo>
                    <a:pt x="318965" y="318965"/>
                  </a:lnTo>
                  <a:lnTo>
                    <a:pt x="318965" y="388738"/>
                  </a:lnTo>
                  <a:lnTo>
                    <a:pt x="388738" y="388738"/>
                  </a:lnTo>
                  <a:close/>
                  <a:moveTo>
                    <a:pt x="388738" y="468479"/>
                  </a:moveTo>
                  <a:lnTo>
                    <a:pt x="388738" y="398705"/>
                  </a:lnTo>
                  <a:lnTo>
                    <a:pt x="318965" y="398705"/>
                  </a:lnTo>
                  <a:lnTo>
                    <a:pt x="318965" y="468479"/>
                  </a:lnTo>
                  <a:lnTo>
                    <a:pt x="388738" y="468479"/>
                  </a:lnTo>
                  <a:close/>
                  <a:moveTo>
                    <a:pt x="318965" y="548220"/>
                  </a:moveTo>
                  <a:lnTo>
                    <a:pt x="388738" y="548220"/>
                  </a:lnTo>
                  <a:lnTo>
                    <a:pt x="388738" y="478447"/>
                  </a:lnTo>
                  <a:lnTo>
                    <a:pt x="318965" y="478447"/>
                  </a:lnTo>
                  <a:lnTo>
                    <a:pt x="318965" y="548220"/>
                  </a:lnTo>
                  <a:close/>
                  <a:moveTo>
                    <a:pt x="239223" y="548220"/>
                  </a:moveTo>
                  <a:lnTo>
                    <a:pt x="308996" y="548220"/>
                  </a:lnTo>
                  <a:lnTo>
                    <a:pt x="308996" y="478447"/>
                  </a:lnTo>
                  <a:lnTo>
                    <a:pt x="239223" y="478447"/>
                  </a:lnTo>
                  <a:lnTo>
                    <a:pt x="239223" y="548220"/>
                  </a:lnTo>
                  <a:close/>
                  <a:moveTo>
                    <a:pt x="159482" y="548220"/>
                  </a:moveTo>
                  <a:lnTo>
                    <a:pt x="229256" y="548220"/>
                  </a:lnTo>
                  <a:lnTo>
                    <a:pt x="229256" y="478447"/>
                  </a:lnTo>
                  <a:lnTo>
                    <a:pt x="159482" y="478447"/>
                  </a:lnTo>
                  <a:lnTo>
                    <a:pt x="159482" y="548220"/>
                  </a:lnTo>
                  <a:close/>
                  <a:moveTo>
                    <a:pt x="79741" y="548220"/>
                  </a:moveTo>
                  <a:lnTo>
                    <a:pt x="149515" y="548220"/>
                  </a:lnTo>
                  <a:lnTo>
                    <a:pt x="149515" y="478447"/>
                  </a:lnTo>
                  <a:lnTo>
                    <a:pt x="79741" y="478447"/>
                  </a:lnTo>
                  <a:lnTo>
                    <a:pt x="79741" y="548220"/>
                  </a:lnTo>
                  <a:close/>
                  <a:moveTo>
                    <a:pt x="0" y="478447"/>
                  </a:moveTo>
                  <a:lnTo>
                    <a:pt x="0" y="548220"/>
                  </a:lnTo>
                  <a:lnTo>
                    <a:pt x="69773" y="548220"/>
                  </a:lnTo>
                  <a:lnTo>
                    <a:pt x="69773" y="478447"/>
                  </a:lnTo>
                  <a:lnTo>
                    <a:pt x="0" y="478447"/>
                  </a:lnTo>
                  <a:close/>
                  <a:moveTo>
                    <a:pt x="0" y="398705"/>
                  </a:moveTo>
                  <a:lnTo>
                    <a:pt x="0" y="468479"/>
                  </a:lnTo>
                  <a:lnTo>
                    <a:pt x="69773" y="468479"/>
                  </a:lnTo>
                  <a:lnTo>
                    <a:pt x="69773" y="398705"/>
                  </a:lnTo>
                  <a:lnTo>
                    <a:pt x="0" y="398705"/>
                  </a:lnTo>
                  <a:close/>
                  <a:moveTo>
                    <a:pt x="0" y="318965"/>
                  </a:moveTo>
                  <a:lnTo>
                    <a:pt x="0" y="388738"/>
                  </a:lnTo>
                  <a:lnTo>
                    <a:pt x="69773" y="388738"/>
                  </a:lnTo>
                  <a:lnTo>
                    <a:pt x="69773" y="318965"/>
                  </a:lnTo>
                  <a:lnTo>
                    <a:pt x="0" y="318965"/>
                  </a:lnTo>
                  <a:close/>
                  <a:moveTo>
                    <a:pt x="0" y="239223"/>
                  </a:moveTo>
                  <a:lnTo>
                    <a:pt x="0" y="308996"/>
                  </a:lnTo>
                  <a:lnTo>
                    <a:pt x="69773" y="308996"/>
                  </a:lnTo>
                  <a:lnTo>
                    <a:pt x="69773" y="239223"/>
                  </a:lnTo>
                  <a:lnTo>
                    <a:pt x="0" y="239223"/>
                  </a:lnTo>
                  <a:close/>
                  <a:moveTo>
                    <a:pt x="0" y="159482"/>
                  </a:moveTo>
                  <a:lnTo>
                    <a:pt x="0" y="229256"/>
                  </a:lnTo>
                  <a:lnTo>
                    <a:pt x="69773" y="229256"/>
                  </a:lnTo>
                  <a:lnTo>
                    <a:pt x="69773" y="159482"/>
                  </a:lnTo>
                  <a:lnTo>
                    <a:pt x="0" y="159482"/>
                  </a:lnTo>
                  <a:close/>
                  <a:moveTo>
                    <a:pt x="0" y="79742"/>
                  </a:moveTo>
                  <a:lnTo>
                    <a:pt x="0" y="149515"/>
                  </a:lnTo>
                  <a:lnTo>
                    <a:pt x="69773" y="149515"/>
                  </a:lnTo>
                  <a:lnTo>
                    <a:pt x="69773" y="79742"/>
                  </a:lnTo>
                  <a:lnTo>
                    <a:pt x="0" y="79742"/>
                  </a:lnTo>
                  <a:close/>
                  <a:moveTo>
                    <a:pt x="149515" y="79742"/>
                  </a:moveTo>
                  <a:lnTo>
                    <a:pt x="79741" y="79742"/>
                  </a:lnTo>
                  <a:lnTo>
                    <a:pt x="79741" y="149515"/>
                  </a:lnTo>
                  <a:lnTo>
                    <a:pt x="149515" y="149515"/>
                  </a:lnTo>
                  <a:lnTo>
                    <a:pt x="149515" y="79742"/>
                  </a:lnTo>
                  <a:close/>
                  <a:moveTo>
                    <a:pt x="229256" y="79742"/>
                  </a:moveTo>
                  <a:lnTo>
                    <a:pt x="159482" y="79742"/>
                  </a:lnTo>
                  <a:lnTo>
                    <a:pt x="159482" y="149515"/>
                  </a:lnTo>
                  <a:lnTo>
                    <a:pt x="229256" y="149515"/>
                  </a:lnTo>
                  <a:lnTo>
                    <a:pt x="229256" y="79742"/>
                  </a:lnTo>
                  <a:close/>
                  <a:moveTo>
                    <a:pt x="308996" y="79742"/>
                  </a:moveTo>
                  <a:lnTo>
                    <a:pt x="239223" y="79742"/>
                  </a:lnTo>
                  <a:lnTo>
                    <a:pt x="239223" y="149515"/>
                  </a:lnTo>
                  <a:lnTo>
                    <a:pt x="308996" y="149515"/>
                  </a:lnTo>
                  <a:lnTo>
                    <a:pt x="308996" y="79742"/>
                  </a:lnTo>
                  <a:close/>
                  <a:moveTo>
                    <a:pt x="308996" y="229256"/>
                  </a:moveTo>
                  <a:lnTo>
                    <a:pt x="308996" y="159482"/>
                  </a:lnTo>
                  <a:lnTo>
                    <a:pt x="239223" y="159482"/>
                  </a:lnTo>
                  <a:lnTo>
                    <a:pt x="239223" y="229256"/>
                  </a:lnTo>
                  <a:lnTo>
                    <a:pt x="308996" y="229256"/>
                  </a:lnTo>
                  <a:close/>
                  <a:moveTo>
                    <a:pt x="308996" y="308996"/>
                  </a:moveTo>
                  <a:lnTo>
                    <a:pt x="308996" y="239223"/>
                  </a:lnTo>
                  <a:lnTo>
                    <a:pt x="239223" y="239223"/>
                  </a:lnTo>
                  <a:lnTo>
                    <a:pt x="239223" y="308996"/>
                  </a:lnTo>
                  <a:lnTo>
                    <a:pt x="308996" y="308996"/>
                  </a:lnTo>
                  <a:close/>
                  <a:moveTo>
                    <a:pt x="308996" y="388738"/>
                  </a:moveTo>
                  <a:lnTo>
                    <a:pt x="308996" y="318965"/>
                  </a:lnTo>
                  <a:lnTo>
                    <a:pt x="239223" y="318965"/>
                  </a:lnTo>
                  <a:lnTo>
                    <a:pt x="239223" y="388738"/>
                  </a:lnTo>
                  <a:lnTo>
                    <a:pt x="308996" y="388738"/>
                  </a:lnTo>
                  <a:close/>
                  <a:moveTo>
                    <a:pt x="308996" y="468479"/>
                  </a:moveTo>
                  <a:lnTo>
                    <a:pt x="308996" y="398705"/>
                  </a:lnTo>
                  <a:lnTo>
                    <a:pt x="239223" y="398705"/>
                  </a:lnTo>
                  <a:lnTo>
                    <a:pt x="239223" y="468479"/>
                  </a:lnTo>
                  <a:lnTo>
                    <a:pt x="308996" y="468479"/>
                  </a:lnTo>
                  <a:close/>
                  <a:moveTo>
                    <a:pt x="159482" y="468479"/>
                  </a:moveTo>
                  <a:lnTo>
                    <a:pt x="229256" y="468479"/>
                  </a:lnTo>
                  <a:lnTo>
                    <a:pt x="229256" y="398705"/>
                  </a:lnTo>
                  <a:lnTo>
                    <a:pt x="159482" y="398705"/>
                  </a:lnTo>
                  <a:lnTo>
                    <a:pt x="159482" y="468479"/>
                  </a:lnTo>
                  <a:close/>
                  <a:moveTo>
                    <a:pt x="79741" y="468479"/>
                  </a:moveTo>
                  <a:lnTo>
                    <a:pt x="149515" y="468479"/>
                  </a:lnTo>
                  <a:lnTo>
                    <a:pt x="149515" y="398705"/>
                  </a:lnTo>
                  <a:lnTo>
                    <a:pt x="79741" y="398705"/>
                  </a:lnTo>
                  <a:lnTo>
                    <a:pt x="79741" y="468479"/>
                  </a:lnTo>
                  <a:close/>
                  <a:moveTo>
                    <a:pt x="79741" y="318965"/>
                  </a:moveTo>
                  <a:lnTo>
                    <a:pt x="79741" y="388738"/>
                  </a:lnTo>
                  <a:lnTo>
                    <a:pt x="149515" y="388738"/>
                  </a:lnTo>
                  <a:lnTo>
                    <a:pt x="149515" y="318965"/>
                  </a:lnTo>
                  <a:lnTo>
                    <a:pt x="79741" y="318965"/>
                  </a:lnTo>
                  <a:close/>
                  <a:moveTo>
                    <a:pt x="79741" y="239223"/>
                  </a:moveTo>
                  <a:lnTo>
                    <a:pt x="79741" y="308996"/>
                  </a:lnTo>
                  <a:lnTo>
                    <a:pt x="149515" y="308996"/>
                  </a:lnTo>
                  <a:lnTo>
                    <a:pt x="149515" y="239223"/>
                  </a:lnTo>
                  <a:lnTo>
                    <a:pt x="79741" y="239223"/>
                  </a:lnTo>
                  <a:close/>
                  <a:moveTo>
                    <a:pt x="79741" y="159482"/>
                  </a:moveTo>
                  <a:lnTo>
                    <a:pt x="79741" y="229256"/>
                  </a:lnTo>
                  <a:lnTo>
                    <a:pt x="149515" y="229256"/>
                  </a:lnTo>
                  <a:lnTo>
                    <a:pt x="149515" y="159482"/>
                  </a:lnTo>
                  <a:lnTo>
                    <a:pt x="79741" y="159482"/>
                  </a:lnTo>
                  <a:close/>
                  <a:moveTo>
                    <a:pt x="229256" y="159482"/>
                  </a:moveTo>
                  <a:lnTo>
                    <a:pt x="159482" y="159482"/>
                  </a:lnTo>
                  <a:lnTo>
                    <a:pt x="159482" y="229256"/>
                  </a:lnTo>
                  <a:lnTo>
                    <a:pt x="229256" y="229256"/>
                  </a:lnTo>
                  <a:lnTo>
                    <a:pt x="229256" y="159482"/>
                  </a:lnTo>
                  <a:close/>
                  <a:moveTo>
                    <a:pt x="229256" y="308996"/>
                  </a:moveTo>
                  <a:lnTo>
                    <a:pt x="229256" y="239223"/>
                  </a:lnTo>
                  <a:lnTo>
                    <a:pt x="159482" y="239223"/>
                  </a:lnTo>
                  <a:lnTo>
                    <a:pt x="159482" y="308996"/>
                  </a:lnTo>
                  <a:lnTo>
                    <a:pt x="229256" y="308996"/>
                  </a:lnTo>
                  <a:close/>
                  <a:moveTo>
                    <a:pt x="229256" y="388738"/>
                  </a:moveTo>
                  <a:lnTo>
                    <a:pt x="229256" y="318965"/>
                  </a:lnTo>
                  <a:lnTo>
                    <a:pt x="159482" y="318965"/>
                  </a:lnTo>
                  <a:lnTo>
                    <a:pt x="159482" y="388738"/>
                  </a:lnTo>
                  <a:lnTo>
                    <a:pt x="229256" y="388738"/>
                  </a:lnTo>
                  <a:close/>
                  <a:moveTo>
                    <a:pt x="548220" y="69773"/>
                  </a:moveTo>
                  <a:lnTo>
                    <a:pt x="548220" y="0"/>
                  </a:lnTo>
                  <a:lnTo>
                    <a:pt x="478446" y="0"/>
                  </a:lnTo>
                  <a:lnTo>
                    <a:pt x="478446" y="39870"/>
                  </a:lnTo>
                  <a:lnTo>
                    <a:pt x="478446" y="69773"/>
                  </a:lnTo>
                  <a:lnTo>
                    <a:pt x="548220" y="69773"/>
                  </a:lnTo>
                  <a:close/>
                  <a:moveTo>
                    <a:pt x="548220" y="149515"/>
                  </a:moveTo>
                  <a:lnTo>
                    <a:pt x="548220" y="79742"/>
                  </a:lnTo>
                  <a:lnTo>
                    <a:pt x="478446" y="79742"/>
                  </a:lnTo>
                  <a:lnTo>
                    <a:pt x="478446" y="149515"/>
                  </a:lnTo>
                  <a:lnTo>
                    <a:pt x="548220" y="149515"/>
                  </a:lnTo>
                  <a:close/>
                  <a:moveTo>
                    <a:pt x="548220" y="229256"/>
                  </a:moveTo>
                  <a:lnTo>
                    <a:pt x="548220" y="159482"/>
                  </a:lnTo>
                  <a:lnTo>
                    <a:pt x="478446" y="159482"/>
                  </a:lnTo>
                  <a:lnTo>
                    <a:pt x="478446" y="229256"/>
                  </a:lnTo>
                  <a:lnTo>
                    <a:pt x="548220" y="229256"/>
                  </a:lnTo>
                  <a:close/>
                  <a:moveTo>
                    <a:pt x="548220" y="308996"/>
                  </a:moveTo>
                  <a:lnTo>
                    <a:pt x="548220" y="239223"/>
                  </a:lnTo>
                  <a:lnTo>
                    <a:pt x="478446" y="239223"/>
                  </a:lnTo>
                  <a:lnTo>
                    <a:pt x="478446" y="308996"/>
                  </a:lnTo>
                  <a:lnTo>
                    <a:pt x="548220" y="308996"/>
                  </a:lnTo>
                  <a:close/>
                  <a:moveTo>
                    <a:pt x="548220" y="388738"/>
                  </a:moveTo>
                  <a:lnTo>
                    <a:pt x="548220" y="318965"/>
                  </a:lnTo>
                  <a:lnTo>
                    <a:pt x="478446" y="318965"/>
                  </a:lnTo>
                  <a:lnTo>
                    <a:pt x="478446" y="388738"/>
                  </a:lnTo>
                  <a:lnTo>
                    <a:pt x="548220" y="388738"/>
                  </a:lnTo>
                  <a:close/>
                  <a:moveTo>
                    <a:pt x="548220" y="468479"/>
                  </a:moveTo>
                  <a:lnTo>
                    <a:pt x="548220" y="398705"/>
                  </a:lnTo>
                  <a:lnTo>
                    <a:pt x="478446" y="398705"/>
                  </a:lnTo>
                  <a:lnTo>
                    <a:pt x="478446" y="468479"/>
                  </a:lnTo>
                  <a:lnTo>
                    <a:pt x="548220" y="468479"/>
                  </a:lnTo>
                  <a:close/>
                  <a:moveTo>
                    <a:pt x="478446" y="478447"/>
                  </a:moveTo>
                  <a:lnTo>
                    <a:pt x="478446" y="548220"/>
                  </a:lnTo>
                  <a:cubicBezTo>
                    <a:pt x="478446" y="548220"/>
                    <a:pt x="548220" y="548220"/>
                    <a:pt x="548220" y="548220"/>
                  </a:cubicBezTo>
                  <a:lnTo>
                    <a:pt x="548220" y="478447"/>
                  </a:lnTo>
                  <a:lnTo>
                    <a:pt x="478446" y="478447"/>
                  </a:lnTo>
                  <a:close/>
                </a:path>
              </a:pathLst>
            </a:custGeom>
            <a:solidFill>
              <a:srgbClr val="0070C0"/>
            </a:solidFill>
            <a:ln w="119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60E58BB-DAA1-284E-4B9F-FE2207A3BAD3}"/>
                </a:ext>
              </a:extLst>
            </p:cNvPr>
            <p:cNvSpPr>
              <a:spLocks/>
            </p:cNvSpPr>
            <p:nvPr/>
          </p:nvSpPr>
          <p:spPr>
            <a:xfrm>
              <a:off x="12468952" y="7561751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keymetrics_scan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(), </a:t>
              </a: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keymetrics_scan_asis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</a:t>
              </a:r>
              <a:r>
                <a:rPr lang="en-US" sz="1300" dirty="0" err="1">
                  <a:solidFill>
                    <a:schemeClr val="tx1"/>
                  </a:solidFill>
                </a:rPr>
                <a:t>heatmapped</a:t>
              </a:r>
              <a:r>
                <a:rPr lang="en-US" sz="1300" dirty="0">
                  <a:solidFill>
                    <a:schemeClr val="tx1"/>
                  </a:solidFill>
                </a:rPr>
                <a:t> table by default, with options to return a table; Return a </a:t>
              </a:r>
              <a:r>
                <a:rPr lang="en-US" sz="1300" dirty="0" err="1">
                  <a:solidFill>
                    <a:schemeClr val="tx1"/>
                  </a:solidFill>
                </a:rPr>
                <a:t>heatmapped</a:t>
              </a:r>
              <a:r>
                <a:rPr lang="en-US" sz="1300" dirty="0">
                  <a:solidFill>
                    <a:schemeClr val="tx1"/>
                  </a:solidFill>
                </a:rPr>
                <a:t> table directly from the aggregated / summarized data</a:t>
              </a:r>
            </a:p>
          </p:txBody>
        </p:sp>
      </p:grpSp>
      <p:pic>
        <p:nvPicPr>
          <p:cNvPr id="157" name="Picture 156">
            <a:extLst>
              <a:ext uri="{FF2B5EF4-FFF2-40B4-BE49-F238E27FC236}">
                <a16:creationId xmlns:a16="http://schemas.microsoft.com/office/drawing/2014/main" id="{67713AE7-9659-8233-8AB5-93F4A9B4031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/>
          <a:stretch/>
        </p:blipFill>
        <p:spPr>
          <a:xfrm>
            <a:off x="351528" y="12722898"/>
            <a:ext cx="693804" cy="801076"/>
          </a:xfrm>
          <a:prstGeom prst="rect">
            <a:avLst/>
          </a:prstGeom>
        </p:spPr>
      </p:pic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E8B3250-EA60-0284-D7CE-0B5E0E7B7294}"/>
              </a:ext>
            </a:extLst>
          </p:cNvPr>
          <p:cNvGrpSpPr/>
          <p:nvPr/>
        </p:nvGrpSpPr>
        <p:grpSpPr>
          <a:xfrm>
            <a:off x="21564394" y="267623"/>
            <a:ext cx="2310260" cy="960120"/>
            <a:chOff x="15727088" y="312228"/>
            <a:chExt cx="2310260" cy="960120"/>
          </a:xfrm>
        </p:grpSpPr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E63F3BA2-76E8-8531-1D89-542808D77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727088" y="355870"/>
              <a:ext cx="1126443" cy="872836"/>
            </a:xfrm>
            <a:prstGeom prst="rect">
              <a:avLst/>
            </a:prstGeom>
          </p:spPr>
        </p:pic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3F59AD7E-4A27-109D-1D09-803BE4C76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205799" y="312228"/>
              <a:ext cx="831549" cy="960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164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23A7-A4AE-511D-E0CE-52FA5957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">
            <a:extLst>
              <a:ext uri="{FF2B5EF4-FFF2-40B4-BE49-F238E27FC236}">
                <a16:creationId xmlns:a16="http://schemas.microsoft.com/office/drawing/2014/main" id="{A65DCD53-89AE-CE34-7CB5-970E8FAAC3B6}"/>
              </a:ext>
            </a:extLst>
          </p:cNvPr>
          <p:cNvGrpSpPr/>
          <p:nvPr/>
        </p:nvGrpSpPr>
        <p:grpSpPr>
          <a:xfrm>
            <a:off x="18719163" y="-1034750"/>
            <a:ext cx="6159575" cy="3553962"/>
            <a:chOff x="0" y="51032"/>
            <a:chExt cx="6159573" cy="3553961"/>
          </a:xfrm>
        </p:grpSpPr>
        <p:grpSp>
          <p:nvGrpSpPr>
            <p:cNvPr id="19" name="Group">
              <a:extLst>
                <a:ext uri="{FF2B5EF4-FFF2-40B4-BE49-F238E27FC236}">
                  <a16:creationId xmlns:a16="http://schemas.microsoft.com/office/drawing/2014/main" id="{B6994C71-4A9F-45C5-4E89-B9C279E55A82}"/>
                </a:ext>
              </a:extLst>
            </p:cNvPr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36" name="Triangle">
                <a:extLst>
                  <a:ext uri="{FF2B5EF4-FFF2-40B4-BE49-F238E27FC236}">
                    <a16:creationId xmlns:a16="http://schemas.microsoft.com/office/drawing/2014/main" id="{886717A5-11A2-6DAA-AFD2-803202320147}"/>
                  </a:ext>
                </a:extLst>
              </p:cNvPr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9" name="Circle">
                <a:extLst>
                  <a:ext uri="{FF2B5EF4-FFF2-40B4-BE49-F238E27FC236}">
                    <a16:creationId xmlns:a16="http://schemas.microsoft.com/office/drawing/2014/main" id="{F8E45A91-EFC4-C724-D358-0271EE193172}"/>
                  </a:ext>
                </a:extLst>
              </p:cNvPr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" name="Circle">
                <a:extLst>
                  <a:ext uri="{FF2B5EF4-FFF2-40B4-BE49-F238E27FC236}">
                    <a16:creationId xmlns:a16="http://schemas.microsoft.com/office/drawing/2014/main" id="{C4DF3662-544E-652C-3715-4EA6691BDC8E}"/>
                  </a:ext>
                </a:extLst>
              </p:cNvPr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59" name="Triangle">
                <a:extLst>
                  <a:ext uri="{FF2B5EF4-FFF2-40B4-BE49-F238E27FC236}">
                    <a16:creationId xmlns:a16="http://schemas.microsoft.com/office/drawing/2014/main" id="{BD3BA41E-B026-2642-DD54-AC824C7C8285}"/>
                  </a:ext>
                </a:extLst>
              </p:cNvPr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1" name="Triangle">
                <a:extLst>
                  <a:ext uri="{FF2B5EF4-FFF2-40B4-BE49-F238E27FC236}">
                    <a16:creationId xmlns:a16="http://schemas.microsoft.com/office/drawing/2014/main" id="{52B32F9D-6ECF-7B1F-4966-62D72245C543}"/>
                  </a:ext>
                </a:extLst>
              </p:cNvPr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2" name="Circle">
                <a:extLst>
                  <a:ext uri="{FF2B5EF4-FFF2-40B4-BE49-F238E27FC236}">
                    <a16:creationId xmlns:a16="http://schemas.microsoft.com/office/drawing/2014/main" id="{CCC7645D-75FC-8051-3B06-9CF6B89A28DD}"/>
                  </a:ext>
                </a:extLst>
              </p:cNvPr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3" name="Circle">
                <a:extLst>
                  <a:ext uri="{FF2B5EF4-FFF2-40B4-BE49-F238E27FC236}">
                    <a16:creationId xmlns:a16="http://schemas.microsoft.com/office/drawing/2014/main" id="{BCE73765-9ED5-1ACF-B227-4950D908D280}"/>
                  </a:ext>
                </a:extLst>
              </p:cNvPr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4" name="Triangle">
                <a:extLst>
                  <a:ext uri="{FF2B5EF4-FFF2-40B4-BE49-F238E27FC236}">
                    <a16:creationId xmlns:a16="http://schemas.microsoft.com/office/drawing/2014/main" id="{273D8753-23C9-A704-476D-859EFD97362A}"/>
                  </a:ext>
                </a:extLst>
              </p:cNvPr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5" name="Circle">
                <a:extLst>
                  <a:ext uri="{FF2B5EF4-FFF2-40B4-BE49-F238E27FC236}">
                    <a16:creationId xmlns:a16="http://schemas.microsoft.com/office/drawing/2014/main" id="{791DCBB1-4AC4-0400-2ED7-AC71CF09AB91}"/>
                  </a:ext>
                </a:extLst>
              </p:cNvPr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6" name="Triangle">
                <a:extLst>
                  <a:ext uri="{FF2B5EF4-FFF2-40B4-BE49-F238E27FC236}">
                    <a16:creationId xmlns:a16="http://schemas.microsoft.com/office/drawing/2014/main" id="{869275EC-2F81-9CDD-814A-29798BD43A07}"/>
                  </a:ext>
                </a:extLst>
              </p:cNvPr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7" name="Circle">
                <a:extLst>
                  <a:ext uri="{FF2B5EF4-FFF2-40B4-BE49-F238E27FC236}">
                    <a16:creationId xmlns:a16="http://schemas.microsoft.com/office/drawing/2014/main" id="{1096A087-33EB-732F-475E-0E17DD4BD529}"/>
                  </a:ext>
                </a:extLst>
              </p:cNvPr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8" name="Triangle">
                <a:extLst>
                  <a:ext uri="{FF2B5EF4-FFF2-40B4-BE49-F238E27FC236}">
                    <a16:creationId xmlns:a16="http://schemas.microsoft.com/office/drawing/2014/main" id="{CF2FBC28-7E44-5DF6-59EB-3712C870CB51}"/>
                  </a:ext>
                </a:extLst>
              </p:cNvPr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69" name="Circle">
                <a:extLst>
                  <a:ext uri="{FF2B5EF4-FFF2-40B4-BE49-F238E27FC236}">
                    <a16:creationId xmlns:a16="http://schemas.microsoft.com/office/drawing/2014/main" id="{D7110BC3-1671-6434-CD8B-12F34899E346}"/>
                  </a:ext>
                </a:extLst>
              </p:cNvPr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75" name="Triangle">
                <a:extLst>
                  <a:ext uri="{FF2B5EF4-FFF2-40B4-BE49-F238E27FC236}">
                    <a16:creationId xmlns:a16="http://schemas.microsoft.com/office/drawing/2014/main" id="{92D77CB9-BCA7-3E7E-E1B9-43938896703F}"/>
                  </a:ext>
                </a:extLst>
              </p:cNvPr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78" name="Circle">
                <a:extLst>
                  <a:ext uri="{FF2B5EF4-FFF2-40B4-BE49-F238E27FC236}">
                    <a16:creationId xmlns:a16="http://schemas.microsoft.com/office/drawing/2014/main" id="{D563106D-7011-816A-36DA-53466DBA740D}"/>
                  </a:ext>
                </a:extLst>
              </p:cNvPr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2D5AAF55-51E2-FB70-347D-03D55942569E}"/>
                </a:ext>
              </a:extLst>
            </p:cNvPr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33" name="Image" descr="Image">
              <a:extLst>
                <a:ext uri="{FF2B5EF4-FFF2-40B4-BE49-F238E27FC236}">
                  <a16:creationId xmlns:a16="http://schemas.microsoft.com/office/drawing/2014/main" id="{B7DCDF23-044E-E891-8F3A-761D3C80C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F3AC7C3-9AC1-48DC-C56E-2D275DDC123F}"/>
              </a:ext>
            </a:extLst>
          </p:cNvPr>
          <p:cNvSpPr/>
          <p:nvPr/>
        </p:nvSpPr>
        <p:spPr>
          <a:xfrm>
            <a:off x="449020" y="424518"/>
            <a:ext cx="2342563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r>
              <a:rPr lang="en-US" sz="42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vivainsights</a:t>
            </a:r>
            <a:r>
              <a:rPr lang="en-US" sz="4200">
                <a:solidFill>
                  <a:schemeClr val="tx1">
                    <a:lumMod val="75000"/>
                    <a:lumOff val="25000"/>
                  </a:schemeClr>
                </a:solidFill>
              </a:rPr>
              <a:t> R library: </a:t>
            </a:r>
            <a:r>
              <a:rPr 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CHEAT SHEET (2/2)</a:t>
            </a:r>
            <a:endParaRPr lang="en-US" sz="420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BAACA58D-8952-9A5A-39FD-301935F50175}"/>
              </a:ext>
            </a:extLst>
          </p:cNvPr>
          <p:cNvGrpSpPr/>
          <p:nvPr/>
        </p:nvGrpSpPr>
        <p:grpSpPr>
          <a:xfrm>
            <a:off x="21564394" y="267623"/>
            <a:ext cx="2310260" cy="960120"/>
            <a:chOff x="15727088" y="312228"/>
            <a:chExt cx="2310260" cy="960120"/>
          </a:xfrm>
        </p:grpSpPr>
        <p:pic>
          <p:nvPicPr>
            <p:cNvPr id="488" name="Picture 487">
              <a:extLst>
                <a:ext uri="{FF2B5EF4-FFF2-40B4-BE49-F238E27FC236}">
                  <a16:creationId xmlns:a16="http://schemas.microsoft.com/office/drawing/2014/main" id="{87C043D9-E758-7EDC-1D00-9535BB3FB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27088" y="355870"/>
              <a:ext cx="1126443" cy="872836"/>
            </a:xfrm>
            <a:prstGeom prst="rect">
              <a:avLst/>
            </a:prstGeom>
          </p:spPr>
        </p:pic>
        <p:pic>
          <p:nvPicPr>
            <p:cNvPr id="496" name="Picture 495">
              <a:extLst>
                <a:ext uri="{FF2B5EF4-FFF2-40B4-BE49-F238E27FC236}">
                  <a16:creationId xmlns:a16="http://schemas.microsoft.com/office/drawing/2014/main" id="{1359037A-7649-AC2D-7113-868171AC4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05799" y="312228"/>
              <a:ext cx="831549" cy="960120"/>
            </a:xfrm>
            <a:prstGeom prst="rect">
              <a:avLst/>
            </a:prstGeom>
          </p:spPr>
        </p:pic>
      </p:grp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A82EE4CC-9AA7-22E7-05FF-5546CFCD2171}"/>
              </a:ext>
            </a:extLst>
          </p:cNvPr>
          <p:cNvCxnSpPr>
            <a:cxnSpLocks/>
          </p:cNvCxnSpPr>
          <p:nvPr/>
        </p:nvCxnSpPr>
        <p:spPr>
          <a:xfrm>
            <a:off x="449020" y="13115953"/>
            <a:ext cx="2342563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Rectangle 502">
            <a:extLst>
              <a:ext uri="{FF2B5EF4-FFF2-40B4-BE49-F238E27FC236}">
                <a16:creationId xmlns:a16="http://schemas.microsoft.com/office/drawing/2014/main" id="{64F5851B-F99D-137C-4B41-B1068F1A95EC}"/>
              </a:ext>
            </a:extLst>
          </p:cNvPr>
          <p:cNvSpPr>
            <a:spLocks/>
          </p:cNvSpPr>
          <p:nvPr/>
        </p:nvSpPr>
        <p:spPr>
          <a:xfrm>
            <a:off x="449020" y="2052638"/>
            <a:ext cx="539573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  <a:latin typeface="+mj-lt"/>
              </a:rPr>
              <a:t>Flexible analysis </a:t>
            </a:r>
            <a:r>
              <a:rPr lang="en-US" sz="1300" dirty="0">
                <a:solidFill>
                  <a:schemeClr val="tx1"/>
                </a:solidFill>
              </a:rPr>
              <a:t>functions are versatile, allowing you to pass any metric as a string parameter, e.g., </a:t>
            </a:r>
            <a:r>
              <a:rPr lang="en-US" sz="1300" dirty="0">
                <a:solidFill>
                  <a:schemeClr val="tx1"/>
                </a:solidFill>
                <a:latin typeface="+mj-lt"/>
              </a:rPr>
              <a:t>metric = '</a:t>
            </a:r>
            <a:r>
              <a:rPr lang="en-US" sz="1300" dirty="0" err="1">
                <a:solidFill>
                  <a:schemeClr val="tx1"/>
                </a:solidFill>
                <a:latin typeface="+mj-lt"/>
              </a:rPr>
              <a:t>Email_hours</a:t>
            </a:r>
            <a:r>
              <a:rPr lang="en-US" sz="1300" dirty="0">
                <a:solidFill>
                  <a:schemeClr val="tx1"/>
                </a:solidFill>
                <a:latin typeface="+mj-lt"/>
              </a:rPr>
              <a:t>'</a:t>
            </a:r>
          </a:p>
        </p:txBody>
      </p: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FF42DA02-0B3D-6BB5-F572-46910784919A}"/>
              </a:ext>
            </a:extLst>
          </p:cNvPr>
          <p:cNvGrpSpPr>
            <a:grpSpLocks/>
          </p:cNvGrpSpPr>
          <p:nvPr/>
        </p:nvGrpSpPr>
        <p:grpSpPr>
          <a:xfrm>
            <a:off x="449020" y="2654616"/>
            <a:ext cx="5395736" cy="1051570"/>
            <a:chOff x="449020" y="2733238"/>
            <a:chExt cx="5395736" cy="1051570"/>
          </a:xfrm>
        </p:grpSpPr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D2E4C7C4-5154-36F0-5DF6-E07DF5646F27}"/>
                </a:ext>
              </a:extLst>
            </p:cNvPr>
            <p:cNvSpPr>
              <a:spLocks/>
            </p:cNvSpPr>
            <p:nvPr/>
          </p:nvSpPr>
          <p:spPr>
            <a:xfrm>
              <a:off x="449020" y="2733238"/>
              <a:ext cx="5395736" cy="1051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create_bar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(), </a:t>
              </a: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create_bar_asis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>
                  <a:solidFill>
                    <a:schemeClr val="tx1"/>
                  </a:solidFill>
                </a:rPr>
                <a:t>metric, </a:t>
              </a: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bar plot showing the average of a selected metric by default. This function creates a bar chart directly from the aggregated / summarized data</a:t>
              </a: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C3FFE697-809C-F470-6B42-F3FA471D4D4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424579" y="2757679"/>
              <a:ext cx="320863" cy="271981"/>
            </a:xfrm>
            <a:custGeom>
              <a:avLst/>
              <a:gdLst>
                <a:gd name="connsiteX0" fmla="*/ 125720 w 857250"/>
                <a:gd name="connsiteY0" fmla="*/ 606884 h 726651"/>
                <a:gd name="connsiteX1" fmla="*/ 0 w 857250"/>
                <a:gd name="connsiteY1" fmla="*/ 606884 h 726651"/>
                <a:gd name="connsiteX2" fmla="*/ 0 w 857250"/>
                <a:gd name="connsiteY2" fmla="*/ 726614 h 726651"/>
                <a:gd name="connsiteX3" fmla="*/ 125720 w 857250"/>
                <a:gd name="connsiteY3" fmla="*/ 726614 h 726651"/>
                <a:gd name="connsiteX4" fmla="*/ 731530 w 857250"/>
                <a:gd name="connsiteY4" fmla="*/ 118690 h 726651"/>
                <a:gd name="connsiteX5" fmla="*/ 731530 w 857250"/>
                <a:gd name="connsiteY5" fmla="*/ 726652 h 726651"/>
                <a:gd name="connsiteX6" fmla="*/ 857250 w 857250"/>
                <a:gd name="connsiteY6" fmla="*/ 726615 h 726651"/>
                <a:gd name="connsiteX7" fmla="*/ 857250 w 857250"/>
                <a:gd name="connsiteY7" fmla="*/ 0 h 726651"/>
                <a:gd name="connsiteX8" fmla="*/ 731530 w 857250"/>
                <a:gd name="connsiteY8" fmla="*/ 0 h 726651"/>
                <a:gd name="connsiteX9" fmla="*/ 548659 w 857250"/>
                <a:gd name="connsiteY9" fmla="*/ 374713 h 726651"/>
                <a:gd name="connsiteX10" fmla="*/ 548659 w 857250"/>
                <a:gd name="connsiteY10" fmla="*/ 726652 h 726651"/>
                <a:gd name="connsiteX11" fmla="*/ 674380 w 857250"/>
                <a:gd name="connsiteY11" fmla="*/ 726652 h 726651"/>
                <a:gd name="connsiteX12" fmla="*/ 674380 w 857250"/>
                <a:gd name="connsiteY12" fmla="*/ 175840 h 726651"/>
                <a:gd name="connsiteX13" fmla="*/ 548659 w 857250"/>
                <a:gd name="connsiteY13" fmla="*/ 175840 h 726651"/>
                <a:gd name="connsiteX14" fmla="*/ 491509 w 857250"/>
                <a:gd name="connsiteY14" fmla="*/ 726652 h 726651"/>
                <a:gd name="connsiteX15" fmla="*/ 491509 w 857250"/>
                <a:gd name="connsiteY15" fmla="*/ 431863 h 726651"/>
                <a:gd name="connsiteX16" fmla="*/ 365750 w 857250"/>
                <a:gd name="connsiteY16" fmla="*/ 431863 h 726651"/>
                <a:gd name="connsiteX17" fmla="*/ 365750 w 857250"/>
                <a:gd name="connsiteY17" fmla="*/ 726652 h 726651"/>
                <a:gd name="connsiteX18" fmla="*/ 182880 w 857250"/>
                <a:gd name="connsiteY18" fmla="*/ 549734 h 726651"/>
                <a:gd name="connsiteX19" fmla="*/ 182880 w 857250"/>
                <a:gd name="connsiteY19" fmla="*/ 726614 h 726651"/>
                <a:gd name="connsiteX20" fmla="*/ 308600 w 857250"/>
                <a:gd name="connsiteY20" fmla="*/ 726614 h 726651"/>
                <a:gd name="connsiteX21" fmla="*/ 308600 w 857250"/>
                <a:gd name="connsiteY21" fmla="*/ 288168 h 726651"/>
                <a:gd name="connsiteX22" fmla="*/ 182880 w 857250"/>
                <a:gd name="connsiteY22" fmla="*/ 288168 h 72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0" h="726651">
                  <a:moveTo>
                    <a:pt x="125720" y="606884"/>
                  </a:moveTo>
                  <a:lnTo>
                    <a:pt x="0" y="606884"/>
                  </a:lnTo>
                  <a:lnTo>
                    <a:pt x="0" y="726614"/>
                  </a:lnTo>
                  <a:lnTo>
                    <a:pt x="125720" y="726614"/>
                  </a:lnTo>
                  <a:close/>
                  <a:moveTo>
                    <a:pt x="731530" y="118690"/>
                  </a:moveTo>
                  <a:lnTo>
                    <a:pt x="731530" y="726652"/>
                  </a:lnTo>
                  <a:lnTo>
                    <a:pt x="857250" y="726615"/>
                  </a:lnTo>
                  <a:lnTo>
                    <a:pt x="857250" y="0"/>
                  </a:lnTo>
                  <a:lnTo>
                    <a:pt x="731530" y="0"/>
                  </a:lnTo>
                  <a:close/>
                  <a:moveTo>
                    <a:pt x="548659" y="374713"/>
                  </a:moveTo>
                  <a:lnTo>
                    <a:pt x="548659" y="726652"/>
                  </a:lnTo>
                  <a:lnTo>
                    <a:pt x="674380" y="726652"/>
                  </a:lnTo>
                  <a:lnTo>
                    <a:pt x="674380" y="175840"/>
                  </a:lnTo>
                  <a:lnTo>
                    <a:pt x="548659" y="175840"/>
                  </a:lnTo>
                  <a:close/>
                  <a:moveTo>
                    <a:pt x="491509" y="726652"/>
                  </a:moveTo>
                  <a:lnTo>
                    <a:pt x="491509" y="431863"/>
                  </a:lnTo>
                  <a:lnTo>
                    <a:pt x="365750" y="431863"/>
                  </a:lnTo>
                  <a:lnTo>
                    <a:pt x="365750" y="726652"/>
                  </a:lnTo>
                  <a:close/>
                  <a:moveTo>
                    <a:pt x="182880" y="549734"/>
                  </a:moveTo>
                  <a:lnTo>
                    <a:pt x="182880" y="726614"/>
                  </a:lnTo>
                  <a:lnTo>
                    <a:pt x="308600" y="726614"/>
                  </a:lnTo>
                  <a:lnTo>
                    <a:pt x="308600" y="288168"/>
                  </a:lnTo>
                  <a:lnTo>
                    <a:pt x="182880" y="288168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9C6A5B7C-C040-D219-9799-CA20E4BDE4F0}"/>
              </a:ext>
            </a:extLst>
          </p:cNvPr>
          <p:cNvGrpSpPr>
            <a:grpSpLocks/>
          </p:cNvGrpSpPr>
          <p:nvPr/>
        </p:nvGrpSpPr>
        <p:grpSpPr>
          <a:xfrm>
            <a:off x="449020" y="4014648"/>
            <a:ext cx="5395736" cy="851515"/>
            <a:chOff x="449020" y="4199114"/>
            <a:chExt cx="5395736" cy="851515"/>
          </a:xfrm>
        </p:grpSpPr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CB5C84E2-51D4-FE73-CDBE-C8D69DD40BED}"/>
                </a:ext>
              </a:extLst>
            </p:cNvPr>
            <p:cNvSpPr>
              <a:spLocks/>
            </p:cNvSpPr>
            <p:nvPr/>
          </p:nvSpPr>
          <p:spPr>
            <a:xfrm>
              <a:off x="449020" y="4199114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create_fizz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</a:t>
              </a: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r>
                <a:rPr lang="en-US" sz="1300" i="1" dirty="0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Analyzes a selected metric and returns a 'fizzy' scatter plot by default</a:t>
              </a: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5DD617B8-DC61-078A-19AF-17B2D9025F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4199114"/>
              <a:ext cx="320863" cy="320601"/>
            </a:xfrm>
            <a:custGeom>
              <a:avLst/>
              <a:gdLst>
                <a:gd name="connsiteX0" fmla="*/ 189099 w 857953"/>
                <a:gd name="connsiteY0" fmla="*/ 147638 h 857250"/>
                <a:gd name="connsiteX1" fmla="*/ 189114 w 857953"/>
                <a:gd name="connsiteY1" fmla="*/ 170321 h 857250"/>
                <a:gd name="connsiteX2" fmla="*/ 189099 w 857953"/>
                <a:gd name="connsiteY2" fmla="*/ 170336 h 857250"/>
                <a:gd name="connsiteX3" fmla="*/ 189099 w 857953"/>
                <a:gd name="connsiteY3" fmla="*/ 170336 h 857250"/>
                <a:gd name="connsiteX4" fmla="*/ 168011 w 857953"/>
                <a:gd name="connsiteY4" fmla="*/ 171717 h 857250"/>
                <a:gd name="connsiteX5" fmla="*/ 166420 w 857953"/>
                <a:gd name="connsiteY5" fmla="*/ 170364 h 857250"/>
                <a:gd name="connsiteX6" fmla="*/ 166406 w 857953"/>
                <a:gd name="connsiteY6" fmla="*/ 147680 h 857250"/>
                <a:gd name="connsiteX7" fmla="*/ 166420 w 857953"/>
                <a:gd name="connsiteY7" fmla="*/ 147666 h 857250"/>
                <a:gd name="connsiteX8" fmla="*/ 166420 w 857953"/>
                <a:gd name="connsiteY8" fmla="*/ 147666 h 857250"/>
                <a:gd name="connsiteX9" fmla="*/ 166420 w 857953"/>
                <a:gd name="connsiteY9" fmla="*/ 147666 h 857250"/>
                <a:gd name="connsiteX10" fmla="*/ 187432 w 857953"/>
                <a:gd name="connsiteY10" fmla="*/ 146285 h 857250"/>
                <a:gd name="connsiteX11" fmla="*/ 189061 w 857953"/>
                <a:gd name="connsiteY11" fmla="*/ 147666 h 857250"/>
                <a:gd name="connsiteX12" fmla="*/ 293265 w 857953"/>
                <a:gd name="connsiteY12" fmla="*/ 208912 h 857250"/>
                <a:gd name="connsiteX13" fmla="*/ 294655 w 857953"/>
                <a:gd name="connsiteY13" fmla="*/ 229972 h 857250"/>
                <a:gd name="connsiteX14" fmla="*/ 293265 w 857953"/>
                <a:gd name="connsiteY14" fmla="*/ 231610 h 857250"/>
                <a:gd name="connsiteX15" fmla="*/ 270594 w 857953"/>
                <a:gd name="connsiteY15" fmla="*/ 231677 h 857250"/>
                <a:gd name="connsiteX16" fmla="*/ 269214 w 857953"/>
                <a:gd name="connsiteY16" fmla="*/ 210503 h 857250"/>
                <a:gd name="connsiteX17" fmla="*/ 270567 w 857953"/>
                <a:gd name="connsiteY17" fmla="*/ 208921 h 857250"/>
                <a:gd name="connsiteX18" fmla="*/ 293250 w 857953"/>
                <a:gd name="connsiteY18" fmla="*/ 208907 h 857250"/>
                <a:gd name="connsiteX19" fmla="*/ 293265 w 857953"/>
                <a:gd name="connsiteY19" fmla="*/ 208921 h 857250"/>
                <a:gd name="connsiteX20" fmla="*/ 248316 w 857953"/>
                <a:gd name="connsiteY20" fmla="*/ 327431 h 857250"/>
                <a:gd name="connsiteX21" fmla="*/ 248311 w 857953"/>
                <a:gd name="connsiteY21" fmla="*/ 350115 h 857250"/>
                <a:gd name="connsiteX22" fmla="*/ 225628 w 857953"/>
                <a:gd name="connsiteY22" fmla="*/ 350111 h 857250"/>
                <a:gd name="connsiteX23" fmla="*/ 220932 w 857953"/>
                <a:gd name="connsiteY23" fmla="*/ 338757 h 857250"/>
                <a:gd name="connsiteX24" fmla="*/ 224256 w 857953"/>
                <a:gd name="connsiteY24" fmla="*/ 329041 h 857250"/>
                <a:gd name="connsiteX25" fmla="*/ 225637 w 857953"/>
                <a:gd name="connsiteY25" fmla="*/ 327403 h 857250"/>
                <a:gd name="connsiteX26" fmla="*/ 248335 w 857953"/>
                <a:gd name="connsiteY26" fmla="*/ 327403 h 857250"/>
                <a:gd name="connsiteX27" fmla="*/ 248335 w 857953"/>
                <a:gd name="connsiteY27" fmla="*/ 327403 h 857250"/>
                <a:gd name="connsiteX28" fmla="*/ 342261 w 857953"/>
                <a:gd name="connsiteY28" fmla="*/ 327431 h 857250"/>
                <a:gd name="connsiteX29" fmla="*/ 342105 w 857953"/>
                <a:gd name="connsiteY29" fmla="*/ 350048 h 857250"/>
                <a:gd name="connsiteX30" fmla="*/ 319489 w 857953"/>
                <a:gd name="connsiteY30" fmla="*/ 349891 h 857250"/>
                <a:gd name="connsiteX31" fmla="*/ 319645 w 857953"/>
                <a:gd name="connsiteY31" fmla="*/ 327275 h 857250"/>
                <a:gd name="connsiteX32" fmla="*/ 330936 w 857953"/>
                <a:gd name="connsiteY32" fmla="*/ 322669 h 857250"/>
                <a:gd name="connsiteX33" fmla="*/ 342261 w 857953"/>
                <a:gd name="connsiteY33" fmla="*/ 327431 h 857250"/>
                <a:gd name="connsiteX34" fmla="*/ 342261 w 857953"/>
                <a:gd name="connsiteY34" fmla="*/ 327431 h 857250"/>
                <a:gd name="connsiteX35" fmla="*/ 372922 w 857953"/>
                <a:gd name="connsiteY35" fmla="*/ 245707 h 857250"/>
                <a:gd name="connsiteX36" fmla="*/ 372937 w 857953"/>
                <a:gd name="connsiteY36" fmla="*/ 268418 h 857250"/>
                <a:gd name="connsiteX37" fmla="*/ 350227 w 857953"/>
                <a:gd name="connsiteY37" fmla="*/ 268434 h 857250"/>
                <a:gd name="connsiteX38" fmla="*/ 350211 w 857953"/>
                <a:gd name="connsiteY38" fmla="*/ 245722 h 857250"/>
                <a:gd name="connsiteX39" fmla="*/ 361578 w 857953"/>
                <a:gd name="connsiteY39" fmla="*/ 241011 h 857250"/>
                <a:gd name="connsiteX40" fmla="*/ 372922 w 857953"/>
                <a:gd name="connsiteY40" fmla="*/ 245707 h 857250"/>
                <a:gd name="connsiteX41" fmla="*/ 76771 w 857953"/>
                <a:gd name="connsiteY41" fmla="*/ 754275 h 857250"/>
                <a:gd name="connsiteX42" fmla="*/ 76780 w 857953"/>
                <a:gd name="connsiteY42" fmla="*/ 776973 h 857250"/>
                <a:gd name="connsiteX43" fmla="*/ 76771 w 857953"/>
                <a:gd name="connsiteY43" fmla="*/ 776983 h 857250"/>
                <a:gd name="connsiteX44" fmla="*/ 76771 w 857953"/>
                <a:gd name="connsiteY44" fmla="*/ 776983 h 857250"/>
                <a:gd name="connsiteX45" fmla="*/ 54060 w 857953"/>
                <a:gd name="connsiteY45" fmla="*/ 777042 h 857250"/>
                <a:gd name="connsiteX46" fmla="*/ 54001 w 857953"/>
                <a:gd name="connsiteY46" fmla="*/ 754331 h 857250"/>
                <a:gd name="connsiteX47" fmla="*/ 75171 w 857953"/>
                <a:gd name="connsiteY47" fmla="*/ 752923 h 857250"/>
                <a:gd name="connsiteX48" fmla="*/ 76800 w 857953"/>
                <a:gd name="connsiteY48" fmla="*/ 754304 h 857250"/>
                <a:gd name="connsiteX49" fmla="*/ 111499 w 857953"/>
                <a:gd name="connsiteY49" fmla="*/ 684838 h 857250"/>
                <a:gd name="connsiteX50" fmla="*/ 111476 w 857953"/>
                <a:gd name="connsiteY50" fmla="*/ 707549 h 857250"/>
                <a:gd name="connsiteX51" fmla="*/ 100145 w 857953"/>
                <a:gd name="connsiteY51" fmla="*/ 712241 h 857250"/>
                <a:gd name="connsiteX52" fmla="*/ 90382 w 857953"/>
                <a:gd name="connsiteY52" fmla="*/ 708889 h 857250"/>
                <a:gd name="connsiteX53" fmla="*/ 88791 w 857953"/>
                <a:gd name="connsiteY53" fmla="*/ 707536 h 857250"/>
                <a:gd name="connsiteX54" fmla="*/ 88814 w 857953"/>
                <a:gd name="connsiteY54" fmla="*/ 684825 h 857250"/>
                <a:gd name="connsiteX55" fmla="*/ 100145 w 857953"/>
                <a:gd name="connsiteY55" fmla="*/ 680133 h 857250"/>
                <a:gd name="connsiteX56" fmla="*/ 109908 w 857953"/>
                <a:gd name="connsiteY56" fmla="*/ 683485 h 857250"/>
                <a:gd name="connsiteX57" fmla="*/ 111499 w 857953"/>
                <a:gd name="connsiteY57" fmla="*/ 684838 h 857250"/>
                <a:gd name="connsiteX58" fmla="*/ 111499 w 857953"/>
                <a:gd name="connsiteY58" fmla="*/ 592931 h 857250"/>
                <a:gd name="connsiteX59" fmla="*/ 111634 w 857953"/>
                <a:gd name="connsiteY59" fmla="*/ 615602 h 857250"/>
                <a:gd name="connsiteX60" fmla="*/ 90382 w 857953"/>
                <a:gd name="connsiteY60" fmla="*/ 616982 h 857250"/>
                <a:gd name="connsiteX61" fmla="*/ 88791 w 857953"/>
                <a:gd name="connsiteY61" fmla="*/ 615629 h 857250"/>
                <a:gd name="connsiteX62" fmla="*/ 88796 w 857953"/>
                <a:gd name="connsiteY62" fmla="*/ 592926 h 857250"/>
                <a:gd name="connsiteX63" fmla="*/ 111499 w 857953"/>
                <a:gd name="connsiteY63" fmla="*/ 592931 h 857250"/>
                <a:gd name="connsiteX64" fmla="*/ 150294 w 857953"/>
                <a:gd name="connsiteY64" fmla="*/ 488766 h 857250"/>
                <a:gd name="connsiteX65" fmla="*/ 150309 w 857953"/>
                <a:gd name="connsiteY65" fmla="*/ 511478 h 857250"/>
                <a:gd name="connsiteX66" fmla="*/ 127596 w 857953"/>
                <a:gd name="connsiteY66" fmla="*/ 511493 h 857250"/>
                <a:gd name="connsiteX67" fmla="*/ 127596 w 857953"/>
                <a:gd name="connsiteY67" fmla="*/ 511493 h 857250"/>
                <a:gd name="connsiteX68" fmla="*/ 127596 w 857953"/>
                <a:gd name="connsiteY68" fmla="*/ 511493 h 857250"/>
                <a:gd name="connsiteX69" fmla="*/ 127534 w 857953"/>
                <a:gd name="connsiteY69" fmla="*/ 488849 h 857250"/>
                <a:gd name="connsiteX70" fmla="*/ 148666 w 857953"/>
                <a:gd name="connsiteY70" fmla="*/ 487461 h 857250"/>
                <a:gd name="connsiteX71" fmla="*/ 150294 w 857953"/>
                <a:gd name="connsiteY71" fmla="*/ 488842 h 857250"/>
                <a:gd name="connsiteX72" fmla="*/ 225866 w 857953"/>
                <a:gd name="connsiteY72" fmla="*/ 566376 h 857250"/>
                <a:gd name="connsiteX73" fmla="*/ 227247 w 857953"/>
                <a:gd name="connsiteY73" fmla="*/ 587445 h 857250"/>
                <a:gd name="connsiteX74" fmla="*/ 225866 w 857953"/>
                <a:gd name="connsiteY74" fmla="*/ 589074 h 857250"/>
                <a:gd name="connsiteX75" fmla="*/ 203195 w 857953"/>
                <a:gd name="connsiteY75" fmla="*/ 589209 h 857250"/>
                <a:gd name="connsiteX76" fmla="*/ 201815 w 857953"/>
                <a:gd name="connsiteY76" fmla="*/ 567957 h 857250"/>
                <a:gd name="connsiteX77" fmla="*/ 203168 w 857953"/>
                <a:gd name="connsiteY77" fmla="*/ 566376 h 857250"/>
                <a:gd name="connsiteX78" fmla="*/ 225851 w 857953"/>
                <a:gd name="connsiteY78" fmla="*/ 566361 h 857250"/>
                <a:gd name="connsiteX79" fmla="*/ 225866 w 857953"/>
                <a:gd name="connsiteY79" fmla="*/ 566376 h 857250"/>
                <a:gd name="connsiteX80" fmla="*/ 366769 w 857953"/>
                <a:gd name="connsiteY80" fmla="*/ 535762 h 857250"/>
                <a:gd name="connsiteX81" fmla="*/ 366998 w 857953"/>
                <a:gd name="connsiteY81" fmla="*/ 558432 h 857250"/>
                <a:gd name="connsiteX82" fmla="*/ 344328 w 857953"/>
                <a:gd name="connsiteY82" fmla="*/ 558660 h 857250"/>
                <a:gd name="connsiteX83" fmla="*/ 344100 w 857953"/>
                <a:gd name="connsiteY83" fmla="*/ 558432 h 857250"/>
                <a:gd name="connsiteX84" fmla="*/ 344100 w 857953"/>
                <a:gd name="connsiteY84" fmla="*/ 558432 h 857250"/>
                <a:gd name="connsiteX85" fmla="*/ 344100 w 857953"/>
                <a:gd name="connsiteY85" fmla="*/ 558432 h 857250"/>
                <a:gd name="connsiteX86" fmla="*/ 344123 w 857953"/>
                <a:gd name="connsiteY86" fmla="*/ 535757 h 857250"/>
                <a:gd name="connsiteX87" fmla="*/ 366798 w 857953"/>
                <a:gd name="connsiteY87" fmla="*/ 535781 h 857250"/>
                <a:gd name="connsiteX88" fmla="*/ 366798 w 857953"/>
                <a:gd name="connsiteY88" fmla="*/ 535781 h 857250"/>
                <a:gd name="connsiteX89" fmla="*/ 297332 w 857953"/>
                <a:gd name="connsiteY89" fmla="*/ 519427 h 857250"/>
                <a:gd name="connsiteX90" fmla="*/ 298713 w 857953"/>
                <a:gd name="connsiteY90" fmla="*/ 540515 h 857250"/>
                <a:gd name="connsiteX91" fmla="*/ 297351 w 857953"/>
                <a:gd name="connsiteY91" fmla="*/ 542096 h 857250"/>
                <a:gd name="connsiteX92" fmla="*/ 274686 w 857953"/>
                <a:gd name="connsiteY92" fmla="*/ 542629 h 857250"/>
                <a:gd name="connsiteX93" fmla="*/ 274155 w 857953"/>
                <a:gd name="connsiteY93" fmla="*/ 519964 h 857250"/>
                <a:gd name="connsiteX94" fmla="*/ 274672 w 857953"/>
                <a:gd name="connsiteY94" fmla="*/ 519446 h 857250"/>
                <a:gd name="connsiteX95" fmla="*/ 274672 w 857953"/>
                <a:gd name="connsiteY95" fmla="*/ 519446 h 857250"/>
                <a:gd name="connsiteX96" fmla="*/ 297275 w 857953"/>
                <a:gd name="connsiteY96" fmla="*/ 519398 h 857250"/>
                <a:gd name="connsiteX97" fmla="*/ 297322 w 857953"/>
                <a:gd name="connsiteY97" fmla="*/ 519446 h 857250"/>
                <a:gd name="connsiteX98" fmla="*/ 297322 w 857953"/>
                <a:gd name="connsiteY98" fmla="*/ 519446 h 857250"/>
                <a:gd name="connsiteX99" fmla="*/ 505663 w 857953"/>
                <a:gd name="connsiteY99" fmla="*/ 490852 h 857250"/>
                <a:gd name="connsiteX100" fmla="*/ 505784 w 857953"/>
                <a:gd name="connsiteY100" fmla="*/ 513496 h 857250"/>
                <a:gd name="connsiteX101" fmla="*/ 484622 w 857953"/>
                <a:gd name="connsiteY101" fmla="*/ 514912 h 857250"/>
                <a:gd name="connsiteX102" fmla="*/ 482984 w 857953"/>
                <a:gd name="connsiteY102" fmla="*/ 513521 h 857250"/>
                <a:gd name="connsiteX103" fmla="*/ 482936 w 857953"/>
                <a:gd name="connsiteY103" fmla="*/ 490919 h 857250"/>
                <a:gd name="connsiteX104" fmla="*/ 482984 w 857953"/>
                <a:gd name="connsiteY104" fmla="*/ 490871 h 857250"/>
                <a:gd name="connsiteX105" fmla="*/ 482984 w 857953"/>
                <a:gd name="connsiteY105" fmla="*/ 490823 h 857250"/>
                <a:gd name="connsiteX106" fmla="*/ 505586 w 857953"/>
                <a:gd name="connsiteY106" fmla="*/ 490776 h 857250"/>
                <a:gd name="connsiteX107" fmla="*/ 505634 w 857953"/>
                <a:gd name="connsiteY107" fmla="*/ 490823 h 857250"/>
                <a:gd name="connsiteX108" fmla="*/ 505634 w 857953"/>
                <a:gd name="connsiteY108" fmla="*/ 490823 h 857250"/>
                <a:gd name="connsiteX109" fmla="*/ 585339 w 857953"/>
                <a:gd name="connsiteY109" fmla="*/ 468354 h 857250"/>
                <a:gd name="connsiteX110" fmla="*/ 585430 w 857953"/>
                <a:gd name="connsiteY110" fmla="*/ 491092 h 857250"/>
                <a:gd name="connsiteX111" fmla="*/ 562692 w 857953"/>
                <a:gd name="connsiteY111" fmla="*/ 491181 h 857250"/>
                <a:gd name="connsiteX112" fmla="*/ 561251 w 857953"/>
                <a:gd name="connsiteY112" fmla="*/ 469992 h 857250"/>
                <a:gd name="connsiteX113" fmla="*/ 562641 w 857953"/>
                <a:gd name="connsiteY113" fmla="*/ 468354 h 857250"/>
                <a:gd name="connsiteX114" fmla="*/ 583749 w 857953"/>
                <a:gd name="connsiteY114" fmla="*/ 467001 h 857250"/>
                <a:gd name="connsiteX115" fmla="*/ 585339 w 857953"/>
                <a:gd name="connsiteY115" fmla="*/ 468354 h 857250"/>
                <a:gd name="connsiteX116" fmla="*/ 701754 w 857953"/>
                <a:gd name="connsiteY116" fmla="*/ 161973 h 857250"/>
                <a:gd name="connsiteX117" fmla="*/ 701768 w 857953"/>
                <a:gd name="connsiteY117" fmla="*/ 184656 h 857250"/>
                <a:gd name="connsiteX118" fmla="*/ 701754 w 857953"/>
                <a:gd name="connsiteY118" fmla="*/ 184671 h 857250"/>
                <a:gd name="connsiteX119" fmla="*/ 701754 w 857953"/>
                <a:gd name="connsiteY119" fmla="*/ 184671 h 857250"/>
                <a:gd name="connsiteX120" fmla="*/ 679057 w 857953"/>
                <a:gd name="connsiteY120" fmla="*/ 184722 h 857250"/>
                <a:gd name="connsiteX121" fmla="*/ 679004 w 857953"/>
                <a:gd name="connsiteY121" fmla="*/ 162025 h 857250"/>
                <a:gd name="connsiteX122" fmla="*/ 700144 w 857953"/>
                <a:gd name="connsiteY122" fmla="*/ 160611 h 857250"/>
                <a:gd name="connsiteX123" fmla="*/ 701773 w 857953"/>
                <a:gd name="connsiteY123" fmla="*/ 162001 h 857250"/>
                <a:gd name="connsiteX124" fmla="*/ 683352 w 857953"/>
                <a:gd name="connsiteY124" fmla="*/ 266157 h 857250"/>
                <a:gd name="connsiteX125" fmla="*/ 683418 w 857953"/>
                <a:gd name="connsiteY125" fmla="*/ 288869 h 857250"/>
                <a:gd name="connsiteX126" fmla="*/ 660708 w 857953"/>
                <a:gd name="connsiteY126" fmla="*/ 288935 h 857250"/>
                <a:gd name="connsiteX127" fmla="*/ 659291 w 857953"/>
                <a:gd name="connsiteY127" fmla="*/ 267767 h 857250"/>
                <a:gd name="connsiteX128" fmla="*/ 660672 w 857953"/>
                <a:gd name="connsiteY128" fmla="*/ 266138 h 857250"/>
                <a:gd name="connsiteX129" fmla="*/ 683370 w 857953"/>
                <a:gd name="connsiteY129" fmla="*/ 266129 h 857250"/>
                <a:gd name="connsiteX130" fmla="*/ 683380 w 857953"/>
                <a:gd name="connsiteY130" fmla="*/ 266138 h 857250"/>
                <a:gd name="connsiteX131" fmla="*/ 683380 w 857953"/>
                <a:gd name="connsiteY131" fmla="*/ 266138 h 857250"/>
                <a:gd name="connsiteX132" fmla="*/ 607809 w 857953"/>
                <a:gd name="connsiteY132" fmla="*/ 223237 h 857250"/>
                <a:gd name="connsiteX133" fmla="*/ 607824 w 857953"/>
                <a:gd name="connsiteY133" fmla="*/ 245949 h 857250"/>
                <a:gd name="connsiteX134" fmla="*/ 585114 w 857953"/>
                <a:gd name="connsiteY134" fmla="*/ 245964 h 857250"/>
                <a:gd name="connsiteX135" fmla="*/ 585097 w 857953"/>
                <a:gd name="connsiteY135" fmla="*/ 223253 h 857250"/>
                <a:gd name="connsiteX136" fmla="*/ 596455 w 857953"/>
                <a:gd name="connsiteY136" fmla="*/ 218542 h 857250"/>
                <a:gd name="connsiteX137" fmla="*/ 607809 w 857953"/>
                <a:gd name="connsiteY137" fmla="*/ 223237 h 857250"/>
                <a:gd name="connsiteX138" fmla="*/ 607809 w 857953"/>
                <a:gd name="connsiteY138" fmla="*/ 313115 h 857250"/>
                <a:gd name="connsiteX139" fmla="*/ 607800 w 857953"/>
                <a:gd name="connsiteY139" fmla="*/ 335813 h 857250"/>
                <a:gd name="connsiteX140" fmla="*/ 585102 w 857953"/>
                <a:gd name="connsiteY140" fmla="*/ 335804 h 857250"/>
                <a:gd name="connsiteX141" fmla="*/ 585112 w 857953"/>
                <a:gd name="connsiteY141" fmla="*/ 313107 h 857250"/>
                <a:gd name="connsiteX142" fmla="*/ 596455 w 857953"/>
                <a:gd name="connsiteY142" fmla="*/ 308410 h 857250"/>
                <a:gd name="connsiteX143" fmla="*/ 607809 w 857953"/>
                <a:gd name="connsiteY143" fmla="*/ 313115 h 857250"/>
                <a:gd name="connsiteX144" fmla="*/ 564946 w 857953"/>
                <a:gd name="connsiteY144" fmla="*/ 368303 h 857250"/>
                <a:gd name="connsiteX145" fmla="*/ 564922 w 857953"/>
                <a:gd name="connsiteY145" fmla="*/ 390977 h 857250"/>
                <a:gd name="connsiteX146" fmla="*/ 542248 w 857953"/>
                <a:gd name="connsiteY146" fmla="*/ 390954 h 857250"/>
                <a:gd name="connsiteX147" fmla="*/ 542248 w 857953"/>
                <a:gd name="connsiteY147" fmla="*/ 390954 h 857250"/>
                <a:gd name="connsiteX148" fmla="*/ 541767 w 857953"/>
                <a:gd name="connsiteY148" fmla="*/ 368275 h 857250"/>
                <a:gd name="connsiteX149" fmla="*/ 564446 w 857953"/>
                <a:gd name="connsiteY149" fmla="*/ 367794 h 857250"/>
                <a:gd name="connsiteX150" fmla="*/ 564927 w 857953"/>
                <a:gd name="connsiteY150" fmla="*/ 368275 h 857250"/>
                <a:gd name="connsiteX151" fmla="*/ 564927 w 857953"/>
                <a:gd name="connsiteY151" fmla="*/ 368275 h 857250"/>
                <a:gd name="connsiteX152" fmla="*/ 564927 w 857953"/>
                <a:gd name="connsiteY152" fmla="*/ 368275 h 857250"/>
                <a:gd name="connsiteX153" fmla="*/ 505710 w 857953"/>
                <a:gd name="connsiteY153" fmla="*/ 353959 h 857250"/>
                <a:gd name="connsiteX154" fmla="*/ 507063 w 857953"/>
                <a:gd name="connsiteY154" fmla="*/ 375075 h 857250"/>
                <a:gd name="connsiteX155" fmla="*/ 505710 w 857953"/>
                <a:gd name="connsiteY155" fmla="*/ 376666 h 857250"/>
                <a:gd name="connsiteX156" fmla="*/ 483007 w 857953"/>
                <a:gd name="connsiteY156" fmla="*/ 376661 h 857250"/>
                <a:gd name="connsiteX157" fmla="*/ 483012 w 857953"/>
                <a:gd name="connsiteY157" fmla="*/ 353959 h 857250"/>
                <a:gd name="connsiteX158" fmla="*/ 483012 w 857953"/>
                <a:gd name="connsiteY158" fmla="*/ 353959 h 857250"/>
                <a:gd name="connsiteX159" fmla="*/ 505602 w 857953"/>
                <a:gd name="connsiteY159" fmla="*/ 353879 h 857250"/>
                <a:gd name="connsiteX160" fmla="*/ 505682 w 857953"/>
                <a:gd name="connsiteY160" fmla="*/ 353959 h 857250"/>
                <a:gd name="connsiteX161" fmla="*/ 552688 w 857953"/>
                <a:gd name="connsiteY161" fmla="*/ 309029 h 857250"/>
                <a:gd name="connsiteX162" fmla="*/ 552702 w 857953"/>
                <a:gd name="connsiteY162" fmla="*/ 331713 h 857250"/>
                <a:gd name="connsiteX163" fmla="*/ 552688 w 857953"/>
                <a:gd name="connsiteY163" fmla="*/ 331727 h 857250"/>
                <a:gd name="connsiteX164" fmla="*/ 552688 w 857953"/>
                <a:gd name="connsiteY164" fmla="*/ 331727 h 857250"/>
                <a:gd name="connsiteX165" fmla="*/ 552688 w 857953"/>
                <a:gd name="connsiteY165" fmla="*/ 331727 h 857250"/>
                <a:gd name="connsiteX166" fmla="*/ 531675 w 857953"/>
                <a:gd name="connsiteY166" fmla="*/ 333108 h 857250"/>
                <a:gd name="connsiteX167" fmla="*/ 530037 w 857953"/>
                <a:gd name="connsiteY167" fmla="*/ 331727 h 857250"/>
                <a:gd name="connsiteX168" fmla="*/ 528685 w 857953"/>
                <a:gd name="connsiteY168" fmla="*/ 310620 h 857250"/>
                <a:gd name="connsiteX169" fmla="*/ 530037 w 857953"/>
                <a:gd name="connsiteY169" fmla="*/ 309020 h 857250"/>
                <a:gd name="connsiteX170" fmla="*/ 552734 w 857953"/>
                <a:gd name="connsiteY170" fmla="*/ 309020 h 857250"/>
                <a:gd name="connsiteX171" fmla="*/ 552735 w 857953"/>
                <a:gd name="connsiteY171" fmla="*/ 309020 h 857250"/>
                <a:gd name="connsiteX172" fmla="*/ 534304 w 857953"/>
                <a:gd name="connsiteY172" fmla="*/ 247755 h 857250"/>
                <a:gd name="connsiteX173" fmla="*/ 534328 w 857953"/>
                <a:gd name="connsiteY173" fmla="*/ 270429 h 857250"/>
                <a:gd name="connsiteX174" fmla="*/ 511654 w 857953"/>
                <a:gd name="connsiteY174" fmla="*/ 270453 h 857250"/>
                <a:gd name="connsiteX175" fmla="*/ 511606 w 857953"/>
                <a:gd name="connsiteY175" fmla="*/ 270453 h 857250"/>
                <a:gd name="connsiteX176" fmla="*/ 511559 w 857953"/>
                <a:gd name="connsiteY176" fmla="*/ 247850 h 857250"/>
                <a:gd name="connsiteX177" fmla="*/ 511606 w 857953"/>
                <a:gd name="connsiteY177" fmla="*/ 247802 h 857250"/>
                <a:gd name="connsiteX178" fmla="*/ 511606 w 857953"/>
                <a:gd name="connsiteY178" fmla="*/ 247802 h 857250"/>
                <a:gd name="connsiteX179" fmla="*/ 532695 w 857953"/>
                <a:gd name="connsiteY179" fmla="*/ 246431 h 857250"/>
                <a:gd name="connsiteX180" fmla="*/ 534276 w 857953"/>
                <a:gd name="connsiteY180" fmla="*/ 247783 h 857250"/>
                <a:gd name="connsiteX181" fmla="*/ 503672 w 857953"/>
                <a:gd name="connsiteY181" fmla="*/ 292684 h 857250"/>
                <a:gd name="connsiteX182" fmla="*/ 503701 w 857953"/>
                <a:gd name="connsiteY182" fmla="*/ 315287 h 857250"/>
                <a:gd name="connsiteX183" fmla="*/ 503672 w 857953"/>
                <a:gd name="connsiteY183" fmla="*/ 315316 h 857250"/>
                <a:gd name="connsiteX184" fmla="*/ 503605 w 857953"/>
                <a:gd name="connsiteY184" fmla="*/ 315382 h 857250"/>
                <a:gd name="connsiteX185" fmla="*/ 480988 w 857953"/>
                <a:gd name="connsiteY185" fmla="*/ 315416 h 857250"/>
                <a:gd name="connsiteX186" fmla="*/ 480955 w 857953"/>
                <a:gd name="connsiteY186" fmla="*/ 315382 h 857250"/>
                <a:gd name="connsiteX187" fmla="*/ 480955 w 857953"/>
                <a:gd name="connsiteY187" fmla="*/ 315382 h 857250"/>
                <a:gd name="connsiteX188" fmla="*/ 480955 w 857953"/>
                <a:gd name="connsiteY188" fmla="*/ 315382 h 857250"/>
                <a:gd name="connsiteX189" fmla="*/ 479574 w 857953"/>
                <a:gd name="connsiteY189" fmla="*/ 294370 h 857250"/>
                <a:gd name="connsiteX190" fmla="*/ 480955 w 857953"/>
                <a:gd name="connsiteY190" fmla="*/ 292732 h 857250"/>
                <a:gd name="connsiteX191" fmla="*/ 503653 w 857953"/>
                <a:gd name="connsiteY191" fmla="*/ 292732 h 857250"/>
                <a:gd name="connsiteX192" fmla="*/ 76771 w 857953"/>
                <a:gd name="connsiteY192" fmla="*/ 114995 h 857250"/>
                <a:gd name="connsiteX193" fmla="*/ 76757 w 857953"/>
                <a:gd name="connsiteY193" fmla="*/ 137679 h 857250"/>
                <a:gd name="connsiteX194" fmla="*/ 54072 w 857953"/>
                <a:gd name="connsiteY194" fmla="*/ 137665 h 857250"/>
                <a:gd name="connsiteX195" fmla="*/ 54087 w 857953"/>
                <a:gd name="connsiteY195" fmla="*/ 114981 h 857250"/>
                <a:gd name="connsiteX196" fmla="*/ 65427 w 857953"/>
                <a:gd name="connsiteY196" fmla="*/ 110290 h 857250"/>
                <a:gd name="connsiteX197" fmla="*/ 76771 w 857953"/>
                <a:gd name="connsiteY197" fmla="*/ 114995 h 857250"/>
                <a:gd name="connsiteX198" fmla="*/ 414966 w 857953"/>
                <a:gd name="connsiteY198" fmla="*/ 12992 h 857250"/>
                <a:gd name="connsiteX199" fmla="*/ 414966 w 857953"/>
                <a:gd name="connsiteY199" fmla="*/ 414614 h 857250"/>
                <a:gd name="connsiteX200" fmla="*/ 13344 w 857953"/>
                <a:gd name="connsiteY200" fmla="*/ 414614 h 857250"/>
                <a:gd name="connsiteX201" fmla="*/ 5 w 857953"/>
                <a:gd name="connsiteY201" fmla="*/ 427250 h 857250"/>
                <a:gd name="connsiteX202" fmla="*/ 12640 w 857953"/>
                <a:gd name="connsiteY202" fmla="*/ 440588 h 857250"/>
                <a:gd name="connsiteX203" fmla="*/ 13344 w 857953"/>
                <a:gd name="connsiteY203" fmla="*/ 440588 h 857250"/>
                <a:gd name="connsiteX204" fmla="*/ 414966 w 857953"/>
                <a:gd name="connsiteY204" fmla="*/ 440588 h 857250"/>
                <a:gd name="connsiteX205" fmla="*/ 414966 w 857953"/>
                <a:gd name="connsiteY205" fmla="*/ 844258 h 857250"/>
                <a:gd name="connsiteX206" fmla="*/ 427958 w 857953"/>
                <a:gd name="connsiteY206" fmla="*/ 857250 h 857250"/>
                <a:gd name="connsiteX207" fmla="*/ 440950 w 857953"/>
                <a:gd name="connsiteY207" fmla="*/ 844258 h 857250"/>
                <a:gd name="connsiteX208" fmla="*/ 440950 w 857953"/>
                <a:gd name="connsiteY208" fmla="*/ 440588 h 857250"/>
                <a:gd name="connsiteX209" fmla="*/ 844610 w 857953"/>
                <a:gd name="connsiteY209" fmla="*/ 440588 h 857250"/>
                <a:gd name="connsiteX210" fmla="*/ 857949 w 857953"/>
                <a:gd name="connsiteY210" fmla="*/ 427953 h 857250"/>
                <a:gd name="connsiteX211" fmla="*/ 845314 w 857953"/>
                <a:gd name="connsiteY211" fmla="*/ 414614 h 857250"/>
                <a:gd name="connsiteX212" fmla="*/ 844610 w 857953"/>
                <a:gd name="connsiteY212" fmla="*/ 414614 h 857250"/>
                <a:gd name="connsiteX213" fmla="*/ 440950 w 857953"/>
                <a:gd name="connsiteY213" fmla="*/ 414614 h 857250"/>
                <a:gd name="connsiteX214" fmla="*/ 440950 w 857953"/>
                <a:gd name="connsiteY214" fmla="*/ 12992 h 857250"/>
                <a:gd name="connsiteX215" fmla="*/ 427958 w 857953"/>
                <a:gd name="connsiteY215" fmla="*/ 0 h 857250"/>
                <a:gd name="connsiteX216" fmla="*/ 414966 w 857953"/>
                <a:gd name="connsiteY216" fmla="*/ 12992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</a:cxnLst>
              <a:rect l="l" t="t" r="r" b="b"/>
              <a:pathLst>
                <a:path w="857953" h="857250">
                  <a:moveTo>
                    <a:pt x="189099" y="147638"/>
                  </a:moveTo>
                  <a:cubicBezTo>
                    <a:pt x="195367" y="153897"/>
                    <a:pt x="195373" y="164054"/>
                    <a:pt x="189114" y="170321"/>
                  </a:cubicBezTo>
                  <a:cubicBezTo>
                    <a:pt x="189109" y="170326"/>
                    <a:pt x="189104" y="170331"/>
                    <a:pt x="189099" y="170336"/>
                  </a:cubicBezTo>
                  <a:lnTo>
                    <a:pt x="189099" y="170336"/>
                  </a:lnTo>
                  <a:cubicBezTo>
                    <a:pt x="183436" y="176073"/>
                    <a:pt x="174375" y="176667"/>
                    <a:pt x="168011" y="171717"/>
                  </a:cubicBezTo>
                  <a:cubicBezTo>
                    <a:pt x="167446" y="171309"/>
                    <a:pt x="166914" y="170857"/>
                    <a:pt x="166420" y="170364"/>
                  </a:cubicBezTo>
                  <a:cubicBezTo>
                    <a:pt x="160153" y="164104"/>
                    <a:pt x="160146" y="153948"/>
                    <a:pt x="166406" y="147680"/>
                  </a:cubicBezTo>
                  <a:cubicBezTo>
                    <a:pt x="166411" y="147676"/>
                    <a:pt x="166415" y="147671"/>
                    <a:pt x="166420" y="147666"/>
                  </a:cubicBezTo>
                  <a:lnTo>
                    <a:pt x="166420" y="147666"/>
                  </a:lnTo>
                  <a:lnTo>
                    <a:pt x="166420" y="147666"/>
                  </a:lnTo>
                  <a:cubicBezTo>
                    <a:pt x="172070" y="141963"/>
                    <a:pt x="181085" y="141371"/>
                    <a:pt x="187432" y="146285"/>
                  </a:cubicBezTo>
                  <a:cubicBezTo>
                    <a:pt x="188014" y="146697"/>
                    <a:pt x="188559" y="147159"/>
                    <a:pt x="189061" y="147666"/>
                  </a:cubicBezTo>
                  <a:close/>
                  <a:moveTo>
                    <a:pt x="293265" y="208912"/>
                  </a:moveTo>
                  <a:cubicBezTo>
                    <a:pt x="298964" y="214580"/>
                    <a:pt x="299560" y="223603"/>
                    <a:pt x="294655" y="229972"/>
                  </a:cubicBezTo>
                  <a:cubicBezTo>
                    <a:pt x="294240" y="230557"/>
                    <a:pt x="293775" y="231105"/>
                    <a:pt x="293265" y="231610"/>
                  </a:cubicBezTo>
                  <a:cubicBezTo>
                    <a:pt x="287023" y="237889"/>
                    <a:pt x="276873" y="237918"/>
                    <a:pt x="270594" y="231677"/>
                  </a:cubicBezTo>
                  <a:cubicBezTo>
                    <a:pt x="264860" y="225977"/>
                    <a:pt x="264269" y="216899"/>
                    <a:pt x="269214" y="210503"/>
                  </a:cubicBezTo>
                  <a:cubicBezTo>
                    <a:pt x="269623" y="209941"/>
                    <a:pt x="270075" y="209412"/>
                    <a:pt x="270567" y="208921"/>
                  </a:cubicBezTo>
                  <a:cubicBezTo>
                    <a:pt x="276826" y="202654"/>
                    <a:pt x="286983" y="202647"/>
                    <a:pt x="293250" y="208907"/>
                  </a:cubicBezTo>
                  <a:cubicBezTo>
                    <a:pt x="293255" y="208912"/>
                    <a:pt x="293260" y="208917"/>
                    <a:pt x="293265" y="208921"/>
                  </a:cubicBezTo>
                  <a:close/>
                  <a:moveTo>
                    <a:pt x="248316" y="327431"/>
                  </a:moveTo>
                  <a:cubicBezTo>
                    <a:pt x="254579" y="333697"/>
                    <a:pt x="254577" y="343853"/>
                    <a:pt x="248311" y="350115"/>
                  </a:cubicBezTo>
                  <a:cubicBezTo>
                    <a:pt x="242047" y="356378"/>
                    <a:pt x="231890" y="356376"/>
                    <a:pt x="225628" y="350111"/>
                  </a:cubicBezTo>
                  <a:cubicBezTo>
                    <a:pt x="222618" y="347100"/>
                    <a:pt x="220928" y="343014"/>
                    <a:pt x="220932" y="338757"/>
                  </a:cubicBezTo>
                  <a:cubicBezTo>
                    <a:pt x="220933" y="335239"/>
                    <a:pt x="222101" y="331821"/>
                    <a:pt x="224256" y="329041"/>
                  </a:cubicBezTo>
                  <a:cubicBezTo>
                    <a:pt x="224671" y="328458"/>
                    <a:pt x="225133" y="327911"/>
                    <a:pt x="225637" y="327403"/>
                  </a:cubicBezTo>
                  <a:cubicBezTo>
                    <a:pt x="231907" y="321140"/>
                    <a:pt x="242065" y="321140"/>
                    <a:pt x="248335" y="327403"/>
                  </a:cubicBezTo>
                  <a:lnTo>
                    <a:pt x="248335" y="327403"/>
                  </a:lnTo>
                  <a:close/>
                  <a:moveTo>
                    <a:pt x="342261" y="327431"/>
                  </a:moveTo>
                  <a:cubicBezTo>
                    <a:pt x="348463" y="333720"/>
                    <a:pt x="348393" y="343846"/>
                    <a:pt x="342105" y="350048"/>
                  </a:cubicBezTo>
                  <a:cubicBezTo>
                    <a:pt x="335817" y="356249"/>
                    <a:pt x="325691" y="356180"/>
                    <a:pt x="319489" y="349891"/>
                  </a:cubicBezTo>
                  <a:cubicBezTo>
                    <a:pt x="313286" y="343603"/>
                    <a:pt x="313357" y="333477"/>
                    <a:pt x="319645" y="327275"/>
                  </a:cubicBezTo>
                  <a:cubicBezTo>
                    <a:pt x="322653" y="324308"/>
                    <a:pt x="326712" y="322653"/>
                    <a:pt x="330936" y="322669"/>
                  </a:cubicBezTo>
                  <a:cubicBezTo>
                    <a:pt x="335194" y="322691"/>
                    <a:pt x="339268" y="324403"/>
                    <a:pt x="342261" y="327431"/>
                  </a:cubicBezTo>
                  <a:lnTo>
                    <a:pt x="342261" y="327431"/>
                  </a:lnTo>
                  <a:close/>
                  <a:moveTo>
                    <a:pt x="372922" y="245707"/>
                  </a:moveTo>
                  <a:cubicBezTo>
                    <a:pt x="379198" y="251974"/>
                    <a:pt x="379205" y="262142"/>
                    <a:pt x="372937" y="268418"/>
                  </a:cubicBezTo>
                  <a:cubicBezTo>
                    <a:pt x="366671" y="274693"/>
                    <a:pt x="356503" y="274701"/>
                    <a:pt x="350227" y="268434"/>
                  </a:cubicBezTo>
                  <a:cubicBezTo>
                    <a:pt x="343951" y="262166"/>
                    <a:pt x="343944" y="251998"/>
                    <a:pt x="350211" y="245722"/>
                  </a:cubicBezTo>
                  <a:cubicBezTo>
                    <a:pt x="353225" y="242706"/>
                    <a:pt x="357314" y="241010"/>
                    <a:pt x="361578" y="241011"/>
                  </a:cubicBezTo>
                  <a:cubicBezTo>
                    <a:pt x="365833" y="241008"/>
                    <a:pt x="369914" y="242697"/>
                    <a:pt x="372922" y="245707"/>
                  </a:cubicBezTo>
                  <a:close/>
                  <a:moveTo>
                    <a:pt x="76771" y="754275"/>
                  </a:moveTo>
                  <a:cubicBezTo>
                    <a:pt x="83041" y="760540"/>
                    <a:pt x="83046" y="770702"/>
                    <a:pt x="76780" y="776973"/>
                  </a:cubicBezTo>
                  <a:cubicBezTo>
                    <a:pt x="76778" y="776976"/>
                    <a:pt x="76774" y="776980"/>
                    <a:pt x="76771" y="776983"/>
                  </a:cubicBezTo>
                  <a:lnTo>
                    <a:pt x="76771" y="776983"/>
                  </a:lnTo>
                  <a:cubicBezTo>
                    <a:pt x="70516" y="783270"/>
                    <a:pt x="60348" y="783297"/>
                    <a:pt x="54060" y="777042"/>
                  </a:cubicBezTo>
                  <a:cubicBezTo>
                    <a:pt x="47772" y="770787"/>
                    <a:pt x="47746" y="760618"/>
                    <a:pt x="54001" y="754331"/>
                  </a:cubicBezTo>
                  <a:cubicBezTo>
                    <a:pt x="59699" y="748603"/>
                    <a:pt x="68764" y="748000"/>
                    <a:pt x="75171" y="752923"/>
                  </a:cubicBezTo>
                  <a:cubicBezTo>
                    <a:pt x="75748" y="753341"/>
                    <a:pt x="76293" y="753802"/>
                    <a:pt x="76800" y="754304"/>
                  </a:cubicBezTo>
                  <a:close/>
                  <a:moveTo>
                    <a:pt x="111499" y="684838"/>
                  </a:moveTo>
                  <a:cubicBezTo>
                    <a:pt x="117765" y="691116"/>
                    <a:pt x="117754" y="701284"/>
                    <a:pt x="111476" y="707549"/>
                  </a:cubicBezTo>
                  <a:cubicBezTo>
                    <a:pt x="108469" y="710551"/>
                    <a:pt x="104394" y="712238"/>
                    <a:pt x="100145" y="712241"/>
                  </a:cubicBezTo>
                  <a:cubicBezTo>
                    <a:pt x="96609" y="712241"/>
                    <a:pt x="93173" y="711062"/>
                    <a:pt x="90382" y="708889"/>
                  </a:cubicBezTo>
                  <a:cubicBezTo>
                    <a:pt x="89817" y="708481"/>
                    <a:pt x="89285" y="708029"/>
                    <a:pt x="88791" y="707536"/>
                  </a:cubicBezTo>
                  <a:cubicBezTo>
                    <a:pt x="82526" y="701258"/>
                    <a:pt x="82536" y="691090"/>
                    <a:pt x="88814" y="684825"/>
                  </a:cubicBezTo>
                  <a:cubicBezTo>
                    <a:pt x="91821" y="681823"/>
                    <a:pt x="95896" y="680136"/>
                    <a:pt x="100145" y="680133"/>
                  </a:cubicBezTo>
                  <a:cubicBezTo>
                    <a:pt x="103683" y="680131"/>
                    <a:pt x="107119" y="681311"/>
                    <a:pt x="109908" y="683485"/>
                  </a:cubicBezTo>
                  <a:cubicBezTo>
                    <a:pt x="110473" y="683893"/>
                    <a:pt x="111006" y="684346"/>
                    <a:pt x="111499" y="684838"/>
                  </a:cubicBezTo>
                  <a:close/>
                  <a:moveTo>
                    <a:pt x="111499" y="592931"/>
                  </a:moveTo>
                  <a:cubicBezTo>
                    <a:pt x="117797" y="599154"/>
                    <a:pt x="117857" y="609304"/>
                    <a:pt x="111634" y="615602"/>
                  </a:cubicBezTo>
                  <a:cubicBezTo>
                    <a:pt x="105924" y="621381"/>
                    <a:pt x="96792" y="621974"/>
                    <a:pt x="90382" y="616982"/>
                  </a:cubicBezTo>
                  <a:cubicBezTo>
                    <a:pt x="89821" y="616569"/>
                    <a:pt x="89290" y="616116"/>
                    <a:pt x="88791" y="615629"/>
                  </a:cubicBezTo>
                  <a:cubicBezTo>
                    <a:pt x="82524" y="609359"/>
                    <a:pt x="82526" y="599194"/>
                    <a:pt x="88796" y="592926"/>
                  </a:cubicBezTo>
                  <a:cubicBezTo>
                    <a:pt x="95067" y="586659"/>
                    <a:pt x="105232" y="586661"/>
                    <a:pt x="111499" y="592931"/>
                  </a:cubicBezTo>
                  <a:close/>
                  <a:moveTo>
                    <a:pt x="150294" y="488766"/>
                  </a:moveTo>
                  <a:cubicBezTo>
                    <a:pt x="156570" y="495033"/>
                    <a:pt x="156576" y="505202"/>
                    <a:pt x="150309" y="511478"/>
                  </a:cubicBezTo>
                  <a:cubicBezTo>
                    <a:pt x="144041" y="517754"/>
                    <a:pt x="133872" y="517760"/>
                    <a:pt x="127596" y="511493"/>
                  </a:cubicBezTo>
                  <a:lnTo>
                    <a:pt x="127596" y="511493"/>
                  </a:lnTo>
                  <a:lnTo>
                    <a:pt x="127596" y="511493"/>
                  </a:lnTo>
                  <a:cubicBezTo>
                    <a:pt x="121326" y="505256"/>
                    <a:pt x="121298" y="495119"/>
                    <a:pt x="127534" y="488849"/>
                  </a:cubicBezTo>
                  <a:cubicBezTo>
                    <a:pt x="133223" y="483129"/>
                    <a:pt x="142278" y="482535"/>
                    <a:pt x="148666" y="487461"/>
                  </a:cubicBezTo>
                  <a:cubicBezTo>
                    <a:pt x="149248" y="487873"/>
                    <a:pt x="149792" y="488335"/>
                    <a:pt x="150294" y="488842"/>
                  </a:cubicBezTo>
                  <a:close/>
                  <a:moveTo>
                    <a:pt x="225866" y="566376"/>
                  </a:moveTo>
                  <a:cubicBezTo>
                    <a:pt x="231568" y="572048"/>
                    <a:pt x="232160" y="581076"/>
                    <a:pt x="227247" y="587445"/>
                  </a:cubicBezTo>
                  <a:cubicBezTo>
                    <a:pt x="226832" y="588025"/>
                    <a:pt x="226370" y="588570"/>
                    <a:pt x="225866" y="589074"/>
                  </a:cubicBezTo>
                  <a:cubicBezTo>
                    <a:pt x="219643" y="595372"/>
                    <a:pt x="209493" y="595432"/>
                    <a:pt x="203195" y="589209"/>
                  </a:cubicBezTo>
                  <a:cubicBezTo>
                    <a:pt x="197416" y="583499"/>
                    <a:pt x="196823" y="574367"/>
                    <a:pt x="201815" y="567957"/>
                  </a:cubicBezTo>
                  <a:cubicBezTo>
                    <a:pt x="202224" y="567395"/>
                    <a:pt x="202676" y="566866"/>
                    <a:pt x="203168" y="566376"/>
                  </a:cubicBezTo>
                  <a:cubicBezTo>
                    <a:pt x="209428" y="560108"/>
                    <a:pt x="219584" y="560101"/>
                    <a:pt x="225851" y="566361"/>
                  </a:cubicBezTo>
                  <a:cubicBezTo>
                    <a:pt x="225856" y="566366"/>
                    <a:pt x="225861" y="566371"/>
                    <a:pt x="225866" y="566376"/>
                  </a:cubicBezTo>
                  <a:close/>
                  <a:moveTo>
                    <a:pt x="366769" y="535762"/>
                  </a:moveTo>
                  <a:cubicBezTo>
                    <a:pt x="373093" y="541959"/>
                    <a:pt x="373195" y="552108"/>
                    <a:pt x="366998" y="558432"/>
                  </a:cubicBezTo>
                  <a:cubicBezTo>
                    <a:pt x="360802" y="564755"/>
                    <a:pt x="350652" y="564857"/>
                    <a:pt x="344328" y="558660"/>
                  </a:cubicBezTo>
                  <a:cubicBezTo>
                    <a:pt x="344251" y="558585"/>
                    <a:pt x="344175" y="558509"/>
                    <a:pt x="344100" y="558432"/>
                  </a:cubicBezTo>
                  <a:lnTo>
                    <a:pt x="344100" y="558432"/>
                  </a:lnTo>
                  <a:lnTo>
                    <a:pt x="344100" y="558432"/>
                  </a:lnTo>
                  <a:cubicBezTo>
                    <a:pt x="337845" y="552164"/>
                    <a:pt x="337856" y="542013"/>
                    <a:pt x="344123" y="535757"/>
                  </a:cubicBezTo>
                  <a:cubicBezTo>
                    <a:pt x="350391" y="529502"/>
                    <a:pt x="360543" y="529513"/>
                    <a:pt x="366798" y="535781"/>
                  </a:cubicBezTo>
                  <a:lnTo>
                    <a:pt x="366798" y="535781"/>
                  </a:lnTo>
                  <a:close/>
                  <a:moveTo>
                    <a:pt x="297332" y="519427"/>
                  </a:moveTo>
                  <a:cubicBezTo>
                    <a:pt x="303057" y="525096"/>
                    <a:pt x="303651" y="534148"/>
                    <a:pt x="298713" y="540515"/>
                  </a:cubicBezTo>
                  <a:cubicBezTo>
                    <a:pt x="298301" y="541077"/>
                    <a:pt x="297845" y="541606"/>
                    <a:pt x="297351" y="542096"/>
                  </a:cubicBezTo>
                  <a:cubicBezTo>
                    <a:pt x="291240" y="548502"/>
                    <a:pt x="281092" y="548740"/>
                    <a:pt x="274686" y="542629"/>
                  </a:cubicBezTo>
                  <a:cubicBezTo>
                    <a:pt x="268281" y="536517"/>
                    <a:pt x="268042" y="526370"/>
                    <a:pt x="274155" y="519964"/>
                  </a:cubicBezTo>
                  <a:cubicBezTo>
                    <a:pt x="274323" y="519788"/>
                    <a:pt x="274496" y="519614"/>
                    <a:pt x="274672" y="519446"/>
                  </a:cubicBezTo>
                  <a:lnTo>
                    <a:pt x="274672" y="519446"/>
                  </a:lnTo>
                  <a:cubicBezTo>
                    <a:pt x="280900" y="513191"/>
                    <a:pt x="291021" y="513170"/>
                    <a:pt x="297275" y="519398"/>
                  </a:cubicBezTo>
                  <a:cubicBezTo>
                    <a:pt x="297291" y="519414"/>
                    <a:pt x="297307" y="519430"/>
                    <a:pt x="297322" y="519446"/>
                  </a:cubicBezTo>
                  <a:lnTo>
                    <a:pt x="297322" y="519446"/>
                  </a:lnTo>
                  <a:close/>
                  <a:moveTo>
                    <a:pt x="505663" y="490852"/>
                  </a:moveTo>
                  <a:cubicBezTo>
                    <a:pt x="511949" y="497071"/>
                    <a:pt x="512003" y="507209"/>
                    <a:pt x="505784" y="513496"/>
                  </a:cubicBezTo>
                  <a:cubicBezTo>
                    <a:pt x="500099" y="519241"/>
                    <a:pt x="491023" y="519849"/>
                    <a:pt x="484622" y="514912"/>
                  </a:cubicBezTo>
                  <a:cubicBezTo>
                    <a:pt x="484039" y="514494"/>
                    <a:pt x="483491" y="514029"/>
                    <a:pt x="482984" y="513521"/>
                  </a:cubicBezTo>
                  <a:cubicBezTo>
                    <a:pt x="476729" y="507293"/>
                    <a:pt x="476708" y="497173"/>
                    <a:pt x="482936" y="490919"/>
                  </a:cubicBezTo>
                  <a:cubicBezTo>
                    <a:pt x="482952" y="490902"/>
                    <a:pt x="482967" y="490886"/>
                    <a:pt x="482984" y="490871"/>
                  </a:cubicBezTo>
                  <a:lnTo>
                    <a:pt x="482984" y="490823"/>
                  </a:lnTo>
                  <a:cubicBezTo>
                    <a:pt x="489212" y="484568"/>
                    <a:pt x="499332" y="484547"/>
                    <a:pt x="505586" y="490776"/>
                  </a:cubicBezTo>
                  <a:cubicBezTo>
                    <a:pt x="505603" y="490792"/>
                    <a:pt x="505619" y="490807"/>
                    <a:pt x="505634" y="490823"/>
                  </a:cubicBezTo>
                  <a:lnTo>
                    <a:pt x="505634" y="490823"/>
                  </a:lnTo>
                  <a:close/>
                  <a:moveTo>
                    <a:pt x="585339" y="468354"/>
                  </a:moveTo>
                  <a:cubicBezTo>
                    <a:pt x="591643" y="474608"/>
                    <a:pt x="591684" y="484788"/>
                    <a:pt x="585430" y="491092"/>
                  </a:cubicBezTo>
                  <a:cubicBezTo>
                    <a:pt x="579176" y="497396"/>
                    <a:pt x="568995" y="497436"/>
                    <a:pt x="562692" y="491181"/>
                  </a:cubicBezTo>
                  <a:cubicBezTo>
                    <a:pt x="556951" y="485486"/>
                    <a:pt x="556334" y="476413"/>
                    <a:pt x="561251" y="469992"/>
                  </a:cubicBezTo>
                  <a:cubicBezTo>
                    <a:pt x="561669" y="469409"/>
                    <a:pt x="562134" y="468861"/>
                    <a:pt x="562641" y="468354"/>
                  </a:cubicBezTo>
                  <a:cubicBezTo>
                    <a:pt x="568327" y="462638"/>
                    <a:pt x="577380" y="462058"/>
                    <a:pt x="583749" y="467001"/>
                  </a:cubicBezTo>
                  <a:cubicBezTo>
                    <a:pt x="584313" y="467409"/>
                    <a:pt x="584846" y="467861"/>
                    <a:pt x="585339" y="468354"/>
                  </a:cubicBezTo>
                  <a:close/>
                  <a:moveTo>
                    <a:pt x="701754" y="161973"/>
                  </a:moveTo>
                  <a:cubicBezTo>
                    <a:pt x="708022" y="168232"/>
                    <a:pt x="708028" y="178389"/>
                    <a:pt x="701768" y="184656"/>
                  </a:cubicBezTo>
                  <a:cubicBezTo>
                    <a:pt x="701763" y="184661"/>
                    <a:pt x="701759" y="184666"/>
                    <a:pt x="701754" y="184671"/>
                  </a:cubicBezTo>
                  <a:lnTo>
                    <a:pt x="701754" y="184671"/>
                  </a:lnTo>
                  <a:cubicBezTo>
                    <a:pt x="695501" y="190952"/>
                    <a:pt x="685338" y="190976"/>
                    <a:pt x="679057" y="184722"/>
                  </a:cubicBezTo>
                  <a:cubicBezTo>
                    <a:pt x="672774" y="178469"/>
                    <a:pt x="672751" y="168307"/>
                    <a:pt x="679004" y="162025"/>
                  </a:cubicBezTo>
                  <a:cubicBezTo>
                    <a:pt x="684695" y="156309"/>
                    <a:pt x="693743" y="155703"/>
                    <a:pt x="700144" y="160611"/>
                  </a:cubicBezTo>
                  <a:cubicBezTo>
                    <a:pt x="700726" y="161027"/>
                    <a:pt x="701271" y="161492"/>
                    <a:pt x="701773" y="162001"/>
                  </a:cubicBezTo>
                  <a:close/>
                  <a:moveTo>
                    <a:pt x="683352" y="266157"/>
                  </a:moveTo>
                  <a:cubicBezTo>
                    <a:pt x="689642" y="272410"/>
                    <a:pt x="689671" y="282578"/>
                    <a:pt x="683418" y="288869"/>
                  </a:cubicBezTo>
                  <a:cubicBezTo>
                    <a:pt x="677166" y="295158"/>
                    <a:pt x="666998" y="295188"/>
                    <a:pt x="660708" y="288935"/>
                  </a:cubicBezTo>
                  <a:cubicBezTo>
                    <a:pt x="654978" y="283239"/>
                    <a:pt x="654372" y="274174"/>
                    <a:pt x="659291" y="267767"/>
                  </a:cubicBezTo>
                  <a:cubicBezTo>
                    <a:pt x="659707" y="267188"/>
                    <a:pt x="660169" y="266643"/>
                    <a:pt x="660672" y="266138"/>
                  </a:cubicBezTo>
                  <a:cubicBezTo>
                    <a:pt x="666937" y="259868"/>
                    <a:pt x="677099" y="259863"/>
                    <a:pt x="683370" y="266129"/>
                  </a:cubicBezTo>
                  <a:cubicBezTo>
                    <a:pt x="683373" y="266131"/>
                    <a:pt x="683376" y="266135"/>
                    <a:pt x="683380" y="266138"/>
                  </a:cubicBezTo>
                  <a:lnTo>
                    <a:pt x="683380" y="266138"/>
                  </a:lnTo>
                  <a:close/>
                  <a:moveTo>
                    <a:pt x="607809" y="223237"/>
                  </a:moveTo>
                  <a:cubicBezTo>
                    <a:pt x="614085" y="229505"/>
                    <a:pt x="614091" y="239673"/>
                    <a:pt x="607824" y="245949"/>
                  </a:cubicBezTo>
                  <a:cubicBezTo>
                    <a:pt x="601557" y="252224"/>
                    <a:pt x="591389" y="252232"/>
                    <a:pt x="585114" y="245964"/>
                  </a:cubicBezTo>
                  <a:cubicBezTo>
                    <a:pt x="578838" y="239697"/>
                    <a:pt x="578831" y="229529"/>
                    <a:pt x="585097" y="223253"/>
                  </a:cubicBezTo>
                  <a:cubicBezTo>
                    <a:pt x="588108" y="220238"/>
                    <a:pt x="592194" y="218544"/>
                    <a:pt x="596455" y="218542"/>
                  </a:cubicBezTo>
                  <a:cubicBezTo>
                    <a:pt x="600714" y="218534"/>
                    <a:pt x="604800" y="220224"/>
                    <a:pt x="607809" y="223237"/>
                  </a:cubicBezTo>
                  <a:close/>
                  <a:moveTo>
                    <a:pt x="607809" y="313115"/>
                  </a:moveTo>
                  <a:cubicBezTo>
                    <a:pt x="614074" y="319386"/>
                    <a:pt x="614071" y="329548"/>
                    <a:pt x="607800" y="335813"/>
                  </a:cubicBezTo>
                  <a:cubicBezTo>
                    <a:pt x="601530" y="342078"/>
                    <a:pt x="591368" y="342074"/>
                    <a:pt x="585102" y="335804"/>
                  </a:cubicBezTo>
                  <a:cubicBezTo>
                    <a:pt x="578837" y="329534"/>
                    <a:pt x="578841" y="319371"/>
                    <a:pt x="585112" y="313107"/>
                  </a:cubicBezTo>
                  <a:cubicBezTo>
                    <a:pt x="588121" y="310100"/>
                    <a:pt x="592201" y="308410"/>
                    <a:pt x="596455" y="308410"/>
                  </a:cubicBezTo>
                  <a:cubicBezTo>
                    <a:pt x="600715" y="308402"/>
                    <a:pt x="604803" y="310096"/>
                    <a:pt x="607809" y="313115"/>
                  </a:cubicBezTo>
                  <a:close/>
                  <a:moveTo>
                    <a:pt x="564946" y="368303"/>
                  </a:moveTo>
                  <a:cubicBezTo>
                    <a:pt x="571201" y="374571"/>
                    <a:pt x="571190" y="384722"/>
                    <a:pt x="564922" y="390977"/>
                  </a:cubicBezTo>
                  <a:cubicBezTo>
                    <a:pt x="558655" y="397233"/>
                    <a:pt x="548503" y="397221"/>
                    <a:pt x="542248" y="390954"/>
                  </a:cubicBezTo>
                  <a:lnTo>
                    <a:pt x="542248" y="390954"/>
                  </a:lnTo>
                  <a:cubicBezTo>
                    <a:pt x="535853" y="384824"/>
                    <a:pt x="535637" y="374670"/>
                    <a:pt x="541767" y="368275"/>
                  </a:cubicBezTo>
                  <a:cubicBezTo>
                    <a:pt x="547897" y="361880"/>
                    <a:pt x="558050" y="361663"/>
                    <a:pt x="564446" y="367794"/>
                  </a:cubicBezTo>
                  <a:cubicBezTo>
                    <a:pt x="564610" y="367951"/>
                    <a:pt x="564770" y="368111"/>
                    <a:pt x="564927" y="368275"/>
                  </a:cubicBezTo>
                  <a:lnTo>
                    <a:pt x="564927" y="368275"/>
                  </a:lnTo>
                  <a:lnTo>
                    <a:pt x="564927" y="368275"/>
                  </a:lnTo>
                  <a:close/>
                  <a:moveTo>
                    <a:pt x="505710" y="353959"/>
                  </a:moveTo>
                  <a:cubicBezTo>
                    <a:pt x="511423" y="359649"/>
                    <a:pt x="512003" y="368703"/>
                    <a:pt x="507063" y="375075"/>
                  </a:cubicBezTo>
                  <a:cubicBezTo>
                    <a:pt x="506655" y="375640"/>
                    <a:pt x="506203" y="376173"/>
                    <a:pt x="505710" y="376666"/>
                  </a:cubicBezTo>
                  <a:cubicBezTo>
                    <a:pt x="499440" y="382934"/>
                    <a:pt x="489275" y="382932"/>
                    <a:pt x="483007" y="376661"/>
                  </a:cubicBezTo>
                  <a:cubicBezTo>
                    <a:pt x="476740" y="370391"/>
                    <a:pt x="476742" y="360226"/>
                    <a:pt x="483012" y="353959"/>
                  </a:cubicBezTo>
                  <a:lnTo>
                    <a:pt x="483012" y="353959"/>
                  </a:lnTo>
                  <a:cubicBezTo>
                    <a:pt x="489228" y="347699"/>
                    <a:pt x="499342" y="347663"/>
                    <a:pt x="505602" y="353879"/>
                  </a:cubicBezTo>
                  <a:cubicBezTo>
                    <a:pt x="505628" y="353905"/>
                    <a:pt x="505655" y="353932"/>
                    <a:pt x="505682" y="353959"/>
                  </a:cubicBezTo>
                  <a:close/>
                  <a:moveTo>
                    <a:pt x="552688" y="309029"/>
                  </a:moveTo>
                  <a:cubicBezTo>
                    <a:pt x="558955" y="315289"/>
                    <a:pt x="558962" y="325445"/>
                    <a:pt x="552702" y="331713"/>
                  </a:cubicBezTo>
                  <a:cubicBezTo>
                    <a:pt x="552697" y="331718"/>
                    <a:pt x="552692" y="331722"/>
                    <a:pt x="552688" y="331727"/>
                  </a:cubicBezTo>
                  <a:lnTo>
                    <a:pt x="552688" y="331727"/>
                  </a:lnTo>
                  <a:lnTo>
                    <a:pt x="552688" y="331727"/>
                  </a:lnTo>
                  <a:cubicBezTo>
                    <a:pt x="547033" y="337417"/>
                    <a:pt x="538027" y="338009"/>
                    <a:pt x="531675" y="333108"/>
                  </a:cubicBezTo>
                  <a:cubicBezTo>
                    <a:pt x="531092" y="332693"/>
                    <a:pt x="530545" y="332231"/>
                    <a:pt x="530037" y="331727"/>
                  </a:cubicBezTo>
                  <a:cubicBezTo>
                    <a:pt x="524321" y="326042"/>
                    <a:pt x="523741" y="316988"/>
                    <a:pt x="528685" y="310620"/>
                  </a:cubicBezTo>
                  <a:cubicBezTo>
                    <a:pt x="529090" y="310049"/>
                    <a:pt x="529543" y="309514"/>
                    <a:pt x="530037" y="309020"/>
                  </a:cubicBezTo>
                  <a:cubicBezTo>
                    <a:pt x="536305" y="302752"/>
                    <a:pt x="546467" y="302751"/>
                    <a:pt x="552734" y="309020"/>
                  </a:cubicBezTo>
                  <a:cubicBezTo>
                    <a:pt x="552735" y="309020"/>
                    <a:pt x="552735" y="309020"/>
                    <a:pt x="552735" y="309020"/>
                  </a:cubicBezTo>
                  <a:close/>
                  <a:moveTo>
                    <a:pt x="534304" y="247755"/>
                  </a:moveTo>
                  <a:cubicBezTo>
                    <a:pt x="540572" y="254010"/>
                    <a:pt x="540583" y="264162"/>
                    <a:pt x="534328" y="270429"/>
                  </a:cubicBezTo>
                  <a:cubicBezTo>
                    <a:pt x="528073" y="276696"/>
                    <a:pt x="517921" y="276708"/>
                    <a:pt x="511654" y="270453"/>
                  </a:cubicBezTo>
                  <a:lnTo>
                    <a:pt x="511606" y="270453"/>
                  </a:lnTo>
                  <a:cubicBezTo>
                    <a:pt x="505351" y="264224"/>
                    <a:pt x="505330" y="254104"/>
                    <a:pt x="511559" y="247850"/>
                  </a:cubicBezTo>
                  <a:cubicBezTo>
                    <a:pt x="511575" y="247834"/>
                    <a:pt x="511590" y="247818"/>
                    <a:pt x="511606" y="247802"/>
                  </a:cubicBezTo>
                  <a:lnTo>
                    <a:pt x="511606" y="247802"/>
                  </a:lnTo>
                  <a:cubicBezTo>
                    <a:pt x="517275" y="242071"/>
                    <a:pt x="526332" y="241483"/>
                    <a:pt x="532695" y="246431"/>
                  </a:cubicBezTo>
                  <a:cubicBezTo>
                    <a:pt x="533258" y="246837"/>
                    <a:pt x="533787" y="247289"/>
                    <a:pt x="534276" y="247783"/>
                  </a:cubicBezTo>
                  <a:close/>
                  <a:moveTo>
                    <a:pt x="503672" y="292684"/>
                  </a:moveTo>
                  <a:cubicBezTo>
                    <a:pt x="509921" y="298918"/>
                    <a:pt x="509934" y="309038"/>
                    <a:pt x="503701" y="315287"/>
                  </a:cubicBezTo>
                  <a:cubicBezTo>
                    <a:pt x="503691" y="315297"/>
                    <a:pt x="503681" y="315306"/>
                    <a:pt x="503672" y="315316"/>
                  </a:cubicBezTo>
                  <a:lnTo>
                    <a:pt x="503605" y="315382"/>
                  </a:lnTo>
                  <a:cubicBezTo>
                    <a:pt x="497369" y="321637"/>
                    <a:pt x="487243" y="321652"/>
                    <a:pt x="480988" y="315416"/>
                  </a:cubicBezTo>
                  <a:cubicBezTo>
                    <a:pt x="480978" y="315405"/>
                    <a:pt x="480966" y="315394"/>
                    <a:pt x="480955" y="315382"/>
                  </a:cubicBezTo>
                  <a:lnTo>
                    <a:pt x="480955" y="315382"/>
                  </a:lnTo>
                  <a:lnTo>
                    <a:pt x="480955" y="315382"/>
                  </a:lnTo>
                  <a:cubicBezTo>
                    <a:pt x="475252" y="309733"/>
                    <a:pt x="474660" y="300718"/>
                    <a:pt x="479574" y="294370"/>
                  </a:cubicBezTo>
                  <a:cubicBezTo>
                    <a:pt x="479989" y="293787"/>
                    <a:pt x="480451" y="293240"/>
                    <a:pt x="480955" y="292732"/>
                  </a:cubicBezTo>
                  <a:cubicBezTo>
                    <a:pt x="487225" y="286469"/>
                    <a:pt x="497383" y="286469"/>
                    <a:pt x="503653" y="292732"/>
                  </a:cubicBezTo>
                  <a:close/>
                  <a:moveTo>
                    <a:pt x="76771" y="114995"/>
                  </a:moveTo>
                  <a:cubicBezTo>
                    <a:pt x="83031" y="121264"/>
                    <a:pt x="83024" y="131419"/>
                    <a:pt x="76757" y="137679"/>
                  </a:cubicBezTo>
                  <a:cubicBezTo>
                    <a:pt x="70488" y="143940"/>
                    <a:pt x="60332" y="143933"/>
                    <a:pt x="54072" y="137665"/>
                  </a:cubicBezTo>
                  <a:cubicBezTo>
                    <a:pt x="47812" y="131396"/>
                    <a:pt x="47819" y="121241"/>
                    <a:pt x="54087" y="114981"/>
                  </a:cubicBezTo>
                  <a:cubicBezTo>
                    <a:pt x="57095" y="111976"/>
                    <a:pt x="61175" y="110289"/>
                    <a:pt x="65427" y="110290"/>
                  </a:cubicBezTo>
                  <a:cubicBezTo>
                    <a:pt x="69683" y="110287"/>
                    <a:pt x="73766" y="111981"/>
                    <a:pt x="76771" y="114995"/>
                  </a:cubicBezTo>
                  <a:close/>
                  <a:moveTo>
                    <a:pt x="414966" y="12992"/>
                  </a:moveTo>
                  <a:lnTo>
                    <a:pt x="414966" y="414614"/>
                  </a:lnTo>
                  <a:lnTo>
                    <a:pt x="13344" y="414614"/>
                  </a:lnTo>
                  <a:cubicBezTo>
                    <a:pt x="6171" y="414419"/>
                    <a:pt x="199" y="420076"/>
                    <a:pt x="5" y="427250"/>
                  </a:cubicBezTo>
                  <a:cubicBezTo>
                    <a:pt x="-189" y="434422"/>
                    <a:pt x="5468" y="440394"/>
                    <a:pt x="12640" y="440588"/>
                  </a:cubicBezTo>
                  <a:cubicBezTo>
                    <a:pt x="12875" y="440595"/>
                    <a:pt x="13110" y="440595"/>
                    <a:pt x="13344" y="440588"/>
                  </a:cubicBezTo>
                  <a:lnTo>
                    <a:pt x="414966" y="440588"/>
                  </a:lnTo>
                  <a:lnTo>
                    <a:pt x="414966" y="844258"/>
                  </a:lnTo>
                  <a:cubicBezTo>
                    <a:pt x="414966" y="851433"/>
                    <a:pt x="420783" y="857250"/>
                    <a:pt x="427958" y="857250"/>
                  </a:cubicBezTo>
                  <a:cubicBezTo>
                    <a:pt x="435133" y="857250"/>
                    <a:pt x="440950" y="851433"/>
                    <a:pt x="440950" y="844258"/>
                  </a:cubicBezTo>
                  <a:lnTo>
                    <a:pt x="440950" y="440588"/>
                  </a:lnTo>
                  <a:lnTo>
                    <a:pt x="844610" y="440588"/>
                  </a:lnTo>
                  <a:cubicBezTo>
                    <a:pt x="851782" y="440783"/>
                    <a:pt x="857754" y="435126"/>
                    <a:pt x="857949" y="427953"/>
                  </a:cubicBezTo>
                  <a:cubicBezTo>
                    <a:pt x="858143" y="420780"/>
                    <a:pt x="852486" y="414808"/>
                    <a:pt x="845314" y="414614"/>
                  </a:cubicBezTo>
                  <a:cubicBezTo>
                    <a:pt x="845078" y="414607"/>
                    <a:pt x="844844" y="414607"/>
                    <a:pt x="844610" y="414614"/>
                  </a:cubicBezTo>
                  <a:lnTo>
                    <a:pt x="440950" y="414614"/>
                  </a:lnTo>
                  <a:lnTo>
                    <a:pt x="440950" y="12992"/>
                  </a:lnTo>
                  <a:cubicBezTo>
                    <a:pt x="440950" y="5817"/>
                    <a:pt x="435133" y="0"/>
                    <a:pt x="427958" y="0"/>
                  </a:cubicBezTo>
                  <a:cubicBezTo>
                    <a:pt x="420783" y="0"/>
                    <a:pt x="414966" y="5817"/>
                    <a:pt x="414966" y="12992"/>
                  </a:cubicBezTo>
                  <a:close/>
                </a:path>
              </a:pathLst>
            </a:custGeom>
            <a:solidFill>
              <a:srgbClr val="0070C0"/>
            </a:solidFill>
            <a:ln w="3175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88BDF789-77B0-F666-563C-FDDFC1F757EE}"/>
              </a:ext>
            </a:extLst>
          </p:cNvPr>
          <p:cNvGrpSpPr>
            <a:grpSpLocks/>
          </p:cNvGrpSpPr>
          <p:nvPr/>
        </p:nvGrpSpPr>
        <p:grpSpPr>
          <a:xfrm>
            <a:off x="449020" y="5174625"/>
            <a:ext cx="5395736" cy="851515"/>
            <a:chOff x="449020" y="5172548"/>
            <a:chExt cx="5395736" cy="851515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3F368373-8E6D-D694-D4BB-4CB7E566656F}"/>
                </a:ext>
              </a:extLst>
            </p:cNvPr>
            <p:cNvSpPr>
              <a:spLocks/>
            </p:cNvSpPr>
            <p:nvPr/>
          </p:nvSpPr>
          <p:spPr>
            <a:xfrm>
              <a:off x="449020" y="5172548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create_scatter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</a:t>
              </a: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r>
                <a:rPr lang="en-US" sz="1300" i="1" dirty="0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scatter plot of two selected metrics, using color to map an HR attribute</a:t>
              </a: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06F96031-6576-81BF-ED95-6E572E374E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5172548"/>
              <a:ext cx="320863" cy="243948"/>
            </a:xfrm>
            <a:custGeom>
              <a:avLst/>
              <a:gdLst>
                <a:gd name="connsiteX0" fmla="*/ 218695 w 685038"/>
                <a:gd name="connsiteY0" fmla="*/ 350044 h 520827"/>
                <a:gd name="connsiteX1" fmla="*/ 251175 w 685038"/>
                <a:gd name="connsiteY1" fmla="*/ 382993 h 520827"/>
                <a:gd name="connsiteX2" fmla="*/ 218222 w 685038"/>
                <a:gd name="connsiteY2" fmla="*/ 415953 h 520827"/>
                <a:gd name="connsiteX3" fmla="*/ 185262 w 685038"/>
                <a:gd name="connsiteY3" fmla="*/ 383000 h 520827"/>
                <a:gd name="connsiteX4" fmla="*/ 185266 w 685038"/>
                <a:gd name="connsiteY4" fmla="*/ 382520 h 520827"/>
                <a:gd name="connsiteX5" fmla="*/ 218695 w 685038"/>
                <a:gd name="connsiteY5" fmla="*/ 350044 h 520827"/>
                <a:gd name="connsiteX6" fmla="*/ 137351 w 685038"/>
                <a:gd name="connsiteY6" fmla="*/ 275177 h 520827"/>
                <a:gd name="connsiteX7" fmla="*/ 137446 w 685038"/>
                <a:gd name="connsiteY7" fmla="*/ 275177 h 520827"/>
                <a:gd name="connsiteX8" fmla="*/ 170307 w 685038"/>
                <a:gd name="connsiteY8" fmla="*/ 308229 h 520827"/>
                <a:gd name="connsiteX9" fmla="*/ 137255 w 685038"/>
                <a:gd name="connsiteY9" fmla="*/ 341090 h 520827"/>
                <a:gd name="connsiteX10" fmla="*/ 104394 w 685038"/>
                <a:gd name="connsiteY10" fmla="*/ 308038 h 520827"/>
                <a:gd name="connsiteX11" fmla="*/ 137351 w 685038"/>
                <a:gd name="connsiteY11" fmla="*/ 275177 h 520827"/>
                <a:gd name="connsiteX12" fmla="*/ 288608 w 685038"/>
                <a:gd name="connsiteY12" fmla="*/ 247745 h 520827"/>
                <a:gd name="connsiteX13" fmla="*/ 321565 w 685038"/>
                <a:gd name="connsiteY13" fmla="*/ 280702 h 520827"/>
                <a:gd name="connsiteX14" fmla="*/ 288608 w 685038"/>
                <a:gd name="connsiteY14" fmla="*/ 313658 h 520827"/>
                <a:gd name="connsiteX15" fmla="*/ 255652 w 685038"/>
                <a:gd name="connsiteY15" fmla="*/ 280702 h 520827"/>
                <a:gd name="connsiteX16" fmla="*/ 288608 w 685038"/>
                <a:gd name="connsiteY16" fmla="*/ 247745 h 520827"/>
                <a:gd name="connsiteX17" fmla="*/ 411195 w 685038"/>
                <a:gd name="connsiteY17" fmla="*/ 231838 h 520827"/>
                <a:gd name="connsiteX18" fmla="*/ 411574 w 685038"/>
                <a:gd name="connsiteY18" fmla="*/ 231840 h 520827"/>
                <a:gd name="connsiteX19" fmla="*/ 444146 w 685038"/>
                <a:gd name="connsiteY19" fmla="*/ 265176 h 520827"/>
                <a:gd name="connsiteX20" fmla="*/ 410812 w 685038"/>
                <a:gd name="connsiteY20" fmla="*/ 297749 h 520827"/>
                <a:gd name="connsiteX21" fmla="*/ 378238 w 685038"/>
                <a:gd name="connsiteY21" fmla="*/ 264413 h 520827"/>
                <a:gd name="connsiteX22" fmla="*/ 411195 w 685038"/>
                <a:gd name="connsiteY22" fmla="*/ 231838 h 520827"/>
                <a:gd name="connsiteX23" fmla="*/ 567976 w 685038"/>
                <a:gd name="connsiteY23" fmla="*/ 159353 h 520827"/>
                <a:gd name="connsiteX24" fmla="*/ 600933 w 685038"/>
                <a:gd name="connsiteY24" fmla="*/ 192309 h 520827"/>
                <a:gd name="connsiteX25" fmla="*/ 567976 w 685038"/>
                <a:gd name="connsiteY25" fmla="*/ 225266 h 520827"/>
                <a:gd name="connsiteX26" fmla="*/ 535020 w 685038"/>
                <a:gd name="connsiteY26" fmla="*/ 192309 h 520827"/>
                <a:gd name="connsiteX27" fmla="*/ 567976 w 685038"/>
                <a:gd name="connsiteY27" fmla="*/ 159353 h 520827"/>
                <a:gd name="connsiteX28" fmla="*/ 288608 w 685038"/>
                <a:gd name="connsiteY28" fmla="*/ 113157 h 520827"/>
                <a:gd name="connsiteX29" fmla="*/ 321565 w 685038"/>
                <a:gd name="connsiteY29" fmla="*/ 146113 h 520827"/>
                <a:gd name="connsiteX30" fmla="*/ 288608 w 685038"/>
                <a:gd name="connsiteY30" fmla="*/ 179070 h 520827"/>
                <a:gd name="connsiteX31" fmla="*/ 255652 w 685038"/>
                <a:gd name="connsiteY31" fmla="*/ 146113 h 520827"/>
                <a:gd name="connsiteX32" fmla="*/ 288608 w 685038"/>
                <a:gd name="connsiteY32" fmla="*/ 113157 h 520827"/>
                <a:gd name="connsiteX33" fmla="*/ 432530 w 685038"/>
                <a:gd name="connsiteY33" fmla="*/ 55245 h 520827"/>
                <a:gd name="connsiteX34" fmla="*/ 465487 w 685038"/>
                <a:gd name="connsiteY34" fmla="*/ 88202 h 520827"/>
                <a:gd name="connsiteX35" fmla="*/ 465487 w 685038"/>
                <a:gd name="connsiteY35" fmla="*/ 88392 h 520827"/>
                <a:gd name="connsiteX36" fmla="*/ 432530 w 685038"/>
                <a:gd name="connsiteY36" fmla="*/ 121158 h 520827"/>
                <a:gd name="connsiteX37" fmla="*/ 399574 w 685038"/>
                <a:gd name="connsiteY37" fmla="*/ 88202 h 520827"/>
                <a:gd name="connsiteX38" fmla="*/ 432530 w 685038"/>
                <a:gd name="connsiteY38" fmla="*/ 55245 h 520827"/>
                <a:gd name="connsiteX39" fmla="*/ 39624 w 685038"/>
                <a:gd name="connsiteY39" fmla="*/ 18669 h 520827"/>
                <a:gd name="connsiteX40" fmla="*/ 53912 w 685038"/>
                <a:gd name="connsiteY40" fmla="*/ 32957 h 520827"/>
                <a:gd name="connsiteX41" fmla="*/ 53912 w 685038"/>
                <a:gd name="connsiteY41" fmla="*/ 466916 h 520827"/>
                <a:gd name="connsiteX42" fmla="*/ 670751 w 685038"/>
                <a:gd name="connsiteY42" fmla="*/ 466916 h 520827"/>
                <a:gd name="connsiteX43" fmla="*/ 685038 w 685038"/>
                <a:gd name="connsiteY43" fmla="*/ 481203 h 520827"/>
                <a:gd name="connsiteX44" fmla="*/ 670751 w 685038"/>
                <a:gd name="connsiteY44" fmla="*/ 495491 h 520827"/>
                <a:gd name="connsiteX45" fmla="*/ 577787 w 685038"/>
                <a:gd name="connsiteY45" fmla="*/ 495491 h 520827"/>
                <a:gd name="connsiteX46" fmla="*/ 577787 w 685038"/>
                <a:gd name="connsiteY46" fmla="*/ 506539 h 520827"/>
                <a:gd name="connsiteX47" fmla="*/ 563499 w 685038"/>
                <a:gd name="connsiteY47" fmla="*/ 520827 h 520827"/>
                <a:gd name="connsiteX48" fmla="*/ 549212 w 685038"/>
                <a:gd name="connsiteY48" fmla="*/ 506539 h 520827"/>
                <a:gd name="connsiteX49" fmla="*/ 549212 w 685038"/>
                <a:gd name="connsiteY49" fmla="*/ 495491 h 520827"/>
                <a:gd name="connsiteX50" fmla="*/ 447294 w 685038"/>
                <a:gd name="connsiteY50" fmla="*/ 495491 h 520827"/>
                <a:gd name="connsiteX51" fmla="*/ 447294 w 685038"/>
                <a:gd name="connsiteY51" fmla="*/ 506539 h 520827"/>
                <a:gd name="connsiteX52" fmla="*/ 433007 w 685038"/>
                <a:gd name="connsiteY52" fmla="*/ 520827 h 520827"/>
                <a:gd name="connsiteX53" fmla="*/ 418719 w 685038"/>
                <a:gd name="connsiteY53" fmla="*/ 506539 h 520827"/>
                <a:gd name="connsiteX54" fmla="*/ 418719 w 685038"/>
                <a:gd name="connsiteY54" fmla="*/ 495491 h 520827"/>
                <a:gd name="connsiteX55" fmla="*/ 315849 w 685038"/>
                <a:gd name="connsiteY55" fmla="*/ 495491 h 520827"/>
                <a:gd name="connsiteX56" fmla="*/ 315849 w 685038"/>
                <a:gd name="connsiteY56" fmla="*/ 506539 h 520827"/>
                <a:gd name="connsiteX57" fmla="*/ 301562 w 685038"/>
                <a:gd name="connsiteY57" fmla="*/ 520827 h 520827"/>
                <a:gd name="connsiteX58" fmla="*/ 287274 w 685038"/>
                <a:gd name="connsiteY58" fmla="*/ 506539 h 520827"/>
                <a:gd name="connsiteX59" fmla="*/ 287274 w 685038"/>
                <a:gd name="connsiteY59" fmla="*/ 495491 h 520827"/>
                <a:gd name="connsiteX60" fmla="*/ 184880 w 685038"/>
                <a:gd name="connsiteY60" fmla="*/ 495491 h 520827"/>
                <a:gd name="connsiteX61" fmla="*/ 184880 w 685038"/>
                <a:gd name="connsiteY61" fmla="*/ 506539 h 520827"/>
                <a:gd name="connsiteX62" fmla="*/ 170593 w 685038"/>
                <a:gd name="connsiteY62" fmla="*/ 520827 h 520827"/>
                <a:gd name="connsiteX63" fmla="*/ 156305 w 685038"/>
                <a:gd name="connsiteY63" fmla="*/ 506539 h 520827"/>
                <a:gd name="connsiteX64" fmla="*/ 156305 w 685038"/>
                <a:gd name="connsiteY64" fmla="*/ 495491 h 520827"/>
                <a:gd name="connsiteX65" fmla="*/ 53912 w 685038"/>
                <a:gd name="connsiteY65" fmla="*/ 495491 h 520827"/>
                <a:gd name="connsiteX66" fmla="*/ 53912 w 685038"/>
                <a:gd name="connsiteY66" fmla="*/ 506539 h 520827"/>
                <a:gd name="connsiteX67" fmla="*/ 39624 w 685038"/>
                <a:gd name="connsiteY67" fmla="*/ 520827 h 520827"/>
                <a:gd name="connsiteX68" fmla="*/ 25337 w 685038"/>
                <a:gd name="connsiteY68" fmla="*/ 506539 h 520827"/>
                <a:gd name="connsiteX69" fmla="*/ 25337 w 685038"/>
                <a:gd name="connsiteY69" fmla="*/ 495491 h 520827"/>
                <a:gd name="connsiteX70" fmla="*/ 14288 w 685038"/>
                <a:gd name="connsiteY70" fmla="*/ 495491 h 520827"/>
                <a:gd name="connsiteX71" fmla="*/ 0 w 685038"/>
                <a:gd name="connsiteY71" fmla="*/ 481203 h 520827"/>
                <a:gd name="connsiteX72" fmla="*/ 14288 w 685038"/>
                <a:gd name="connsiteY72" fmla="*/ 466916 h 520827"/>
                <a:gd name="connsiteX73" fmla="*/ 25337 w 685038"/>
                <a:gd name="connsiteY73" fmla="*/ 466916 h 520827"/>
                <a:gd name="connsiteX74" fmla="*/ 25337 w 685038"/>
                <a:gd name="connsiteY74" fmla="*/ 364522 h 520827"/>
                <a:gd name="connsiteX75" fmla="*/ 14288 w 685038"/>
                <a:gd name="connsiteY75" fmla="*/ 364522 h 520827"/>
                <a:gd name="connsiteX76" fmla="*/ 0 w 685038"/>
                <a:gd name="connsiteY76" fmla="*/ 350234 h 520827"/>
                <a:gd name="connsiteX77" fmla="*/ 14288 w 685038"/>
                <a:gd name="connsiteY77" fmla="*/ 335947 h 520827"/>
                <a:gd name="connsiteX78" fmla="*/ 25337 w 685038"/>
                <a:gd name="connsiteY78" fmla="*/ 335947 h 520827"/>
                <a:gd name="connsiteX79" fmla="*/ 25337 w 685038"/>
                <a:gd name="connsiteY79" fmla="*/ 233553 h 520827"/>
                <a:gd name="connsiteX80" fmla="*/ 14288 w 685038"/>
                <a:gd name="connsiteY80" fmla="*/ 233553 h 520827"/>
                <a:gd name="connsiteX81" fmla="*/ 0 w 685038"/>
                <a:gd name="connsiteY81" fmla="*/ 219266 h 520827"/>
                <a:gd name="connsiteX82" fmla="*/ 14288 w 685038"/>
                <a:gd name="connsiteY82" fmla="*/ 204978 h 520827"/>
                <a:gd name="connsiteX83" fmla="*/ 25337 w 685038"/>
                <a:gd name="connsiteY83" fmla="*/ 204978 h 520827"/>
                <a:gd name="connsiteX84" fmla="*/ 25337 w 685038"/>
                <a:gd name="connsiteY84" fmla="*/ 102489 h 520827"/>
                <a:gd name="connsiteX85" fmla="*/ 14288 w 685038"/>
                <a:gd name="connsiteY85" fmla="*/ 102489 h 520827"/>
                <a:gd name="connsiteX86" fmla="*/ 0 w 685038"/>
                <a:gd name="connsiteY86" fmla="*/ 88201 h 520827"/>
                <a:gd name="connsiteX87" fmla="*/ 14288 w 685038"/>
                <a:gd name="connsiteY87" fmla="*/ 73914 h 520827"/>
                <a:gd name="connsiteX88" fmla="*/ 25337 w 685038"/>
                <a:gd name="connsiteY88" fmla="*/ 73914 h 520827"/>
                <a:gd name="connsiteX89" fmla="*/ 25337 w 685038"/>
                <a:gd name="connsiteY89" fmla="*/ 32957 h 520827"/>
                <a:gd name="connsiteX90" fmla="*/ 39624 w 685038"/>
                <a:gd name="connsiteY90" fmla="*/ 18669 h 520827"/>
                <a:gd name="connsiteX91" fmla="*/ 600932 w 685038"/>
                <a:gd name="connsiteY91" fmla="*/ 0 h 520827"/>
                <a:gd name="connsiteX92" fmla="*/ 633889 w 685038"/>
                <a:gd name="connsiteY92" fmla="*/ 32957 h 520827"/>
                <a:gd name="connsiteX93" fmla="*/ 600932 w 685038"/>
                <a:gd name="connsiteY93" fmla="*/ 65913 h 520827"/>
                <a:gd name="connsiteX94" fmla="*/ 567976 w 685038"/>
                <a:gd name="connsiteY94" fmla="*/ 32957 h 520827"/>
                <a:gd name="connsiteX95" fmla="*/ 600932 w 685038"/>
                <a:gd name="connsiteY95" fmla="*/ 0 h 52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85038" h="520827">
                  <a:moveTo>
                    <a:pt x="218695" y="350044"/>
                  </a:moveTo>
                  <a:cubicBezTo>
                    <a:pt x="236707" y="350304"/>
                    <a:pt x="251173" y="364979"/>
                    <a:pt x="251175" y="382993"/>
                  </a:cubicBezTo>
                  <a:cubicBezTo>
                    <a:pt x="251177" y="401195"/>
                    <a:pt x="236424" y="415951"/>
                    <a:pt x="218222" y="415953"/>
                  </a:cubicBezTo>
                  <a:cubicBezTo>
                    <a:pt x="200021" y="415955"/>
                    <a:pt x="185264" y="401201"/>
                    <a:pt x="185262" y="383000"/>
                  </a:cubicBezTo>
                  <a:cubicBezTo>
                    <a:pt x="185262" y="382840"/>
                    <a:pt x="185263" y="382680"/>
                    <a:pt x="185266" y="382520"/>
                  </a:cubicBezTo>
                  <a:cubicBezTo>
                    <a:pt x="185529" y="364321"/>
                    <a:pt x="200495" y="349781"/>
                    <a:pt x="218695" y="350044"/>
                  </a:cubicBezTo>
                  <a:close/>
                  <a:moveTo>
                    <a:pt x="137351" y="275177"/>
                  </a:moveTo>
                  <a:cubicBezTo>
                    <a:pt x="137382" y="275177"/>
                    <a:pt x="137414" y="275177"/>
                    <a:pt x="137446" y="275177"/>
                  </a:cubicBezTo>
                  <a:cubicBezTo>
                    <a:pt x="155647" y="275229"/>
                    <a:pt x="170360" y="290027"/>
                    <a:pt x="170307" y="308229"/>
                  </a:cubicBezTo>
                  <a:cubicBezTo>
                    <a:pt x="170254" y="326430"/>
                    <a:pt x="155457" y="341142"/>
                    <a:pt x="137255" y="341090"/>
                  </a:cubicBezTo>
                  <a:cubicBezTo>
                    <a:pt x="119054" y="341038"/>
                    <a:pt x="104342" y="326240"/>
                    <a:pt x="104394" y="308038"/>
                  </a:cubicBezTo>
                  <a:cubicBezTo>
                    <a:pt x="104447" y="289874"/>
                    <a:pt x="119186" y="275177"/>
                    <a:pt x="137351" y="275177"/>
                  </a:cubicBezTo>
                  <a:close/>
                  <a:moveTo>
                    <a:pt x="288608" y="247745"/>
                  </a:moveTo>
                  <a:cubicBezTo>
                    <a:pt x="306810" y="247745"/>
                    <a:pt x="321565" y="262500"/>
                    <a:pt x="321565" y="280702"/>
                  </a:cubicBezTo>
                  <a:cubicBezTo>
                    <a:pt x="321565" y="298903"/>
                    <a:pt x="306810" y="313658"/>
                    <a:pt x="288608" y="313658"/>
                  </a:cubicBezTo>
                  <a:cubicBezTo>
                    <a:pt x="270407" y="313658"/>
                    <a:pt x="255652" y="298903"/>
                    <a:pt x="255652" y="280702"/>
                  </a:cubicBezTo>
                  <a:cubicBezTo>
                    <a:pt x="255652" y="262500"/>
                    <a:pt x="270407" y="247745"/>
                    <a:pt x="288608" y="247745"/>
                  </a:cubicBezTo>
                  <a:close/>
                  <a:moveTo>
                    <a:pt x="411195" y="231838"/>
                  </a:moveTo>
                  <a:cubicBezTo>
                    <a:pt x="411321" y="231838"/>
                    <a:pt x="411447" y="231839"/>
                    <a:pt x="411574" y="231840"/>
                  </a:cubicBezTo>
                  <a:cubicBezTo>
                    <a:pt x="429773" y="232050"/>
                    <a:pt x="444357" y="246975"/>
                    <a:pt x="444146" y="265176"/>
                  </a:cubicBezTo>
                  <a:cubicBezTo>
                    <a:pt x="443936" y="283376"/>
                    <a:pt x="429011" y="297960"/>
                    <a:pt x="410812" y="297749"/>
                  </a:cubicBezTo>
                  <a:cubicBezTo>
                    <a:pt x="392611" y="297539"/>
                    <a:pt x="378028" y="282614"/>
                    <a:pt x="378238" y="264413"/>
                  </a:cubicBezTo>
                  <a:cubicBezTo>
                    <a:pt x="378447" y="246361"/>
                    <a:pt x="393141" y="231837"/>
                    <a:pt x="411195" y="231838"/>
                  </a:cubicBezTo>
                  <a:close/>
                  <a:moveTo>
                    <a:pt x="567976" y="159353"/>
                  </a:moveTo>
                  <a:cubicBezTo>
                    <a:pt x="586178" y="159353"/>
                    <a:pt x="600933" y="174108"/>
                    <a:pt x="600933" y="192309"/>
                  </a:cubicBezTo>
                  <a:cubicBezTo>
                    <a:pt x="600933" y="210511"/>
                    <a:pt x="586178" y="225266"/>
                    <a:pt x="567976" y="225266"/>
                  </a:cubicBezTo>
                  <a:cubicBezTo>
                    <a:pt x="549775" y="225266"/>
                    <a:pt x="535020" y="210511"/>
                    <a:pt x="535020" y="192309"/>
                  </a:cubicBezTo>
                  <a:cubicBezTo>
                    <a:pt x="535020" y="174108"/>
                    <a:pt x="549775" y="159353"/>
                    <a:pt x="567976" y="159353"/>
                  </a:cubicBezTo>
                  <a:close/>
                  <a:moveTo>
                    <a:pt x="288608" y="113157"/>
                  </a:moveTo>
                  <a:cubicBezTo>
                    <a:pt x="306810" y="113157"/>
                    <a:pt x="321565" y="127912"/>
                    <a:pt x="321565" y="146113"/>
                  </a:cubicBezTo>
                  <a:cubicBezTo>
                    <a:pt x="321565" y="164315"/>
                    <a:pt x="306810" y="179070"/>
                    <a:pt x="288608" y="179070"/>
                  </a:cubicBezTo>
                  <a:cubicBezTo>
                    <a:pt x="270407" y="179070"/>
                    <a:pt x="255652" y="164315"/>
                    <a:pt x="255652" y="146113"/>
                  </a:cubicBezTo>
                  <a:cubicBezTo>
                    <a:pt x="255652" y="127912"/>
                    <a:pt x="270407" y="113157"/>
                    <a:pt x="288608" y="113157"/>
                  </a:cubicBezTo>
                  <a:close/>
                  <a:moveTo>
                    <a:pt x="432530" y="55245"/>
                  </a:moveTo>
                  <a:cubicBezTo>
                    <a:pt x="450732" y="55245"/>
                    <a:pt x="465487" y="70000"/>
                    <a:pt x="465487" y="88202"/>
                  </a:cubicBezTo>
                  <a:cubicBezTo>
                    <a:pt x="465487" y="88265"/>
                    <a:pt x="465487" y="88329"/>
                    <a:pt x="465487" y="88392"/>
                  </a:cubicBezTo>
                  <a:cubicBezTo>
                    <a:pt x="465435" y="106541"/>
                    <a:pt x="450679" y="121210"/>
                    <a:pt x="432530" y="121158"/>
                  </a:cubicBezTo>
                  <a:cubicBezTo>
                    <a:pt x="414329" y="121158"/>
                    <a:pt x="399574" y="106403"/>
                    <a:pt x="399574" y="88202"/>
                  </a:cubicBezTo>
                  <a:cubicBezTo>
                    <a:pt x="399574" y="70000"/>
                    <a:pt x="414329" y="55245"/>
                    <a:pt x="432530" y="55245"/>
                  </a:cubicBezTo>
                  <a:close/>
                  <a:moveTo>
                    <a:pt x="39624" y="18669"/>
                  </a:moveTo>
                  <a:cubicBezTo>
                    <a:pt x="47515" y="18669"/>
                    <a:pt x="53912" y="25066"/>
                    <a:pt x="53912" y="32957"/>
                  </a:cubicBezTo>
                  <a:lnTo>
                    <a:pt x="53912" y="466916"/>
                  </a:lnTo>
                  <a:lnTo>
                    <a:pt x="670751" y="466916"/>
                  </a:lnTo>
                  <a:cubicBezTo>
                    <a:pt x="678641" y="466916"/>
                    <a:pt x="685038" y="473313"/>
                    <a:pt x="685038" y="481203"/>
                  </a:cubicBezTo>
                  <a:cubicBezTo>
                    <a:pt x="685038" y="489094"/>
                    <a:pt x="678641" y="495491"/>
                    <a:pt x="670751" y="495491"/>
                  </a:cubicBezTo>
                  <a:lnTo>
                    <a:pt x="577787" y="495491"/>
                  </a:lnTo>
                  <a:lnTo>
                    <a:pt x="577787" y="506539"/>
                  </a:lnTo>
                  <a:cubicBezTo>
                    <a:pt x="577787" y="514430"/>
                    <a:pt x="571390" y="520827"/>
                    <a:pt x="563499" y="520827"/>
                  </a:cubicBezTo>
                  <a:cubicBezTo>
                    <a:pt x="555608" y="520827"/>
                    <a:pt x="549212" y="514430"/>
                    <a:pt x="549212" y="506539"/>
                  </a:cubicBezTo>
                  <a:lnTo>
                    <a:pt x="549212" y="495491"/>
                  </a:lnTo>
                  <a:lnTo>
                    <a:pt x="447294" y="495491"/>
                  </a:lnTo>
                  <a:lnTo>
                    <a:pt x="447294" y="506539"/>
                  </a:lnTo>
                  <a:cubicBezTo>
                    <a:pt x="447294" y="514430"/>
                    <a:pt x="440897" y="520827"/>
                    <a:pt x="433007" y="520827"/>
                  </a:cubicBezTo>
                  <a:cubicBezTo>
                    <a:pt x="425116" y="520827"/>
                    <a:pt x="418719" y="514430"/>
                    <a:pt x="418719" y="506539"/>
                  </a:cubicBezTo>
                  <a:lnTo>
                    <a:pt x="418719" y="495491"/>
                  </a:lnTo>
                  <a:lnTo>
                    <a:pt x="315849" y="495491"/>
                  </a:lnTo>
                  <a:lnTo>
                    <a:pt x="315849" y="506539"/>
                  </a:lnTo>
                  <a:cubicBezTo>
                    <a:pt x="315849" y="514430"/>
                    <a:pt x="309452" y="520827"/>
                    <a:pt x="301562" y="520827"/>
                  </a:cubicBezTo>
                  <a:cubicBezTo>
                    <a:pt x="293671" y="520827"/>
                    <a:pt x="287274" y="514430"/>
                    <a:pt x="287274" y="506539"/>
                  </a:cubicBezTo>
                  <a:lnTo>
                    <a:pt x="287274" y="495491"/>
                  </a:lnTo>
                  <a:lnTo>
                    <a:pt x="184880" y="495491"/>
                  </a:lnTo>
                  <a:lnTo>
                    <a:pt x="184880" y="506539"/>
                  </a:lnTo>
                  <a:cubicBezTo>
                    <a:pt x="184880" y="514430"/>
                    <a:pt x="178483" y="520827"/>
                    <a:pt x="170593" y="520827"/>
                  </a:cubicBezTo>
                  <a:cubicBezTo>
                    <a:pt x="162702" y="520827"/>
                    <a:pt x="156305" y="514430"/>
                    <a:pt x="156305" y="506539"/>
                  </a:cubicBezTo>
                  <a:lnTo>
                    <a:pt x="156305" y="495491"/>
                  </a:lnTo>
                  <a:lnTo>
                    <a:pt x="53912" y="495491"/>
                  </a:lnTo>
                  <a:lnTo>
                    <a:pt x="53912" y="506539"/>
                  </a:lnTo>
                  <a:cubicBezTo>
                    <a:pt x="53912" y="514430"/>
                    <a:pt x="47515" y="520827"/>
                    <a:pt x="39624" y="520827"/>
                  </a:cubicBezTo>
                  <a:cubicBezTo>
                    <a:pt x="31733" y="520827"/>
                    <a:pt x="25337" y="514430"/>
                    <a:pt x="25337" y="506539"/>
                  </a:cubicBezTo>
                  <a:lnTo>
                    <a:pt x="25337" y="495491"/>
                  </a:lnTo>
                  <a:lnTo>
                    <a:pt x="14288" y="495491"/>
                  </a:lnTo>
                  <a:cubicBezTo>
                    <a:pt x="6397" y="495491"/>
                    <a:pt x="0" y="489094"/>
                    <a:pt x="0" y="481203"/>
                  </a:cubicBezTo>
                  <a:cubicBezTo>
                    <a:pt x="0" y="473313"/>
                    <a:pt x="6397" y="466916"/>
                    <a:pt x="14288" y="466916"/>
                  </a:cubicBezTo>
                  <a:lnTo>
                    <a:pt x="25337" y="466916"/>
                  </a:lnTo>
                  <a:lnTo>
                    <a:pt x="25337" y="364522"/>
                  </a:lnTo>
                  <a:lnTo>
                    <a:pt x="14288" y="364522"/>
                  </a:lnTo>
                  <a:cubicBezTo>
                    <a:pt x="6397" y="364522"/>
                    <a:pt x="0" y="358125"/>
                    <a:pt x="0" y="350234"/>
                  </a:cubicBezTo>
                  <a:cubicBezTo>
                    <a:pt x="0" y="342344"/>
                    <a:pt x="6397" y="335947"/>
                    <a:pt x="14288" y="335947"/>
                  </a:cubicBezTo>
                  <a:lnTo>
                    <a:pt x="25337" y="335947"/>
                  </a:lnTo>
                  <a:lnTo>
                    <a:pt x="25337" y="233553"/>
                  </a:lnTo>
                  <a:lnTo>
                    <a:pt x="14288" y="233553"/>
                  </a:lnTo>
                  <a:cubicBezTo>
                    <a:pt x="6397" y="233553"/>
                    <a:pt x="0" y="227156"/>
                    <a:pt x="0" y="219266"/>
                  </a:cubicBezTo>
                  <a:cubicBezTo>
                    <a:pt x="0" y="211375"/>
                    <a:pt x="6397" y="204978"/>
                    <a:pt x="14288" y="204978"/>
                  </a:cubicBezTo>
                  <a:lnTo>
                    <a:pt x="25337" y="204978"/>
                  </a:lnTo>
                  <a:lnTo>
                    <a:pt x="25337" y="102489"/>
                  </a:lnTo>
                  <a:lnTo>
                    <a:pt x="14288" y="102489"/>
                  </a:lnTo>
                  <a:cubicBezTo>
                    <a:pt x="6397" y="102489"/>
                    <a:pt x="0" y="96092"/>
                    <a:pt x="0" y="88201"/>
                  </a:cubicBezTo>
                  <a:cubicBezTo>
                    <a:pt x="0" y="80311"/>
                    <a:pt x="6397" y="73914"/>
                    <a:pt x="14288" y="73914"/>
                  </a:cubicBezTo>
                  <a:lnTo>
                    <a:pt x="25337" y="73914"/>
                  </a:lnTo>
                  <a:lnTo>
                    <a:pt x="25337" y="32957"/>
                  </a:lnTo>
                  <a:cubicBezTo>
                    <a:pt x="25337" y="25066"/>
                    <a:pt x="31733" y="18669"/>
                    <a:pt x="39624" y="18669"/>
                  </a:cubicBezTo>
                  <a:close/>
                  <a:moveTo>
                    <a:pt x="600932" y="0"/>
                  </a:moveTo>
                  <a:cubicBezTo>
                    <a:pt x="619134" y="0"/>
                    <a:pt x="633889" y="14755"/>
                    <a:pt x="633889" y="32957"/>
                  </a:cubicBezTo>
                  <a:cubicBezTo>
                    <a:pt x="633889" y="51158"/>
                    <a:pt x="619134" y="65913"/>
                    <a:pt x="600932" y="65913"/>
                  </a:cubicBezTo>
                  <a:cubicBezTo>
                    <a:pt x="582731" y="65913"/>
                    <a:pt x="567976" y="51158"/>
                    <a:pt x="567976" y="32957"/>
                  </a:cubicBezTo>
                  <a:cubicBezTo>
                    <a:pt x="567976" y="14755"/>
                    <a:pt x="582731" y="0"/>
                    <a:pt x="600932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6F535DF6-C9E4-0055-F698-41759F012A34}"/>
              </a:ext>
            </a:extLst>
          </p:cNvPr>
          <p:cNvGrpSpPr>
            <a:grpSpLocks/>
          </p:cNvGrpSpPr>
          <p:nvPr/>
        </p:nvGrpSpPr>
        <p:grpSpPr>
          <a:xfrm>
            <a:off x="449020" y="6334602"/>
            <a:ext cx="5395736" cy="851515"/>
            <a:chOff x="449020" y="6392203"/>
            <a:chExt cx="5395736" cy="851515"/>
          </a:xfrm>
        </p:grpSpPr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3E6E09F1-7171-1B57-1244-C465240DDF12}"/>
                </a:ext>
              </a:extLst>
            </p:cNvPr>
            <p:cNvSpPr>
              <a:spLocks/>
            </p:cNvSpPr>
            <p:nvPr/>
          </p:nvSpPr>
          <p:spPr>
            <a:xfrm>
              <a:off x="449020" y="6392203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create_bubble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</a:t>
              </a:r>
              <a:r>
                <a:rPr lang="en-US" sz="1300" i="1" dirty="0" err="1">
                  <a:solidFill>
                    <a:schemeClr val="tx1"/>
                  </a:solidFill>
                </a:rPr>
                <a:t>hrvar</a:t>
              </a:r>
              <a:r>
                <a:rPr lang="en-US" sz="1300" i="1" dirty="0">
                  <a:solidFill>
                    <a:schemeClr val="tx1"/>
                  </a:solidFill>
                </a:rPr>
                <a:t>, </a:t>
              </a:r>
              <a:r>
                <a:rPr lang="en-US" sz="1300" i="1" dirty="0" err="1">
                  <a:solidFill>
                    <a:schemeClr val="tx1"/>
                  </a:solidFill>
                </a:rPr>
                <a:t>mingroup</a:t>
              </a:r>
              <a:r>
                <a:rPr lang="en-US" sz="1300" i="1" dirty="0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Returns a bubble plot of two selected metrics, using size to map the number of employees</a:t>
              </a: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5FCEEDC-8043-E089-68B9-56BFFA8648BD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49020" y="6392203"/>
              <a:ext cx="320863" cy="320863"/>
            </a:xfrm>
            <a:custGeom>
              <a:avLst/>
              <a:gdLst>
                <a:gd name="connsiteX0" fmla="*/ 466725 w 781050"/>
                <a:gd name="connsiteY0" fmla="*/ 161925 h 781050"/>
                <a:gd name="connsiteX1" fmla="*/ 542925 w 781050"/>
                <a:gd name="connsiteY1" fmla="*/ 85725 h 781050"/>
                <a:gd name="connsiteX2" fmla="*/ 619125 w 781050"/>
                <a:gd name="connsiteY2" fmla="*/ 161925 h 781050"/>
                <a:gd name="connsiteX3" fmla="*/ 542925 w 781050"/>
                <a:gd name="connsiteY3" fmla="*/ 238125 h 781050"/>
                <a:gd name="connsiteX4" fmla="*/ 466725 w 781050"/>
                <a:gd name="connsiteY4" fmla="*/ 161925 h 781050"/>
                <a:gd name="connsiteX5" fmla="*/ 466725 w 781050"/>
                <a:gd name="connsiteY5" fmla="*/ 581025 h 781050"/>
                <a:gd name="connsiteX6" fmla="*/ 523875 w 781050"/>
                <a:gd name="connsiteY6" fmla="*/ 523875 h 781050"/>
                <a:gd name="connsiteX7" fmla="*/ 581025 w 781050"/>
                <a:gd name="connsiteY7" fmla="*/ 581025 h 781050"/>
                <a:gd name="connsiteX8" fmla="*/ 523875 w 781050"/>
                <a:gd name="connsiteY8" fmla="*/ 638175 h 781050"/>
                <a:gd name="connsiteX9" fmla="*/ 466725 w 781050"/>
                <a:gd name="connsiteY9" fmla="*/ 581025 h 781050"/>
                <a:gd name="connsiteX10" fmla="*/ 200025 w 781050"/>
                <a:gd name="connsiteY10" fmla="*/ 371475 h 781050"/>
                <a:gd name="connsiteX11" fmla="*/ 323850 w 781050"/>
                <a:gd name="connsiteY11" fmla="*/ 247650 h 781050"/>
                <a:gd name="connsiteX12" fmla="*/ 447675 w 781050"/>
                <a:gd name="connsiteY12" fmla="*/ 371475 h 781050"/>
                <a:gd name="connsiteX13" fmla="*/ 323850 w 781050"/>
                <a:gd name="connsiteY13" fmla="*/ 495300 h 781050"/>
                <a:gd name="connsiteX14" fmla="*/ 200025 w 781050"/>
                <a:gd name="connsiteY14" fmla="*/ 371475 h 781050"/>
                <a:gd name="connsiteX15" fmla="*/ 66675 w 781050"/>
                <a:gd name="connsiteY15" fmla="*/ 238125 h 781050"/>
                <a:gd name="connsiteX16" fmla="*/ 104775 w 781050"/>
                <a:gd name="connsiteY16" fmla="*/ 200025 h 781050"/>
                <a:gd name="connsiteX17" fmla="*/ 142875 w 781050"/>
                <a:gd name="connsiteY17" fmla="*/ 238125 h 781050"/>
                <a:gd name="connsiteX18" fmla="*/ 104775 w 781050"/>
                <a:gd name="connsiteY18" fmla="*/ 276225 h 781050"/>
                <a:gd name="connsiteX19" fmla="*/ 66675 w 781050"/>
                <a:gd name="connsiteY19" fmla="*/ 238125 h 781050"/>
                <a:gd name="connsiteX20" fmla="*/ 0 w 781050"/>
                <a:gd name="connsiteY20" fmla="*/ 781050 h 781050"/>
                <a:gd name="connsiteX21" fmla="*/ 0 w 781050"/>
                <a:gd name="connsiteY21" fmla="*/ 742950 h 781050"/>
                <a:gd name="connsiteX22" fmla="*/ 742950 w 781050"/>
                <a:gd name="connsiteY22" fmla="*/ 742950 h 781050"/>
                <a:gd name="connsiteX23" fmla="*/ 742950 w 781050"/>
                <a:gd name="connsiteY23" fmla="*/ 0 h 781050"/>
                <a:gd name="connsiteX24" fmla="*/ 781050 w 781050"/>
                <a:gd name="connsiteY24" fmla="*/ 0 h 781050"/>
                <a:gd name="connsiteX25" fmla="*/ 781050 w 781050"/>
                <a:gd name="connsiteY25" fmla="*/ 78105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81050" h="781050">
                  <a:moveTo>
                    <a:pt x="466725" y="161925"/>
                  </a:moveTo>
                  <a:cubicBezTo>
                    <a:pt x="466725" y="119841"/>
                    <a:pt x="500841" y="85725"/>
                    <a:pt x="542925" y="85725"/>
                  </a:cubicBezTo>
                  <a:cubicBezTo>
                    <a:pt x="585009" y="85725"/>
                    <a:pt x="619125" y="119841"/>
                    <a:pt x="619125" y="161925"/>
                  </a:cubicBezTo>
                  <a:cubicBezTo>
                    <a:pt x="619125" y="204009"/>
                    <a:pt x="585009" y="238125"/>
                    <a:pt x="542925" y="238125"/>
                  </a:cubicBezTo>
                  <a:cubicBezTo>
                    <a:pt x="500841" y="238125"/>
                    <a:pt x="466725" y="204009"/>
                    <a:pt x="466725" y="161925"/>
                  </a:cubicBezTo>
                  <a:close/>
                  <a:moveTo>
                    <a:pt x="466725" y="581025"/>
                  </a:moveTo>
                  <a:cubicBezTo>
                    <a:pt x="466725" y="549462"/>
                    <a:pt x="492312" y="523875"/>
                    <a:pt x="523875" y="523875"/>
                  </a:cubicBezTo>
                  <a:cubicBezTo>
                    <a:pt x="555438" y="523875"/>
                    <a:pt x="581025" y="549462"/>
                    <a:pt x="581025" y="581025"/>
                  </a:cubicBezTo>
                  <a:cubicBezTo>
                    <a:pt x="581025" y="612588"/>
                    <a:pt x="555438" y="638175"/>
                    <a:pt x="523875" y="638175"/>
                  </a:cubicBezTo>
                  <a:cubicBezTo>
                    <a:pt x="492312" y="638175"/>
                    <a:pt x="466725" y="612588"/>
                    <a:pt x="466725" y="581025"/>
                  </a:cubicBezTo>
                  <a:close/>
                  <a:moveTo>
                    <a:pt x="200025" y="371475"/>
                  </a:moveTo>
                  <a:cubicBezTo>
                    <a:pt x="200025" y="303088"/>
                    <a:pt x="255463" y="247650"/>
                    <a:pt x="323850" y="247650"/>
                  </a:cubicBezTo>
                  <a:cubicBezTo>
                    <a:pt x="392237" y="247650"/>
                    <a:pt x="447675" y="303088"/>
                    <a:pt x="447675" y="371475"/>
                  </a:cubicBezTo>
                  <a:cubicBezTo>
                    <a:pt x="447675" y="439862"/>
                    <a:pt x="392237" y="495300"/>
                    <a:pt x="323850" y="495300"/>
                  </a:cubicBezTo>
                  <a:cubicBezTo>
                    <a:pt x="255463" y="495300"/>
                    <a:pt x="200025" y="439862"/>
                    <a:pt x="200025" y="371475"/>
                  </a:cubicBezTo>
                  <a:close/>
                  <a:moveTo>
                    <a:pt x="66675" y="238125"/>
                  </a:moveTo>
                  <a:cubicBezTo>
                    <a:pt x="66675" y="217083"/>
                    <a:pt x="83733" y="200025"/>
                    <a:pt x="104775" y="200025"/>
                  </a:cubicBezTo>
                  <a:cubicBezTo>
                    <a:pt x="125817" y="200025"/>
                    <a:pt x="142875" y="217083"/>
                    <a:pt x="142875" y="238125"/>
                  </a:cubicBezTo>
                  <a:cubicBezTo>
                    <a:pt x="142875" y="259167"/>
                    <a:pt x="125817" y="276225"/>
                    <a:pt x="104775" y="276225"/>
                  </a:cubicBezTo>
                  <a:cubicBezTo>
                    <a:pt x="83733" y="276225"/>
                    <a:pt x="66675" y="259167"/>
                    <a:pt x="66675" y="238125"/>
                  </a:cubicBezTo>
                  <a:close/>
                  <a:moveTo>
                    <a:pt x="0" y="781050"/>
                  </a:moveTo>
                  <a:lnTo>
                    <a:pt x="0" y="742950"/>
                  </a:lnTo>
                  <a:lnTo>
                    <a:pt x="742950" y="742950"/>
                  </a:lnTo>
                  <a:lnTo>
                    <a:pt x="742950" y="0"/>
                  </a:lnTo>
                  <a:lnTo>
                    <a:pt x="781050" y="0"/>
                  </a:lnTo>
                  <a:lnTo>
                    <a:pt x="781050" y="781050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6353BCFE-2266-F71A-7DF0-09A21F5FA9D3}"/>
              </a:ext>
            </a:extLst>
          </p:cNvPr>
          <p:cNvGrpSpPr>
            <a:grpSpLocks/>
          </p:cNvGrpSpPr>
          <p:nvPr/>
        </p:nvGrpSpPr>
        <p:grpSpPr>
          <a:xfrm>
            <a:off x="449020" y="7494579"/>
            <a:ext cx="5395736" cy="651460"/>
            <a:chOff x="449020" y="7611858"/>
            <a:chExt cx="5395736" cy="651460"/>
          </a:xfrm>
        </p:grpSpPr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6906C175-59E3-0244-E804-20725AC12B67}"/>
                </a:ext>
              </a:extLst>
            </p:cNvPr>
            <p:cNvSpPr>
              <a:spLocks/>
            </p:cNvSpPr>
            <p:nvPr/>
          </p:nvSpPr>
          <p:spPr>
            <a:xfrm>
              <a:off x="449020" y="7611858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create_dist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>
                  <a:solidFill>
                    <a:schemeClr val="tx1"/>
                  </a:solidFill>
                </a:rPr>
                <a:t>metric, </a:t>
              </a: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stacked bar plot by default</a:t>
              </a: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A452EEB4-EF18-47D1-2A9C-0A1A9BA303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7611858"/>
              <a:ext cx="320863" cy="320863"/>
            </a:xfrm>
            <a:custGeom>
              <a:avLst/>
              <a:gdLst>
                <a:gd name="connsiteX0" fmla="*/ 361950 w 819150"/>
                <a:gd name="connsiteY0" fmla="*/ 657225 h 819150"/>
                <a:gd name="connsiteX1" fmla="*/ 819150 w 819150"/>
                <a:gd name="connsiteY1" fmla="*/ 657225 h 819150"/>
                <a:gd name="connsiteX2" fmla="*/ 819150 w 819150"/>
                <a:gd name="connsiteY2" fmla="*/ 819150 h 819150"/>
                <a:gd name="connsiteX3" fmla="*/ 361950 w 819150"/>
                <a:gd name="connsiteY3" fmla="*/ 819150 h 819150"/>
                <a:gd name="connsiteX4" fmla="*/ 190500 w 819150"/>
                <a:gd name="connsiteY4" fmla="*/ 657225 h 819150"/>
                <a:gd name="connsiteX5" fmla="*/ 342900 w 819150"/>
                <a:gd name="connsiteY5" fmla="*/ 657225 h 819150"/>
                <a:gd name="connsiteX6" fmla="*/ 342900 w 819150"/>
                <a:gd name="connsiteY6" fmla="*/ 819150 h 819150"/>
                <a:gd name="connsiteX7" fmla="*/ 190500 w 819150"/>
                <a:gd name="connsiteY7" fmla="*/ 819150 h 819150"/>
                <a:gd name="connsiteX8" fmla="*/ 0 w 819150"/>
                <a:gd name="connsiteY8" fmla="*/ 657225 h 819150"/>
                <a:gd name="connsiteX9" fmla="*/ 171450 w 819150"/>
                <a:gd name="connsiteY9" fmla="*/ 657225 h 819150"/>
                <a:gd name="connsiteX10" fmla="*/ 171450 w 819150"/>
                <a:gd name="connsiteY10" fmla="*/ 819150 h 819150"/>
                <a:gd name="connsiteX11" fmla="*/ 0 w 819150"/>
                <a:gd name="connsiteY11" fmla="*/ 819150 h 819150"/>
                <a:gd name="connsiteX12" fmla="*/ 590550 w 819150"/>
                <a:gd name="connsiteY12" fmla="*/ 438150 h 819150"/>
                <a:gd name="connsiteX13" fmla="*/ 819150 w 819150"/>
                <a:gd name="connsiteY13" fmla="*/ 438150 h 819150"/>
                <a:gd name="connsiteX14" fmla="*/ 819150 w 819150"/>
                <a:gd name="connsiteY14" fmla="*/ 600075 h 819150"/>
                <a:gd name="connsiteX15" fmla="*/ 590550 w 819150"/>
                <a:gd name="connsiteY15" fmla="*/ 600075 h 819150"/>
                <a:gd name="connsiteX16" fmla="*/ 276225 w 819150"/>
                <a:gd name="connsiteY16" fmla="*/ 438150 h 819150"/>
                <a:gd name="connsiteX17" fmla="*/ 571500 w 819150"/>
                <a:gd name="connsiteY17" fmla="*/ 438150 h 819150"/>
                <a:gd name="connsiteX18" fmla="*/ 571500 w 819150"/>
                <a:gd name="connsiteY18" fmla="*/ 600075 h 819150"/>
                <a:gd name="connsiteX19" fmla="*/ 276225 w 819150"/>
                <a:gd name="connsiteY19" fmla="*/ 600075 h 819150"/>
                <a:gd name="connsiteX20" fmla="*/ 0 w 819150"/>
                <a:gd name="connsiteY20" fmla="*/ 438150 h 819150"/>
                <a:gd name="connsiteX21" fmla="*/ 257175 w 819150"/>
                <a:gd name="connsiteY21" fmla="*/ 438150 h 819150"/>
                <a:gd name="connsiteX22" fmla="*/ 257175 w 819150"/>
                <a:gd name="connsiteY22" fmla="*/ 600075 h 819150"/>
                <a:gd name="connsiteX23" fmla="*/ 0 w 819150"/>
                <a:gd name="connsiteY23" fmla="*/ 600075 h 819150"/>
                <a:gd name="connsiteX24" fmla="*/ 514350 w 819150"/>
                <a:gd name="connsiteY24" fmla="*/ 219075 h 819150"/>
                <a:gd name="connsiteX25" fmla="*/ 819150 w 819150"/>
                <a:gd name="connsiteY25" fmla="*/ 219075 h 819150"/>
                <a:gd name="connsiteX26" fmla="*/ 819150 w 819150"/>
                <a:gd name="connsiteY26" fmla="*/ 381000 h 819150"/>
                <a:gd name="connsiteX27" fmla="*/ 514350 w 819150"/>
                <a:gd name="connsiteY27" fmla="*/ 381000 h 819150"/>
                <a:gd name="connsiteX28" fmla="*/ 190500 w 819150"/>
                <a:gd name="connsiteY28" fmla="*/ 219075 h 819150"/>
                <a:gd name="connsiteX29" fmla="*/ 495300 w 819150"/>
                <a:gd name="connsiteY29" fmla="*/ 219075 h 819150"/>
                <a:gd name="connsiteX30" fmla="*/ 495300 w 819150"/>
                <a:gd name="connsiteY30" fmla="*/ 381000 h 819150"/>
                <a:gd name="connsiteX31" fmla="*/ 190500 w 819150"/>
                <a:gd name="connsiteY31" fmla="*/ 381000 h 819150"/>
                <a:gd name="connsiteX32" fmla="*/ 0 w 819150"/>
                <a:gd name="connsiteY32" fmla="*/ 219075 h 819150"/>
                <a:gd name="connsiteX33" fmla="*/ 171450 w 819150"/>
                <a:gd name="connsiteY33" fmla="*/ 219075 h 819150"/>
                <a:gd name="connsiteX34" fmla="*/ 171450 w 819150"/>
                <a:gd name="connsiteY34" fmla="*/ 381000 h 819150"/>
                <a:gd name="connsiteX35" fmla="*/ 0 w 819150"/>
                <a:gd name="connsiteY35" fmla="*/ 381000 h 819150"/>
                <a:gd name="connsiteX36" fmla="*/ 400050 w 819150"/>
                <a:gd name="connsiteY36" fmla="*/ 0 h 819150"/>
                <a:gd name="connsiteX37" fmla="*/ 819150 w 819150"/>
                <a:gd name="connsiteY37" fmla="*/ 0 h 819150"/>
                <a:gd name="connsiteX38" fmla="*/ 819150 w 819150"/>
                <a:gd name="connsiteY38" fmla="*/ 161925 h 819150"/>
                <a:gd name="connsiteX39" fmla="*/ 400050 w 819150"/>
                <a:gd name="connsiteY39" fmla="*/ 161925 h 819150"/>
                <a:gd name="connsiteX40" fmla="*/ 323850 w 819150"/>
                <a:gd name="connsiteY40" fmla="*/ 0 h 819150"/>
                <a:gd name="connsiteX41" fmla="*/ 381000 w 819150"/>
                <a:gd name="connsiteY41" fmla="*/ 0 h 819150"/>
                <a:gd name="connsiteX42" fmla="*/ 381000 w 819150"/>
                <a:gd name="connsiteY42" fmla="*/ 161925 h 819150"/>
                <a:gd name="connsiteX43" fmla="*/ 323850 w 819150"/>
                <a:gd name="connsiteY43" fmla="*/ 161925 h 819150"/>
                <a:gd name="connsiteX44" fmla="*/ 0 w 819150"/>
                <a:gd name="connsiteY44" fmla="*/ 0 h 819150"/>
                <a:gd name="connsiteX45" fmla="*/ 304800 w 819150"/>
                <a:gd name="connsiteY45" fmla="*/ 0 h 819150"/>
                <a:gd name="connsiteX46" fmla="*/ 304800 w 819150"/>
                <a:gd name="connsiteY46" fmla="*/ 161925 h 819150"/>
                <a:gd name="connsiteX47" fmla="*/ 0 w 819150"/>
                <a:gd name="connsiteY47" fmla="*/ 16192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19150" h="819150">
                  <a:moveTo>
                    <a:pt x="361950" y="657225"/>
                  </a:moveTo>
                  <a:lnTo>
                    <a:pt x="819150" y="657225"/>
                  </a:lnTo>
                  <a:lnTo>
                    <a:pt x="819150" y="819150"/>
                  </a:lnTo>
                  <a:lnTo>
                    <a:pt x="361950" y="819150"/>
                  </a:lnTo>
                  <a:close/>
                  <a:moveTo>
                    <a:pt x="190500" y="657225"/>
                  </a:moveTo>
                  <a:lnTo>
                    <a:pt x="342900" y="657225"/>
                  </a:lnTo>
                  <a:lnTo>
                    <a:pt x="342900" y="819150"/>
                  </a:lnTo>
                  <a:lnTo>
                    <a:pt x="190500" y="819150"/>
                  </a:lnTo>
                  <a:close/>
                  <a:moveTo>
                    <a:pt x="0" y="657225"/>
                  </a:moveTo>
                  <a:lnTo>
                    <a:pt x="171450" y="657225"/>
                  </a:lnTo>
                  <a:lnTo>
                    <a:pt x="171450" y="819150"/>
                  </a:lnTo>
                  <a:lnTo>
                    <a:pt x="0" y="819150"/>
                  </a:lnTo>
                  <a:close/>
                  <a:moveTo>
                    <a:pt x="590550" y="438150"/>
                  </a:moveTo>
                  <a:lnTo>
                    <a:pt x="819150" y="438150"/>
                  </a:lnTo>
                  <a:lnTo>
                    <a:pt x="819150" y="600075"/>
                  </a:lnTo>
                  <a:lnTo>
                    <a:pt x="590550" y="600075"/>
                  </a:lnTo>
                  <a:close/>
                  <a:moveTo>
                    <a:pt x="276225" y="438150"/>
                  </a:moveTo>
                  <a:lnTo>
                    <a:pt x="571500" y="438150"/>
                  </a:lnTo>
                  <a:lnTo>
                    <a:pt x="571500" y="600075"/>
                  </a:lnTo>
                  <a:lnTo>
                    <a:pt x="276225" y="600075"/>
                  </a:lnTo>
                  <a:close/>
                  <a:moveTo>
                    <a:pt x="0" y="438150"/>
                  </a:moveTo>
                  <a:lnTo>
                    <a:pt x="257175" y="438150"/>
                  </a:lnTo>
                  <a:lnTo>
                    <a:pt x="257175" y="600075"/>
                  </a:lnTo>
                  <a:lnTo>
                    <a:pt x="0" y="600075"/>
                  </a:lnTo>
                  <a:close/>
                  <a:moveTo>
                    <a:pt x="514350" y="219075"/>
                  </a:moveTo>
                  <a:lnTo>
                    <a:pt x="819150" y="219075"/>
                  </a:lnTo>
                  <a:lnTo>
                    <a:pt x="819150" y="381000"/>
                  </a:lnTo>
                  <a:lnTo>
                    <a:pt x="514350" y="381000"/>
                  </a:lnTo>
                  <a:close/>
                  <a:moveTo>
                    <a:pt x="190500" y="219075"/>
                  </a:moveTo>
                  <a:lnTo>
                    <a:pt x="495300" y="219075"/>
                  </a:lnTo>
                  <a:lnTo>
                    <a:pt x="495300" y="381000"/>
                  </a:lnTo>
                  <a:lnTo>
                    <a:pt x="190500" y="381000"/>
                  </a:lnTo>
                  <a:close/>
                  <a:moveTo>
                    <a:pt x="0" y="219075"/>
                  </a:moveTo>
                  <a:lnTo>
                    <a:pt x="171450" y="219075"/>
                  </a:lnTo>
                  <a:lnTo>
                    <a:pt x="171450" y="381000"/>
                  </a:lnTo>
                  <a:lnTo>
                    <a:pt x="0" y="381000"/>
                  </a:lnTo>
                  <a:close/>
                  <a:moveTo>
                    <a:pt x="400050" y="0"/>
                  </a:moveTo>
                  <a:lnTo>
                    <a:pt x="819150" y="0"/>
                  </a:lnTo>
                  <a:lnTo>
                    <a:pt x="819150" y="161925"/>
                  </a:lnTo>
                  <a:lnTo>
                    <a:pt x="400050" y="161925"/>
                  </a:lnTo>
                  <a:close/>
                  <a:moveTo>
                    <a:pt x="323850" y="0"/>
                  </a:moveTo>
                  <a:lnTo>
                    <a:pt x="381000" y="0"/>
                  </a:lnTo>
                  <a:lnTo>
                    <a:pt x="381000" y="161925"/>
                  </a:lnTo>
                  <a:lnTo>
                    <a:pt x="323850" y="161925"/>
                  </a:lnTo>
                  <a:close/>
                  <a:moveTo>
                    <a:pt x="0" y="0"/>
                  </a:moveTo>
                  <a:lnTo>
                    <a:pt x="304800" y="0"/>
                  </a:lnTo>
                  <a:lnTo>
                    <a:pt x="304800" y="161925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6A1E5372-14E4-FEB5-4078-763A3D0C0121}"/>
              </a:ext>
            </a:extLst>
          </p:cNvPr>
          <p:cNvGrpSpPr>
            <a:grpSpLocks/>
          </p:cNvGrpSpPr>
          <p:nvPr/>
        </p:nvGrpSpPr>
        <p:grpSpPr>
          <a:xfrm>
            <a:off x="449020" y="8454501"/>
            <a:ext cx="5395736" cy="651460"/>
            <a:chOff x="449020" y="8585292"/>
            <a:chExt cx="5395736" cy="65146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4E77C22F-1B07-4C15-C0B3-5FC73BFC601D}"/>
                </a:ext>
              </a:extLst>
            </p:cNvPr>
            <p:cNvSpPr>
              <a:spLocks/>
            </p:cNvSpPr>
            <p:nvPr/>
          </p:nvSpPr>
          <p:spPr>
            <a:xfrm>
              <a:off x="449020" y="8585292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create_inc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>
                  <a:solidFill>
                    <a:schemeClr val="tx1"/>
                  </a:solidFill>
                </a:rPr>
                <a:t>metric, </a:t>
              </a: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heatmap for the generated incidence analysis </a:t>
              </a: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0965F142-061C-BF06-CC31-FAB904201217}"/>
                </a:ext>
              </a:extLst>
            </p:cNvPr>
            <p:cNvSpPr>
              <a:spLocks/>
            </p:cNvSpPr>
            <p:nvPr/>
          </p:nvSpPr>
          <p:spPr>
            <a:xfrm>
              <a:off x="449020" y="8585292"/>
              <a:ext cx="320863" cy="320863"/>
            </a:xfrm>
            <a:custGeom>
              <a:avLst/>
              <a:gdLst>
                <a:gd name="connsiteX0" fmla="*/ 69773 w 548219"/>
                <a:gd name="connsiteY0" fmla="*/ 0 h 548219"/>
                <a:gd name="connsiteX1" fmla="*/ 0 w 548219"/>
                <a:gd name="connsiteY1" fmla="*/ 0 h 548219"/>
                <a:gd name="connsiteX2" fmla="*/ 0 w 548219"/>
                <a:gd name="connsiteY2" fmla="*/ 69773 h 548219"/>
                <a:gd name="connsiteX3" fmla="*/ 69773 w 548219"/>
                <a:gd name="connsiteY3" fmla="*/ 69773 h 548219"/>
                <a:gd name="connsiteX4" fmla="*/ 69773 w 548219"/>
                <a:gd name="connsiteY4" fmla="*/ 0 h 548219"/>
                <a:gd name="connsiteX5" fmla="*/ 79741 w 548219"/>
                <a:gd name="connsiteY5" fmla="*/ 0 h 548219"/>
                <a:gd name="connsiteX6" fmla="*/ 79741 w 548219"/>
                <a:gd name="connsiteY6" fmla="*/ 69773 h 548219"/>
                <a:gd name="connsiteX7" fmla="*/ 149515 w 548219"/>
                <a:gd name="connsiteY7" fmla="*/ 69773 h 548219"/>
                <a:gd name="connsiteX8" fmla="*/ 149515 w 548219"/>
                <a:gd name="connsiteY8" fmla="*/ 0 h 548219"/>
                <a:gd name="connsiteX9" fmla="*/ 79741 w 548219"/>
                <a:gd name="connsiteY9" fmla="*/ 0 h 548219"/>
                <a:gd name="connsiteX10" fmla="*/ 159482 w 548219"/>
                <a:gd name="connsiteY10" fmla="*/ 0 h 548219"/>
                <a:gd name="connsiteX11" fmla="*/ 159482 w 548219"/>
                <a:gd name="connsiteY11" fmla="*/ 69773 h 548219"/>
                <a:gd name="connsiteX12" fmla="*/ 229256 w 548219"/>
                <a:gd name="connsiteY12" fmla="*/ 69773 h 548219"/>
                <a:gd name="connsiteX13" fmla="*/ 229256 w 548219"/>
                <a:gd name="connsiteY13" fmla="*/ 0 h 548219"/>
                <a:gd name="connsiteX14" fmla="*/ 159482 w 548219"/>
                <a:gd name="connsiteY14" fmla="*/ 0 h 548219"/>
                <a:gd name="connsiteX15" fmla="*/ 239223 w 548219"/>
                <a:gd name="connsiteY15" fmla="*/ 0 h 548219"/>
                <a:gd name="connsiteX16" fmla="*/ 239223 w 548219"/>
                <a:gd name="connsiteY16" fmla="*/ 69773 h 548219"/>
                <a:gd name="connsiteX17" fmla="*/ 308996 w 548219"/>
                <a:gd name="connsiteY17" fmla="*/ 69773 h 548219"/>
                <a:gd name="connsiteX18" fmla="*/ 308996 w 548219"/>
                <a:gd name="connsiteY18" fmla="*/ 0 h 548219"/>
                <a:gd name="connsiteX19" fmla="*/ 239223 w 548219"/>
                <a:gd name="connsiteY19" fmla="*/ 0 h 548219"/>
                <a:gd name="connsiteX20" fmla="*/ 318965 w 548219"/>
                <a:gd name="connsiteY20" fmla="*/ 0 h 548219"/>
                <a:gd name="connsiteX21" fmla="*/ 318965 w 548219"/>
                <a:gd name="connsiteY21" fmla="*/ 69773 h 548219"/>
                <a:gd name="connsiteX22" fmla="*/ 388738 w 548219"/>
                <a:gd name="connsiteY22" fmla="*/ 69773 h 548219"/>
                <a:gd name="connsiteX23" fmla="*/ 388738 w 548219"/>
                <a:gd name="connsiteY23" fmla="*/ 0 h 548219"/>
                <a:gd name="connsiteX24" fmla="*/ 318965 w 548219"/>
                <a:gd name="connsiteY24" fmla="*/ 0 h 548219"/>
                <a:gd name="connsiteX25" fmla="*/ 388738 w 548219"/>
                <a:gd name="connsiteY25" fmla="*/ 149515 h 548219"/>
                <a:gd name="connsiteX26" fmla="*/ 388738 w 548219"/>
                <a:gd name="connsiteY26" fmla="*/ 79742 h 548219"/>
                <a:gd name="connsiteX27" fmla="*/ 318965 w 548219"/>
                <a:gd name="connsiteY27" fmla="*/ 79742 h 548219"/>
                <a:gd name="connsiteX28" fmla="*/ 318965 w 548219"/>
                <a:gd name="connsiteY28" fmla="*/ 149515 h 548219"/>
                <a:gd name="connsiteX29" fmla="*/ 388738 w 548219"/>
                <a:gd name="connsiteY29" fmla="*/ 149515 h 548219"/>
                <a:gd name="connsiteX30" fmla="*/ 388738 w 548219"/>
                <a:gd name="connsiteY30" fmla="*/ 229256 h 548219"/>
                <a:gd name="connsiteX31" fmla="*/ 388738 w 548219"/>
                <a:gd name="connsiteY31" fmla="*/ 159482 h 548219"/>
                <a:gd name="connsiteX32" fmla="*/ 318965 w 548219"/>
                <a:gd name="connsiteY32" fmla="*/ 159482 h 548219"/>
                <a:gd name="connsiteX33" fmla="*/ 318965 w 548219"/>
                <a:gd name="connsiteY33" fmla="*/ 229256 h 548219"/>
                <a:gd name="connsiteX34" fmla="*/ 388738 w 548219"/>
                <a:gd name="connsiteY34" fmla="*/ 229256 h 548219"/>
                <a:gd name="connsiteX35" fmla="*/ 388738 w 548219"/>
                <a:gd name="connsiteY35" fmla="*/ 308996 h 548219"/>
                <a:gd name="connsiteX36" fmla="*/ 388738 w 548219"/>
                <a:gd name="connsiteY36" fmla="*/ 239223 h 548219"/>
                <a:gd name="connsiteX37" fmla="*/ 318965 w 548219"/>
                <a:gd name="connsiteY37" fmla="*/ 239223 h 548219"/>
                <a:gd name="connsiteX38" fmla="*/ 318965 w 548219"/>
                <a:gd name="connsiteY38" fmla="*/ 308996 h 548219"/>
                <a:gd name="connsiteX39" fmla="*/ 388738 w 548219"/>
                <a:gd name="connsiteY39" fmla="*/ 308996 h 548219"/>
                <a:gd name="connsiteX40" fmla="*/ 388738 w 548219"/>
                <a:gd name="connsiteY40" fmla="*/ 388738 h 548219"/>
                <a:gd name="connsiteX41" fmla="*/ 388738 w 548219"/>
                <a:gd name="connsiteY41" fmla="*/ 318965 h 548219"/>
                <a:gd name="connsiteX42" fmla="*/ 318965 w 548219"/>
                <a:gd name="connsiteY42" fmla="*/ 318965 h 548219"/>
                <a:gd name="connsiteX43" fmla="*/ 318965 w 548219"/>
                <a:gd name="connsiteY43" fmla="*/ 388738 h 548219"/>
                <a:gd name="connsiteX44" fmla="*/ 388738 w 548219"/>
                <a:gd name="connsiteY44" fmla="*/ 388738 h 548219"/>
                <a:gd name="connsiteX45" fmla="*/ 388738 w 548219"/>
                <a:gd name="connsiteY45" fmla="*/ 468479 h 548219"/>
                <a:gd name="connsiteX46" fmla="*/ 388738 w 548219"/>
                <a:gd name="connsiteY46" fmla="*/ 398705 h 548219"/>
                <a:gd name="connsiteX47" fmla="*/ 318965 w 548219"/>
                <a:gd name="connsiteY47" fmla="*/ 398705 h 548219"/>
                <a:gd name="connsiteX48" fmla="*/ 318965 w 548219"/>
                <a:gd name="connsiteY48" fmla="*/ 468479 h 548219"/>
                <a:gd name="connsiteX49" fmla="*/ 388738 w 548219"/>
                <a:gd name="connsiteY49" fmla="*/ 468479 h 548219"/>
                <a:gd name="connsiteX50" fmla="*/ 318965 w 548219"/>
                <a:gd name="connsiteY50" fmla="*/ 548220 h 548219"/>
                <a:gd name="connsiteX51" fmla="*/ 388738 w 548219"/>
                <a:gd name="connsiteY51" fmla="*/ 548220 h 548219"/>
                <a:gd name="connsiteX52" fmla="*/ 388738 w 548219"/>
                <a:gd name="connsiteY52" fmla="*/ 478447 h 548219"/>
                <a:gd name="connsiteX53" fmla="*/ 318965 w 548219"/>
                <a:gd name="connsiteY53" fmla="*/ 478447 h 548219"/>
                <a:gd name="connsiteX54" fmla="*/ 318965 w 548219"/>
                <a:gd name="connsiteY54" fmla="*/ 548220 h 548219"/>
                <a:gd name="connsiteX55" fmla="*/ 239223 w 548219"/>
                <a:gd name="connsiteY55" fmla="*/ 548220 h 548219"/>
                <a:gd name="connsiteX56" fmla="*/ 308996 w 548219"/>
                <a:gd name="connsiteY56" fmla="*/ 548220 h 548219"/>
                <a:gd name="connsiteX57" fmla="*/ 308996 w 548219"/>
                <a:gd name="connsiteY57" fmla="*/ 478447 h 548219"/>
                <a:gd name="connsiteX58" fmla="*/ 239223 w 548219"/>
                <a:gd name="connsiteY58" fmla="*/ 478447 h 548219"/>
                <a:gd name="connsiteX59" fmla="*/ 239223 w 548219"/>
                <a:gd name="connsiteY59" fmla="*/ 548220 h 548219"/>
                <a:gd name="connsiteX60" fmla="*/ 159482 w 548219"/>
                <a:gd name="connsiteY60" fmla="*/ 548220 h 548219"/>
                <a:gd name="connsiteX61" fmla="*/ 229256 w 548219"/>
                <a:gd name="connsiteY61" fmla="*/ 548220 h 548219"/>
                <a:gd name="connsiteX62" fmla="*/ 229256 w 548219"/>
                <a:gd name="connsiteY62" fmla="*/ 478447 h 548219"/>
                <a:gd name="connsiteX63" fmla="*/ 159482 w 548219"/>
                <a:gd name="connsiteY63" fmla="*/ 478447 h 548219"/>
                <a:gd name="connsiteX64" fmla="*/ 159482 w 548219"/>
                <a:gd name="connsiteY64" fmla="*/ 548220 h 548219"/>
                <a:gd name="connsiteX65" fmla="*/ 79741 w 548219"/>
                <a:gd name="connsiteY65" fmla="*/ 548220 h 548219"/>
                <a:gd name="connsiteX66" fmla="*/ 149515 w 548219"/>
                <a:gd name="connsiteY66" fmla="*/ 548220 h 548219"/>
                <a:gd name="connsiteX67" fmla="*/ 149515 w 548219"/>
                <a:gd name="connsiteY67" fmla="*/ 478447 h 548219"/>
                <a:gd name="connsiteX68" fmla="*/ 79741 w 548219"/>
                <a:gd name="connsiteY68" fmla="*/ 478447 h 548219"/>
                <a:gd name="connsiteX69" fmla="*/ 79741 w 548219"/>
                <a:gd name="connsiteY69" fmla="*/ 548220 h 548219"/>
                <a:gd name="connsiteX70" fmla="*/ 0 w 548219"/>
                <a:gd name="connsiteY70" fmla="*/ 478447 h 548219"/>
                <a:gd name="connsiteX71" fmla="*/ 0 w 548219"/>
                <a:gd name="connsiteY71" fmla="*/ 548220 h 548219"/>
                <a:gd name="connsiteX72" fmla="*/ 69773 w 548219"/>
                <a:gd name="connsiteY72" fmla="*/ 548220 h 548219"/>
                <a:gd name="connsiteX73" fmla="*/ 69773 w 548219"/>
                <a:gd name="connsiteY73" fmla="*/ 478447 h 548219"/>
                <a:gd name="connsiteX74" fmla="*/ 0 w 548219"/>
                <a:gd name="connsiteY74" fmla="*/ 478447 h 548219"/>
                <a:gd name="connsiteX75" fmla="*/ 0 w 548219"/>
                <a:gd name="connsiteY75" fmla="*/ 398705 h 548219"/>
                <a:gd name="connsiteX76" fmla="*/ 0 w 548219"/>
                <a:gd name="connsiteY76" fmla="*/ 468479 h 548219"/>
                <a:gd name="connsiteX77" fmla="*/ 69773 w 548219"/>
                <a:gd name="connsiteY77" fmla="*/ 468479 h 548219"/>
                <a:gd name="connsiteX78" fmla="*/ 69773 w 548219"/>
                <a:gd name="connsiteY78" fmla="*/ 398705 h 548219"/>
                <a:gd name="connsiteX79" fmla="*/ 0 w 548219"/>
                <a:gd name="connsiteY79" fmla="*/ 398705 h 548219"/>
                <a:gd name="connsiteX80" fmla="*/ 0 w 548219"/>
                <a:gd name="connsiteY80" fmla="*/ 318965 h 548219"/>
                <a:gd name="connsiteX81" fmla="*/ 0 w 548219"/>
                <a:gd name="connsiteY81" fmla="*/ 388738 h 548219"/>
                <a:gd name="connsiteX82" fmla="*/ 69773 w 548219"/>
                <a:gd name="connsiteY82" fmla="*/ 388738 h 548219"/>
                <a:gd name="connsiteX83" fmla="*/ 69773 w 548219"/>
                <a:gd name="connsiteY83" fmla="*/ 318965 h 548219"/>
                <a:gd name="connsiteX84" fmla="*/ 0 w 548219"/>
                <a:gd name="connsiteY84" fmla="*/ 318965 h 548219"/>
                <a:gd name="connsiteX85" fmla="*/ 0 w 548219"/>
                <a:gd name="connsiteY85" fmla="*/ 239223 h 548219"/>
                <a:gd name="connsiteX86" fmla="*/ 0 w 548219"/>
                <a:gd name="connsiteY86" fmla="*/ 308996 h 548219"/>
                <a:gd name="connsiteX87" fmla="*/ 69773 w 548219"/>
                <a:gd name="connsiteY87" fmla="*/ 308996 h 548219"/>
                <a:gd name="connsiteX88" fmla="*/ 69773 w 548219"/>
                <a:gd name="connsiteY88" fmla="*/ 239223 h 548219"/>
                <a:gd name="connsiteX89" fmla="*/ 0 w 548219"/>
                <a:gd name="connsiteY89" fmla="*/ 239223 h 548219"/>
                <a:gd name="connsiteX90" fmla="*/ 0 w 548219"/>
                <a:gd name="connsiteY90" fmla="*/ 159482 h 548219"/>
                <a:gd name="connsiteX91" fmla="*/ 0 w 548219"/>
                <a:gd name="connsiteY91" fmla="*/ 229256 h 548219"/>
                <a:gd name="connsiteX92" fmla="*/ 69773 w 548219"/>
                <a:gd name="connsiteY92" fmla="*/ 229256 h 548219"/>
                <a:gd name="connsiteX93" fmla="*/ 69773 w 548219"/>
                <a:gd name="connsiteY93" fmla="*/ 159482 h 548219"/>
                <a:gd name="connsiteX94" fmla="*/ 0 w 548219"/>
                <a:gd name="connsiteY94" fmla="*/ 159482 h 548219"/>
                <a:gd name="connsiteX95" fmla="*/ 0 w 548219"/>
                <a:gd name="connsiteY95" fmla="*/ 79742 h 548219"/>
                <a:gd name="connsiteX96" fmla="*/ 0 w 548219"/>
                <a:gd name="connsiteY96" fmla="*/ 149515 h 548219"/>
                <a:gd name="connsiteX97" fmla="*/ 69773 w 548219"/>
                <a:gd name="connsiteY97" fmla="*/ 149515 h 548219"/>
                <a:gd name="connsiteX98" fmla="*/ 69773 w 548219"/>
                <a:gd name="connsiteY98" fmla="*/ 79742 h 548219"/>
                <a:gd name="connsiteX99" fmla="*/ 0 w 548219"/>
                <a:gd name="connsiteY99" fmla="*/ 79742 h 548219"/>
                <a:gd name="connsiteX100" fmla="*/ 149515 w 548219"/>
                <a:gd name="connsiteY100" fmla="*/ 79742 h 548219"/>
                <a:gd name="connsiteX101" fmla="*/ 79741 w 548219"/>
                <a:gd name="connsiteY101" fmla="*/ 79742 h 548219"/>
                <a:gd name="connsiteX102" fmla="*/ 79741 w 548219"/>
                <a:gd name="connsiteY102" fmla="*/ 149515 h 548219"/>
                <a:gd name="connsiteX103" fmla="*/ 149515 w 548219"/>
                <a:gd name="connsiteY103" fmla="*/ 149515 h 548219"/>
                <a:gd name="connsiteX104" fmla="*/ 149515 w 548219"/>
                <a:gd name="connsiteY104" fmla="*/ 79742 h 548219"/>
                <a:gd name="connsiteX105" fmla="*/ 229256 w 548219"/>
                <a:gd name="connsiteY105" fmla="*/ 79742 h 548219"/>
                <a:gd name="connsiteX106" fmla="*/ 159482 w 548219"/>
                <a:gd name="connsiteY106" fmla="*/ 79742 h 548219"/>
                <a:gd name="connsiteX107" fmla="*/ 159482 w 548219"/>
                <a:gd name="connsiteY107" fmla="*/ 149515 h 548219"/>
                <a:gd name="connsiteX108" fmla="*/ 229256 w 548219"/>
                <a:gd name="connsiteY108" fmla="*/ 149515 h 548219"/>
                <a:gd name="connsiteX109" fmla="*/ 229256 w 548219"/>
                <a:gd name="connsiteY109" fmla="*/ 79742 h 548219"/>
                <a:gd name="connsiteX110" fmla="*/ 308996 w 548219"/>
                <a:gd name="connsiteY110" fmla="*/ 79742 h 548219"/>
                <a:gd name="connsiteX111" fmla="*/ 239223 w 548219"/>
                <a:gd name="connsiteY111" fmla="*/ 79742 h 548219"/>
                <a:gd name="connsiteX112" fmla="*/ 239223 w 548219"/>
                <a:gd name="connsiteY112" fmla="*/ 149515 h 548219"/>
                <a:gd name="connsiteX113" fmla="*/ 308996 w 548219"/>
                <a:gd name="connsiteY113" fmla="*/ 149515 h 548219"/>
                <a:gd name="connsiteX114" fmla="*/ 308996 w 548219"/>
                <a:gd name="connsiteY114" fmla="*/ 79742 h 548219"/>
                <a:gd name="connsiteX115" fmla="*/ 308996 w 548219"/>
                <a:gd name="connsiteY115" fmla="*/ 229256 h 548219"/>
                <a:gd name="connsiteX116" fmla="*/ 308996 w 548219"/>
                <a:gd name="connsiteY116" fmla="*/ 159482 h 548219"/>
                <a:gd name="connsiteX117" fmla="*/ 239223 w 548219"/>
                <a:gd name="connsiteY117" fmla="*/ 159482 h 548219"/>
                <a:gd name="connsiteX118" fmla="*/ 239223 w 548219"/>
                <a:gd name="connsiteY118" fmla="*/ 229256 h 548219"/>
                <a:gd name="connsiteX119" fmla="*/ 308996 w 548219"/>
                <a:gd name="connsiteY119" fmla="*/ 229256 h 548219"/>
                <a:gd name="connsiteX120" fmla="*/ 308996 w 548219"/>
                <a:gd name="connsiteY120" fmla="*/ 308996 h 548219"/>
                <a:gd name="connsiteX121" fmla="*/ 308996 w 548219"/>
                <a:gd name="connsiteY121" fmla="*/ 239223 h 548219"/>
                <a:gd name="connsiteX122" fmla="*/ 239223 w 548219"/>
                <a:gd name="connsiteY122" fmla="*/ 239223 h 548219"/>
                <a:gd name="connsiteX123" fmla="*/ 239223 w 548219"/>
                <a:gd name="connsiteY123" fmla="*/ 308996 h 548219"/>
                <a:gd name="connsiteX124" fmla="*/ 308996 w 548219"/>
                <a:gd name="connsiteY124" fmla="*/ 308996 h 548219"/>
                <a:gd name="connsiteX125" fmla="*/ 308996 w 548219"/>
                <a:gd name="connsiteY125" fmla="*/ 388738 h 548219"/>
                <a:gd name="connsiteX126" fmla="*/ 308996 w 548219"/>
                <a:gd name="connsiteY126" fmla="*/ 318965 h 548219"/>
                <a:gd name="connsiteX127" fmla="*/ 239223 w 548219"/>
                <a:gd name="connsiteY127" fmla="*/ 318965 h 548219"/>
                <a:gd name="connsiteX128" fmla="*/ 239223 w 548219"/>
                <a:gd name="connsiteY128" fmla="*/ 388738 h 548219"/>
                <a:gd name="connsiteX129" fmla="*/ 308996 w 548219"/>
                <a:gd name="connsiteY129" fmla="*/ 388738 h 548219"/>
                <a:gd name="connsiteX130" fmla="*/ 308996 w 548219"/>
                <a:gd name="connsiteY130" fmla="*/ 468479 h 548219"/>
                <a:gd name="connsiteX131" fmla="*/ 308996 w 548219"/>
                <a:gd name="connsiteY131" fmla="*/ 398705 h 548219"/>
                <a:gd name="connsiteX132" fmla="*/ 239223 w 548219"/>
                <a:gd name="connsiteY132" fmla="*/ 398705 h 548219"/>
                <a:gd name="connsiteX133" fmla="*/ 239223 w 548219"/>
                <a:gd name="connsiteY133" fmla="*/ 468479 h 548219"/>
                <a:gd name="connsiteX134" fmla="*/ 308996 w 548219"/>
                <a:gd name="connsiteY134" fmla="*/ 468479 h 548219"/>
                <a:gd name="connsiteX135" fmla="*/ 159482 w 548219"/>
                <a:gd name="connsiteY135" fmla="*/ 468479 h 548219"/>
                <a:gd name="connsiteX136" fmla="*/ 229256 w 548219"/>
                <a:gd name="connsiteY136" fmla="*/ 468479 h 548219"/>
                <a:gd name="connsiteX137" fmla="*/ 229256 w 548219"/>
                <a:gd name="connsiteY137" fmla="*/ 398705 h 548219"/>
                <a:gd name="connsiteX138" fmla="*/ 159482 w 548219"/>
                <a:gd name="connsiteY138" fmla="*/ 398705 h 548219"/>
                <a:gd name="connsiteX139" fmla="*/ 159482 w 548219"/>
                <a:gd name="connsiteY139" fmla="*/ 468479 h 548219"/>
                <a:gd name="connsiteX140" fmla="*/ 79741 w 548219"/>
                <a:gd name="connsiteY140" fmla="*/ 468479 h 548219"/>
                <a:gd name="connsiteX141" fmla="*/ 149515 w 548219"/>
                <a:gd name="connsiteY141" fmla="*/ 468479 h 548219"/>
                <a:gd name="connsiteX142" fmla="*/ 149515 w 548219"/>
                <a:gd name="connsiteY142" fmla="*/ 398705 h 548219"/>
                <a:gd name="connsiteX143" fmla="*/ 79741 w 548219"/>
                <a:gd name="connsiteY143" fmla="*/ 398705 h 548219"/>
                <a:gd name="connsiteX144" fmla="*/ 79741 w 548219"/>
                <a:gd name="connsiteY144" fmla="*/ 468479 h 548219"/>
                <a:gd name="connsiteX145" fmla="*/ 79741 w 548219"/>
                <a:gd name="connsiteY145" fmla="*/ 318965 h 548219"/>
                <a:gd name="connsiteX146" fmla="*/ 79741 w 548219"/>
                <a:gd name="connsiteY146" fmla="*/ 388738 h 548219"/>
                <a:gd name="connsiteX147" fmla="*/ 149515 w 548219"/>
                <a:gd name="connsiteY147" fmla="*/ 388738 h 548219"/>
                <a:gd name="connsiteX148" fmla="*/ 149515 w 548219"/>
                <a:gd name="connsiteY148" fmla="*/ 318965 h 548219"/>
                <a:gd name="connsiteX149" fmla="*/ 79741 w 548219"/>
                <a:gd name="connsiteY149" fmla="*/ 318965 h 548219"/>
                <a:gd name="connsiteX150" fmla="*/ 79741 w 548219"/>
                <a:gd name="connsiteY150" fmla="*/ 239223 h 548219"/>
                <a:gd name="connsiteX151" fmla="*/ 79741 w 548219"/>
                <a:gd name="connsiteY151" fmla="*/ 308996 h 548219"/>
                <a:gd name="connsiteX152" fmla="*/ 149515 w 548219"/>
                <a:gd name="connsiteY152" fmla="*/ 308996 h 548219"/>
                <a:gd name="connsiteX153" fmla="*/ 149515 w 548219"/>
                <a:gd name="connsiteY153" fmla="*/ 239223 h 548219"/>
                <a:gd name="connsiteX154" fmla="*/ 79741 w 548219"/>
                <a:gd name="connsiteY154" fmla="*/ 239223 h 548219"/>
                <a:gd name="connsiteX155" fmla="*/ 79741 w 548219"/>
                <a:gd name="connsiteY155" fmla="*/ 159482 h 548219"/>
                <a:gd name="connsiteX156" fmla="*/ 79741 w 548219"/>
                <a:gd name="connsiteY156" fmla="*/ 229256 h 548219"/>
                <a:gd name="connsiteX157" fmla="*/ 149515 w 548219"/>
                <a:gd name="connsiteY157" fmla="*/ 229256 h 548219"/>
                <a:gd name="connsiteX158" fmla="*/ 149515 w 548219"/>
                <a:gd name="connsiteY158" fmla="*/ 159482 h 548219"/>
                <a:gd name="connsiteX159" fmla="*/ 79741 w 548219"/>
                <a:gd name="connsiteY159" fmla="*/ 159482 h 548219"/>
                <a:gd name="connsiteX160" fmla="*/ 229256 w 548219"/>
                <a:gd name="connsiteY160" fmla="*/ 159482 h 548219"/>
                <a:gd name="connsiteX161" fmla="*/ 159482 w 548219"/>
                <a:gd name="connsiteY161" fmla="*/ 159482 h 548219"/>
                <a:gd name="connsiteX162" fmla="*/ 159482 w 548219"/>
                <a:gd name="connsiteY162" fmla="*/ 229256 h 548219"/>
                <a:gd name="connsiteX163" fmla="*/ 229256 w 548219"/>
                <a:gd name="connsiteY163" fmla="*/ 229256 h 548219"/>
                <a:gd name="connsiteX164" fmla="*/ 229256 w 548219"/>
                <a:gd name="connsiteY164" fmla="*/ 159482 h 548219"/>
                <a:gd name="connsiteX165" fmla="*/ 229256 w 548219"/>
                <a:gd name="connsiteY165" fmla="*/ 308996 h 548219"/>
                <a:gd name="connsiteX166" fmla="*/ 229256 w 548219"/>
                <a:gd name="connsiteY166" fmla="*/ 239223 h 548219"/>
                <a:gd name="connsiteX167" fmla="*/ 159482 w 548219"/>
                <a:gd name="connsiteY167" fmla="*/ 239223 h 548219"/>
                <a:gd name="connsiteX168" fmla="*/ 159482 w 548219"/>
                <a:gd name="connsiteY168" fmla="*/ 308996 h 548219"/>
                <a:gd name="connsiteX169" fmla="*/ 229256 w 548219"/>
                <a:gd name="connsiteY169" fmla="*/ 308996 h 548219"/>
                <a:gd name="connsiteX170" fmla="*/ 229256 w 548219"/>
                <a:gd name="connsiteY170" fmla="*/ 388738 h 548219"/>
                <a:gd name="connsiteX171" fmla="*/ 229256 w 548219"/>
                <a:gd name="connsiteY171" fmla="*/ 318965 h 548219"/>
                <a:gd name="connsiteX172" fmla="*/ 159482 w 548219"/>
                <a:gd name="connsiteY172" fmla="*/ 318965 h 548219"/>
                <a:gd name="connsiteX173" fmla="*/ 159482 w 548219"/>
                <a:gd name="connsiteY173" fmla="*/ 388738 h 548219"/>
                <a:gd name="connsiteX174" fmla="*/ 229256 w 548219"/>
                <a:gd name="connsiteY174" fmla="*/ 388738 h 548219"/>
                <a:gd name="connsiteX175" fmla="*/ 548220 w 548219"/>
                <a:gd name="connsiteY175" fmla="*/ 69773 h 548219"/>
                <a:gd name="connsiteX176" fmla="*/ 548220 w 548219"/>
                <a:gd name="connsiteY176" fmla="*/ 0 h 548219"/>
                <a:gd name="connsiteX177" fmla="*/ 478446 w 548219"/>
                <a:gd name="connsiteY177" fmla="*/ 0 h 548219"/>
                <a:gd name="connsiteX178" fmla="*/ 478446 w 548219"/>
                <a:gd name="connsiteY178" fmla="*/ 39870 h 548219"/>
                <a:gd name="connsiteX179" fmla="*/ 478446 w 548219"/>
                <a:gd name="connsiteY179" fmla="*/ 69773 h 548219"/>
                <a:gd name="connsiteX180" fmla="*/ 548220 w 548219"/>
                <a:gd name="connsiteY180" fmla="*/ 69773 h 548219"/>
                <a:gd name="connsiteX181" fmla="*/ 548220 w 548219"/>
                <a:gd name="connsiteY181" fmla="*/ 149515 h 548219"/>
                <a:gd name="connsiteX182" fmla="*/ 548220 w 548219"/>
                <a:gd name="connsiteY182" fmla="*/ 79742 h 548219"/>
                <a:gd name="connsiteX183" fmla="*/ 478446 w 548219"/>
                <a:gd name="connsiteY183" fmla="*/ 79742 h 548219"/>
                <a:gd name="connsiteX184" fmla="*/ 478446 w 548219"/>
                <a:gd name="connsiteY184" fmla="*/ 149515 h 548219"/>
                <a:gd name="connsiteX185" fmla="*/ 548220 w 548219"/>
                <a:gd name="connsiteY185" fmla="*/ 149515 h 548219"/>
                <a:gd name="connsiteX186" fmla="*/ 548220 w 548219"/>
                <a:gd name="connsiteY186" fmla="*/ 229256 h 548219"/>
                <a:gd name="connsiteX187" fmla="*/ 548220 w 548219"/>
                <a:gd name="connsiteY187" fmla="*/ 159482 h 548219"/>
                <a:gd name="connsiteX188" fmla="*/ 478446 w 548219"/>
                <a:gd name="connsiteY188" fmla="*/ 159482 h 548219"/>
                <a:gd name="connsiteX189" fmla="*/ 478446 w 548219"/>
                <a:gd name="connsiteY189" fmla="*/ 229256 h 548219"/>
                <a:gd name="connsiteX190" fmla="*/ 548220 w 548219"/>
                <a:gd name="connsiteY190" fmla="*/ 229256 h 548219"/>
                <a:gd name="connsiteX191" fmla="*/ 548220 w 548219"/>
                <a:gd name="connsiteY191" fmla="*/ 308996 h 548219"/>
                <a:gd name="connsiteX192" fmla="*/ 548220 w 548219"/>
                <a:gd name="connsiteY192" fmla="*/ 239223 h 548219"/>
                <a:gd name="connsiteX193" fmla="*/ 478446 w 548219"/>
                <a:gd name="connsiteY193" fmla="*/ 239223 h 548219"/>
                <a:gd name="connsiteX194" fmla="*/ 478446 w 548219"/>
                <a:gd name="connsiteY194" fmla="*/ 308996 h 548219"/>
                <a:gd name="connsiteX195" fmla="*/ 548220 w 548219"/>
                <a:gd name="connsiteY195" fmla="*/ 308996 h 548219"/>
                <a:gd name="connsiteX196" fmla="*/ 548220 w 548219"/>
                <a:gd name="connsiteY196" fmla="*/ 388738 h 548219"/>
                <a:gd name="connsiteX197" fmla="*/ 548220 w 548219"/>
                <a:gd name="connsiteY197" fmla="*/ 318965 h 548219"/>
                <a:gd name="connsiteX198" fmla="*/ 478446 w 548219"/>
                <a:gd name="connsiteY198" fmla="*/ 318965 h 548219"/>
                <a:gd name="connsiteX199" fmla="*/ 478446 w 548219"/>
                <a:gd name="connsiteY199" fmla="*/ 388738 h 548219"/>
                <a:gd name="connsiteX200" fmla="*/ 548220 w 548219"/>
                <a:gd name="connsiteY200" fmla="*/ 388738 h 548219"/>
                <a:gd name="connsiteX201" fmla="*/ 548220 w 548219"/>
                <a:gd name="connsiteY201" fmla="*/ 468479 h 548219"/>
                <a:gd name="connsiteX202" fmla="*/ 548220 w 548219"/>
                <a:gd name="connsiteY202" fmla="*/ 398705 h 548219"/>
                <a:gd name="connsiteX203" fmla="*/ 478446 w 548219"/>
                <a:gd name="connsiteY203" fmla="*/ 398705 h 548219"/>
                <a:gd name="connsiteX204" fmla="*/ 478446 w 548219"/>
                <a:gd name="connsiteY204" fmla="*/ 468479 h 548219"/>
                <a:gd name="connsiteX205" fmla="*/ 548220 w 548219"/>
                <a:gd name="connsiteY205" fmla="*/ 468479 h 548219"/>
                <a:gd name="connsiteX206" fmla="*/ 478446 w 548219"/>
                <a:gd name="connsiteY206" fmla="*/ 478447 h 548219"/>
                <a:gd name="connsiteX207" fmla="*/ 478446 w 548219"/>
                <a:gd name="connsiteY207" fmla="*/ 548220 h 548219"/>
                <a:gd name="connsiteX208" fmla="*/ 548220 w 548219"/>
                <a:gd name="connsiteY208" fmla="*/ 548220 h 548219"/>
                <a:gd name="connsiteX209" fmla="*/ 548220 w 548219"/>
                <a:gd name="connsiteY209" fmla="*/ 478447 h 548219"/>
                <a:gd name="connsiteX210" fmla="*/ 478446 w 548219"/>
                <a:gd name="connsiteY210" fmla="*/ 478447 h 54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548219" h="548219">
                  <a:moveTo>
                    <a:pt x="69773" y="0"/>
                  </a:moveTo>
                  <a:cubicBezTo>
                    <a:pt x="69773" y="0"/>
                    <a:pt x="0" y="0"/>
                    <a:pt x="0" y="0"/>
                  </a:cubicBezTo>
                  <a:lnTo>
                    <a:pt x="0" y="69773"/>
                  </a:lnTo>
                  <a:lnTo>
                    <a:pt x="69773" y="69773"/>
                  </a:lnTo>
                  <a:lnTo>
                    <a:pt x="69773" y="0"/>
                  </a:lnTo>
                  <a:close/>
                  <a:moveTo>
                    <a:pt x="79741" y="0"/>
                  </a:moveTo>
                  <a:lnTo>
                    <a:pt x="79741" y="69773"/>
                  </a:lnTo>
                  <a:lnTo>
                    <a:pt x="149515" y="69773"/>
                  </a:lnTo>
                  <a:lnTo>
                    <a:pt x="149515" y="0"/>
                  </a:lnTo>
                  <a:cubicBezTo>
                    <a:pt x="149515" y="0"/>
                    <a:pt x="79741" y="0"/>
                    <a:pt x="79741" y="0"/>
                  </a:cubicBezTo>
                  <a:close/>
                  <a:moveTo>
                    <a:pt x="159482" y="0"/>
                  </a:moveTo>
                  <a:lnTo>
                    <a:pt x="159482" y="69773"/>
                  </a:lnTo>
                  <a:lnTo>
                    <a:pt x="229256" y="69773"/>
                  </a:lnTo>
                  <a:lnTo>
                    <a:pt x="229256" y="0"/>
                  </a:lnTo>
                  <a:cubicBezTo>
                    <a:pt x="229256" y="0"/>
                    <a:pt x="159482" y="0"/>
                    <a:pt x="159482" y="0"/>
                  </a:cubicBezTo>
                  <a:close/>
                  <a:moveTo>
                    <a:pt x="239223" y="0"/>
                  </a:moveTo>
                  <a:lnTo>
                    <a:pt x="239223" y="69773"/>
                  </a:lnTo>
                  <a:lnTo>
                    <a:pt x="308996" y="69773"/>
                  </a:lnTo>
                  <a:lnTo>
                    <a:pt x="308996" y="0"/>
                  </a:lnTo>
                  <a:cubicBezTo>
                    <a:pt x="308996" y="0"/>
                    <a:pt x="239223" y="0"/>
                    <a:pt x="239223" y="0"/>
                  </a:cubicBezTo>
                  <a:close/>
                  <a:moveTo>
                    <a:pt x="318965" y="0"/>
                  </a:moveTo>
                  <a:lnTo>
                    <a:pt x="318965" y="69773"/>
                  </a:lnTo>
                  <a:lnTo>
                    <a:pt x="388738" y="69773"/>
                  </a:lnTo>
                  <a:lnTo>
                    <a:pt x="388738" y="0"/>
                  </a:lnTo>
                  <a:cubicBezTo>
                    <a:pt x="388738" y="0"/>
                    <a:pt x="318965" y="0"/>
                    <a:pt x="318965" y="0"/>
                  </a:cubicBezTo>
                  <a:close/>
                  <a:moveTo>
                    <a:pt x="388738" y="149515"/>
                  </a:moveTo>
                  <a:lnTo>
                    <a:pt x="388738" y="79742"/>
                  </a:lnTo>
                  <a:lnTo>
                    <a:pt x="318965" y="79742"/>
                  </a:lnTo>
                  <a:lnTo>
                    <a:pt x="318965" y="149515"/>
                  </a:lnTo>
                  <a:lnTo>
                    <a:pt x="388738" y="149515"/>
                  </a:lnTo>
                  <a:close/>
                  <a:moveTo>
                    <a:pt x="388738" y="229256"/>
                  </a:moveTo>
                  <a:lnTo>
                    <a:pt x="388738" y="159482"/>
                  </a:lnTo>
                  <a:lnTo>
                    <a:pt x="318965" y="159482"/>
                  </a:lnTo>
                  <a:lnTo>
                    <a:pt x="318965" y="229256"/>
                  </a:lnTo>
                  <a:lnTo>
                    <a:pt x="388738" y="229256"/>
                  </a:lnTo>
                  <a:close/>
                  <a:moveTo>
                    <a:pt x="388738" y="308996"/>
                  </a:moveTo>
                  <a:lnTo>
                    <a:pt x="388738" y="239223"/>
                  </a:lnTo>
                  <a:lnTo>
                    <a:pt x="318965" y="239223"/>
                  </a:lnTo>
                  <a:lnTo>
                    <a:pt x="318965" y="308996"/>
                  </a:lnTo>
                  <a:lnTo>
                    <a:pt x="388738" y="308996"/>
                  </a:lnTo>
                  <a:close/>
                  <a:moveTo>
                    <a:pt x="388738" y="388738"/>
                  </a:moveTo>
                  <a:lnTo>
                    <a:pt x="388738" y="318965"/>
                  </a:lnTo>
                  <a:lnTo>
                    <a:pt x="318965" y="318965"/>
                  </a:lnTo>
                  <a:lnTo>
                    <a:pt x="318965" y="388738"/>
                  </a:lnTo>
                  <a:lnTo>
                    <a:pt x="388738" y="388738"/>
                  </a:lnTo>
                  <a:close/>
                  <a:moveTo>
                    <a:pt x="388738" y="468479"/>
                  </a:moveTo>
                  <a:lnTo>
                    <a:pt x="388738" y="398705"/>
                  </a:lnTo>
                  <a:lnTo>
                    <a:pt x="318965" y="398705"/>
                  </a:lnTo>
                  <a:lnTo>
                    <a:pt x="318965" y="468479"/>
                  </a:lnTo>
                  <a:lnTo>
                    <a:pt x="388738" y="468479"/>
                  </a:lnTo>
                  <a:close/>
                  <a:moveTo>
                    <a:pt x="318965" y="548220"/>
                  </a:moveTo>
                  <a:lnTo>
                    <a:pt x="388738" y="548220"/>
                  </a:lnTo>
                  <a:lnTo>
                    <a:pt x="388738" y="478447"/>
                  </a:lnTo>
                  <a:lnTo>
                    <a:pt x="318965" y="478447"/>
                  </a:lnTo>
                  <a:lnTo>
                    <a:pt x="318965" y="548220"/>
                  </a:lnTo>
                  <a:close/>
                  <a:moveTo>
                    <a:pt x="239223" y="548220"/>
                  </a:moveTo>
                  <a:lnTo>
                    <a:pt x="308996" y="548220"/>
                  </a:lnTo>
                  <a:lnTo>
                    <a:pt x="308996" y="478447"/>
                  </a:lnTo>
                  <a:lnTo>
                    <a:pt x="239223" y="478447"/>
                  </a:lnTo>
                  <a:lnTo>
                    <a:pt x="239223" y="548220"/>
                  </a:lnTo>
                  <a:close/>
                  <a:moveTo>
                    <a:pt x="159482" y="548220"/>
                  </a:moveTo>
                  <a:lnTo>
                    <a:pt x="229256" y="548220"/>
                  </a:lnTo>
                  <a:lnTo>
                    <a:pt x="229256" y="478447"/>
                  </a:lnTo>
                  <a:lnTo>
                    <a:pt x="159482" y="478447"/>
                  </a:lnTo>
                  <a:lnTo>
                    <a:pt x="159482" y="548220"/>
                  </a:lnTo>
                  <a:close/>
                  <a:moveTo>
                    <a:pt x="79741" y="548220"/>
                  </a:moveTo>
                  <a:lnTo>
                    <a:pt x="149515" y="548220"/>
                  </a:lnTo>
                  <a:lnTo>
                    <a:pt x="149515" y="478447"/>
                  </a:lnTo>
                  <a:lnTo>
                    <a:pt x="79741" y="478447"/>
                  </a:lnTo>
                  <a:lnTo>
                    <a:pt x="79741" y="548220"/>
                  </a:lnTo>
                  <a:close/>
                  <a:moveTo>
                    <a:pt x="0" y="478447"/>
                  </a:moveTo>
                  <a:lnTo>
                    <a:pt x="0" y="548220"/>
                  </a:lnTo>
                  <a:lnTo>
                    <a:pt x="69773" y="548220"/>
                  </a:lnTo>
                  <a:lnTo>
                    <a:pt x="69773" y="478447"/>
                  </a:lnTo>
                  <a:lnTo>
                    <a:pt x="0" y="478447"/>
                  </a:lnTo>
                  <a:close/>
                  <a:moveTo>
                    <a:pt x="0" y="398705"/>
                  </a:moveTo>
                  <a:lnTo>
                    <a:pt x="0" y="468479"/>
                  </a:lnTo>
                  <a:lnTo>
                    <a:pt x="69773" y="468479"/>
                  </a:lnTo>
                  <a:lnTo>
                    <a:pt x="69773" y="398705"/>
                  </a:lnTo>
                  <a:lnTo>
                    <a:pt x="0" y="398705"/>
                  </a:lnTo>
                  <a:close/>
                  <a:moveTo>
                    <a:pt x="0" y="318965"/>
                  </a:moveTo>
                  <a:lnTo>
                    <a:pt x="0" y="388738"/>
                  </a:lnTo>
                  <a:lnTo>
                    <a:pt x="69773" y="388738"/>
                  </a:lnTo>
                  <a:lnTo>
                    <a:pt x="69773" y="318965"/>
                  </a:lnTo>
                  <a:lnTo>
                    <a:pt x="0" y="318965"/>
                  </a:lnTo>
                  <a:close/>
                  <a:moveTo>
                    <a:pt x="0" y="239223"/>
                  </a:moveTo>
                  <a:lnTo>
                    <a:pt x="0" y="308996"/>
                  </a:lnTo>
                  <a:lnTo>
                    <a:pt x="69773" y="308996"/>
                  </a:lnTo>
                  <a:lnTo>
                    <a:pt x="69773" y="239223"/>
                  </a:lnTo>
                  <a:lnTo>
                    <a:pt x="0" y="239223"/>
                  </a:lnTo>
                  <a:close/>
                  <a:moveTo>
                    <a:pt x="0" y="159482"/>
                  </a:moveTo>
                  <a:lnTo>
                    <a:pt x="0" y="229256"/>
                  </a:lnTo>
                  <a:lnTo>
                    <a:pt x="69773" y="229256"/>
                  </a:lnTo>
                  <a:lnTo>
                    <a:pt x="69773" y="159482"/>
                  </a:lnTo>
                  <a:lnTo>
                    <a:pt x="0" y="159482"/>
                  </a:lnTo>
                  <a:close/>
                  <a:moveTo>
                    <a:pt x="0" y="79742"/>
                  </a:moveTo>
                  <a:lnTo>
                    <a:pt x="0" y="149515"/>
                  </a:lnTo>
                  <a:lnTo>
                    <a:pt x="69773" y="149515"/>
                  </a:lnTo>
                  <a:lnTo>
                    <a:pt x="69773" y="79742"/>
                  </a:lnTo>
                  <a:lnTo>
                    <a:pt x="0" y="79742"/>
                  </a:lnTo>
                  <a:close/>
                  <a:moveTo>
                    <a:pt x="149515" y="79742"/>
                  </a:moveTo>
                  <a:lnTo>
                    <a:pt x="79741" y="79742"/>
                  </a:lnTo>
                  <a:lnTo>
                    <a:pt x="79741" y="149515"/>
                  </a:lnTo>
                  <a:lnTo>
                    <a:pt x="149515" y="149515"/>
                  </a:lnTo>
                  <a:lnTo>
                    <a:pt x="149515" y="79742"/>
                  </a:lnTo>
                  <a:close/>
                  <a:moveTo>
                    <a:pt x="229256" y="79742"/>
                  </a:moveTo>
                  <a:lnTo>
                    <a:pt x="159482" y="79742"/>
                  </a:lnTo>
                  <a:lnTo>
                    <a:pt x="159482" y="149515"/>
                  </a:lnTo>
                  <a:lnTo>
                    <a:pt x="229256" y="149515"/>
                  </a:lnTo>
                  <a:lnTo>
                    <a:pt x="229256" y="79742"/>
                  </a:lnTo>
                  <a:close/>
                  <a:moveTo>
                    <a:pt x="308996" y="79742"/>
                  </a:moveTo>
                  <a:lnTo>
                    <a:pt x="239223" y="79742"/>
                  </a:lnTo>
                  <a:lnTo>
                    <a:pt x="239223" y="149515"/>
                  </a:lnTo>
                  <a:lnTo>
                    <a:pt x="308996" y="149515"/>
                  </a:lnTo>
                  <a:lnTo>
                    <a:pt x="308996" y="79742"/>
                  </a:lnTo>
                  <a:close/>
                  <a:moveTo>
                    <a:pt x="308996" y="229256"/>
                  </a:moveTo>
                  <a:lnTo>
                    <a:pt x="308996" y="159482"/>
                  </a:lnTo>
                  <a:lnTo>
                    <a:pt x="239223" y="159482"/>
                  </a:lnTo>
                  <a:lnTo>
                    <a:pt x="239223" y="229256"/>
                  </a:lnTo>
                  <a:lnTo>
                    <a:pt x="308996" y="229256"/>
                  </a:lnTo>
                  <a:close/>
                  <a:moveTo>
                    <a:pt x="308996" y="308996"/>
                  </a:moveTo>
                  <a:lnTo>
                    <a:pt x="308996" y="239223"/>
                  </a:lnTo>
                  <a:lnTo>
                    <a:pt x="239223" y="239223"/>
                  </a:lnTo>
                  <a:lnTo>
                    <a:pt x="239223" y="308996"/>
                  </a:lnTo>
                  <a:lnTo>
                    <a:pt x="308996" y="308996"/>
                  </a:lnTo>
                  <a:close/>
                  <a:moveTo>
                    <a:pt x="308996" y="388738"/>
                  </a:moveTo>
                  <a:lnTo>
                    <a:pt x="308996" y="318965"/>
                  </a:lnTo>
                  <a:lnTo>
                    <a:pt x="239223" y="318965"/>
                  </a:lnTo>
                  <a:lnTo>
                    <a:pt x="239223" y="388738"/>
                  </a:lnTo>
                  <a:lnTo>
                    <a:pt x="308996" y="388738"/>
                  </a:lnTo>
                  <a:close/>
                  <a:moveTo>
                    <a:pt x="308996" y="468479"/>
                  </a:moveTo>
                  <a:lnTo>
                    <a:pt x="308996" y="398705"/>
                  </a:lnTo>
                  <a:lnTo>
                    <a:pt x="239223" y="398705"/>
                  </a:lnTo>
                  <a:lnTo>
                    <a:pt x="239223" y="468479"/>
                  </a:lnTo>
                  <a:lnTo>
                    <a:pt x="308996" y="468479"/>
                  </a:lnTo>
                  <a:close/>
                  <a:moveTo>
                    <a:pt x="159482" y="468479"/>
                  </a:moveTo>
                  <a:lnTo>
                    <a:pt x="229256" y="468479"/>
                  </a:lnTo>
                  <a:lnTo>
                    <a:pt x="229256" y="398705"/>
                  </a:lnTo>
                  <a:lnTo>
                    <a:pt x="159482" y="398705"/>
                  </a:lnTo>
                  <a:lnTo>
                    <a:pt x="159482" y="468479"/>
                  </a:lnTo>
                  <a:close/>
                  <a:moveTo>
                    <a:pt x="79741" y="468479"/>
                  </a:moveTo>
                  <a:lnTo>
                    <a:pt x="149515" y="468479"/>
                  </a:lnTo>
                  <a:lnTo>
                    <a:pt x="149515" y="398705"/>
                  </a:lnTo>
                  <a:lnTo>
                    <a:pt x="79741" y="398705"/>
                  </a:lnTo>
                  <a:lnTo>
                    <a:pt x="79741" y="468479"/>
                  </a:lnTo>
                  <a:close/>
                  <a:moveTo>
                    <a:pt x="79741" y="318965"/>
                  </a:moveTo>
                  <a:lnTo>
                    <a:pt x="79741" y="388738"/>
                  </a:lnTo>
                  <a:lnTo>
                    <a:pt x="149515" y="388738"/>
                  </a:lnTo>
                  <a:lnTo>
                    <a:pt x="149515" y="318965"/>
                  </a:lnTo>
                  <a:lnTo>
                    <a:pt x="79741" y="318965"/>
                  </a:lnTo>
                  <a:close/>
                  <a:moveTo>
                    <a:pt x="79741" y="239223"/>
                  </a:moveTo>
                  <a:lnTo>
                    <a:pt x="79741" y="308996"/>
                  </a:lnTo>
                  <a:lnTo>
                    <a:pt x="149515" y="308996"/>
                  </a:lnTo>
                  <a:lnTo>
                    <a:pt x="149515" y="239223"/>
                  </a:lnTo>
                  <a:lnTo>
                    <a:pt x="79741" y="239223"/>
                  </a:lnTo>
                  <a:close/>
                  <a:moveTo>
                    <a:pt x="79741" y="159482"/>
                  </a:moveTo>
                  <a:lnTo>
                    <a:pt x="79741" y="229256"/>
                  </a:lnTo>
                  <a:lnTo>
                    <a:pt x="149515" y="229256"/>
                  </a:lnTo>
                  <a:lnTo>
                    <a:pt x="149515" y="159482"/>
                  </a:lnTo>
                  <a:lnTo>
                    <a:pt x="79741" y="159482"/>
                  </a:lnTo>
                  <a:close/>
                  <a:moveTo>
                    <a:pt x="229256" y="159482"/>
                  </a:moveTo>
                  <a:lnTo>
                    <a:pt x="159482" y="159482"/>
                  </a:lnTo>
                  <a:lnTo>
                    <a:pt x="159482" y="229256"/>
                  </a:lnTo>
                  <a:lnTo>
                    <a:pt x="229256" y="229256"/>
                  </a:lnTo>
                  <a:lnTo>
                    <a:pt x="229256" y="159482"/>
                  </a:lnTo>
                  <a:close/>
                  <a:moveTo>
                    <a:pt x="229256" y="308996"/>
                  </a:moveTo>
                  <a:lnTo>
                    <a:pt x="229256" y="239223"/>
                  </a:lnTo>
                  <a:lnTo>
                    <a:pt x="159482" y="239223"/>
                  </a:lnTo>
                  <a:lnTo>
                    <a:pt x="159482" y="308996"/>
                  </a:lnTo>
                  <a:lnTo>
                    <a:pt x="229256" y="308996"/>
                  </a:lnTo>
                  <a:close/>
                  <a:moveTo>
                    <a:pt x="229256" y="388738"/>
                  </a:moveTo>
                  <a:lnTo>
                    <a:pt x="229256" y="318965"/>
                  </a:lnTo>
                  <a:lnTo>
                    <a:pt x="159482" y="318965"/>
                  </a:lnTo>
                  <a:lnTo>
                    <a:pt x="159482" y="388738"/>
                  </a:lnTo>
                  <a:lnTo>
                    <a:pt x="229256" y="388738"/>
                  </a:lnTo>
                  <a:close/>
                  <a:moveTo>
                    <a:pt x="548220" y="69773"/>
                  </a:moveTo>
                  <a:lnTo>
                    <a:pt x="548220" y="0"/>
                  </a:lnTo>
                  <a:lnTo>
                    <a:pt x="478446" y="0"/>
                  </a:lnTo>
                  <a:lnTo>
                    <a:pt x="478446" y="39870"/>
                  </a:lnTo>
                  <a:lnTo>
                    <a:pt x="478446" y="69773"/>
                  </a:lnTo>
                  <a:lnTo>
                    <a:pt x="548220" y="69773"/>
                  </a:lnTo>
                  <a:close/>
                  <a:moveTo>
                    <a:pt x="548220" y="149515"/>
                  </a:moveTo>
                  <a:lnTo>
                    <a:pt x="548220" y="79742"/>
                  </a:lnTo>
                  <a:lnTo>
                    <a:pt x="478446" y="79742"/>
                  </a:lnTo>
                  <a:lnTo>
                    <a:pt x="478446" y="149515"/>
                  </a:lnTo>
                  <a:lnTo>
                    <a:pt x="548220" y="149515"/>
                  </a:lnTo>
                  <a:close/>
                  <a:moveTo>
                    <a:pt x="548220" y="229256"/>
                  </a:moveTo>
                  <a:lnTo>
                    <a:pt x="548220" y="159482"/>
                  </a:lnTo>
                  <a:lnTo>
                    <a:pt x="478446" y="159482"/>
                  </a:lnTo>
                  <a:lnTo>
                    <a:pt x="478446" y="229256"/>
                  </a:lnTo>
                  <a:lnTo>
                    <a:pt x="548220" y="229256"/>
                  </a:lnTo>
                  <a:close/>
                  <a:moveTo>
                    <a:pt x="548220" y="308996"/>
                  </a:moveTo>
                  <a:lnTo>
                    <a:pt x="548220" y="239223"/>
                  </a:lnTo>
                  <a:lnTo>
                    <a:pt x="478446" y="239223"/>
                  </a:lnTo>
                  <a:lnTo>
                    <a:pt x="478446" y="308996"/>
                  </a:lnTo>
                  <a:lnTo>
                    <a:pt x="548220" y="308996"/>
                  </a:lnTo>
                  <a:close/>
                  <a:moveTo>
                    <a:pt x="548220" y="388738"/>
                  </a:moveTo>
                  <a:lnTo>
                    <a:pt x="548220" y="318965"/>
                  </a:lnTo>
                  <a:lnTo>
                    <a:pt x="478446" y="318965"/>
                  </a:lnTo>
                  <a:lnTo>
                    <a:pt x="478446" y="388738"/>
                  </a:lnTo>
                  <a:lnTo>
                    <a:pt x="548220" y="388738"/>
                  </a:lnTo>
                  <a:close/>
                  <a:moveTo>
                    <a:pt x="548220" y="468479"/>
                  </a:moveTo>
                  <a:lnTo>
                    <a:pt x="548220" y="398705"/>
                  </a:lnTo>
                  <a:lnTo>
                    <a:pt x="478446" y="398705"/>
                  </a:lnTo>
                  <a:lnTo>
                    <a:pt x="478446" y="468479"/>
                  </a:lnTo>
                  <a:lnTo>
                    <a:pt x="548220" y="468479"/>
                  </a:lnTo>
                  <a:close/>
                  <a:moveTo>
                    <a:pt x="478446" y="478447"/>
                  </a:moveTo>
                  <a:lnTo>
                    <a:pt x="478446" y="548220"/>
                  </a:lnTo>
                  <a:cubicBezTo>
                    <a:pt x="478446" y="548220"/>
                    <a:pt x="548220" y="548220"/>
                    <a:pt x="548220" y="548220"/>
                  </a:cubicBezTo>
                  <a:lnTo>
                    <a:pt x="548220" y="478447"/>
                  </a:lnTo>
                  <a:lnTo>
                    <a:pt x="478446" y="478447"/>
                  </a:lnTo>
                  <a:close/>
                </a:path>
              </a:pathLst>
            </a:custGeom>
            <a:solidFill>
              <a:srgbClr val="0070C0"/>
            </a:solidFill>
            <a:ln w="1195" cap="flat">
              <a:noFill/>
              <a:prstDash val="solid"/>
              <a:round/>
            </a:ln>
          </p:spPr>
          <p:txBody>
            <a:bodyPr rtlCol="0" anchor="ctr">
              <a:noAutofit/>
            </a:bodyPr>
            <a:lstStyle/>
            <a:p>
              <a:endParaRPr lang="en-US" sz="1300"/>
            </a:p>
          </p:txBody>
        </p:sp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92405AF1-4969-7BB1-07D7-0D52049DD775}"/>
              </a:ext>
            </a:extLst>
          </p:cNvPr>
          <p:cNvGrpSpPr>
            <a:grpSpLocks/>
          </p:cNvGrpSpPr>
          <p:nvPr/>
        </p:nvGrpSpPr>
        <p:grpSpPr>
          <a:xfrm>
            <a:off x="449020" y="9414423"/>
            <a:ext cx="5395736" cy="851515"/>
            <a:chOff x="449020" y="9558726"/>
            <a:chExt cx="5395736" cy="851515"/>
          </a:xfrm>
        </p:grpSpPr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1E3B34EE-8C87-BF7C-98DE-1177DCB2F6A9}"/>
                </a:ext>
              </a:extLst>
            </p:cNvPr>
            <p:cNvSpPr>
              <a:spLocks/>
            </p:cNvSpPr>
            <p:nvPr/>
          </p:nvSpPr>
          <p:spPr>
            <a:xfrm>
              <a:off x="449020" y="9558726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create_sankey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>
                  <a:solidFill>
                    <a:schemeClr val="tx1"/>
                  </a:solidFill>
                </a:rPr>
                <a:t>data, var1, var2, count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Create a 'networkD3' style </a:t>
              </a:r>
              <a:r>
                <a:rPr lang="en-US" sz="1300" err="1">
                  <a:solidFill>
                    <a:schemeClr val="tx1"/>
                  </a:solidFill>
                </a:rPr>
                <a:t>sankey</a:t>
              </a:r>
              <a:r>
                <a:rPr lang="en-US" sz="1300">
                  <a:solidFill>
                    <a:schemeClr val="tx1"/>
                  </a:solidFill>
                </a:rPr>
                <a:t> chart based on a long count table with two variables</a:t>
              </a: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F3C778B7-241E-E45C-B815-3AEDFE82BD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9558726"/>
              <a:ext cx="320863" cy="247104"/>
            </a:xfrm>
            <a:custGeom>
              <a:avLst/>
              <a:gdLst>
                <a:gd name="connsiteX0" fmla="*/ 243941 w 609611"/>
                <a:gd name="connsiteY0" fmla="*/ 311414 h 469474"/>
                <a:gd name="connsiteX1" fmla="*/ 270897 w 609611"/>
                <a:gd name="connsiteY1" fmla="*/ 336846 h 469474"/>
                <a:gd name="connsiteX2" fmla="*/ 248227 w 609611"/>
                <a:gd name="connsiteY2" fmla="*/ 379327 h 469474"/>
                <a:gd name="connsiteX3" fmla="*/ 160883 w 609611"/>
                <a:gd name="connsiteY3" fmla="*/ 431715 h 469474"/>
                <a:gd name="connsiteX4" fmla="*/ 125069 w 609611"/>
                <a:gd name="connsiteY4" fmla="*/ 431715 h 469474"/>
                <a:gd name="connsiteX5" fmla="*/ 127450 w 609611"/>
                <a:gd name="connsiteY5" fmla="*/ 413808 h 469474"/>
                <a:gd name="connsiteX6" fmla="*/ 125069 w 609611"/>
                <a:gd name="connsiteY6" fmla="*/ 395996 h 469474"/>
                <a:gd name="connsiteX7" fmla="*/ 160883 w 609611"/>
                <a:gd name="connsiteY7" fmla="*/ 395996 h 469474"/>
                <a:gd name="connsiteX8" fmla="*/ 216700 w 609611"/>
                <a:gd name="connsiteY8" fmla="*/ 362468 h 469474"/>
                <a:gd name="connsiteX9" fmla="*/ 125260 w 609611"/>
                <a:gd name="connsiteY9" fmla="*/ 217783 h 469474"/>
                <a:gd name="connsiteX10" fmla="*/ 172885 w 609611"/>
                <a:gd name="connsiteY10" fmla="*/ 217783 h 469474"/>
                <a:gd name="connsiteX11" fmla="*/ 248513 w 609611"/>
                <a:gd name="connsiteY11" fmla="*/ 247692 h 469474"/>
                <a:gd name="connsiteX12" fmla="*/ 306330 w 609611"/>
                <a:gd name="connsiteY12" fmla="*/ 301889 h 469474"/>
                <a:gd name="connsiteX13" fmla="*/ 385673 w 609611"/>
                <a:gd name="connsiteY13" fmla="*/ 375708 h 469474"/>
                <a:gd name="connsiteX14" fmla="*/ 436918 w 609611"/>
                <a:gd name="connsiteY14" fmla="*/ 395996 h 469474"/>
                <a:gd name="connsiteX15" fmla="*/ 484543 w 609611"/>
                <a:gd name="connsiteY15" fmla="*/ 395996 h 469474"/>
                <a:gd name="connsiteX16" fmla="*/ 481971 w 609611"/>
                <a:gd name="connsiteY16" fmla="*/ 413713 h 469474"/>
                <a:gd name="connsiteX17" fmla="*/ 484352 w 609611"/>
                <a:gd name="connsiteY17" fmla="*/ 431619 h 469474"/>
                <a:gd name="connsiteX18" fmla="*/ 436727 w 609611"/>
                <a:gd name="connsiteY18" fmla="*/ 431619 h 469474"/>
                <a:gd name="connsiteX19" fmla="*/ 361099 w 609611"/>
                <a:gd name="connsiteY19" fmla="*/ 401711 h 469474"/>
                <a:gd name="connsiteX20" fmla="*/ 306330 w 609611"/>
                <a:gd name="connsiteY20" fmla="*/ 350371 h 469474"/>
                <a:gd name="connsiteX21" fmla="*/ 224129 w 609611"/>
                <a:gd name="connsiteY21" fmla="*/ 273314 h 469474"/>
                <a:gd name="connsiteX22" fmla="*/ 172694 w 609611"/>
                <a:gd name="connsiteY22" fmla="*/ 253121 h 469474"/>
                <a:gd name="connsiteX23" fmla="*/ 125069 w 609611"/>
                <a:gd name="connsiteY23" fmla="*/ 253121 h 469474"/>
                <a:gd name="connsiteX24" fmla="*/ 127450 w 609611"/>
                <a:gd name="connsiteY24" fmla="*/ 235214 h 469474"/>
                <a:gd name="connsiteX25" fmla="*/ 125260 w 609611"/>
                <a:gd name="connsiteY25" fmla="*/ 217783 h 469474"/>
                <a:gd name="connsiteX26" fmla="*/ 307378 w 609611"/>
                <a:gd name="connsiteY26" fmla="*/ 192446 h 469474"/>
                <a:gd name="connsiteX27" fmla="*/ 334429 w 609611"/>
                <a:gd name="connsiteY27" fmla="*/ 217687 h 469474"/>
                <a:gd name="connsiteX28" fmla="*/ 306330 w 609611"/>
                <a:gd name="connsiteY28" fmla="*/ 270456 h 469474"/>
                <a:gd name="connsiteX29" fmla="*/ 302234 w 609611"/>
                <a:gd name="connsiteY29" fmla="*/ 278076 h 469474"/>
                <a:gd name="connsiteX30" fmla="*/ 275183 w 609611"/>
                <a:gd name="connsiteY30" fmla="*/ 252739 h 469474"/>
                <a:gd name="connsiteX31" fmla="*/ 306330 w 609611"/>
                <a:gd name="connsiteY31" fmla="*/ 194541 h 469474"/>
                <a:gd name="connsiteX32" fmla="*/ 448729 w 609611"/>
                <a:gd name="connsiteY32" fmla="*/ 38808 h 469474"/>
                <a:gd name="connsiteX33" fmla="*/ 484543 w 609611"/>
                <a:gd name="connsiteY33" fmla="*/ 38808 h 469474"/>
                <a:gd name="connsiteX34" fmla="*/ 482257 w 609611"/>
                <a:gd name="connsiteY34" fmla="*/ 56620 h 469474"/>
                <a:gd name="connsiteX35" fmla="*/ 484638 w 609611"/>
                <a:gd name="connsiteY35" fmla="*/ 74527 h 469474"/>
                <a:gd name="connsiteX36" fmla="*/ 448729 w 609611"/>
                <a:gd name="connsiteY36" fmla="*/ 74527 h 469474"/>
                <a:gd name="connsiteX37" fmla="*/ 392912 w 609611"/>
                <a:gd name="connsiteY37" fmla="*/ 108055 h 469474"/>
                <a:gd name="connsiteX38" fmla="*/ 365766 w 609611"/>
                <a:gd name="connsiteY38" fmla="*/ 159014 h 469474"/>
                <a:gd name="connsiteX39" fmla="*/ 338715 w 609611"/>
                <a:gd name="connsiteY39" fmla="*/ 133677 h 469474"/>
                <a:gd name="connsiteX40" fmla="*/ 361384 w 609611"/>
                <a:gd name="connsiteY40" fmla="*/ 91195 h 469474"/>
                <a:gd name="connsiteX41" fmla="*/ 448729 w 609611"/>
                <a:gd name="connsiteY41" fmla="*/ 38808 h 469474"/>
                <a:gd name="connsiteX42" fmla="*/ 125259 w 609611"/>
                <a:gd name="connsiteY42" fmla="*/ 38808 h 469474"/>
                <a:gd name="connsiteX43" fmla="*/ 172884 w 609611"/>
                <a:gd name="connsiteY43" fmla="*/ 38808 h 469474"/>
                <a:gd name="connsiteX44" fmla="*/ 248513 w 609611"/>
                <a:gd name="connsiteY44" fmla="*/ 68717 h 469474"/>
                <a:gd name="connsiteX45" fmla="*/ 306329 w 609611"/>
                <a:gd name="connsiteY45" fmla="*/ 122914 h 469474"/>
                <a:gd name="connsiteX46" fmla="*/ 385482 w 609611"/>
                <a:gd name="connsiteY46" fmla="*/ 197114 h 469474"/>
                <a:gd name="connsiteX47" fmla="*/ 436917 w 609611"/>
                <a:gd name="connsiteY47" fmla="*/ 217402 h 469474"/>
                <a:gd name="connsiteX48" fmla="*/ 484542 w 609611"/>
                <a:gd name="connsiteY48" fmla="*/ 217402 h 469474"/>
                <a:gd name="connsiteX49" fmla="*/ 482256 w 609611"/>
                <a:gd name="connsiteY49" fmla="*/ 235214 h 469474"/>
                <a:gd name="connsiteX50" fmla="*/ 484352 w 609611"/>
                <a:gd name="connsiteY50" fmla="*/ 253121 h 469474"/>
                <a:gd name="connsiteX51" fmla="*/ 436727 w 609611"/>
                <a:gd name="connsiteY51" fmla="*/ 253121 h 469474"/>
                <a:gd name="connsiteX52" fmla="*/ 361098 w 609611"/>
                <a:gd name="connsiteY52" fmla="*/ 223212 h 469474"/>
                <a:gd name="connsiteX53" fmla="*/ 306329 w 609611"/>
                <a:gd name="connsiteY53" fmla="*/ 171872 h 469474"/>
                <a:gd name="connsiteX54" fmla="*/ 224129 w 609611"/>
                <a:gd name="connsiteY54" fmla="*/ 94815 h 469474"/>
                <a:gd name="connsiteX55" fmla="*/ 172884 w 609611"/>
                <a:gd name="connsiteY55" fmla="*/ 74527 h 469474"/>
                <a:gd name="connsiteX56" fmla="*/ 125259 w 609611"/>
                <a:gd name="connsiteY56" fmla="*/ 74527 h 469474"/>
                <a:gd name="connsiteX57" fmla="*/ 127640 w 609611"/>
                <a:gd name="connsiteY57" fmla="*/ 56620 h 469474"/>
                <a:gd name="connsiteX58" fmla="*/ 125259 w 609611"/>
                <a:gd name="connsiteY58" fmla="*/ 38808 h 469474"/>
                <a:gd name="connsiteX59" fmla="*/ 545979 w 609611"/>
                <a:gd name="connsiteY59" fmla="*/ 447 h 469474"/>
                <a:gd name="connsiteX60" fmla="*/ 609165 w 609611"/>
                <a:gd name="connsiteY60" fmla="*/ 49536 h 469474"/>
                <a:gd name="connsiteX61" fmla="*/ 560076 w 609611"/>
                <a:gd name="connsiteY61" fmla="*/ 112722 h 469474"/>
                <a:gd name="connsiteX62" fmla="*/ 560076 w 609611"/>
                <a:gd name="connsiteY62" fmla="*/ 113198 h 469474"/>
                <a:gd name="connsiteX63" fmla="*/ 560076 w 609611"/>
                <a:gd name="connsiteY63" fmla="*/ 178635 h 469474"/>
                <a:gd name="connsiteX64" fmla="*/ 560076 w 609611"/>
                <a:gd name="connsiteY64" fmla="*/ 179111 h 469474"/>
                <a:gd name="connsiteX65" fmla="*/ 609606 w 609611"/>
                <a:gd name="connsiteY65" fmla="*/ 235213 h 469474"/>
                <a:gd name="connsiteX66" fmla="*/ 560076 w 609611"/>
                <a:gd name="connsiteY66" fmla="*/ 291792 h 469474"/>
                <a:gd name="connsiteX67" fmla="*/ 560076 w 609611"/>
                <a:gd name="connsiteY67" fmla="*/ 356752 h 469474"/>
                <a:gd name="connsiteX68" fmla="*/ 609165 w 609611"/>
                <a:gd name="connsiteY68" fmla="*/ 405841 h 469474"/>
                <a:gd name="connsiteX69" fmla="*/ 560076 w 609611"/>
                <a:gd name="connsiteY69" fmla="*/ 469027 h 469474"/>
                <a:gd name="connsiteX70" fmla="*/ 496890 w 609611"/>
                <a:gd name="connsiteY70" fmla="*/ 419938 h 469474"/>
                <a:gd name="connsiteX71" fmla="*/ 545979 w 609611"/>
                <a:gd name="connsiteY71" fmla="*/ 356752 h 469474"/>
                <a:gd name="connsiteX72" fmla="*/ 545979 w 609611"/>
                <a:gd name="connsiteY72" fmla="*/ 291316 h 469474"/>
                <a:gd name="connsiteX73" fmla="*/ 497202 w 609611"/>
                <a:gd name="connsiteY73" fmla="*/ 242539 h 469474"/>
                <a:gd name="connsiteX74" fmla="*/ 545979 w 609611"/>
                <a:gd name="connsiteY74" fmla="*/ 179111 h 469474"/>
                <a:gd name="connsiteX75" fmla="*/ 545979 w 609611"/>
                <a:gd name="connsiteY75" fmla="*/ 178635 h 469474"/>
                <a:gd name="connsiteX76" fmla="*/ 545979 w 609611"/>
                <a:gd name="connsiteY76" fmla="*/ 113198 h 469474"/>
                <a:gd name="connsiteX77" fmla="*/ 545979 w 609611"/>
                <a:gd name="connsiteY77" fmla="*/ 112722 h 469474"/>
                <a:gd name="connsiteX78" fmla="*/ 496890 w 609611"/>
                <a:gd name="connsiteY78" fmla="*/ 63633 h 469474"/>
                <a:gd name="connsiteX79" fmla="*/ 545979 w 609611"/>
                <a:gd name="connsiteY79" fmla="*/ 447 h 469474"/>
                <a:gd name="connsiteX80" fmla="*/ 56619 w 609611"/>
                <a:gd name="connsiteY80" fmla="*/ 6 h 469474"/>
                <a:gd name="connsiteX81" fmla="*/ 113162 w 609611"/>
                <a:gd name="connsiteY81" fmla="*/ 56620 h 469474"/>
                <a:gd name="connsiteX82" fmla="*/ 63632 w 609611"/>
                <a:gd name="connsiteY82" fmla="*/ 112722 h 469474"/>
                <a:gd name="connsiteX83" fmla="*/ 63632 w 609611"/>
                <a:gd name="connsiteY83" fmla="*/ 113198 h 469474"/>
                <a:gd name="connsiteX84" fmla="*/ 63632 w 609611"/>
                <a:gd name="connsiteY84" fmla="*/ 179111 h 469474"/>
                <a:gd name="connsiteX85" fmla="*/ 63632 w 609611"/>
                <a:gd name="connsiteY85" fmla="*/ 179588 h 469474"/>
                <a:gd name="connsiteX86" fmla="*/ 112409 w 609611"/>
                <a:gd name="connsiteY86" fmla="*/ 228364 h 469474"/>
                <a:gd name="connsiteX87" fmla="*/ 63632 w 609611"/>
                <a:gd name="connsiteY87" fmla="*/ 291792 h 469474"/>
                <a:gd name="connsiteX88" fmla="*/ 63632 w 609611"/>
                <a:gd name="connsiteY88" fmla="*/ 356753 h 469474"/>
                <a:gd name="connsiteX89" fmla="*/ 112721 w 609611"/>
                <a:gd name="connsiteY89" fmla="*/ 405842 h 469474"/>
                <a:gd name="connsiteX90" fmla="*/ 63632 w 609611"/>
                <a:gd name="connsiteY90" fmla="*/ 469028 h 469474"/>
                <a:gd name="connsiteX91" fmla="*/ 446 w 609611"/>
                <a:gd name="connsiteY91" fmla="*/ 419939 h 469474"/>
                <a:gd name="connsiteX92" fmla="*/ 49535 w 609611"/>
                <a:gd name="connsiteY92" fmla="*/ 356753 h 469474"/>
                <a:gd name="connsiteX93" fmla="*/ 49535 w 609611"/>
                <a:gd name="connsiteY93" fmla="*/ 291316 h 469474"/>
                <a:gd name="connsiteX94" fmla="*/ 758 w 609611"/>
                <a:gd name="connsiteY94" fmla="*/ 242539 h 469474"/>
                <a:gd name="connsiteX95" fmla="*/ 49535 w 609611"/>
                <a:gd name="connsiteY95" fmla="*/ 179111 h 469474"/>
                <a:gd name="connsiteX96" fmla="*/ 49535 w 609611"/>
                <a:gd name="connsiteY96" fmla="*/ 178635 h 469474"/>
                <a:gd name="connsiteX97" fmla="*/ 49535 w 609611"/>
                <a:gd name="connsiteY97" fmla="*/ 113198 h 469474"/>
                <a:gd name="connsiteX98" fmla="*/ 49535 w 609611"/>
                <a:gd name="connsiteY98" fmla="*/ 112722 h 469474"/>
                <a:gd name="connsiteX99" fmla="*/ 5 w 609611"/>
                <a:gd name="connsiteY99" fmla="*/ 56548 h 469474"/>
                <a:gd name="connsiteX100" fmla="*/ 56619 w 609611"/>
                <a:gd name="connsiteY100" fmla="*/ 6 h 469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609611" h="469474">
                  <a:moveTo>
                    <a:pt x="243941" y="311414"/>
                  </a:moveTo>
                  <a:lnTo>
                    <a:pt x="270897" y="336846"/>
                  </a:lnTo>
                  <a:lnTo>
                    <a:pt x="248227" y="379327"/>
                  </a:lnTo>
                  <a:cubicBezTo>
                    <a:pt x="231055" y="411611"/>
                    <a:pt x="197450" y="431766"/>
                    <a:pt x="160883" y="431715"/>
                  </a:cubicBezTo>
                  <a:lnTo>
                    <a:pt x="125069" y="431715"/>
                  </a:lnTo>
                  <a:cubicBezTo>
                    <a:pt x="126685" y="425884"/>
                    <a:pt x="127487" y="419858"/>
                    <a:pt x="127450" y="413808"/>
                  </a:cubicBezTo>
                  <a:cubicBezTo>
                    <a:pt x="127486" y="407789"/>
                    <a:pt x="126685" y="401794"/>
                    <a:pt x="125069" y="395996"/>
                  </a:cubicBezTo>
                  <a:lnTo>
                    <a:pt x="160883" y="395996"/>
                  </a:lnTo>
                  <a:cubicBezTo>
                    <a:pt x="184260" y="396012"/>
                    <a:pt x="205733" y="383113"/>
                    <a:pt x="216700" y="362468"/>
                  </a:cubicBezTo>
                  <a:close/>
                  <a:moveTo>
                    <a:pt x="125260" y="217783"/>
                  </a:moveTo>
                  <a:lnTo>
                    <a:pt x="172885" y="217783"/>
                  </a:lnTo>
                  <a:cubicBezTo>
                    <a:pt x="200989" y="217727"/>
                    <a:pt x="228050" y="228428"/>
                    <a:pt x="248513" y="247692"/>
                  </a:cubicBezTo>
                  <a:lnTo>
                    <a:pt x="306330" y="301889"/>
                  </a:lnTo>
                  <a:lnTo>
                    <a:pt x="385673" y="375708"/>
                  </a:lnTo>
                  <a:cubicBezTo>
                    <a:pt x="399559" y="388732"/>
                    <a:pt x="417880" y="395986"/>
                    <a:pt x="436918" y="395996"/>
                  </a:cubicBezTo>
                  <a:lnTo>
                    <a:pt x="484543" y="395996"/>
                  </a:lnTo>
                  <a:cubicBezTo>
                    <a:pt x="482916" y="401764"/>
                    <a:pt x="482052" y="407720"/>
                    <a:pt x="481971" y="413713"/>
                  </a:cubicBezTo>
                  <a:cubicBezTo>
                    <a:pt x="481934" y="419763"/>
                    <a:pt x="482736" y="425789"/>
                    <a:pt x="484352" y="431619"/>
                  </a:cubicBezTo>
                  <a:lnTo>
                    <a:pt x="436727" y="431619"/>
                  </a:lnTo>
                  <a:cubicBezTo>
                    <a:pt x="408630" y="431638"/>
                    <a:pt x="381583" y="420941"/>
                    <a:pt x="361099" y="401711"/>
                  </a:cubicBezTo>
                  <a:lnTo>
                    <a:pt x="306330" y="350371"/>
                  </a:lnTo>
                  <a:lnTo>
                    <a:pt x="224129" y="273314"/>
                  </a:lnTo>
                  <a:cubicBezTo>
                    <a:pt x="210202" y="260246"/>
                    <a:pt x="191792" y="253018"/>
                    <a:pt x="172694" y="253121"/>
                  </a:cubicBezTo>
                  <a:lnTo>
                    <a:pt x="125069" y="253121"/>
                  </a:lnTo>
                  <a:cubicBezTo>
                    <a:pt x="126685" y="247291"/>
                    <a:pt x="127487" y="241264"/>
                    <a:pt x="127450" y="235214"/>
                  </a:cubicBezTo>
                  <a:cubicBezTo>
                    <a:pt x="127514" y="229331"/>
                    <a:pt x="126777" y="223467"/>
                    <a:pt x="125260" y="217783"/>
                  </a:cubicBezTo>
                  <a:close/>
                  <a:moveTo>
                    <a:pt x="307378" y="192446"/>
                  </a:moveTo>
                  <a:lnTo>
                    <a:pt x="334429" y="217687"/>
                  </a:lnTo>
                  <a:lnTo>
                    <a:pt x="306330" y="270456"/>
                  </a:lnTo>
                  <a:lnTo>
                    <a:pt x="302234" y="278076"/>
                  </a:lnTo>
                  <a:lnTo>
                    <a:pt x="275183" y="252739"/>
                  </a:lnTo>
                  <a:lnTo>
                    <a:pt x="306330" y="194541"/>
                  </a:lnTo>
                  <a:close/>
                  <a:moveTo>
                    <a:pt x="448729" y="38808"/>
                  </a:moveTo>
                  <a:lnTo>
                    <a:pt x="484543" y="38808"/>
                  </a:lnTo>
                  <a:cubicBezTo>
                    <a:pt x="483004" y="44619"/>
                    <a:pt x="482236" y="50608"/>
                    <a:pt x="482257" y="56620"/>
                  </a:cubicBezTo>
                  <a:cubicBezTo>
                    <a:pt x="482220" y="62670"/>
                    <a:pt x="483022" y="68697"/>
                    <a:pt x="484638" y="74527"/>
                  </a:cubicBezTo>
                  <a:lnTo>
                    <a:pt x="448729" y="74527"/>
                  </a:lnTo>
                  <a:cubicBezTo>
                    <a:pt x="425352" y="74511"/>
                    <a:pt x="403878" y="87409"/>
                    <a:pt x="392912" y="108055"/>
                  </a:cubicBezTo>
                  <a:lnTo>
                    <a:pt x="365766" y="159014"/>
                  </a:lnTo>
                  <a:lnTo>
                    <a:pt x="338715" y="133677"/>
                  </a:lnTo>
                  <a:lnTo>
                    <a:pt x="361384" y="91195"/>
                  </a:lnTo>
                  <a:cubicBezTo>
                    <a:pt x="378589" y="58942"/>
                    <a:pt x="412173" y="38798"/>
                    <a:pt x="448729" y="38808"/>
                  </a:cubicBezTo>
                  <a:close/>
                  <a:moveTo>
                    <a:pt x="125259" y="38808"/>
                  </a:moveTo>
                  <a:lnTo>
                    <a:pt x="172884" y="38808"/>
                  </a:lnTo>
                  <a:cubicBezTo>
                    <a:pt x="200988" y="38752"/>
                    <a:pt x="228049" y="49453"/>
                    <a:pt x="248513" y="68717"/>
                  </a:cubicBezTo>
                  <a:lnTo>
                    <a:pt x="306329" y="122914"/>
                  </a:lnTo>
                  <a:lnTo>
                    <a:pt x="385482" y="197114"/>
                  </a:lnTo>
                  <a:cubicBezTo>
                    <a:pt x="399415" y="210184"/>
                    <a:pt x="417813" y="217440"/>
                    <a:pt x="436917" y="217402"/>
                  </a:cubicBezTo>
                  <a:lnTo>
                    <a:pt x="484542" y="217402"/>
                  </a:lnTo>
                  <a:cubicBezTo>
                    <a:pt x="483004" y="223213"/>
                    <a:pt x="482235" y="229203"/>
                    <a:pt x="482256" y="235214"/>
                  </a:cubicBezTo>
                  <a:cubicBezTo>
                    <a:pt x="482126" y="241251"/>
                    <a:pt x="482831" y="247277"/>
                    <a:pt x="484352" y="253121"/>
                  </a:cubicBezTo>
                  <a:lnTo>
                    <a:pt x="436727" y="253121"/>
                  </a:lnTo>
                  <a:cubicBezTo>
                    <a:pt x="408630" y="253139"/>
                    <a:pt x="381582" y="242442"/>
                    <a:pt x="361098" y="223212"/>
                  </a:cubicBezTo>
                  <a:lnTo>
                    <a:pt x="306329" y="171872"/>
                  </a:lnTo>
                  <a:lnTo>
                    <a:pt x="224129" y="94815"/>
                  </a:lnTo>
                  <a:cubicBezTo>
                    <a:pt x="210264" y="81757"/>
                    <a:pt x="191929" y="74498"/>
                    <a:pt x="172884" y="74527"/>
                  </a:cubicBezTo>
                  <a:lnTo>
                    <a:pt x="125259" y="74527"/>
                  </a:lnTo>
                  <a:cubicBezTo>
                    <a:pt x="126875" y="68697"/>
                    <a:pt x="127677" y="62670"/>
                    <a:pt x="127640" y="56620"/>
                  </a:cubicBezTo>
                  <a:cubicBezTo>
                    <a:pt x="127676" y="50601"/>
                    <a:pt x="126875" y="44606"/>
                    <a:pt x="125259" y="38808"/>
                  </a:cubicBezTo>
                  <a:close/>
                  <a:moveTo>
                    <a:pt x="545979" y="447"/>
                  </a:moveTo>
                  <a:cubicBezTo>
                    <a:pt x="576983" y="-3446"/>
                    <a:pt x="605272" y="18532"/>
                    <a:pt x="609165" y="49536"/>
                  </a:cubicBezTo>
                  <a:cubicBezTo>
                    <a:pt x="613058" y="80540"/>
                    <a:pt x="591080" y="108829"/>
                    <a:pt x="560076" y="112722"/>
                  </a:cubicBezTo>
                  <a:cubicBezTo>
                    <a:pt x="560085" y="112881"/>
                    <a:pt x="560085" y="113039"/>
                    <a:pt x="560076" y="113198"/>
                  </a:cubicBezTo>
                  <a:lnTo>
                    <a:pt x="560076" y="178635"/>
                  </a:lnTo>
                  <a:cubicBezTo>
                    <a:pt x="560085" y="178794"/>
                    <a:pt x="560085" y="178952"/>
                    <a:pt x="560076" y="179111"/>
                  </a:cubicBezTo>
                  <a:cubicBezTo>
                    <a:pt x="588362" y="182663"/>
                    <a:pt x="609588" y="206705"/>
                    <a:pt x="609606" y="235213"/>
                  </a:cubicBezTo>
                  <a:cubicBezTo>
                    <a:pt x="609830" y="263904"/>
                    <a:pt x="588543" y="288218"/>
                    <a:pt x="560076" y="291792"/>
                  </a:cubicBezTo>
                  <a:lnTo>
                    <a:pt x="560076" y="356752"/>
                  </a:lnTo>
                  <a:cubicBezTo>
                    <a:pt x="585734" y="359974"/>
                    <a:pt x="605943" y="380183"/>
                    <a:pt x="609165" y="405841"/>
                  </a:cubicBezTo>
                  <a:cubicBezTo>
                    <a:pt x="613058" y="436845"/>
                    <a:pt x="591080" y="465135"/>
                    <a:pt x="560076" y="469027"/>
                  </a:cubicBezTo>
                  <a:cubicBezTo>
                    <a:pt x="529072" y="472920"/>
                    <a:pt x="500783" y="450942"/>
                    <a:pt x="496890" y="419938"/>
                  </a:cubicBezTo>
                  <a:cubicBezTo>
                    <a:pt x="492997" y="388934"/>
                    <a:pt x="514975" y="360645"/>
                    <a:pt x="545979" y="356752"/>
                  </a:cubicBezTo>
                  <a:lnTo>
                    <a:pt x="545979" y="291316"/>
                  </a:lnTo>
                  <a:cubicBezTo>
                    <a:pt x="520542" y="287994"/>
                    <a:pt x="500524" y="267976"/>
                    <a:pt x="497202" y="242539"/>
                  </a:cubicBezTo>
                  <a:cubicBezTo>
                    <a:pt x="493156" y="211554"/>
                    <a:pt x="514994" y="183157"/>
                    <a:pt x="545979" y="179111"/>
                  </a:cubicBezTo>
                  <a:cubicBezTo>
                    <a:pt x="545969" y="178952"/>
                    <a:pt x="545969" y="178794"/>
                    <a:pt x="545979" y="178635"/>
                  </a:cubicBezTo>
                  <a:lnTo>
                    <a:pt x="545979" y="113198"/>
                  </a:lnTo>
                  <a:cubicBezTo>
                    <a:pt x="545969" y="113039"/>
                    <a:pt x="545969" y="112881"/>
                    <a:pt x="545979" y="112722"/>
                  </a:cubicBezTo>
                  <a:cubicBezTo>
                    <a:pt x="520320" y="109500"/>
                    <a:pt x="500111" y="89291"/>
                    <a:pt x="496890" y="63633"/>
                  </a:cubicBezTo>
                  <a:cubicBezTo>
                    <a:pt x="492997" y="32629"/>
                    <a:pt x="514975" y="4339"/>
                    <a:pt x="545979" y="447"/>
                  </a:cubicBezTo>
                  <a:close/>
                  <a:moveTo>
                    <a:pt x="56619" y="6"/>
                  </a:moveTo>
                  <a:cubicBezTo>
                    <a:pt x="87867" y="25"/>
                    <a:pt x="113182" y="25372"/>
                    <a:pt x="113162" y="56620"/>
                  </a:cubicBezTo>
                  <a:cubicBezTo>
                    <a:pt x="113144" y="85128"/>
                    <a:pt x="91918" y="109170"/>
                    <a:pt x="63632" y="112722"/>
                  </a:cubicBezTo>
                  <a:cubicBezTo>
                    <a:pt x="63641" y="112881"/>
                    <a:pt x="63641" y="113039"/>
                    <a:pt x="63632" y="113198"/>
                  </a:cubicBezTo>
                  <a:lnTo>
                    <a:pt x="63632" y="179111"/>
                  </a:lnTo>
                  <a:cubicBezTo>
                    <a:pt x="63641" y="179269"/>
                    <a:pt x="63641" y="179428"/>
                    <a:pt x="63632" y="179588"/>
                  </a:cubicBezTo>
                  <a:cubicBezTo>
                    <a:pt x="89069" y="182909"/>
                    <a:pt x="109087" y="202928"/>
                    <a:pt x="112409" y="228364"/>
                  </a:cubicBezTo>
                  <a:cubicBezTo>
                    <a:pt x="116455" y="259349"/>
                    <a:pt x="94617" y="287746"/>
                    <a:pt x="63632" y="291792"/>
                  </a:cubicBezTo>
                  <a:lnTo>
                    <a:pt x="63632" y="356753"/>
                  </a:lnTo>
                  <a:cubicBezTo>
                    <a:pt x="89290" y="359974"/>
                    <a:pt x="109500" y="380183"/>
                    <a:pt x="112721" y="405842"/>
                  </a:cubicBezTo>
                  <a:cubicBezTo>
                    <a:pt x="116614" y="436845"/>
                    <a:pt x="94636" y="465136"/>
                    <a:pt x="63632" y="469028"/>
                  </a:cubicBezTo>
                  <a:cubicBezTo>
                    <a:pt x="32628" y="472920"/>
                    <a:pt x="4339" y="450942"/>
                    <a:pt x="446" y="419939"/>
                  </a:cubicBezTo>
                  <a:cubicBezTo>
                    <a:pt x="-3447" y="388935"/>
                    <a:pt x="18531" y="360645"/>
                    <a:pt x="49535" y="356753"/>
                  </a:cubicBezTo>
                  <a:lnTo>
                    <a:pt x="49535" y="291316"/>
                  </a:lnTo>
                  <a:cubicBezTo>
                    <a:pt x="24099" y="287994"/>
                    <a:pt x="4080" y="267976"/>
                    <a:pt x="758" y="242539"/>
                  </a:cubicBezTo>
                  <a:cubicBezTo>
                    <a:pt x="-3287" y="211554"/>
                    <a:pt x="18551" y="183157"/>
                    <a:pt x="49535" y="179111"/>
                  </a:cubicBezTo>
                  <a:cubicBezTo>
                    <a:pt x="49526" y="178952"/>
                    <a:pt x="49526" y="178794"/>
                    <a:pt x="49535" y="178635"/>
                  </a:cubicBezTo>
                  <a:lnTo>
                    <a:pt x="49535" y="113198"/>
                  </a:lnTo>
                  <a:cubicBezTo>
                    <a:pt x="49526" y="113039"/>
                    <a:pt x="49526" y="112881"/>
                    <a:pt x="49535" y="112722"/>
                  </a:cubicBezTo>
                  <a:cubicBezTo>
                    <a:pt x="21222" y="109167"/>
                    <a:pt x="-13" y="85084"/>
                    <a:pt x="5" y="56548"/>
                  </a:cubicBezTo>
                  <a:cubicBezTo>
                    <a:pt x="25" y="25302"/>
                    <a:pt x="25372" y="-14"/>
                    <a:pt x="56619" y="6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00"/>
            </a:p>
          </p:txBody>
        </p: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BD783D89-4434-AC5A-682D-311DC39988DB}"/>
              </a:ext>
            </a:extLst>
          </p:cNvPr>
          <p:cNvGrpSpPr>
            <a:grpSpLocks/>
          </p:cNvGrpSpPr>
          <p:nvPr/>
        </p:nvGrpSpPr>
        <p:grpSpPr>
          <a:xfrm>
            <a:off x="449020" y="10574405"/>
            <a:ext cx="5395736" cy="651460"/>
            <a:chOff x="449020" y="10778378"/>
            <a:chExt cx="5395736" cy="651460"/>
          </a:xfrm>
        </p:grpSpPr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49AF6A7D-6B8F-00B1-9789-C92E8AE91177}"/>
                </a:ext>
              </a:extLst>
            </p:cNvPr>
            <p:cNvSpPr>
              <a:spLocks/>
            </p:cNvSpPr>
            <p:nvPr/>
          </p:nvSpPr>
          <p:spPr>
            <a:xfrm>
              <a:off x="449020" y="10778378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create_stacked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>
                  <a:solidFill>
                    <a:schemeClr val="tx1"/>
                  </a:solidFill>
                </a:rPr>
                <a:t>metric, </a:t>
              </a: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stacked bar plot by default</a:t>
              </a: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C8326B55-53EB-42F7-BD94-3C724B7368FA}"/>
                </a:ext>
              </a:extLst>
            </p:cNvPr>
            <p:cNvSpPr>
              <a:spLocks/>
            </p:cNvSpPr>
            <p:nvPr/>
          </p:nvSpPr>
          <p:spPr>
            <a:xfrm rot="5400000">
              <a:off x="449020" y="10778378"/>
              <a:ext cx="320863" cy="320863"/>
            </a:xfrm>
            <a:custGeom>
              <a:avLst/>
              <a:gdLst>
                <a:gd name="connsiteX0" fmla="*/ 161925 w 857250"/>
                <a:gd name="connsiteY0" fmla="*/ 857250 h 857250"/>
                <a:gd name="connsiteX1" fmla="*/ 0 w 857250"/>
                <a:gd name="connsiteY1" fmla="*/ 857250 h 857250"/>
                <a:gd name="connsiteX2" fmla="*/ 0 w 857250"/>
                <a:gd name="connsiteY2" fmla="*/ 714375 h 857250"/>
                <a:gd name="connsiteX3" fmla="*/ 161925 w 857250"/>
                <a:gd name="connsiteY3" fmla="*/ 714375 h 857250"/>
                <a:gd name="connsiteX4" fmla="*/ 161925 w 857250"/>
                <a:gd name="connsiteY4" fmla="*/ 857250 h 857250"/>
                <a:gd name="connsiteX5" fmla="*/ 161925 w 857250"/>
                <a:gd name="connsiteY5" fmla="*/ 466725 h 857250"/>
                <a:gd name="connsiteX6" fmla="*/ 0 w 857250"/>
                <a:gd name="connsiteY6" fmla="*/ 466725 h 857250"/>
                <a:gd name="connsiteX7" fmla="*/ 0 w 857250"/>
                <a:gd name="connsiteY7" fmla="*/ 676275 h 857250"/>
                <a:gd name="connsiteX8" fmla="*/ 161925 w 857250"/>
                <a:gd name="connsiteY8" fmla="*/ 676275 h 857250"/>
                <a:gd name="connsiteX9" fmla="*/ 161925 w 857250"/>
                <a:gd name="connsiteY9" fmla="*/ 466725 h 857250"/>
                <a:gd name="connsiteX10" fmla="*/ 400050 w 857250"/>
                <a:gd name="connsiteY10" fmla="*/ 514350 h 857250"/>
                <a:gd name="connsiteX11" fmla="*/ 228600 w 857250"/>
                <a:gd name="connsiteY11" fmla="*/ 514350 h 857250"/>
                <a:gd name="connsiteX12" fmla="*/ 228600 w 857250"/>
                <a:gd name="connsiteY12" fmla="*/ 857250 h 857250"/>
                <a:gd name="connsiteX13" fmla="*/ 400050 w 857250"/>
                <a:gd name="connsiteY13" fmla="*/ 857250 h 857250"/>
                <a:gd name="connsiteX14" fmla="*/ 400050 w 857250"/>
                <a:gd name="connsiteY14" fmla="*/ 514350 h 857250"/>
                <a:gd name="connsiteX15" fmla="*/ 400050 w 857250"/>
                <a:gd name="connsiteY15" fmla="*/ 228600 h 857250"/>
                <a:gd name="connsiteX16" fmla="*/ 228600 w 857250"/>
                <a:gd name="connsiteY16" fmla="*/ 228600 h 857250"/>
                <a:gd name="connsiteX17" fmla="*/ 228600 w 857250"/>
                <a:gd name="connsiteY17" fmla="*/ 476250 h 857250"/>
                <a:gd name="connsiteX18" fmla="*/ 400050 w 857250"/>
                <a:gd name="connsiteY18" fmla="*/ 476250 h 857250"/>
                <a:gd name="connsiteX19" fmla="*/ 400050 w 857250"/>
                <a:gd name="connsiteY19" fmla="*/ 228600 h 857250"/>
                <a:gd name="connsiteX20" fmla="*/ 628650 w 857250"/>
                <a:gd name="connsiteY20" fmla="*/ 762000 h 857250"/>
                <a:gd name="connsiteX21" fmla="*/ 457200 w 857250"/>
                <a:gd name="connsiteY21" fmla="*/ 762000 h 857250"/>
                <a:gd name="connsiteX22" fmla="*/ 457200 w 857250"/>
                <a:gd name="connsiteY22" fmla="*/ 857250 h 857250"/>
                <a:gd name="connsiteX23" fmla="*/ 628650 w 857250"/>
                <a:gd name="connsiteY23" fmla="*/ 857250 h 857250"/>
                <a:gd name="connsiteX24" fmla="*/ 628650 w 857250"/>
                <a:gd name="connsiteY24" fmla="*/ 762000 h 857250"/>
                <a:gd name="connsiteX25" fmla="*/ 457200 w 857250"/>
                <a:gd name="connsiteY25" fmla="*/ 723900 h 857250"/>
                <a:gd name="connsiteX26" fmla="*/ 628650 w 857250"/>
                <a:gd name="connsiteY26" fmla="*/ 723900 h 857250"/>
                <a:gd name="connsiteX27" fmla="*/ 628650 w 857250"/>
                <a:gd name="connsiteY27" fmla="*/ 0 h 857250"/>
                <a:gd name="connsiteX28" fmla="*/ 457200 w 857250"/>
                <a:gd name="connsiteY28" fmla="*/ 0 h 857250"/>
                <a:gd name="connsiteX29" fmla="*/ 457200 w 857250"/>
                <a:gd name="connsiteY29" fmla="*/ 723900 h 857250"/>
                <a:gd name="connsiteX30" fmla="*/ 695325 w 857250"/>
                <a:gd name="connsiteY30" fmla="*/ 666750 h 857250"/>
                <a:gd name="connsiteX31" fmla="*/ 695325 w 857250"/>
                <a:gd name="connsiteY31" fmla="*/ 857250 h 857250"/>
                <a:gd name="connsiteX32" fmla="*/ 857250 w 857250"/>
                <a:gd name="connsiteY32" fmla="*/ 857250 h 857250"/>
                <a:gd name="connsiteX33" fmla="*/ 857250 w 857250"/>
                <a:gd name="connsiteY33" fmla="*/ 666750 h 857250"/>
                <a:gd name="connsiteX34" fmla="*/ 695325 w 857250"/>
                <a:gd name="connsiteY34" fmla="*/ 666750 h 857250"/>
                <a:gd name="connsiteX35" fmla="*/ 695325 w 857250"/>
                <a:gd name="connsiteY35" fmla="*/ 371475 h 857250"/>
                <a:gd name="connsiteX36" fmla="*/ 695325 w 857250"/>
                <a:gd name="connsiteY36" fmla="*/ 628650 h 857250"/>
                <a:gd name="connsiteX37" fmla="*/ 857250 w 857250"/>
                <a:gd name="connsiteY37" fmla="*/ 628650 h 857250"/>
                <a:gd name="connsiteX38" fmla="*/ 857250 w 857250"/>
                <a:gd name="connsiteY38" fmla="*/ 371475 h 857250"/>
                <a:gd name="connsiteX39" fmla="*/ 695325 w 857250"/>
                <a:gd name="connsiteY39" fmla="*/ 371475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57250" h="857250">
                  <a:moveTo>
                    <a:pt x="161925" y="857250"/>
                  </a:moveTo>
                  <a:lnTo>
                    <a:pt x="0" y="857250"/>
                  </a:lnTo>
                  <a:lnTo>
                    <a:pt x="0" y="714375"/>
                  </a:lnTo>
                  <a:lnTo>
                    <a:pt x="161925" y="714375"/>
                  </a:lnTo>
                  <a:lnTo>
                    <a:pt x="161925" y="857250"/>
                  </a:lnTo>
                  <a:close/>
                  <a:moveTo>
                    <a:pt x="161925" y="466725"/>
                  </a:moveTo>
                  <a:lnTo>
                    <a:pt x="0" y="466725"/>
                  </a:lnTo>
                  <a:lnTo>
                    <a:pt x="0" y="676275"/>
                  </a:lnTo>
                  <a:lnTo>
                    <a:pt x="161925" y="676275"/>
                  </a:lnTo>
                  <a:lnTo>
                    <a:pt x="161925" y="466725"/>
                  </a:lnTo>
                  <a:close/>
                  <a:moveTo>
                    <a:pt x="400050" y="514350"/>
                  </a:moveTo>
                  <a:lnTo>
                    <a:pt x="228600" y="514350"/>
                  </a:lnTo>
                  <a:lnTo>
                    <a:pt x="228600" y="857250"/>
                  </a:lnTo>
                  <a:lnTo>
                    <a:pt x="400050" y="857250"/>
                  </a:lnTo>
                  <a:lnTo>
                    <a:pt x="400050" y="514350"/>
                  </a:lnTo>
                  <a:close/>
                  <a:moveTo>
                    <a:pt x="400050" y="228600"/>
                  </a:moveTo>
                  <a:lnTo>
                    <a:pt x="228600" y="228600"/>
                  </a:lnTo>
                  <a:lnTo>
                    <a:pt x="228600" y="476250"/>
                  </a:lnTo>
                  <a:lnTo>
                    <a:pt x="400050" y="476250"/>
                  </a:lnTo>
                  <a:lnTo>
                    <a:pt x="400050" y="228600"/>
                  </a:lnTo>
                  <a:close/>
                  <a:moveTo>
                    <a:pt x="628650" y="762000"/>
                  </a:moveTo>
                  <a:lnTo>
                    <a:pt x="457200" y="762000"/>
                  </a:lnTo>
                  <a:lnTo>
                    <a:pt x="457200" y="857250"/>
                  </a:lnTo>
                  <a:lnTo>
                    <a:pt x="628650" y="857250"/>
                  </a:lnTo>
                  <a:lnTo>
                    <a:pt x="628650" y="762000"/>
                  </a:lnTo>
                  <a:close/>
                  <a:moveTo>
                    <a:pt x="457200" y="723900"/>
                  </a:moveTo>
                  <a:lnTo>
                    <a:pt x="628650" y="723900"/>
                  </a:lnTo>
                  <a:lnTo>
                    <a:pt x="628650" y="0"/>
                  </a:lnTo>
                  <a:lnTo>
                    <a:pt x="457200" y="0"/>
                  </a:lnTo>
                  <a:lnTo>
                    <a:pt x="457200" y="723900"/>
                  </a:lnTo>
                  <a:close/>
                  <a:moveTo>
                    <a:pt x="695325" y="666750"/>
                  </a:moveTo>
                  <a:lnTo>
                    <a:pt x="695325" y="857250"/>
                  </a:lnTo>
                  <a:lnTo>
                    <a:pt x="857250" y="857250"/>
                  </a:lnTo>
                  <a:lnTo>
                    <a:pt x="857250" y="666750"/>
                  </a:lnTo>
                  <a:lnTo>
                    <a:pt x="695325" y="666750"/>
                  </a:lnTo>
                  <a:close/>
                  <a:moveTo>
                    <a:pt x="695325" y="371475"/>
                  </a:moveTo>
                  <a:lnTo>
                    <a:pt x="695325" y="628650"/>
                  </a:lnTo>
                  <a:lnTo>
                    <a:pt x="857250" y="628650"/>
                  </a:lnTo>
                  <a:lnTo>
                    <a:pt x="857250" y="371475"/>
                  </a:lnTo>
                  <a:lnTo>
                    <a:pt x="695325" y="37147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cxnSp>
        <p:nvCxnSpPr>
          <p:cNvPr id="540" name="Straight Connector 539">
            <a:extLst>
              <a:ext uri="{FF2B5EF4-FFF2-40B4-BE49-F238E27FC236}">
                <a16:creationId xmlns:a16="http://schemas.microsoft.com/office/drawing/2014/main" id="{65FE9631-3629-4693-4EC8-37768E15D0D0}"/>
              </a:ext>
            </a:extLst>
          </p:cNvPr>
          <p:cNvCxnSpPr>
            <a:cxnSpLocks/>
          </p:cNvCxnSpPr>
          <p:nvPr/>
        </p:nvCxnSpPr>
        <p:spPr>
          <a:xfrm>
            <a:off x="449020" y="1042016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540">
            <a:extLst>
              <a:ext uri="{FF2B5EF4-FFF2-40B4-BE49-F238E27FC236}">
                <a16:creationId xmlns:a16="http://schemas.microsoft.com/office/drawing/2014/main" id="{603BFFEA-EB1C-9F2E-4BF9-0DEDD74E2BBF}"/>
              </a:ext>
            </a:extLst>
          </p:cNvPr>
          <p:cNvCxnSpPr>
            <a:cxnSpLocks/>
          </p:cNvCxnSpPr>
          <p:nvPr/>
        </p:nvCxnSpPr>
        <p:spPr>
          <a:xfrm>
            <a:off x="449020" y="3860417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4C8366B3-CAF7-F885-1F76-3D792939C9EA}"/>
              </a:ext>
            </a:extLst>
          </p:cNvPr>
          <p:cNvCxnSpPr>
            <a:cxnSpLocks/>
          </p:cNvCxnSpPr>
          <p:nvPr/>
        </p:nvCxnSpPr>
        <p:spPr>
          <a:xfrm>
            <a:off x="449020" y="502039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542">
            <a:extLst>
              <a:ext uri="{FF2B5EF4-FFF2-40B4-BE49-F238E27FC236}">
                <a16:creationId xmlns:a16="http://schemas.microsoft.com/office/drawing/2014/main" id="{54CE602D-C626-B66F-FE00-122478567D3C}"/>
              </a:ext>
            </a:extLst>
          </p:cNvPr>
          <p:cNvCxnSpPr>
            <a:cxnSpLocks/>
          </p:cNvCxnSpPr>
          <p:nvPr/>
        </p:nvCxnSpPr>
        <p:spPr>
          <a:xfrm>
            <a:off x="449020" y="618037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17ACB8C9-F573-363F-18BE-6353ED0E4E45}"/>
              </a:ext>
            </a:extLst>
          </p:cNvPr>
          <p:cNvCxnSpPr>
            <a:cxnSpLocks/>
          </p:cNvCxnSpPr>
          <p:nvPr/>
        </p:nvCxnSpPr>
        <p:spPr>
          <a:xfrm>
            <a:off x="449020" y="7340348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57EE385D-E031-8EE7-5D54-3CCF6B221D02}"/>
              </a:ext>
            </a:extLst>
          </p:cNvPr>
          <p:cNvCxnSpPr>
            <a:cxnSpLocks/>
          </p:cNvCxnSpPr>
          <p:nvPr/>
        </p:nvCxnSpPr>
        <p:spPr>
          <a:xfrm>
            <a:off x="449020" y="830027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830A83E9-9CDC-79A9-BDA0-2F4505BC35BF}"/>
              </a:ext>
            </a:extLst>
          </p:cNvPr>
          <p:cNvCxnSpPr>
            <a:cxnSpLocks/>
          </p:cNvCxnSpPr>
          <p:nvPr/>
        </p:nvCxnSpPr>
        <p:spPr>
          <a:xfrm>
            <a:off x="449020" y="9260192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A1C63B4-7A61-3E89-B8F3-E8EAEABD42BA}"/>
              </a:ext>
            </a:extLst>
          </p:cNvPr>
          <p:cNvSpPr>
            <a:spLocks/>
          </p:cNvSpPr>
          <p:nvPr/>
        </p:nvSpPr>
        <p:spPr>
          <a:xfrm>
            <a:off x="6458986" y="2052638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</a:rPr>
              <a:t>Flexible analysis functions for understanding changes over time</a:t>
            </a:r>
          </a:p>
        </p:txBody>
      </p: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9C16F00C-64FC-B33E-B03A-857E461CD002}"/>
              </a:ext>
            </a:extLst>
          </p:cNvPr>
          <p:cNvCxnSpPr>
            <a:cxnSpLocks/>
          </p:cNvCxnSpPr>
          <p:nvPr/>
        </p:nvCxnSpPr>
        <p:spPr>
          <a:xfrm>
            <a:off x="6458986" y="331000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548">
            <a:extLst>
              <a:ext uri="{FF2B5EF4-FFF2-40B4-BE49-F238E27FC236}">
                <a16:creationId xmlns:a16="http://schemas.microsoft.com/office/drawing/2014/main" id="{1FA658D0-775C-45CA-66C3-F49E6A38EA38}"/>
              </a:ext>
            </a:extLst>
          </p:cNvPr>
          <p:cNvCxnSpPr>
            <a:cxnSpLocks/>
          </p:cNvCxnSpPr>
          <p:nvPr/>
        </p:nvCxnSpPr>
        <p:spPr>
          <a:xfrm>
            <a:off x="6458986" y="4224256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E604AFA7-C171-C523-CDB3-BC31D925D8BA}"/>
              </a:ext>
            </a:extLst>
          </p:cNvPr>
          <p:cNvGrpSpPr>
            <a:grpSpLocks/>
          </p:cNvGrpSpPr>
          <p:nvPr/>
        </p:nvGrpSpPr>
        <p:grpSpPr>
          <a:xfrm>
            <a:off x="6458986" y="2527148"/>
            <a:ext cx="5395736" cy="651460"/>
            <a:chOff x="6458986" y="2577059"/>
            <a:chExt cx="5395736" cy="651460"/>
          </a:xfrm>
        </p:grpSpPr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06E0E4FE-DEEE-D589-FA44-55CF99E48867}"/>
                </a:ext>
              </a:extLst>
            </p:cNvPr>
            <p:cNvSpPr>
              <a:spLocks/>
            </p:cNvSpPr>
            <p:nvPr/>
          </p:nvSpPr>
          <p:spPr>
            <a:xfrm>
              <a:off x="6458986" y="2577059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create_line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(), </a:t>
              </a: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create_line_asis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endParaRPr lang="en-US" sz="1300" i="1">
                <a:solidFill>
                  <a:schemeClr val="tx1"/>
                </a:solidFill>
              </a:endParaRP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By default, returns a line chart for the defined metric</a:t>
              </a: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59B7A543-490E-A588-7452-F984D5BE6E0B}"/>
                </a:ext>
              </a:extLst>
            </p:cNvPr>
            <p:cNvSpPr>
              <a:spLocks/>
            </p:cNvSpPr>
            <p:nvPr/>
          </p:nvSpPr>
          <p:spPr>
            <a:xfrm>
              <a:off x="6458986" y="2577059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AFB703AC-782D-EADD-D935-C521F8263598}"/>
              </a:ext>
            </a:extLst>
          </p:cNvPr>
          <p:cNvGrpSpPr>
            <a:grpSpLocks/>
          </p:cNvGrpSpPr>
          <p:nvPr/>
        </p:nvGrpSpPr>
        <p:grpSpPr>
          <a:xfrm>
            <a:off x="6458986" y="3441400"/>
            <a:ext cx="5395736" cy="651460"/>
            <a:chOff x="6458986" y="3708803"/>
            <a:chExt cx="5395736" cy="651460"/>
          </a:xfrm>
        </p:grpSpPr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93E77009-D835-2620-14B0-A47D93BEAC5F}"/>
                </a:ext>
              </a:extLst>
            </p:cNvPr>
            <p:cNvSpPr>
              <a:spLocks/>
            </p:cNvSpPr>
            <p:nvPr/>
          </p:nvSpPr>
          <p:spPr>
            <a:xfrm>
              <a:off x="6458986" y="3708803"/>
              <a:ext cx="5395736" cy="6514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create_period_scatter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err="1">
                  <a:solidFill>
                    <a:schemeClr val="tx1"/>
                  </a:solidFill>
                </a:rPr>
                <a:t>metric_x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metric_y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Returns a faceted scatter plot by default</a:t>
              </a: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D8A0AB3-7461-41A4-5539-32CF3DBE6A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3708803"/>
              <a:ext cx="320863" cy="314963"/>
            </a:xfrm>
            <a:custGeom>
              <a:avLst/>
              <a:gdLst>
                <a:gd name="connsiteX0" fmla="*/ 518284 w 952500"/>
                <a:gd name="connsiteY0" fmla="*/ 541039 h 934984"/>
                <a:gd name="connsiteX1" fmla="*/ 590064 w 952500"/>
                <a:gd name="connsiteY1" fmla="*/ 612819 h 934984"/>
                <a:gd name="connsiteX2" fmla="*/ 518284 w 952500"/>
                <a:gd name="connsiteY2" fmla="*/ 684609 h 934984"/>
                <a:gd name="connsiteX3" fmla="*/ 446494 w 952500"/>
                <a:gd name="connsiteY3" fmla="*/ 612819 h 934984"/>
                <a:gd name="connsiteX4" fmla="*/ 518284 w 952500"/>
                <a:gd name="connsiteY4" fmla="*/ 541039 h 934984"/>
                <a:gd name="connsiteX5" fmla="*/ 337937 w 952500"/>
                <a:gd name="connsiteY5" fmla="*/ 390459 h 934984"/>
                <a:gd name="connsiteX6" fmla="*/ 386962 w 952500"/>
                <a:gd name="connsiteY6" fmla="*/ 439484 h 934984"/>
                <a:gd name="connsiteX7" fmla="*/ 366978 w 952500"/>
                <a:gd name="connsiteY7" fmla="*/ 478784 h 934984"/>
                <a:gd name="connsiteX8" fmla="*/ 400954 w 952500"/>
                <a:gd name="connsiteY8" fmla="*/ 556699 h 934984"/>
                <a:gd name="connsiteX9" fmla="*/ 400954 w 952500"/>
                <a:gd name="connsiteY9" fmla="*/ 556794 h 934984"/>
                <a:gd name="connsiteX10" fmla="*/ 294198 w 952500"/>
                <a:gd name="connsiteY10" fmla="*/ 663636 h 934984"/>
                <a:gd name="connsiteX11" fmla="*/ 187356 w 952500"/>
                <a:gd name="connsiteY11" fmla="*/ 556880 h 934984"/>
                <a:gd name="connsiteX12" fmla="*/ 187356 w 952500"/>
                <a:gd name="connsiteY12" fmla="*/ 556794 h 934984"/>
                <a:gd name="connsiteX13" fmla="*/ 290150 w 952500"/>
                <a:gd name="connsiteY13" fmla="*/ 450152 h 934984"/>
                <a:gd name="connsiteX14" fmla="*/ 288912 w 952500"/>
                <a:gd name="connsiteY14" fmla="*/ 439484 h 934984"/>
                <a:gd name="connsiteX15" fmla="*/ 337937 w 952500"/>
                <a:gd name="connsiteY15" fmla="*/ 390459 h 934984"/>
                <a:gd name="connsiteX16" fmla="*/ 529485 w 952500"/>
                <a:gd name="connsiteY16" fmla="*/ 295914 h 934984"/>
                <a:gd name="connsiteX17" fmla="*/ 646785 w 952500"/>
                <a:gd name="connsiteY17" fmla="*/ 413224 h 934984"/>
                <a:gd name="connsiteX18" fmla="*/ 646557 w 952500"/>
                <a:gd name="connsiteY18" fmla="*/ 417939 h 934984"/>
                <a:gd name="connsiteX19" fmla="*/ 747646 w 952500"/>
                <a:gd name="connsiteY19" fmla="*/ 379953 h 934984"/>
                <a:gd name="connsiteX20" fmla="*/ 901731 w 952500"/>
                <a:gd name="connsiteY20" fmla="*/ 534039 h 934984"/>
                <a:gd name="connsiteX21" fmla="*/ 747655 w 952500"/>
                <a:gd name="connsiteY21" fmla="*/ 688125 h 934984"/>
                <a:gd name="connsiteX22" fmla="*/ 593569 w 952500"/>
                <a:gd name="connsiteY22" fmla="*/ 534039 h 934984"/>
                <a:gd name="connsiteX23" fmla="*/ 595598 w 952500"/>
                <a:gd name="connsiteY23" fmla="*/ 510188 h 934984"/>
                <a:gd name="connsiteX24" fmla="*/ 529561 w 952500"/>
                <a:gd name="connsiteY24" fmla="*/ 530620 h 934984"/>
                <a:gd name="connsiteX25" fmla="*/ 412175 w 952500"/>
                <a:gd name="connsiteY25" fmla="*/ 413386 h 934984"/>
                <a:gd name="connsiteX26" fmla="*/ 412175 w 952500"/>
                <a:gd name="connsiteY26" fmla="*/ 413224 h 934984"/>
                <a:gd name="connsiteX27" fmla="*/ 529485 w 952500"/>
                <a:gd name="connsiteY27" fmla="*/ 295914 h 934984"/>
                <a:gd name="connsiteX28" fmla="*/ 411470 w 952500"/>
                <a:gd name="connsiteY28" fmla="*/ 43777 h 934984"/>
                <a:gd name="connsiteX29" fmla="*/ 488508 w 952500"/>
                <a:gd name="connsiteY29" fmla="*/ 120815 h 934984"/>
                <a:gd name="connsiteX30" fmla="*/ 411470 w 952500"/>
                <a:gd name="connsiteY30" fmla="*/ 197853 h 934984"/>
                <a:gd name="connsiteX31" fmla="*/ 334432 w 952500"/>
                <a:gd name="connsiteY31" fmla="*/ 120815 h 934984"/>
                <a:gd name="connsiteX32" fmla="*/ 411470 w 952500"/>
                <a:gd name="connsiteY32" fmla="*/ 43777 h 934984"/>
                <a:gd name="connsiteX33" fmla="*/ 90173 w 952500"/>
                <a:gd name="connsiteY33" fmla="*/ 0 h 934984"/>
                <a:gd name="connsiteX34" fmla="*/ 151457 w 952500"/>
                <a:gd name="connsiteY34" fmla="*/ 0 h 934984"/>
                <a:gd name="connsiteX35" fmla="*/ 151457 w 952500"/>
                <a:gd name="connsiteY35" fmla="*/ 787041 h 934984"/>
                <a:gd name="connsiteX36" fmla="*/ 952500 w 952500"/>
                <a:gd name="connsiteY36" fmla="*/ 787041 h 934984"/>
                <a:gd name="connsiteX37" fmla="*/ 952500 w 952500"/>
                <a:gd name="connsiteY37" fmla="*/ 848325 h 934984"/>
                <a:gd name="connsiteX38" fmla="*/ 151457 w 952500"/>
                <a:gd name="connsiteY38" fmla="*/ 848325 h 934984"/>
                <a:gd name="connsiteX39" fmla="*/ 151457 w 952500"/>
                <a:gd name="connsiteY39" fmla="*/ 934984 h 934984"/>
                <a:gd name="connsiteX40" fmla="*/ 90173 w 952500"/>
                <a:gd name="connsiteY40" fmla="*/ 934984 h 934984"/>
                <a:gd name="connsiteX41" fmla="*/ 90173 w 952500"/>
                <a:gd name="connsiteY41" fmla="*/ 848325 h 934984"/>
                <a:gd name="connsiteX42" fmla="*/ 0 w 952500"/>
                <a:gd name="connsiteY42" fmla="*/ 848325 h 934984"/>
                <a:gd name="connsiteX43" fmla="*/ 0 w 952500"/>
                <a:gd name="connsiteY43" fmla="*/ 787041 h 934984"/>
                <a:gd name="connsiteX44" fmla="*/ 90173 w 952500"/>
                <a:gd name="connsiteY44" fmla="*/ 787041 h 93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52500" h="934984">
                  <a:moveTo>
                    <a:pt x="518284" y="541039"/>
                  </a:moveTo>
                  <a:cubicBezTo>
                    <a:pt x="557917" y="541039"/>
                    <a:pt x="590064" y="573176"/>
                    <a:pt x="590064" y="612819"/>
                  </a:cubicBezTo>
                  <a:cubicBezTo>
                    <a:pt x="590064" y="652472"/>
                    <a:pt x="557917" y="684609"/>
                    <a:pt x="518284" y="684609"/>
                  </a:cubicBezTo>
                  <a:cubicBezTo>
                    <a:pt x="478631" y="684609"/>
                    <a:pt x="446494" y="652472"/>
                    <a:pt x="446494" y="612819"/>
                  </a:cubicBezTo>
                  <a:cubicBezTo>
                    <a:pt x="446494" y="573176"/>
                    <a:pt x="478631" y="541039"/>
                    <a:pt x="518284" y="541039"/>
                  </a:cubicBezTo>
                  <a:close/>
                  <a:moveTo>
                    <a:pt x="337937" y="390459"/>
                  </a:moveTo>
                  <a:cubicBezTo>
                    <a:pt x="365007" y="390459"/>
                    <a:pt x="386962" y="412405"/>
                    <a:pt x="386962" y="439484"/>
                  </a:cubicBezTo>
                  <a:cubicBezTo>
                    <a:pt x="386962" y="455639"/>
                    <a:pt x="379047" y="469850"/>
                    <a:pt x="366978" y="478784"/>
                  </a:cubicBezTo>
                  <a:cubicBezTo>
                    <a:pt x="387829" y="498263"/>
                    <a:pt x="400945" y="525914"/>
                    <a:pt x="400954" y="556699"/>
                  </a:cubicBezTo>
                  <a:cubicBezTo>
                    <a:pt x="400954" y="556737"/>
                    <a:pt x="400954" y="556765"/>
                    <a:pt x="400954" y="556794"/>
                  </a:cubicBezTo>
                  <a:cubicBezTo>
                    <a:pt x="400983" y="615782"/>
                    <a:pt x="353186" y="663617"/>
                    <a:pt x="294198" y="663636"/>
                  </a:cubicBezTo>
                  <a:cubicBezTo>
                    <a:pt x="235210" y="663665"/>
                    <a:pt x="187375" y="615868"/>
                    <a:pt x="187356" y="556880"/>
                  </a:cubicBezTo>
                  <a:cubicBezTo>
                    <a:pt x="187356" y="556851"/>
                    <a:pt x="187356" y="556823"/>
                    <a:pt x="187356" y="556794"/>
                  </a:cubicBezTo>
                  <a:cubicBezTo>
                    <a:pt x="187337" y="499158"/>
                    <a:pt x="233019" y="452286"/>
                    <a:pt x="290150" y="450152"/>
                  </a:cubicBezTo>
                  <a:cubicBezTo>
                    <a:pt x="289388" y="446714"/>
                    <a:pt x="288912" y="443161"/>
                    <a:pt x="288912" y="439484"/>
                  </a:cubicBezTo>
                  <a:cubicBezTo>
                    <a:pt x="288912" y="412414"/>
                    <a:pt x="310867" y="390459"/>
                    <a:pt x="337937" y="390459"/>
                  </a:cubicBezTo>
                  <a:close/>
                  <a:moveTo>
                    <a:pt x="529485" y="295914"/>
                  </a:moveTo>
                  <a:cubicBezTo>
                    <a:pt x="594264" y="295914"/>
                    <a:pt x="646785" y="348425"/>
                    <a:pt x="646785" y="413224"/>
                  </a:cubicBezTo>
                  <a:cubicBezTo>
                    <a:pt x="646785" y="414815"/>
                    <a:pt x="646614" y="416358"/>
                    <a:pt x="646557" y="417939"/>
                  </a:cubicBezTo>
                  <a:cubicBezTo>
                    <a:pt x="673627" y="394345"/>
                    <a:pt x="708926" y="379953"/>
                    <a:pt x="747646" y="379953"/>
                  </a:cubicBezTo>
                  <a:cubicBezTo>
                    <a:pt x="832742" y="379953"/>
                    <a:pt x="901712" y="448933"/>
                    <a:pt x="901731" y="534039"/>
                  </a:cubicBezTo>
                  <a:cubicBezTo>
                    <a:pt x="901731" y="619135"/>
                    <a:pt x="832761" y="688125"/>
                    <a:pt x="747655" y="688125"/>
                  </a:cubicBezTo>
                  <a:cubicBezTo>
                    <a:pt x="662559" y="688125"/>
                    <a:pt x="593569" y="619135"/>
                    <a:pt x="593569" y="534039"/>
                  </a:cubicBezTo>
                  <a:cubicBezTo>
                    <a:pt x="593569" y="525905"/>
                    <a:pt x="594388" y="517980"/>
                    <a:pt x="595598" y="510188"/>
                  </a:cubicBezTo>
                  <a:cubicBezTo>
                    <a:pt x="576786" y="523057"/>
                    <a:pt x="554059" y="530600"/>
                    <a:pt x="529561" y="530620"/>
                  </a:cubicBezTo>
                  <a:cubicBezTo>
                    <a:pt x="464772" y="530658"/>
                    <a:pt x="412223" y="478175"/>
                    <a:pt x="412175" y="413386"/>
                  </a:cubicBezTo>
                  <a:cubicBezTo>
                    <a:pt x="412175" y="413329"/>
                    <a:pt x="412175" y="413272"/>
                    <a:pt x="412175" y="413224"/>
                  </a:cubicBezTo>
                  <a:cubicBezTo>
                    <a:pt x="412175" y="348435"/>
                    <a:pt x="464686" y="295914"/>
                    <a:pt x="529485" y="295914"/>
                  </a:cubicBezTo>
                  <a:close/>
                  <a:moveTo>
                    <a:pt x="411470" y="43777"/>
                  </a:moveTo>
                  <a:cubicBezTo>
                    <a:pt x="454018" y="43777"/>
                    <a:pt x="488508" y="78267"/>
                    <a:pt x="488508" y="120815"/>
                  </a:cubicBezTo>
                  <a:cubicBezTo>
                    <a:pt x="488508" y="163363"/>
                    <a:pt x="454018" y="197853"/>
                    <a:pt x="411470" y="197853"/>
                  </a:cubicBezTo>
                  <a:cubicBezTo>
                    <a:pt x="368912" y="197853"/>
                    <a:pt x="334432" y="163363"/>
                    <a:pt x="334432" y="120815"/>
                  </a:cubicBezTo>
                  <a:cubicBezTo>
                    <a:pt x="334432" y="78267"/>
                    <a:pt x="368922" y="43777"/>
                    <a:pt x="411470" y="43777"/>
                  </a:cubicBezTo>
                  <a:close/>
                  <a:moveTo>
                    <a:pt x="90173" y="0"/>
                  </a:moveTo>
                  <a:lnTo>
                    <a:pt x="151457" y="0"/>
                  </a:lnTo>
                  <a:lnTo>
                    <a:pt x="151457" y="787041"/>
                  </a:lnTo>
                  <a:lnTo>
                    <a:pt x="952500" y="787041"/>
                  </a:lnTo>
                  <a:lnTo>
                    <a:pt x="952500" y="848325"/>
                  </a:lnTo>
                  <a:lnTo>
                    <a:pt x="151457" y="848325"/>
                  </a:lnTo>
                  <a:lnTo>
                    <a:pt x="151457" y="934984"/>
                  </a:lnTo>
                  <a:lnTo>
                    <a:pt x="90173" y="934984"/>
                  </a:lnTo>
                  <a:lnTo>
                    <a:pt x="90173" y="848325"/>
                  </a:lnTo>
                  <a:lnTo>
                    <a:pt x="0" y="848325"/>
                  </a:lnTo>
                  <a:lnTo>
                    <a:pt x="0" y="787041"/>
                  </a:lnTo>
                  <a:lnTo>
                    <a:pt x="90173" y="787041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03901AE5-05B5-742A-FB79-4CFB147598A9}"/>
              </a:ext>
            </a:extLst>
          </p:cNvPr>
          <p:cNvGrpSpPr>
            <a:grpSpLocks/>
          </p:cNvGrpSpPr>
          <p:nvPr/>
        </p:nvGrpSpPr>
        <p:grpSpPr>
          <a:xfrm>
            <a:off x="6458986" y="4355652"/>
            <a:ext cx="5395736" cy="851515"/>
            <a:chOff x="6458986" y="4840547"/>
            <a:chExt cx="5395736" cy="851515"/>
          </a:xfrm>
        </p:grpSpPr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732BBC0A-512D-A857-FAFE-4584B6991B28}"/>
                </a:ext>
              </a:extLst>
            </p:cNvPr>
            <p:cNvSpPr>
              <a:spLocks/>
            </p:cNvSpPr>
            <p:nvPr/>
          </p:nvSpPr>
          <p:spPr>
            <a:xfrm>
              <a:off x="6458986" y="4840547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create_trend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>
                  <a:solidFill>
                    <a:schemeClr val="tx1"/>
                  </a:solidFill>
                </a:rPr>
                <a:t>metric, </a:t>
              </a:r>
              <a:r>
                <a:rPr lang="en-US" sz="1300" i="1" err="1">
                  <a:solidFill>
                    <a:schemeClr val="tx1"/>
                  </a:solidFill>
                </a:rPr>
                <a:t>hrvar</a:t>
              </a:r>
              <a:r>
                <a:rPr lang="en-US" sz="1300" i="1">
                  <a:solidFill>
                    <a:schemeClr val="tx1"/>
                  </a:solidFill>
                </a:rPr>
                <a:t>, </a:t>
              </a:r>
              <a:r>
                <a:rPr lang="en-US" sz="1300" i="1" err="1">
                  <a:solidFill>
                    <a:schemeClr val="tx1"/>
                  </a:solidFill>
                </a:rPr>
                <a:t>mingroup</a:t>
              </a:r>
              <a:r>
                <a:rPr lang="en-US" sz="1300" i="1">
                  <a:solidFill>
                    <a:schemeClr val="tx1"/>
                  </a:solidFill>
                </a:rPr>
                <a:t>, return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By default, returns a week-by-week heatmap bar plot, highlighting the points in time with most activity</a:t>
              </a: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E0CBE463-533A-4071-9A83-102CCC883D08}"/>
                </a:ext>
              </a:extLst>
            </p:cNvPr>
            <p:cNvSpPr>
              <a:spLocks/>
            </p:cNvSpPr>
            <p:nvPr/>
          </p:nvSpPr>
          <p:spPr>
            <a:xfrm>
              <a:off x="6458986" y="4840547"/>
              <a:ext cx="320863" cy="320863"/>
            </a:xfrm>
            <a:custGeom>
              <a:avLst/>
              <a:gdLst>
                <a:gd name="connsiteX0" fmla="*/ 69773 w 548219"/>
                <a:gd name="connsiteY0" fmla="*/ 0 h 548219"/>
                <a:gd name="connsiteX1" fmla="*/ 0 w 548219"/>
                <a:gd name="connsiteY1" fmla="*/ 0 h 548219"/>
                <a:gd name="connsiteX2" fmla="*/ 0 w 548219"/>
                <a:gd name="connsiteY2" fmla="*/ 69773 h 548219"/>
                <a:gd name="connsiteX3" fmla="*/ 69773 w 548219"/>
                <a:gd name="connsiteY3" fmla="*/ 69773 h 548219"/>
                <a:gd name="connsiteX4" fmla="*/ 69773 w 548219"/>
                <a:gd name="connsiteY4" fmla="*/ 0 h 548219"/>
                <a:gd name="connsiteX5" fmla="*/ 79741 w 548219"/>
                <a:gd name="connsiteY5" fmla="*/ 0 h 548219"/>
                <a:gd name="connsiteX6" fmla="*/ 79741 w 548219"/>
                <a:gd name="connsiteY6" fmla="*/ 69773 h 548219"/>
                <a:gd name="connsiteX7" fmla="*/ 149515 w 548219"/>
                <a:gd name="connsiteY7" fmla="*/ 69773 h 548219"/>
                <a:gd name="connsiteX8" fmla="*/ 149515 w 548219"/>
                <a:gd name="connsiteY8" fmla="*/ 0 h 548219"/>
                <a:gd name="connsiteX9" fmla="*/ 79741 w 548219"/>
                <a:gd name="connsiteY9" fmla="*/ 0 h 548219"/>
                <a:gd name="connsiteX10" fmla="*/ 159482 w 548219"/>
                <a:gd name="connsiteY10" fmla="*/ 0 h 548219"/>
                <a:gd name="connsiteX11" fmla="*/ 159482 w 548219"/>
                <a:gd name="connsiteY11" fmla="*/ 69773 h 548219"/>
                <a:gd name="connsiteX12" fmla="*/ 229256 w 548219"/>
                <a:gd name="connsiteY12" fmla="*/ 69773 h 548219"/>
                <a:gd name="connsiteX13" fmla="*/ 229256 w 548219"/>
                <a:gd name="connsiteY13" fmla="*/ 0 h 548219"/>
                <a:gd name="connsiteX14" fmla="*/ 159482 w 548219"/>
                <a:gd name="connsiteY14" fmla="*/ 0 h 548219"/>
                <a:gd name="connsiteX15" fmla="*/ 239223 w 548219"/>
                <a:gd name="connsiteY15" fmla="*/ 0 h 548219"/>
                <a:gd name="connsiteX16" fmla="*/ 239223 w 548219"/>
                <a:gd name="connsiteY16" fmla="*/ 69773 h 548219"/>
                <a:gd name="connsiteX17" fmla="*/ 308996 w 548219"/>
                <a:gd name="connsiteY17" fmla="*/ 69773 h 548219"/>
                <a:gd name="connsiteX18" fmla="*/ 308996 w 548219"/>
                <a:gd name="connsiteY18" fmla="*/ 0 h 548219"/>
                <a:gd name="connsiteX19" fmla="*/ 239223 w 548219"/>
                <a:gd name="connsiteY19" fmla="*/ 0 h 548219"/>
                <a:gd name="connsiteX20" fmla="*/ 318965 w 548219"/>
                <a:gd name="connsiteY20" fmla="*/ 0 h 548219"/>
                <a:gd name="connsiteX21" fmla="*/ 318965 w 548219"/>
                <a:gd name="connsiteY21" fmla="*/ 69773 h 548219"/>
                <a:gd name="connsiteX22" fmla="*/ 388738 w 548219"/>
                <a:gd name="connsiteY22" fmla="*/ 69773 h 548219"/>
                <a:gd name="connsiteX23" fmla="*/ 388738 w 548219"/>
                <a:gd name="connsiteY23" fmla="*/ 0 h 548219"/>
                <a:gd name="connsiteX24" fmla="*/ 318965 w 548219"/>
                <a:gd name="connsiteY24" fmla="*/ 0 h 548219"/>
                <a:gd name="connsiteX25" fmla="*/ 388738 w 548219"/>
                <a:gd name="connsiteY25" fmla="*/ 149515 h 548219"/>
                <a:gd name="connsiteX26" fmla="*/ 388738 w 548219"/>
                <a:gd name="connsiteY26" fmla="*/ 79742 h 548219"/>
                <a:gd name="connsiteX27" fmla="*/ 318965 w 548219"/>
                <a:gd name="connsiteY27" fmla="*/ 79742 h 548219"/>
                <a:gd name="connsiteX28" fmla="*/ 318965 w 548219"/>
                <a:gd name="connsiteY28" fmla="*/ 149515 h 548219"/>
                <a:gd name="connsiteX29" fmla="*/ 388738 w 548219"/>
                <a:gd name="connsiteY29" fmla="*/ 149515 h 548219"/>
                <a:gd name="connsiteX30" fmla="*/ 388738 w 548219"/>
                <a:gd name="connsiteY30" fmla="*/ 229256 h 548219"/>
                <a:gd name="connsiteX31" fmla="*/ 388738 w 548219"/>
                <a:gd name="connsiteY31" fmla="*/ 159482 h 548219"/>
                <a:gd name="connsiteX32" fmla="*/ 318965 w 548219"/>
                <a:gd name="connsiteY32" fmla="*/ 159482 h 548219"/>
                <a:gd name="connsiteX33" fmla="*/ 318965 w 548219"/>
                <a:gd name="connsiteY33" fmla="*/ 229256 h 548219"/>
                <a:gd name="connsiteX34" fmla="*/ 388738 w 548219"/>
                <a:gd name="connsiteY34" fmla="*/ 229256 h 548219"/>
                <a:gd name="connsiteX35" fmla="*/ 388738 w 548219"/>
                <a:gd name="connsiteY35" fmla="*/ 308996 h 548219"/>
                <a:gd name="connsiteX36" fmla="*/ 388738 w 548219"/>
                <a:gd name="connsiteY36" fmla="*/ 239223 h 548219"/>
                <a:gd name="connsiteX37" fmla="*/ 318965 w 548219"/>
                <a:gd name="connsiteY37" fmla="*/ 239223 h 548219"/>
                <a:gd name="connsiteX38" fmla="*/ 318965 w 548219"/>
                <a:gd name="connsiteY38" fmla="*/ 308996 h 548219"/>
                <a:gd name="connsiteX39" fmla="*/ 388738 w 548219"/>
                <a:gd name="connsiteY39" fmla="*/ 308996 h 548219"/>
                <a:gd name="connsiteX40" fmla="*/ 388738 w 548219"/>
                <a:gd name="connsiteY40" fmla="*/ 388738 h 548219"/>
                <a:gd name="connsiteX41" fmla="*/ 388738 w 548219"/>
                <a:gd name="connsiteY41" fmla="*/ 318965 h 548219"/>
                <a:gd name="connsiteX42" fmla="*/ 318965 w 548219"/>
                <a:gd name="connsiteY42" fmla="*/ 318965 h 548219"/>
                <a:gd name="connsiteX43" fmla="*/ 318965 w 548219"/>
                <a:gd name="connsiteY43" fmla="*/ 388738 h 548219"/>
                <a:gd name="connsiteX44" fmla="*/ 388738 w 548219"/>
                <a:gd name="connsiteY44" fmla="*/ 388738 h 548219"/>
                <a:gd name="connsiteX45" fmla="*/ 388738 w 548219"/>
                <a:gd name="connsiteY45" fmla="*/ 468479 h 548219"/>
                <a:gd name="connsiteX46" fmla="*/ 388738 w 548219"/>
                <a:gd name="connsiteY46" fmla="*/ 398705 h 548219"/>
                <a:gd name="connsiteX47" fmla="*/ 318965 w 548219"/>
                <a:gd name="connsiteY47" fmla="*/ 398705 h 548219"/>
                <a:gd name="connsiteX48" fmla="*/ 318965 w 548219"/>
                <a:gd name="connsiteY48" fmla="*/ 468479 h 548219"/>
                <a:gd name="connsiteX49" fmla="*/ 388738 w 548219"/>
                <a:gd name="connsiteY49" fmla="*/ 468479 h 548219"/>
                <a:gd name="connsiteX50" fmla="*/ 318965 w 548219"/>
                <a:gd name="connsiteY50" fmla="*/ 548220 h 548219"/>
                <a:gd name="connsiteX51" fmla="*/ 388738 w 548219"/>
                <a:gd name="connsiteY51" fmla="*/ 548220 h 548219"/>
                <a:gd name="connsiteX52" fmla="*/ 388738 w 548219"/>
                <a:gd name="connsiteY52" fmla="*/ 478447 h 548219"/>
                <a:gd name="connsiteX53" fmla="*/ 318965 w 548219"/>
                <a:gd name="connsiteY53" fmla="*/ 478447 h 548219"/>
                <a:gd name="connsiteX54" fmla="*/ 318965 w 548219"/>
                <a:gd name="connsiteY54" fmla="*/ 548220 h 548219"/>
                <a:gd name="connsiteX55" fmla="*/ 239223 w 548219"/>
                <a:gd name="connsiteY55" fmla="*/ 548220 h 548219"/>
                <a:gd name="connsiteX56" fmla="*/ 308996 w 548219"/>
                <a:gd name="connsiteY56" fmla="*/ 548220 h 548219"/>
                <a:gd name="connsiteX57" fmla="*/ 308996 w 548219"/>
                <a:gd name="connsiteY57" fmla="*/ 478447 h 548219"/>
                <a:gd name="connsiteX58" fmla="*/ 239223 w 548219"/>
                <a:gd name="connsiteY58" fmla="*/ 478447 h 548219"/>
                <a:gd name="connsiteX59" fmla="*/ 239223 w 548219"/>
                <a:gd name="connsiteY59" fmla="*/ 548220 h 548219"/>
                <a:gd name="connsiteX60" fmla="*/ 159482 w 548219"/>
                <a:gd name="connsiteY60" fmla="*/ 548220 h 548219"/>
                <a:gd name="connsiteX61" fmla="*/ 229256 w 548219"/>
                <a:gd name="connsiteY61" fmla="*/ 548220 h 548219"/>
                <a:gd name="connsiteX62" fmla="*/ 229256 w 548219"/>
                <a:gd name="connsiteY62" fmla="*/ 478447 h 548219"/>
                <a:gd name="connsiteX63" fmla="*/ 159482 w 548219"/>
                <a:gd name="connsiteY63" fmla="*/ 478447 h 548219"/>
                <a:gd name="connsiteX64" fmla="*/ 159482 w 548219"/>
                <a:gd name="connsiteY64" fmla="*/ 548220 h 548219"/>
                <a:gd name="connsiteX65" fmla="*/ 79741 w 548219"/>
                <a:gd name="connsiteY65" fmla="*/ 548220 h 548219"/>
                <a:gd name="connsiteX66" fmla="*/ 149515 w 548219"/>
                <a:gd name="connsiteY66" fmla="*/ 548220 h 548219"/>
                <a:gd name="connsiteX67" fmla="*/ 149515 w 548219"/>
                <a:gd name="connsiteY67" fmla="*/ 478447 h 548219"/>
                <a:gd name="connsiteX68" fmla="*/ 79741 w 548219"/>
                <a:gd name="connsiteY68" fmla="*/ 478447 h 548219"/>
                <a:gd name="connsiteX69" fmla="*/ 79741 w 548219"/>
                <a:gd name="connsiteY69" fmla="*/ 548220 h 548219"/>
                <a:gd name="connsiteX70" fmla="*/ 0 w 548219"/>
                <a:gd name="connsiteY70" fmla="*/ 478447 h 548219"/>
                <a:gd name="connsiteX71" fmla="*/ 0 w 548219"/>
                <a:gd name="connsiteY71" fmla="*/ 548220 h 548219"/>
                <a:gd name="connsiteX72" fmla="*/ 69773 w 548219"/>
                <a:gd name="connsiteY72" fmla="*/ 548220 h 548219"/>
                <a:gd name="connsiteX73" fmla="*/ 69773 w 548219"/>
                <a:gd name="connsiteY73" fmla="*/ 478447 h 548219"/>
                <a:gd name="connsiteX74" fmla="*/ 0 w 548219"/>
                <a:gd name="connsiteY74" fmla="*/ 478447 h 548219"/>
                <a:gd name="connsiteX75" fmla="*/ 0 w 548219"/>
                <a:gd name="connsiteY75" fmla="*/ 398705 h 548219"/>
                <a:gd name="connsiteX76" fmla="*/ 0 w 548219"/>
                <a:gd name="connsiteY76" fmla="*/ 468479 h 548219"/>
                <a:gd name="connsiteX77" fmla="*/ 69773 w 548219"/>
                <a:gd name="connsiteY77" fmla="*/ 468479 h 548219"/>
                <a:gd name="connsiteX78" fmla="*/ 69773 w 548219"/>
                <a:gd name="connsiteY78" fmla="*/ 398705 h 548219"/>
                <a:gd name="connsiteX79" fmla="*/ 0 w 548219"/>
                <a:gd name="connsiteY79" fmla="*/ 398705 h 548219"/>
                <a:gd name="connsiteX80" fmla="*/ 0 w 548219"/>
                <a:gd name="connsiteY80" fmla="*/ 318965 h 548219"/>
                <a:gd name="connsiteX81" fmla="*/ 0 w 548219"/>
                <a:gd name="connsiteY81" fmla="*/ 388738 h 548219"/>
                <a:gd name="connsiteX82" fmla="*/ 69773 w 548219"/>
                <a:gd name="connsiteY82" fmla="*/ 388738 h 548219"/>
                <a:gd name="connsiteX83" fmla="*/ 69773 w 548219"/>
                <a:gd name="connsiteY83" fmla="*/ 318965 h 548219"/>
                <a:gd name="connsiteX84" fmla="*/ 0 w 548219"/>
                <a:gd name="connsiteY84" fmla="*/ 318965 h 548219"/>
                <a:gd name="connsiteX85" fmla="*/ 0 w 548219"/>
                <a:gd name="connsiteY85" fmla="*/ 239223 h 548219"/>
                <a:gd name="connsiteX86" fmla="*/ 0 w 548219"/>
                <a:gd name="connsiteY86" fmla="*/ 308996 h 548219"/>
                <a:gd name="connsiteX87" fmla="*/ 69773 w 548219"/>
                <a:gd name="connsiteY87" fmla="*/ 308996 h 548219"/>
                <a:gd name="connsiteX88" fmla="*/ 69773 w 548219"/>
                <a:gd name="connsiteY88" fmla="*/ 239223 h 548219"/>
                <a:gd name="connsiteX89" fmla="*/ 0 w 548219"/>
                <a:gd name="connsiteY89" fmla="*/ 239223 h 548219"/>
                <a:gd name="connsiteX90" fmla="*/ 0 w 548219"/>
                <a:gd name="connsiteY90" fmla="*/ 159482 h 548219"/>
                <a:gd name="connsiteX91" fmla="*/ 0 w 548219"/>
                <a:gd name="connsiteY91" fmla="*/ 229256 h 548219"/>
                <a:gd name="connsiteX92" fmla="*/ 69773 w 548219"/>
                <a:gd name="connsiteY92" fmla="*/ 229256 h 548219"/>
                <a:gd name="connsiteX93" fmla="*/ 69773 w 548219"/>
                <a:gd name="connsiteY93" fmla="*/ 159482 h 548219"/>
                <a:gd name="connsiteX94" fmla="*/ 0 w 548219"/>
                <a:gd name="connsiteY94" fmla="*/ 159482 h 548219"/>
                <a:gd name="connsiteX95" fmla="*/ 0 w 548219"/>
                <a:gd name="connsiteY95" fmla="*/ 79742 h 548219"/>
                <a:gd name="connsiteX96" fmla="*/ 0 w 548219"/>
                <a:gd name="connsiteY96" fmla="*/ 149515 h 548219"/>
                <a:gd name="connsiteX97" fmla="*/ 69773 w 548219"/>
                <a:gd name="connsiteY97" fmla="*/ 149515 h 548219"/>
                <a:gd name="connsiteX98" fmla="*/ 69773 w 548219"/>
                <a:gd name="connsiteY98" fmla="*/ 79742 h 548219"/>
                <a:gd name="connsiteX99" fmla="*/ 0 w 548219"/>
                <a:gd name="connsiteY99" fmla="*/ 79742 h 548219"/>
                <a:gd name="connsiteX100" fmla="*/ 149515 w 548219"/>
                <a:gd name="connsiteY100" fmla="*/ 79742 h 548219"/>
                <a:gd name="connsiteX101" fmla="*/ 79741 w 548219"/>
                <a:gd name="connsiteY101" fmla="*/ 79742 h 548219"/>
                <a:gd name="connsiteX102" fmla="*/ 79741 w 548219"/>
                <a:gd name="connsiteY102" fmla="*/ 149515 h 548219"/>
                <a:gd name="connsiteX103" fmla="*/ 149515 w 548219"/>
                <a:gd name="connsiteY103" fmla="*/ 149515 h 548219"/>
                <a:gd name="connsiteX104" fmla="*/ 149515 w 548219"/>
                <a:gd name="connsiteY104" fmla="*/ 79742 h 548219"/>
                <a:gd name="connsiteX105" fmla="*/ 229256 w 548219"/>
                <a:gd name="connsiteY105" fmla="*/ 79742 h 548219"/>
                <a:gd name="connsiteX106" fmla="*/ 159482 w 548219"/>
                <a:gd name="connsiteY106" fmla="*/ 79742 h 548219"/>
                <a:gd name="connsiteX107" fmla="*/ 159482 w 548219"/>
                <a:gd name="connsiteY107" fmla="*/ 149515 h 548219"/>
                <a:gd name="connsiteX108" fmla="*/ 229256 w 548219"/>
                <a:gd name="connsiteY108" fmla="*/ 149515 h 548219"/>
                <a:gd name="connsiteX109" fmla="*/ 229256 w 548219"/>
                <a:gd name="connsiteY109" fmla="*/ 79742 h 548219"/>
                <a:gd name="connsiteX110" fmla="*/ 308996 w 548219"/>
                <a:gd name="connsiteY110" fmla="*/ 79742 h 548219"/>
                <a:gd name="connsiteX111" fmla="*/ 239223 w 548219"/>
                <a:gd name="connsiteY111" fmla="*/ 79742 h 548219"/>
                <a:gd name="connsiteX112" fmla="*/ 239223 w 548219"/>
                <a:gd name="connsiteY112" fmla="*/ 149515 h 548219"/>
                <a:gd name="connsiteX113" fmla="*/ 308996 w 548219"/>
                <a:gd name="connsiteY113" fmla="*/ 149515 h 548219"/>
                <a:gd name="connsiteX114" fmla="*/ 308996 w 548219"/>
                <a:gd name="connsiteY114" fmla="*/ 79742 h 548219"/>
                <a:gd name="connsiteX115" fmla="*/ 308996 w 548219"/>
                <a:gd name="connsiteY115" fmla="*/ 229256 h 548219"/>
                <a:gd name="connsiteX116" fmla="*/ 308996 w 548219"/>
                <a:gd name="connsiteY116" fmla="*/ 159482 h 548219"/>
                <a:gd name="connsiteX117" fmla="*/ 239223 w 548219"/>
                <a:gd name="connsiteY117" fmla="*/ 159482 h 548219"/>
                <a:gd name="connsiteX118" fmla="*/ 239223 w 548219"/>
                <a:gd name="connsiteY118" fmla="*/ 229256 h 548219"/>
                <a:gd name="connsiteX119" fmla="*/ 308996 w 548219"/>
                <a:gd name="connsiteY119" fmla="*/ 229256 h 548219"/>
                <a:gd name="connsiteX120" fmla="*/ 308996 w 548219"/>
                <a:gd name="connsiteY120" fmla="*/ 308996 h 548219"/>
                <a:gd name="connsiteX121" fmla="*/ 308996 w 548219"/>
                <a:gd name="connsiteY121" fmla="*/ 239223 h 548219"/>
                <a:gd name="connsiteX122" fmla="*/ 239223 w 548219"/>
                <a:gd name="connsiteY122" fmla="*/ 239223 h 548219"/>
                <a:gd name="connsiteX123" fmla="*/ 239223 w 548219"/>
                <a:gd name="connsiteY123" fmla="*/ 308996 h 548219"/>
                <a:gd name="connsiteX124" fmla="*/ 308996 w 548219"/>
                <a:gd name="connsiteY124" fmla="*/ 308996 h 548219"/>
                <a:gd name="connsiteX125" fmla="*/ 308996 w 548219"/>
                <a:gd name="connsiteY125" fmla="*/ 388738 h 548219"/>
                <a:gd name="connsiteX126" fmla="*/ 308996 w 548219"/>
                <a:gd name="connsiteY126" fmla="*/ 318965 h 548219"/>
                <a:gd name="connsiteX127" fmla="*/ 239223 w 548219"/>
                <a:gd name="connsiteY127" fmla="*/ 318965 h 548219"/>
                <a:gd name="connsiteX128" fmla="*/ 239223 w 548219"/>
                <a:gd name="connsiteY128" fmla="*/ 388738 h 548219"/>
                <a:gd name="connsiteX129" fmla="*/ 308996 w 548219"/>
                <a:gd name="connsiteY129" fmla="*/ 388738 h 548219"/>
                <a:gd name="connsiteX130" fmla="*/ 308996 w 548219"/>
                <a:gd name="connsiteY130" fmla="*/ 468479 h 548219"/>
                <a:gd name="connsiteX131" fmla="*/ 308996 w 548219"/>
                <a:gd name="connsiteY131" fmla="*/ 398705 h 548219"/>
                <a:gd name="connsiteX132" fmla="*/ 239223 w 548219"/>
                <a:gd name="connsiteY132" fmla="*/ 398705 h 548219"/>
                <a:gd name="connsiteX133" fmla="*/ 239223 w 548219"/>
                <a:gd name="connsiteY133" fmla="*/ 468479 h 548219"/>
                <a:gd name="connsiteX134" fmla="*/ 308996 w 548219"/>
                <a:gd name="connsiteY134" fmla="*/ 468479 h 548219"/>
                <a:gd name="connsiteX135" fmla="*/ 159482 w 548219"/>
                <a:gd name="connsiteY135" fmla="*/ 468479 h 548219"/>
                <a:gd name="connsiteX136" fmla="*/ 229256 w 548219"/>
                <a:gd name="connsiteY136" fmla="*/ 468479 h 548219"/>
                <a:gd name="connsiteX137" fmla="*/ 229256 w 548219"/>
                <a:gd name="connsiteY137" fmla="*/ 398705 h 548219"/>
                <a:gd name="connsiteX138" fmla="*/ 159482 w 548219"/>
                <a:gd name="connsiteY138" fmla="*/ 398705 h 548219"/>
                <a:gd name="connsiteX139" fmla="*/ 159482 w 548219"/>
                <a:gd name="connsiteY139" fmla="*/ 468479 h 548219"/>
                <a:gd name="connsiteX140" fmla="*/ 79741 w 548219"/>
                <a:gd name="connsiteY140" fmla="*/ 468479 h 548219"/>
                <a:gd name="connsiteX141" fmla="*/ 149515 w 548219"/>
                <a:gd name="connsiteY141" fmla="*/ 468479 h 548219"/>
                <a:gd name="connsiteX142" fmla="*/ 149515 w 548219"/>
                <a:gd name="connsiteY142" fmla="*/ 398705 h 548219"/>
                <a:gd name="connsiteX143" fmla="*/ 79741 w 548219"/>
                <a:gd name="connsiteY143" fmla="*/ 398705 h 548219"/>
                <a:gd name="connsiteX144" fmla="*/ 79741 w 548219"/>
                <a:gd name="connsiteY144" fmla="*/ 468479 h 548219"/>
                <a:gd name="connsiteX145" fmla="*/ 79741 w 548219"/>
                <a:gd name="connsiteY145" fmla="*/ 318965 h 548219"/>
                <a:gd name="connsiteX146" fmla="*/ 79741 w 548219"/>
                <a:gd name="connsiteY146" fmla="*/ 388738 h 548219"/>
                <a:gd name="connsiteX147" fmla="*/ 149515 w 548219"/>
                <a:gd name="connsiteY147" fmla="*/ 388738 h 548219"/>
                <a:gd name="connsiteX148" fmla="*/ 149515 w 548219"/>
                <a:gd name="connsiteY148" fmla="*/ 318965 h 548219"/>
                <a:gd name="connsiteX149" fmla="*/ 79741 w 548219"/>
                <a:gd name="connsiteY149" fmla="*/ 318965 h 548219"/>
                <a:gd name="connsiteX150" fmla="*/ 79741 w 548219"/>
                <a:gd name="connsiteY150" fmla="*/ 239223 h 548219"/>
                <a:gd name="connsiteX151" fmla="*/ 79741 w 548219"/>
                <a:gd name="connsiteY151" fmla="*/ 308996 h 548219"/>
                <a:gd name="connsiteX152" fmla="*/ 149515 w 548219"/>
                <a:gd name="connsiteY152" fmla="*/ 308996 h 548219"/>
                <a:gd name="connsiteX153" fmla="*/ 149515 w 548219"/>
                <a:gd name="connsiteY153" fmla="*/ 239223 h 548219"/>
                <a:gd name="connsiteX154" fmla="*/ 79741 w 548219"/>
                <a:gd name="connsiteY154" fmla="*/ 239223 h 548219"/>
                <a:gd name="connsiteX155" fmla="*/ 79741 w 548219"/>
                <a:gd name="connsiteY155" fmla="*/ 159482 h 548219"/>
                <a:gd name="connsiteX156" fmla="*/ 79741 w 548219"/>
                <a:gd name="connsiteY156" fmla="*/ 229256 h 548219"/>
                <a:gd name="connsiteX157" fmla="*/ 149515 w 548219"/>
                <a:gd name="connsiteY157" fmla="*/ 229256 h 548219"/>
                <a:gd name="connsiteX158" fmla="*/ 149515 w 548219"/>
                <a:gd name="connsiteY158" fmla="*/ 159482 h 548219"/>
                <a:gd name="connsiteX159" fmla="*/ 79741 w 548219"/>
                <a:gd name="connsiteY159" fmla="*/ 159482 h 548219"/>
                <a:gd name="connsiteX160" fmla="*/ 229256 w 548219"/>
                <a:gd name="connsiteY160" fmla="*/ 159482 h 548219"/>
                <a:gd name="connsiteX161" fmla="*/ 159482 w 548219"/>
                <a:gd name="connsiteY161" fmla="*/ 159482 h 548219"/>
                <a:gd name="connsiteX162" fmla="*/ 159482 w 548219"/>
                <a:gd name="connsiteY162" fmla="*/ 229256 h 548219"/>
                <a:gd name="connsiteX163" fmla="*/ 229256 w 548219"/>
                <a:gd name="connsiteY163" fmla="*/ 229256 h 548219"/>
                <a:gd name="connsiteX164" fmla="*/ 229256 w 548219"/>
                <a:gd name="connsiteY164" fmla="*/ 159482 h 548219"/>
                <a:gd name="connsiteX165" fmla="*/ 229256 w 548219"/>
                <a:gd name="connsiteY165" fmla="*/ 308996 h 548219"/>
                <a:gd name="connsiteX166" fmla="*/ 229256 w 548219"/>
                <a:gd name="connsiteY166" fmla="*/ 239223 h 548219"/>
                <a:gd name="connsiteX167" fmla="*/ 159482 w 548219"/>
                <a:gd name="connsiteY167" fmla="*/ 239223 h 548219"/>
                <a:gd name="connsiteX168" fmla="*/ 159482 w 548219"/>
                <a:gd name="connsiteY168" fmla="*/ 308996 h 548219"/>
                <a:gd name="connsiteX169" fmla="*/ 229256 w 548219"/>
                <a:gd name="connsiteY169" fmla="*/ 308996 h 548219"/>
                <a:gd name="connsiteX170" fmla="*/ 229256 w 548219"/>
                <a:gd name="connsiteY170" fmla="*/ 388738 h 548219"/>
                <a:gd name="connsiteX171" fmla="*/ 229256 w 548219"/>
                <a:gd name="connsiteY171" fmla="*/ 318965 h 548219"/>
                <a:gd name="connsiteX172" fmla="*/ 159482 w 548219"/>
                <a:gd name="connsiteY172" fmla="*/ 318965 h 548219"/>
                <a:gd name="connsiteX173" fmla="*/ 159482 w 548219"/>
                <a:gd name="connsiteY173" fmla="*/ 388738 h 548219"/>
                <a:gd name="connsiteX174" fmla="*/ 229256 w 548219"/>
                <a:gd name="connsiteY174" fmla="*/ 388738 h 548219"/>
                <a:gd name="connsiteX175" fmla="*/ 548220 w 548219"/>
                <a:gd name="connsiteY175" fmla="*/ 69773 h 548219"/>
                <a:gd name="connsiteX176" fmla="*/ 548220 w 548219"/>
                <a:gd name="connsiteY176" fmla="*/ 0 h 548219"/>
                <a:gd name="connsiteX177" fmla="*/ 478446 w 548219"/>
                <a:gd name="connsiteY177" fmla="*/ 0 h 548219"/>
                <a:gd name="connsiteX178" fmla="*/ 478446 w 548219"/>
                <a:gd name="connsiteY178" fmla="*/ 39870 h 548219"/>
                <a:gd name="connsiteX179" fmla="*/ 478446 w 548219"/>
                <a:gd name="connsiteY179" fmla="*/ 69773 h 548219"/>
                <a:gd name="connsiteX180" fmla="*/ 548220 w 548219"/>
                <a:gd name="connsiteY180" fmla="*/ 69773 h 548219"/>
                <a:gd name="connsiteX181" fmla="*/ 548220 w 548219"/>
                <a:gd name="connsiteY181" fmla="*/ 149515 h 548219"/>
                <a:gd name="connsiteX182" fmla="*/ 548220 w 548219"/>
                <a:gd name="connsiteY182" fmla="*/ 79742 h 548219"/>
                <a:gd name="connsiteX183" fmla="*/ 478446 w 548219"/>
                <a:gd name="connsiteY183" fmla="*/ 79742 h 548219"/>
                <a:gd name="connsiteX184" fmla="*/ 478446 w 548219"/>
                <a:gd name="connsiteY184" fmla="*/ 149515 h 548219"/>
                <a:gd name="connsiteX185" fmla="*/ 548220 w 548219"/>
                <a:gd name="connsiteY185" fmla="*/ 149515 h 548219"/>
                <a:gd name="connsiteX186" fmla="*/ 548220 w 548219"/>
                <a:gd name="connsiteY186" fmla="*/ 229256 h 548219"/>
                <a:gd name="connsiteX187" fmla="*/ 548220 w 548219"/>
                <a:gd name="connsiteY187" fmla="*/ 159482 h 548219"/>
                <a:gd name="connsiteX188" fmla="*/ 478446 w 548219"/>
                <a:gd name="connsiteY188" fmla="*/ 159482 h 548219"/>
                <a:gd name="connsiteX189" fmla="*/ 478446 w 548219"/>
                <a:gd name="connsiteY189" fmla="*/ 229256 h 548219"/>
                <a:gd name="connsiteX190" fmla="*/ 548220 w 548219"/>
                <a:gd name="connsiteY190" fmla="*/ 229256 h 548219"/>
                <a:gd name="connsiteX191" fmla="*/ 548220 w 548219"/>
                <a:gd name="connsiteY191" fmla="*/ 308996 h 548219"/>
                <a:gd name="connsiteX192" fmla="*/ 548220 w 548219"/>
                <a:gd name="connsiteY192" fmla="*/ 239223 h 548219"/>
                <a:gd name="connsiteX193" fmla="*/ 478446 w 548219"/>
                <a:gd name="connsiteY193" fmla="*/ 239223 h 548219"/>
                <a:gd name="connsiteX194" fmla="*/ 478446 w 548219"/>
                <a:gd name="connsiteY194" fmla="*/ 308996 h 548219"/>
                <a:gd name="connsiteX195" fmla="*/ 548220 w 548219"/>
                <a:gd name="connsiteY195" fmla="*/ 308996 h 548219"/>
                <a:gd name="connsiteX196" fmla="*/ 548220 w 548219"/>
                <a:gd name="connsiteY196" fmla="*/ 388738 h 548219"/>
                <a:gd name="connsiteX197" fmla="*/ 548220 w 548219"/>
                <a:gd name="connsiteY197" fmla="*/ 318965 h 548219"/>
                <a:gd name="connsiteX198" fmla="*/ 478446 w 548219"/>
                <a:gd name="connsiteY198" fmla="*/ 318965 h 548219"/>
                <a:gd name="connsiteX199" fmla="*/ 478446 w 548219"/>
                <a:gd name="connsiteY199" fmla="*/ 388738 h 548219"/>
                <a:gd name="connsiteX200" fmla="*/ 548220 w 548219"/>
                <a:gd name="connsiteY200" fmla="*/ 388738 h 548219"/>
                <a:gd name="connsiteX201" fmla="*/ 548220 w 548219"/>
                <a:gd name="connsiteY201" fmla="*/ 468479 h 548219"/>
                <a:gd name="connsiteX202" fmla="*/ 548220 w 548219"/>
                <a:gd name="connsiteY202" fmla="*/ 398705 h 548219"/>
                <a:gd name="connsiteX203" fmla="*/ 478446 w 548219"/>
                <a:gd name="connsiteY203" fmla="*/ 398705 h 548219"/>
                <a:gd name="connsiteX204" fmla="*/ 478446 w 548219"/>
                <a:gd name="connsiteY204" fmla="*/ 468479 h 548219"/>
                <a:gd name="connsiteX205" fmla="*/ 548220 w 548219"/>
                <a:gd name="connsiteY205" fmla="*/ 468479 h 548219"/>
                <a:gd name="connsiteX206" fmla="*/ 478446 w 548219"/>
                <a:gd name="connsiteY206" fmla="*/ 478447 h 548219"/>
                <a:gd name="connsiteX207" fmla="*/ 478446 w 548219"/>
                <a:gd name="connsiteY207" fmla="*/ 548220 h 548219"/>
                <a:gd name="connsiteX208" fmla="*/ 548220 w 548219"/>
                <a:gd name="connsiteY208" fmla="*/ 548220 h 548219"/>
                <a:gd name="connsiteX209" fmla="*/ 548220 w 548219"/>
                <a:gd name="connsiteY209" fmla="*/ 478447 h 548219"/>
                <a:gd name="connsiteX210" fmla="*/ 478446 w 548219"/>
                <a:gd name="connsiteY210" fmla="*/ 478447 h 54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548219" h="548219">
                  <a:moveTo>
                    <a:pt x="69773" y="0"/>
                  </a:moveTo>
                  <a:cubicBezTo>
                    <a:pt x="69773" y="0"/>
                    <a:pt x="0" y="0"/>
                    <a:pt x="0" y="0"/>
                  </a:cubicBezTo>
                  <a:lnTo>
                    <a:pt x="0" y="69773"/>
                  </a:lnTo>
                  <a:lnTo>
                    <a:pt x="69773" y="69773"/>
                  </a:lnTo>
                  <a:lnTo>
                    <a:pt x="69773" y="0"/>
                  </a:lnTo>
                  <a:close/>
                  <a:moveTo>
                    <a:pt x="79741" y="0"/>
                  </a:moveTo>
                  <a:lnTo>
                    <a:pt x="79741" y="69773"/>
                  </a:lnTo>
                  <a:lnTo>
                    <a:pt x="149515" y="69773"/>
                  </a:lnTo>
                  <a:lnTo>
                    <a:pt x="149515" y="0"/>
                  </a:lnTo>
                  <a:cubicBezTo>
                    <a:pt x="149515" y="0"/>
                    <a:pt x="79741" y="0"/>
                    <a:pt x="79741" y="0"/>
                  </a:cubicBezTo>
                  <a:close/>
                  <a:moveTo>
                    <a:pt x="159482" y="0"/>
                  </a:moveTo>
                  <a:lnTo>
                    <a:pt x="159482" y="69773"/>
                  </a:lnTo>
                  <a:lnTo>
                    <a:pt x="229256" y="69773"/>
                  </a:lnTo>
                  <a:lnTo>
                    <a:pt x="229256" y="0"/>
                  </a:lnTo>
                  <a:cubicBezTo>
                    <a:pt x="229256" y="0"/>
                    <a:pt x="159482" y="0"/>
                    <a:pt x="159482" y="0"/>
                  </a:cubicBezTo>
                  <a:close/>
                  <a:moveTo>
                    <a:pt x="239223" y="0"/>
                  </a:moveTo>
                  <a:lnTo>
                    <a:pt x="239223" y="69773"/>
                  </a:lnTo>
                  <a:lnTo>
                    <a:pt x="308996" y="69773"/>
                  </a:lnTo>
                  <a:lnTo>
                    <a:pt x="308996" y="0"/>
                  </a:lnTo>
                  <a:cubicBezTo>
                    <a:pt x="308996" y="0"/>
                    <a:pt x="239223" y="0"/>
                    <a:pt x="239223" y="0"/>
                  </a:cubicBezTo>
                  <a:close/>
                  <a:moveTo>
                    <a:pt x="318965" y="0"/>
                  </a:moveTo>
                  <a:lnTo>
                    <a:pt x="318965" y="69773"/>
                  </a:lnTo>
                  <a:lnTo>
                    <a:pt x="388738" y="69773"/>
                  </a:lnTo>
                  <a:lnTo>
                    <a:pt x="388738" y="0"/>
                  </a:lnTo>
                  <a:cubicBezTo>
                    <a:pt x="388738" y="0"/>
                    <a:pt x="318965" y="0"/>
                    <a:pt x="318965" y="0"/>
                  </a:cubicBezTo>
                  <a:close/>
                  <a:moveTo>
                    <a:pt x="388738" y="149515"/>
                  </a:moveTo>
                  <a:lnTo>
                    <a:pt x="388738" y="79742"/>
                  </a:lnTo>
                  <a:lnTo>
                    <a:pt x="318965" y="79742"/>
                  </a:lnTo>
                  <a:lnTo>
                    <a:pt x="318965" y="149515"/>
                  </a:lnTo>
                  <a:lnTo>
                    <a:pt x="388738" y="149515"/>
                  </a:lnTo>
                  <a:close/>
                  <a:moveTo>
                    <a:pt x="388738" y="229256"/>
                  </a:moveTo>
                  <a:lnTo>
                    <a:pt x="388738" y="159482"/>
                  </a:lnTo>
                  <a:lnTo>
                    <a:pt x="318965" y="159482"/>
                  </a:lnTo>
                  <a:lnTo>
                    <a:pt x="318965" y="229256"/>
                  </a:lnTo>
                  <a:lnTo>
                    <a:pt x="388738" y="229256"/>
                  </a:lnTo>
                  <a:close/>
                  <a:moveTo>
                    <a:pt x="388738" y="308996"/>
                  </a:moveTo>
                  <a:lnTo>
                    <a:pt x="388738" y="239223"/>
                  </a:lnTo>
                  <a:lnTo>
                    <a:pt x="318965" y="239223"/>
                  </a:lnTo>
                  <a:lnTo>
                    <a:pt x="318965" y="308996"/>
                  </a:lnTo>
                  <a:lnTo>
                    <a:pt x="388738" y="308996"/>
                  </a:lnTo>
                  <a:close/>
                  <a:moveTo>
                    <a:pt x="388738" y="388738"/>
                  </a:moveTo>
                  <a:lnTo>
                    <a:pt x="388738" y="318965"/>
                  </a:lnTo>
                  <a:lnTo>
                    <a:pt x="318965" y="318965"/>
                  </a:lnTo>
                  <a:lnTo>
                    <a:pt x="318965" y="388738"/>
                  </a:lnTo>
                  <a:lnTo>
                    <a:pt x="388738" y="388738"/>
                  </a:lnTo>
                  <a:close/>
                  <a:moveTo>
                    <a:pt x="388738" y="468479"/>
                  </a:moveTo>
                  <a:lnTo>
                    <a:pt x="388738" y="398705"/>
                  </a:lnTo>
                  <a:lnTo>
                    <a:pt x="318965" y="398705"/>
                  </a:lnTo>
                  <a:lnTo>
                    <a:pt x="318965" y="468479"/>
                  </a:lnTo>
                  <a:lnTo>
                    <a:pt x="388738" y="468479"/>
                  </a:lnTo>
                  <a:close/>
                  <a:moveTo>
                    <a:pt x="318965" y="548220"/>
                  </a:moveTo>
                  <a:lnTo>
                    <a:pt x="388738" y="548220"/>
                  </a:lnTo>
                  <a:lnTo>
                    <a:pt x="388738" y="478447"/>
                  </a:lnTo>
                  <a:lnTo>
                    <a:pt x="318965" y="478447"/>
                  </a:lnTo>
                  <a:lnTo>
                    <a:pt x="318965" y="548220"/>
                  </a:lnTo>
                  <a:close/>
                  <a:moveTo>
                    <a:pt x="239223" y="548220"/>
                  </a:moveTo>
                  <a:lnTo>
                    <a:pt x="308996" y="548220"/>
                  </a:lnTo>
                  <a:lnTo>
                    <a:pt x="308996" y="478447"/>
                  </a:lnTo>
                  <a:lnTo>
                    <a:pt x="239223" y="478447"/>
                  </a:lnTo>
                  <a:lnTo>
                    <a:pt x="239223" y="548220"/>
                  </a:lnTo>
                  <a:close/>
                  <a:moveTo>
                    <a:pt x="159482" y="548220"/>
                  </a:moveTo>
                  <a:lnTo>
                    <a:pt x="229256" y="548220"/>
                  </a:lnTo>
                  <a:lnTo>
                    <a:pt x="229256" y="478447"/>
                  </a:lnTo>
                  <a:lnTo>
                    <a:pt x="159482" y="478447"/>
                  </a:lnTo>
                  <a:lnTo>
                    <a:pt x="159482" y="548220"/>
                  </a:lnTo>
                  <a:close/>
                  <a:moveTo>
                    <a:pt x="79741" y="548220"/>
                  </a:moveTo>
                  <a:lnTo>
                    <a:pt x="149515" y="548220"/>
                  </a:lnTo>
                  <a:lnTo>
                    <a:pt x="149515" y="478447"/>
                  </a:lnTo>
                  <a:lnTo>
                    <a:pt x="79741" y="478447"/>
                  </a:lnTo>
                  <a:lnTo>
                    <a:pt x="79741" y="548220"/>
                  </a:lnTo>
                  <a:close/>
                  <a:moveTo>
                    <a:pt x="0" y="478447"/>
                  </a:moveTo>
                  <a:lnTo>
                    <a:pt x="0" y="548220"/>
                  </a:lnTo>
                  <a:lnTo>
                    <a:pt x="69773" y="548220"/>
                  </a:lnTo>
                  <a:lnTo>
                    <a:pt x="69773" y="478447"/>
                  </a:lnTo>
                  <a:lnTo>
                    <a:pt x="0" y="478447"/>
                  </a:lnTo>
                  <a:close/>
                  <a:moveTo>
                    <a:pt x="0" y="398705"/>
                  </a:moveTo>
                  <a:lnTo>
                    <a:pt x="0" y="468479"/>
                  </a:lnTo>
                  <a:lnTo>
                    <a:pt x="69773" y="468479"/>
                  </a:lnTo>
                  <a:lnTo>
                    <a:pt x="69773" y="398705"/>
                  </a:lnTo>
                  <a:lnTo>
                    <a:pt x="0" y="398705"/>
                  </a:lnTo>
                  <a:close/>
                  <a:moveTo>
                    <a:pt x="0" y="318965"/>
                  </a:moveTo>
                  <a:lnTo>
                    <a:pt x="0" y="388738"/>
                  </a:lnTo>
                  <a:lnTo>
                    <a:pt x="69773" y="388738"/>
                  </a:lnTo>
                  <a:lnTo>
                    <a:pt x="69773" y="318965"/>
                  </a:lnTo>
                  <a:lnTo>
                    <a:pt x="0" y="318965"/>
                  </a:lnTo>
                  <a:close/>
                  <a:moveTo>
                    <a:pt x="0" y="239223"/>
                  </a:moveTo>
                  <a:lnTo>
                    <a:pt x="0" y="308996"/>
                  </a:lnTo>
                  <a:lnTo>
                    <a:pt x="69773" y="308996"/>
                  </a:lnTo>
                  <a:lnTo>
                    <a:pt x="69773" y="239223"/>
                  </a:lnTo>
                  <a:lnTo>
                    <a:pt x="0" y="239223"/>
                  </a:lnTo>
                  <a:close/>
                  <a:moveTo>
                    <a:pt x="0" y="159482"/>
                  </a:moveTo>
                  <a:lnTo>
                    <a:pt x="0" y="229256"/>
                  </a:lnTo>
                  <a:lnTo>
                    <a:pt x="69773" y="229256"/>
                  </a:lnTo>
                  <a:lnTo>
                    <a:pt x="69773" y="159482"/>
                  </a:lnTo>
                  <a:lnTo>
                    <a:pt x="0" y="159482"/>
                  </a:lnTo>
                  <a:close/>
                  <a:moveTo>
                    <a:pt x="0" y="79742"/>
                  </a:moveTo>
                  <a:lnTo>
                    <a:pt x="0" y="149515"/>
                  </a:lnTo>
                  <a:lnTo>
                    <a:pt x="69773" y="149515"/>
                  </a:lnTo>
                  <a:lnTo>
                    <a:pt x="69773" y="79742"/>
                  </a:lnTo>
                  <a:lnTo>
                    <a:pt x="0" y="79742"/>
                  </a:lnTo>
                  <a:close/>
                  <a:moveTo>
                    <a:pt x="149515" y="79742"/>
                  </a:moveTo>
                  <a:lnTo>
                    <a:pt x="79741" y="79742"/>
                  </a:lnTo>
                  <a:lnTo>
                    <a:pt x="79741" y="149515"/>
                  </a:lnTo>
                  <a:lnTo>
                    <a:pt x="149515" y="149515"/>
                  </a:lnTo>
                  <a:lnTo>
                    <a:pt x="149515" y="79742"/>
                  </a:lnTo>
                  <a:close/>
                  <a:moveTo>
                    <a:pt x="229256" y="79742"/>
                  </a:moveTo>
                  <a:lnTo>
                    <a:pt x="159482" y="79742"/>
                  </a:lnTo>
                  <a:lnTo>
                    <a:pt x="159482" y="149515"/>
                  </a:lnTo>
                  <a:lnTo>
                    <a:pt x="229256" y="149515"/>
                  </a:lnTo>
                  <a:lnTo>
                    <a:pt x="229256" y="79742"/>
                  </a:lnTo>
                  <a:close/>
                  <a:moveTo>
                    <a:pt x="308996" y="79742"/>
                  </a:moveTo>
                  <a:lnTo>
                    <a:pt x="239223" y="79742"/>
                  </a:lnTo>
                  <a:lnTo>
                    <a:pt x="239223" y="149515"/>
                  </a:lnTo>
                  <a:lnTo>
                    <a:pt x="308996" y="149515"/>
                  </a:lnTo>
                  <a:lnTo>
                    <a:pt x="308996" y="79742"/>
                  </a:lnTo>
                  <a:close/>
                  <a:moveTo>
                    <a:pt x="308996" y="229256"/>
                  </a:moveTo>
                  <a:lnTo>
                    <a:pt x="308996" y="159482"/>
                  </a:lnTo>
                  <a:lnTo>
                    <a:pt x="239223" y="159482"/>
                  </a:lnTo>
                  <a:lnTo>
                    <a:pt x="239223" y="229256"/>
                  </a:lnTo>
                  <a:lnTo>
                    <a:pt x="308996" y="229256"/>
                  </a:lnTo>
                  <a:close/>
                  <a:moveTo>
                    <a:pt x="308996" y="308996"/>
                  </a:moveTo>
                  <a:lnTo>
                    <a:pt x="308996" y="239223"/>
                  </a:lnTo>
                  <a:lnTo>
                    <a:pt x="239223" y="239223"/>
                  </a:lnTo>
                  <a:lnTo>
                    <a:pt x="239223" y="308996"/>
                  </a:lnTo>
                  <a:lnTo>
                    <a:pt x="308996" y="308996"/>
                  </a:lnTo>
                  <a:close/>
                  <a:moveTo>
                    <a:pt x="308996" y="388738"/>
                  </a:moveTo>
                  <a:lnTo>
                    <a:pt x="308996" y="318965"/>
                  </a:lnTo>
                  <a:lnTo>
                    <a:pt x="239223" y="318965"/>
                  </a:lnTo>
                  <a:lnTo>
                    <a:pt x="239223" y="388738"/>
                  </a:lnTo>
                  <a:lnTo>
                    <a:pt x="308996" y="388738"/>
                  </a:lnTo>
                  <a:close/>
                  <a:moveTo>
                    <a:pt x="308996" y="468479"/>
                  </a:moveTo>
                  <a:lnTo>
                    <a:pt x="308996" y="398705"/>
                  </a:lnTo>
                  <a:lnTo>
                    <a:pt x="239223" y="398705"/>
                  </a:lnTo>
                  <a:lnTo>
                    <a:pt x="239223" y="468479"/>
                  </a:lnTo>
                  <a:lnTo>
                    <a:pt x="308996" y="468479"/>
                  </a:lnTo>
                  <a:close/>
                  <a:moveTo>
                    <a:pt x="159482" y="468479"/>
                  </a:moveTo>
                  <a:lnTo>
                    <a:pt x="229256" y="468479"/>
                  </a:lnTo>
                  <a:lnTo>
                    <a:pt x="229256" y="398705"/>
                  </a:lnTo>
                  <a:lnTo>
                    <a:pt x="159482" y="398705"/>
                  </a:lnTo>
                  <a:lnTo>
                    <a:pt x="159482" y="468479"/>
                  </a:lnTo>
                  <a:close/>
                  <a:moveTo>
                    <a:pt x="79741" y="468479"/>
                  </a:moveTo>
                  <a:lnTo>
                    <a:pt x="149515" y="468479"/>
                  </a:lnTo>
                  <a:lnTo>
                    <a:pt x="149515" y="398705"/>
                  </a:lnTo>
                  <a:lnTo>
                    <a:pt x="79741" y="398705"/>
                  </a:lnTo>
                  <a:lnTo>
                    <a:pt x="79741" y="468479"/>
                  </a:lnTo>
                  <a:close/>
                  <a:moveTo>
                    <a:pt x="79741" y="318965"/>
                  </a:moveTo>
                  <a:lnTo>
                    <a:pt x="79741" y="388738"/>
                  </a:lnTo>
                  <a:lnTo>
                    <a:pt x="149515" y="388738"/>
                  </a:lnTo>
                  <a:lnTo>
                    <a:pt x="149515" y="318965"/>
                  </a:lnTo>
                  <a:lnTo>
                    <a:pt x="79741" y="318965"/>
                  </a:lnTo>
                  <a:close/>
                  <a:moveTo>
                    <a:pt x="79741" y="239223"/>
                  </a:moveTo>
                  <a:lnTo>
                    <a:pt x="79741" y="308996"/>
                  </a:lnTo>
                  <a:lnTo>
                    <a:pt x="149515" y="308996"/>
                  </a:lnTo>
                  <a:lnTo>
                    <a:pt x="149515" y="239223"/>
                  </a:lnTo>
                  <a:lnTo>
                    <a:pt x="79741" y="239223"/>
                  </a:lnTo>
                  <a:close/>
                  <a:moveTo>
                    <a:pt x="79741" y="159482"/>
                  </a:moveTo>
                  <a:lnTo>
                    <a:pt x="79741" y="229256"/>
                  </a:lnTo>
                  <a:lnTo>
                    <a:pt x="149515" y="229256"/>
                  </a:lnTo>
                  <a:lnTo>
                    <a:pt x="149515" y="159482"/>
                  </a:lnTo>
                  <a:lnTo>
                    <a:pt x="79741" y="159482"/>
                  </a:lnTo>
                  <a:close/>
                  <a:moveTo>
                    <a:pt x="229256" y="159482"/>
                  </a:moveTo>
                  <a:lnTo>
                    <a:pt x="159482" y="159482"/>
                  </a:lnTo>
                  <a:lnTo>
                    <a:pt x="159482" y="229256"/>
                  </a:lnTo>
                  <a:lnTo>
                    <a:pt x="229256" y="229256"/>
                  </a:lnTo>
                  <a:lnTo>
                    <a:pt x="229256" y="159482"/>
                  </a:lnTo>
                  <a:close/>
                  <a:moveTo>
                    <a:pt x="229256" y="308996"/>
                  </a:moveTo>
                  <a:lnTo>
                    <a:pt x="229256" y="239223"/>
                  </a:lnTo>
                  <a:lnTo>
                    <a:pt x="159482" y="239223"/>
                  </a:lnTo>
                  <a:lnTo>
                    <a:pt x="159482" y="308996"/>
                  </a:lnTo>
                  <a:lnTo>
                    <a:pt x="229256" y="308996"/>
                  </a:lnTo>
                  <a:close/>
                  <a:moveTo>
                    <a:pt x="229256" y="388738"/>
                  </a:moveTo>
                  <a:lnTo>
                    <a:pt x="229256" y="318965"/>
                  </a:lnTo>
                  <a:lnTo>
                    <a:pt x="159482" y="318965"/>
                  </a:lnTo>
                  <a:lnTo>
                    <a:pt x="159482" y="388738"/>
                  </a:lnTo>
                  <a:lnTo>
                    <a:pt x="229256" y="388738"/>
                  </a:lnTo>
                  <a:close/>
                  <a:moveTo>
                    <a:pt x="548220" y="69773"/>
                  </a:moveTo>
                  <a:lnTo>
                    <a:pt x="548220" y="0"/>
                  </a:lnTo>
                  <a:lnTo>
                    <a:pt x="478446" y="0"/>
                  </a:lnTo>
                  <a:lnTo>
                    <a:pt x="478446" y="39870"/>
                  </a:lnTo>
                  <a:lnTo>
                    <a:pt x="478446" y="69773"/>
                  </a:lnTo>
                  <a:lnTo>
                    <a:pt x="548220" y="69773"/>
                  </a:lnTo>
                  <a:close/>
                  <a:moveTo>
                    <a:pt x="548220" y="149515"/>
                  </a:moveTo>
                  <a:lnTo>
                    <a:pt x="548220" y="79742"/>
                  </a:lnTo>
                  <a:lnTo>
                    <a:pt x="478446" y="79742"/>
                  </a:lnTo>
                  <a:lnTo>
                    <a:pt x="478446" y="149515"/>
                  </a:lnTo>
                  <a:lnTo>
                    <a:pt x="548220" y="149515"/>
                  </a:lnTo>
                  <a:close/>
                  <a:moveTo>
                    <a:pt x="548220" y="229256"/>
                  </a:moveTo>
                  <a:lnTo>
                    <a:pt x="548220" y="159482"/>
                  </a:lnTo>
                  <a:lnTo>
                    <a:pt x="478446" y="159482"/>
                  </a:lnTo>
                  <a:lnTo>
                    <a:pt x="478446" y="229256"/>
                  </a:lnTo>
                  <a:lnTo>
                    <a:pt x="548220" y="229256"/>
                  </a:lnTo>
                  <a:close/>
                  <a:moveTo>
                    <a:pt x="548220" y="308996"/>
                  </a:moveTo>
                  <a:lnTo>
                    <a:pt x="548220" y="239223"/>
                  </a:lnTo>
                  <a:lnTo>
                    <a:pt x="478446" y="239223"/>
                  </a:lnTo>
                  <a:lnTo>
                    <a:pt x="478446" y="308996"/>
                  </a:lnTo>
                  <a:lnTo>
                    <a:pt x="548220" y="308996"/>
                  </a:lnTo>
                  <a:close/>
                  <a:moveTo>
                    <a:pt x="548220" y="388738"/>
                  </a:moveTo>
                  <a:lnTo>
                    <a:pt x="548220" y="318965"/>
                  </a:lnTo>
                  <a:lnTo>
                    <a:pt x="478446" y="318965"/>
                  </a:lnTo>
                  <a:lnTo>
                    <a:pt x="478446" y="388738"/>
                  </a:lnTo>
                  <a:lnTo>
                    <a:pt x="548220" y="388738"/>
                  </a:lnTo>
                  <a:close/>
                  <a:moveTo>
                    <a:pt x="548220" y="468479"/>
                  </a:moveTo>
                  <a:lnTo>
                    <a:pt x="548220" y="398705"/>
                  </a:lnTo>
                  <a:lnTo>
                    <a:pt x="478446" y="398705"/>
                  </a:lnTo>
                  <a:lnTo>
                    <a:pt x="478446" y="468479"/>
                  </a:lnTo>
                  <a:lnTo>
                    <a:pt x="548220" y="468479"/>
                  </a:lnTo>
                  <a:close/>
                  <a:moveTo>
                    <a:pt x="478446" y="478447"/>
                  </a:moveTo>
                  <a:lnTo>
                    <a:pt x="478446" y="548220"/>
                  </a:lnTo>
                  <a:cubicBezTo>
                    <a:pt x="478446" y="548220"/>
                    <a:pt x="548220" y="548220"/>
                    <a:pt x="548220" y="548220"/>
                  </a:cubicBezTo>
                  <a:lnTo>
                    <a:pt x="548220" y="478447"/>
                  </a:lnTo>
                  <a:lnTo>
                    <a:pt x="478446" y="478447"/>
                  </a:lnTo>
                  <a:close/>
                </a:path>
              </a:pathLst>
            </a:custGeom>
            <a:solidFill>
              <a:srgbClr val="0070C0"/>
            </a:solidFill>
            <a:ln w="1195" cap="flat">
              <a:noFill/>
              <a:prstDash val="solid"/>
              <a:round/>
            </a:ln>
          </p:spPr>
          <p:txBody>
            <a:bodyPr rtlCol="0" anchor="ctr">
              <a:noAutofit/>
            </a:bodyPr>
            <a:lstStyle/>
            <a:p>
              <a:endParaRPr lang="en-US" sz="1300"/>
            </a:p>
          </p:txBody>
        </p:sp>
      </p:grp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BB3062D2-3BC5-8C1A-6C0B-CDCD2F8552A4}"/>
              </a:ext>
            </a:extLst>
          </p:cNvPr>
          <p:cNvCxnSpPr>
            <a:cxnSpLocks/>
          </p:cNvCxnSpPr>
          <p:nvPr/>
        </p:nvCxnSpPr>
        <p:spPr>
          <a:xfrm>
            <a:off x="6458986" y="533856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97D842C0-CC11-4981-0D70-B522486F8608}"/>
              </a:ext>
            </a:extLst>
          </p:cNvPr>
          <p:cNvGrpSpPr>
            <a:grpSpLocks/>
          </p:cNvGrpSpPr>
          <p:nvPr/>
        </p:nvGrpSpPr>
        <p:grpSpPr>
          <a:xfrm>
            <a:off x="6458986" y="5469959"/>
            <a:ext cx="5395736" cy="851515"/>
            <a:chOff x="6458986" y="6218511"/>
            <a:chExt cx="5395736" cy="851515"/>
          </a:xfrm>
        </p:grpSpPr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14093B31-6C7D-D426-E45C-D02105F2DF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6218511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E7975B75-67AD-2AE9-905B-88C91CE38784}"/>
                </a:ext>
              </a:extLst>
            </p:cNvPr>
            <p:cNvSpPr>
              <a:spLocks/>
            </p:cNvSpPr>
            <p:nvPr/>
          </p:nvSpPr>
          <p:spPr>
            <a:xfrm>
              <a:off x="6458986" y="6218511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create_tracking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percent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Create a line chart that visualizes a set of metric over time for the selected population</a:t>
              </a:r>
            </a:p>
          </p:txBody>
        </p:sp>
      </p:grp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D54B00F7-DB0E-9188-2D3C-51D2D3DDFBA6}"/>
              </a:ext>
            </a:extLst>
          </p:cNvPr>
          <p:cNvCxnSpPr>
            <a:cxnSpLocks/>
          </p:cNvCxnSpPr>
          <p:nvPr/>
        </p:nvCxnSpPr>
        <p:spPr>
          <a:xfrm flipV="1">
            <a:off x="12468952" y="6603394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FAD326D-D142-FD9A-1BEC-2DA656090D90}"/>
              </a:ext>
            </a:extLst>
          </p:cNvPr>
          <p:cNvSpPr>
            <a:spLocks/>
          </p:cNvSpPr>
          <p:nvPr/>
        </p:nvSpPr>
        <p:spPr>
          <a:xfrm>
            <a:off x="12468952" y="6719675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Network analysis</a:t>
            </a: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8C42573-B7F0-3F50-7CA3-C679873EF40A}"/>
              </a:ext>
            </a:extLst>
          </p:cNvPr>
          <p:cNvSpPr>
            <a:spLocks/>
          </p:cNvSpPr>
          <p:nvPr/>
        </p:nvSpPr>
        <p:spPr>
          <a:xfrm>
            <a:off x="12468952" y="7116694"/>
            <a:ext cx="539573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chemeClr val="tx1"/>
                </a:solidFill>
              </a:rPr>
              <a:t>Analyze edge list datasets (e.g., Person-to-person, Group-to-group) from Viva Insights</a:t>
            </a:r>
          </a:p>
        </p:txBody>
      </p: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94B732ED-45EC-CA24-EBF6-031A6C8DDF29}"/>
              </a:ext>
            </a:extLst>
          </p:cNvPr>
          <p:cNvCxnSpPr>
            <a:cxnSpLocks/>
          </p:cNvCxnSpPr>
          <p:nvPr/>
        </p:nvCxnSpPr>
        <p:spPr>
          <a:xfrm>
            <a:off x="12468952" y="850988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4F685E64-2FDB-8F16-73EB-36AE1455FB9E}"/>
              </a:ext>
            </a:extLst>
          </p:cNvPr>
          <p:cNvCxnSpPr>
            <a:cxnSpLocks/>
          </p:cNvCxnSpPr>
          <p:nvPr/>
        </p:nvCxnSpPr>
        <p:spPr>
          <a:xfrm>
            <a:off x="12468952" y="940825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F2BECB37-6D8E-BB34-E0BC-461ED67DE74B}"/>
              </a:ext>
            </a:extLst>
          </p:cNvPr>
          <p:cNvGrpSpPr/>
          <p:nvPr/>
        </p:nvGrpSpPr>
        <p:grpSpPr>
          <a:xfrm>
            <a:off x="12468952" y="8646166"/>
            <a:ext cx="5395736" cy="625812"/>
            <a:chOff x="6458986" y="10124809"/>
            <a:chExt cx="5395736" cy="625812"/>
          </a:xfrm>
        </p:grpSpPr>
        <p:pic>
          <p:nvPicPr>
            <p:cNvPr id="569" name="Picture 568">
              <a:extLst>
                <a:ext uri="{FF2B5EF4-FFF2-40B4-BE49-F238E27FC236}">
                  <a16:creationId xmlns:a16="http://schemas.microsoft.com/office/drawing/2014/main" id="{AE918571-C70B-C4FD-A3F8-EF0643B8EE48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8986" y="10124809"/>
              <a:ext cx="324579" cy="317203"/>
            </a:xfrm>
            <a:prstGeom prst="rect">
              <a:avLst/>
            </a:prstGeom>
          </p:spPr>
        </p:pic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EF798EF0-A969-CF01-1F41-B4779C4A084C}"/>
                </a:ext>
              </a:extLst>
            </p:cNvPr>
            <p:cNvSpPr>
              <a:spLocks/>
            </p:cNvSpPr>
            <p:nvPr/>
          </p:nvSpPr>
          <p:spPr>
            <a:xfrm>
              <a:off x="6458986" y="1012480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network_p2p()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Pass a data frame containing a person-to-person query and return a network visualization</a:t>
              </a:r>
            </a:p>
          </p:txBody>
        </p:sp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BF30B128-67E7-1905-5040-337B34694E17}"/>
              </a:ext>
            </a:extLst>
          </p:cNvPr>
          <p:cNvGrpSpPr/>
          <p:nvPr/>
        </p:nvGrpSpPr>
        <p:grpSpPr>
          <a:xfrm>
            <a:off x="12468952" y="7747792"/>
            <a:ext cx="5395736" cy="625812"/>
            <a:chOff x="6458986" y="9181971"/>
            <a:chExt cx="5395736" cy="625812"/>
          </a:xfrm>
        </p:grpSpPr>
        <p:pic>
          <p:nvPicPr>
            <p:cNvPr id="572" name="Picture 571">
              <a:extLst>
                <a:ext uri="{FF2B5EF4-FFF2-40B4-BE49-F238E27FC236}">
                  <a16:creationId xmlns:a16="http://schemas.microsoft.com/office/drawing/2014/main" id="{38E57948-6558-C44A-61D1-0B3D32E8B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58986" y="9181971"/>
              <a:ext cx="324579" cy="317203"/>
            </a:xfrm>
            <a:prstGeom prst="rect">
              <a:avLst/>
            </a:prstGeom>
          </p:spPr>
        </p:pic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688127E2-8CD1-E612-CA0B-E0E8DFE24724}"/>
                </a:ext>
              </a:extLst>
            </p:cNvPr>
            <p:cNvSpPr>
              <a:spLocks/>
            </p:cNvSpPr>
            <p:nvPr/>
          </p:nvSpPr>
          <p:spPr>
            <a:xfrm>
              <a:off x="6458986" y="9181971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network_g2g()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Pass a data frame containing a group-to-group query and return a network plot</a:t>
              </a:r>
            </a:p>
          </p:txBody>
        </p: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1D86A202-9825-0A48-31D8-06EA267D7826}"/>
              </a:ext>
            </a:extLst>
          </p:cNvPr>
          <p:cNvGrpSpPr/>
          <p:nvPr/>
        </p:nvGrpSpPr>
        <p:grpSpPr>
          <a:xfrm>
            <a:off x="12468952" y="9544540"/>
            <a:ext cx="5395736" cy="625812"/>
            <a:chOff x="6458986" y="11067648"/>
            <a:chExt cx="5395736" cy="625812"/>
          </a:xfrm>
        </p:grpSpPr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446FA85-4EBC-65BE-8B08-94DB9B0A8E7B}"/>
                </a:ext>
              </a:extLst>
            </p:cNvPr>
            <p:cNvSpPr>
              <a:spLocks/>
            </p:cNvSpPr>
            <p:nvPr/>
          </p:nvSpPr>
          <p:spPr>
            <a:xfrm>
              <a:off x="6458986" y="11067648"/>
              <a:ext cx="324579" cy="317203"/>
            </a:xfrm>
            <a:custGeom>
              <a:avLst/>
              <a:gdLst>
                <a:gd name="connsiteX0" fmla="*/ 69773 w 548219"/>
                <a:gd name="connsiteY0" fmla="*/ 0 h 548219"/>
                <a:gd name="connsiteX1" fmla="*/ 0 w 548219"/>
                <a:gd name="connsiteY1" fmla="*/ 0 h 548219"/>
                <a:gd name="connsiteX2" fmla="*/ 0 w 548219"/>
                <a:gd name="connsiteY2" fmla="*/ 69773 h 548219"/>
                <a:gd name="connsiteX3" fmla="*/ 69773 w 548219"/>
                <a:gd name="connsiteY3" fmla="*/ 69773 h 548219"/>
                <a:gd name="connsiteX4" fmla="*/ 69773 w 548219"/>
                <a:gd name="connsiteY4" fmla="*/ 0 h 548219"/>
                <a:gd name="connsiteX5" fmla="*/ 79741 w 548219"/>
                <a:gd name="connsiteY5" fmla="*/ 0 h 548219"/>
                <a:gd name="connsiteX6" fmla="*/ 79741 w 548219"/>
                <a:gd name="connsiteY6" fmla="*/ 69773 h 548219"/>
                <a:gd name="connsiteX7" fmla="*/ 149515 w 548219"/>
                <a:gd name="connsiteY7" fmla="*/ 69773 h 548219"/>
                <a:gd name="connsiteX8" fmla="*/ 149515 w 548219"/>
                <a:gd name="connsiteY8" fmla="*/ 0 h 548219"/>
                <a:gd name="connsiteX9" fmla="*/ 79741 w 548219"/>
                <a:gd name="connsiteY9" fmla="*/ 0 h 548219"/>
                <a:gd name="connsiteX10" fmla="*/ 159482 w 548219"/>
                <a:gd name="connsiteY10" fmla="*/ 0 h 548219"/>
                <a:gd name="connsiteX11" fmla="*/ 159482 w 548219"/>
                <a:gd name="connsiteY11" fmla="*/ 69773 h 548219"/>
                <a:gd name="connsiteX12" fmla="*/ 229256 w 548219"/>
                <a:gd name="connsiteY12" fmla="*/ 69773 h 548219"/>
                <a:gd name="connsiteX13" fmla="*/ 229256 w 548219"/>
                <a:gd name="connsiteY13" fmla="*/ 0 h 548219"/>
                <a:gd name="connsiteX14" fmla="*/ 159482 w 548219"/>
                <a:gd name="connsiteY14" fmla="*/ 0 h 548219"/>
                <a:gd name="connsiteX15" fmla="*/ 239223 w 548219"/>
                <a:gd name="connsiteY15" fmla="*/ 0 h 548219"/>
                <a:gd name="connsiteX16" fmla="*/ 239223 w 548219"/>
                <a:gd name="connsiteY16" fmla="*/ 69773 h 548219"/>
                <a:gd name="connsiteX17" fmla="*/ 308996 w 548219"/>
                <a:gd name="connsiteY17" fmla="*/ 69773 h 548219"/>
                <a:gd name="connsiteX18" fmla="*/ 308996 w 548219"/>
                <a:gd name="connsiteY18" fmla="*/ 0 h 548219"/>
                <a:gd name="connsiteX19" fmla="*/ 239223 w 548219"/>
                <a:gd name="connsiteY19" fmla="*/ 0 h 548219"/>
                <a:gd name="connsiteX20" fmla="*/ 318965 w 548219"/>
                <a:gd name="connsiteY20" fmla="*/ 0 h 548219"/>
                <a:gd name="connsiteX21" fmla="*/ 318965 w 548219"/>
                <a:gd name="connsiteY21" fmla="*/ 69773 h 548219"/>
                <a:gd name="connsiteX22" fmla="*/ 388738 w 548219"/>
                <a:gd name="connsiteY22" fmla="*/ 69773 h 548219"/>
                <a:gd name="connsiteX23" fmla="*/ 388738 w 548219"/>
                <a:gd name="connsiteY23" fmla="*/ 0 h 548219"/>
                <a:gd name="connsiteX24" fmla="*/ 318965 w 548219"/>
                <a:gd name="connsiteY24" fmla="*/ 0 h 548219"/>
                <a:gd name="connsiteX25" fmla="*/ 388738 w 548219"/>
                <a:gd name="connsiteY25" fmla="*/ 149515 h 548219"/>
                <a:gd name="connsiteX26" fmla="*/ 388738 w 548219"/>
                <a:gd name="connsiteY26" fmla="*/ 79742 h 548219"/>
                <a:gd name="connsiteX27" fmla="*/ 318965 w 548219"/>
                <a:gd name="connsiteY27" fmla="*/ 79742 h 548219"/>
                <a:gd name="connsiteX28" fmla="*/ 318965 w 548219"/>
                <a:gd name="connsiteY28" fmla="*/ 149515 h 548219"/>
                <a:gd name="connsiteX29" fmla="*/ 388738 w 548219"/>
                <a:gd name="connsiteY29" fmla="*/ 149515 h 548219"/>
                <a:gd name="connsiteX30" fmla="*/ 388738 w 548219"/>
                <a:gd name="connsiteY30" fmla="*/ 229256 h 548219"/>
                <a:gd name="connsiteX31" fmla="*/ 388738 w 548219"/>
                <a:gd name="connsiteY31" fmla="*/ 159482 h 548219"/>
                <a:gd name="connsiteX32" fmla="*/ 318965 w 548219"/>
                <a:gd name="connsiteY32" fmla="*/ 159482 h 548219"/>
                <a:gd name="connsiteX33" fmla="*/ 318965 w 548219"/>
                <a:gd name="connsiteY33" fmla="*/ 229256 h 548219"/>
                <a:gd name="connsiteX34" fmla="*/ 388738 w 548219"/>
                <a:gd name="connsiteY34" fmla="*/ 229256 h 548219"/>
                <a:gd name="connsiteX35" fmla="*/ 388738 w 548219"/>
                <a:gd name="connsiteY35" fmla="*/ 308996 h 548219"/>
                <a:gd name="connsiteX36" fmla="*/ 388738 w 548219"/>
                <a:gd name="connsiteY36" fmla="*/ 239223 h 548219"/>
                <a:gd name="connsiteX37" fmla="*/ 318965 w 548219"/>
                <a:gd name="connsiteY37" fmla="*/ 239223 h 548219"/>
                <a:gd name="connsiteX38" fmla="*/ 318965 w 548219"/>
                <a:gd name="connsiteY38" fmla="*/ 308996 h 548219"/>
                <a:gd name="connsiteX39" fmla="*/ 388738 w 548219"/>
                <a:gd name="connsiteY39" fmla="*/ 308996 h 548219"/>
                <a:gd name="connsiteX40" fmla="*/ 388738 w 548219"/>
                <a:gd name="connsiteY40" fmla="*/ 388738 h 548219"/>
                <a:gd name="connsiteX41" fmla="*/ 388738 w 548219"/>
                <a:gd name="connsiteY41" fmla="*/ 318965 h 548219"/>
                <a:gd name="connsiteX42" fmla="*/ 318965 w 548219"/>
                <a:gd name="connsiteY42" fmla="*/ 318965 h 548219"/>
                <a:gd name="connsiteX43" fmla="*/ 318965 w 548219"/>
                <a:gd name="connsiteY43" fmla="*/ 388738 h 548219"/>
                <a:gd name="connsiteX44" fmla="*/ 388738 w 548219"/>
                <a:gd name="connsiteY44" fmla="*/ 388738 h 548219"/>
                <a:gd name="connsiteX45" fmla="*/ 388738 w 548219"/>
                <a:gd name="connsiteY45" fmla="*/ 468479 h 548219"/>
                <a:gd name="connsiteX46" fmla="*/ 388738 w 548219"/>
                <a:gd name="connsiteY46" fmla="*/ 398705 h 548219"/>
                <a:gd name="connsiteX47" fmla="*/ 318965 w 548219"/>
                <a:gd name="connsiteY47" fmla="*/ 398705 h 548219"/>
                <a:gd name="connsiteX48" fmla="*/ 318965 w 548219"/>
                <a:gd name="connsiteY48" fmla="*/ 468479 h 548219"/>
                <a:gd name="connsiteX49" fmla="*/ 388738 w 548219"/>
                <a:gd name="connsiteY49" fmla="*/ 468479 h 548219"/>
                <a:gd name="connsiteX50" fmla="*/ 318965 w 548219"/>
                <a:gd name="connsiteY50" fmla="*/ 548220 h 548219"/>
                <a:gd name="connsiteX51" fmla="*/ 388738 w 548219"/>
                <a:gd name="connsiteY51" fmla="*/ 548220 h 548219"/>
                <a:gd name="connsiteX52" fmla="*/ 388738 w 548219"/>
                <a:gd name="connsiteY52" fmla="*/ 478447 h 548219"/>
                <a:gd name="connsiteX53" fmla="*/ 318965 w 548219"/>
                <a:gd name="connsiteY53" fmla="*/ 478447 h 548219"/>
                <a:gd name="connsiteX54" fmla="*/ 318965 w 548219"/>
                <a:gd name="connsiteY54" fmla="*/ 548220 h 548219"/>
                <a:gd name="connsiteX55" fmla="*/ 239223 w 548219"/>
                <a:gd name="connsiteY55" fmla="*/ 548220 h 548219"/>
                <a:gd name="connsiteX56" fmla="*/ 308996 w 548219"/>
                <a:gd name="connsiteY56" fmla="*/ 548220 h 548219"/>
                <a:gd name="connsiteX57" fmla="*/ 308996 w 548219"/>
                <a:gd name="connsiteY57" fmla="*/ 478447 h 548219"/>
                <a:gd name="connsiteX58" fmla="*/ 239223 w 548219"/>
                <a:gd name="connsiteY58" fmla="*/ 478447 h 548219"/>
                <a:gd name="connsiteX59" fmla="*/ 239223 w 548219"/>
                <a:gd name="connsiteY59" fmla="*/ 548220 h 548219"/>
                <a:gd name="connsiteX60" fmla="*/ 159482 w 548219"/>
                <a:gd name="connsiteY60" fmla="*/ 548220 h 548219"/>
                <a:gd name="connsiteX61" fmla="*/ 229256 w 548219"/>
                <a:gd name="connsiteY61" fmla="*/ 548220 h 548219"/>
                <a:gd name="connsiteX62" fmla="*/ 229256 w 548219"/>
                <a:gd name="connsiteY62" fmla="*/ 478447 h 548219"/>
                <a:gd name="connsiteX63" fmla="*/ 159482 w 548219"/>
                <a:gd name="connsiteY63" fmla="*/ 478447 h 548219"/>
                <a:gd name="connsiteX64" fmla="*/ 159482 w 548219"/>
                <a:gd name="connsiteY64" fmla="*/ 548220 h 548219"/>
                <a:gd name="connsiteX65" fmla="*/ 79741 w 548219"/>
                <a:gd name="connsiteY65" fmla="*/ 548220 h 548219"/>
                <a:gd name="connsiteX66" fmla="*/ 149515 w 548219"/>
                <a:gd name="connsiteY66" fmla="*/ 548220 h 548219"/>
                <a:gd name="connsiteX67" fmla="*/ 149515 w 548219"/>
                <a:gd name="connsiteY67" fmla="*/ 478447 h 548219"/>
                <a:gd name="connsiteX68" fmla="*/ 79741 w 548219"/>
                <a:gd name="connsiteY68" fmla="*/ 478447 h 548219"/>
                <a:gd name="connsiteX69" fmla="*/ 79741 w 548219"/>
                <a:gd name="connsiteY69" fmla="*/ 548220 h 548219"/>
                <a:gd name="connsiteX70" fmla="*/ 0 w 548219"/>
                <a:gd name="connsiteY70" fmla="*/ 478447 h 548219"/>
                <a:gd name="connsiteX71" fmla="*/ 0 w 548219"/>
                <a:gd name="connsiteY71" fmla="*/ 548220 h 548219"/>
                <a:gd name="connsiteX72" fmla="*/ 69773 w 548219"/>
                <a:gd name="connsiteY72" fmla="*/ 548220 h 548219"/>
                <a:gd name="connsiteX73" fmla="*/ 69773 w 548219"/>
                <a:gd name="connsiteY73" fmla="*/ 478447 h 548219"/>
                <a:gd name="connsiteX74" fmla="*/ 0 w 548219"/>
                <a:gd name="connsiteY74" fmla="*/ 478447 h 548219"/>
                <a:gd name="connsiteX75" fmla="*/ 0 w 548219"/>
                <a:gd name="connsiteY75" fmla="*/ 398705 h 548219"/>
                <a:gd name="connsiteX76" fmla="*/ 0 w 548219"/>
                <a:gd name="connsiteY76" fmla="*/ 468479 h 548219"/>
                <a:gd name="connsiteX77" fmla="*/ 69773 w 548219"/>
                <a:gd name="connsiteY77" fmla="*/ 468479 h 548219"/>
                <a:gd name="connsiteX78" fmla="*/ 69773 w 548219"/>
                <a:gd name="connsiteY78" fmla="*/ 398705 h 548219"/>
                <a:gd name="connsiteX79" fmla="*/ 0 w 548219"/>
                <a:gd name="connsiteY79" fmla="*/ 398705 h 548219"/>
                <a:gd name="connsiteX80" fmla="*/ 0 w 548219"/>
                <a:gd name="connsiteY80" fmla="*/ 318965 h 548219"/>
                <a:gd name="connsiteX81" fmla="*/ 0 w 548219"/>
                <a:gd name="connsiteY81" fmla="*/ 388738 h 548219"/>
                <a:gd name="connsiteX82" fmla="*/ 69773 w 548219"/>
                <a:gd name="connsiteY82" fmla="*/ 388738 h 548219"/>
                <a:gd name="connsiteX83" fmla="*/ 69773 w 548219"/>
                <a:gd name="connsiteY83" fmla="*/ 318965 h 548219"/>
                <a:gd name="connsiteX84" fmla="*/ 0 w 548219"/>
                <a:gd name="connsiteY84" fmla="*/ 318965 h 548219"/>
                <a:gd name="connsiteX85" fmla="*/ 0 w 548219"/>
                <a:gd name="connsiteY85" fmla="*/ 239223 h 548219"/>
                <a:gd name="connsiteX86" fmla="*/ 0 w 548219"/>
                <a:gd name="connsiteY86" fmla="*/ 308996 h 548219"/>
                <a:gd name="connsiteX87" fmla="*/ 69773 w 548219"/>
                <a:gd name="connsiteY87" fmla="*/ 308996 h 548219"/>
                <a:gd name="connsiteX88" fmla="*/ 69773 w 548219"/>
                <a:gd name="connsiteY88" fmla="*/ 239223 h 548219"/>
                <a:gd name="connsiteX89" fmla="*/ 0 w 548219"/>
                <a:gd name="connsiteY89" fmla="*/ 239223 h 548219"/>
                <a:gd name="connsiteX90" fmla="*/ 0 w 548219"/>
                <a:gd name="connsiteY90" fmla="*/ 159482 h 548219"/>
                <a:gd name="connsiteX91" fmla="*/ 0 w 548219"/>
                <a:gd name="connsiteY91" fmla="*/ 229256 h 548219"/>
                <a:gd name="connsiteX92" fmla="*/ 69773 w 548219"/>
                <a:gd name="connsiteY92" fmla="*/ 229256 h 548219"/>
                <a:gd name="connsiteX93" fmla="*/ 69773 w 548219"/>
                <a:gd name="connsiteY93" fmla="*/ 159482 h 548219"/>
                <a:gd name="connsiteX94" fmla="*/ 0 w 548219"/>
                <a:gd name="connsiteY94" fmla="*/ 159482 h 548219"/>
                <a:gd name="connsiteX95" fmla="*/ 0 w 548219"/>
                <a:gd name="connsiteY95" fmla="*/ 79742 h 548219"/>
                <a:gd name="connsiteX96" fmla="*/ 0 w 548219"/>
                <a:gd name="connsiteY96" fmla="*/ 149515 h 548219"/>
                <a:gd name="connsiteX97" fmla="*/ 69773 w 548219"/>
                <a:gd name="connsiteY97" fmla="*/ 149515 h 548219"/>
                <a:gd name="connsiteX98" fmla="*/ 69773 w 548219"/>
                <a:gd name="connsiteY98" fmla="*/ 79742 h 548219"/>
                <a:gd name="connsiteX99" fmla="*/ 0 w 548219"/>
                <a:gd name="connsiteY99" fmla="*/ 79742 h 548219"/>
                <a:gd name="connsiteX100" fmla="*/ 149515 w 548219"/>
                <a:gd name="connsiteY100" fmla="*/ 79742 h 548219"/>
                <a:gd name="connsiteX101" fmla="*/ 79741 w 548219"/>
                <a:gd name="connsiteY101" fmla="*/ 79742 h 548219"/>
                <a:gd name="connsiteX102" fmla="*/ 79741 w 548219"/>
                <a:gd name="connsiteY102" fmla="*/ 149515 h 548219"/>
                <a:gd name="connsiteX103" fmla="*/ 149515 w 548219"/>
                <a:gd name="connsiteY103" fmla="*/ 149515 h 548219"/>
                <a:gd name="connsiteX104" fmla="*/ 149515 w 548219"/>
                <a:gd name="connsiteY104" fmla="*/ 79742 h 548219"/>
                <a:gd name="connsiteX105" fmla="*/ 229256 w 548219"/>
                <a:gd name="connsiteY105" fmla="*/ 79742 h 548219"/>
                <a:gd name="connsiteX106" fmla="*/ 159482 w 548219"/>
                <a:gd name="connsiteY106" fmla="*/ 79742 h 548219"/>
                <a:gd name="connsiteX107" fmla="*/ 159482 w 548219"/>
                <a:gd name="connsiteY107" fmla="*/ 149515 h 548219"/>
                <a:gd name="connsiteX108" fmla="*/ 229256 w 548219"/>
                <a:gd name="connsiteY108" fmla="*/ 149515 h 548219"/>
                <a:gd name="connsiteX109" fmla="*/ 229256 w 548219"/>
                <a:gd name="connsiteY109" fmla="*/ 79742 h 548219"/>
                <a:gd name="connsiteX110" fmla="*/ 308996 w 548219"/>
                <a:gd name="connsiteY110" fmla="*/ 79742 h 548219"/>
                <a:gd name="connsiteX111" fmla="*/ 239223 w 548219"/>
                <a:gd name="connsiteY111" fmla="*/ 79742 h 548219"/>
                <a:gd name="connsiteX112" fmla="*/ 239223 w 548219"/>
                <a:gd name="connsiteY112" fmla="*/ 149515 h 548219"/>
                <a:gd name="connsiteX113" fmla="*/ 308996 w 548219"/>
                <a:gd name="connsiteY113" fmla="*/ 149515 h 548219"/>
                <a:gd name="connsiteX114" fmla="*/ 308996 w 548219"/>
                <a:gd name="connsiteY114" fmla="*/ 79742 h 548219"/>
                <a:gd name="connsiteX115" fmla="*/ 308996 w 548219"/>
                <a:gd name="connsiteY115" fmla="*/ 229256 h 548219"/>
                <a:gd name="connsiteX116" fmla="*/ 308996 w 548219"/>
                <a:gd name="connsiteY116" fmla="*/ 159482 h 548219"/>
                <a:gd name="connsiteX117" fmla="*/ 239223 w 548219"/>
                <a:gd name="connsiteY117" fmla="*/ 159482 h 548219"/>
                <a:gd name="connsiteX118" fmla="*/ 239223 w 548219"/>
                <a:gd name="connsiteY118" fmla="*/ 229256 h 548219"/>
                <a:gd name="connsiteX119" fmla="*/ 308996 w 548219"/>
                <a:gd name="connsiteY119" fmla="*/ 229256 h 548219"/>
                <a:gd name="connsiteX120" fmla="*/ 308996 w 548219"/>
                <a:gd name="connsiteY120" fmla="*/ 308996 h 548219"/>
                <a:gd name="connsiteX121" fmla="*/ 308996 w 548219"/>
                <a:gd name="connsiteY121" fmla="*/ 239223 h 548219"/>
                <a:gd name="connsiteX122" fmla="*/ 239223 w 548219"/>
                <a:gd name="connsiteY122" fmla="*/ 239223 h 548219"/>
                <a:gd name="connsiteX123" fmla="*/ 239223 w 548219"/>
                <a:gd name="connsiteY123" fmla="*/ 308996 h 548219"/>
                <a:gd name="connsiteX124" fmla="*/ 308996 w 548219"/>
                <a:gd name="connsiteY124" fmla="*/ 308996 h 548219"/>
                <a:gd name="connsiteX125" fmla="*/ 308996 w 548219"/>
                <a:gd name="connsiteY125" fmla="*/ 388738 h 548219"/>
                <a:gd name="connsiteX126" fmla="*/ 308996 w 548219"/>
                <a:gd name="connsiteY126" fmla="*/ 318965 h 548219"/>
                <a:gd name="connsiteX127" fmla="*/ 239223 w 548219"/>
                <a:gd name="connsiteY127" fmla="*/ 318965 h 548219"/>
                <a:gd name="connsiteX128" fmla="*/ 239223 w 548219"/>
                <a:gd name="connsiteY128" fmla="*/ 388738 h 548219"/>
                <a:gd name="connsiteX129" fmla="*/ 308996 w 548219"/>
                <a:gd name="connsiteY129" fmla="*/ 388738 h 548219"/>
                <a:gd name="connsiteX130" fmla="*/ 308996 w 548219"/>
                <a:gd name="connsiteY130" fmla="*/ 468479 h 548219"/>
                <a:gd name="connsiteX131" fmla="*/ 308996 w 548219"/>
                <a:gd name="connsiteY131" fmla="*/ 398705 h 548219"/>
                <a:gd name="connsiteX132" fmla="*/ 239223 w 548219"/>
                <a:gd name="connsiteY132" fmla="*/ 398705 h 548219"/>
                <a:gd name="connsiteX133" fmla="*/ 239223 w 548219"/>
                <a:gd name="connsiteY133" fmla="*/ 468479 h 548219"/>
                <a:gd name="connsiteX134" fmla="*/ 308996 w 548219"/>
                <a:gd name="connsiteY134" fmla="*/ 468479 h 548219"/>
                <a:gd name="connsiteX135" fmla="*/ 159482 w 548219"/>
                <a:gd name="connsiteY135" fmla="*/ 468479 h 548219"/>
                <a:gd name="connsiteX136" fmla="*/ 229256 w 548219"/>
                <a:gd name="connsiteY136" fmla="*/ 468479 h 548219"/>
                <a:gd name="connsiteX137" fmla="*/ 229256 w 548219"/>
                <a:gd name="connsiteY137" fmla="*/ 398705 h 548219"/>
                <a:gd name="connsiteX138" fmla="*/ 159482 w 548219"/>
                <a:gd name="connsiteY138" fmla="*/ 398705 h 548219"/>
                <a:gd name="connsiteX139" fmla="*/ 159482 w 548219"/>
                <a:gd name="connsiteY139" fmla="*/ 468479 h 548219"/>
                <a:gd name="connsiteX140" fmla="*/ 79741 w 548219"/>
                <a:gd name="connsiteY140" fmla="*/ 468479 h 548219"/>
                <a:gd name="connsiteX141" fmla="*/ 149515 w 548219"/>
                <a:gd name="connsiteY141" fmla="*/ 468479 h 548219"/>
                <a:gd name="connsiteX142" fmla="*/ 149515 w 548219"/>
                <a:gd name="connsiteY142" fmla="*/ 398705 h 548219"/>
                <a:gd name="connsiteX143" fmla="*/ 79741 w 548219"/>
                <a:gd name="connsiteY143" fmla="*/ 398705 h 548219"/>
                <a:gd name="connsiteX144" fmla="*/ 79741 w 548219"/>
                <a:gd name="connsiteY144" fmla="*/ 468479 h 548219"/>
                <a:gd name="connsiteX145" fmla="*/ 79741 w 548219"/>
                <a:gd name="connsiteY145" fmla="*/ 318965 h 548219"/>
                <a:gd name="connsiteX146" fmla="*/ 79741 w 548219"/>
                <a:gd name="connsiteY146" fmla="*/ 388738 h 548219"/>
                <a:gd name="connsiteX147" fmla="*/ 149515 w 548219"/>
                <a:gd name="connsiteY147" fmla="*/ 388738 h 548219"/>
                <a:gd name="connsiteX148" fmla="*/ 149515 w 548219"/>
                <a:gd name="connsiteY148" fmla="*/ 318965 h 548219"/>
                <a:gd name="connsiteX149" fmla="*/ 79741 w 548219"/>
                <a:gd name="connsiteY149" fmla="*/ 318965 h 548219"/>
                <a:gd name="connsiteX150" fmla="*/ 79741 w 548219"/>
                <a:gd name="connsiteY150" fmla="*/ 239223 h 548219"/>
                <a:gd name="connsiteX151" fmla="*/ 79741 w 548219"/>
                <a:gd name="connsiteY151" fmla="*/ 308996 h 548219"/>
                <a:gd name="connsiteX152" fmla="*/ 149515 w 548219"/>
                <a:gd name="connsiteY152" fmla="*/ 308996 h 548219"/>
                <a:gd name="connsiteX153" fmla="*/ 149515 w 548219"/>
                <a:gd name="connsiteY153" fmla="*/ 239223 h 548219"/>
                <a:gd name="connsiteX154" fmla="*/ 79741 w 548219"/>
                <a:gd name="connsiteY154" fmla="*/ 239223 h 548219"/>
                <a:gd name="connsiteX155" fmla="*/ 79741 w 548219"/>
                <a:gd name="connsiteY155" fmla="*/ 159482 h 548219"/>
                <a:gd name="connsiteX156" fmla="*/ 79741 w 548219"/>
                <a:gd name="connsiteY156" fmla="*/ 229256 h 548219"/>
                <a:gd name="connsiteX157" fmla="*/ 149515 w 548219"/>
                <a:gd name="connsiteY157" fmla="*/ 229256 h 548219"/>
                <a:gd name="connsiteX158" fmla="*/ 149515 w 548219"/>
                <a:gd name="connsiteY158" fmla="*/ 159482 h 548219"/>
                <a:gd name="connsiteX159" fmla="*/ 79741 w 548219"/>
                <a:gd name="connsiteY159" fmla="*/ 159482 h 548219"/>
                <a:gd name="connsiteX160" fmla="*/ 229256 w 548219"/>
                <a:gd name="connsiteY160" fmla="*/ 159482 h 548219"/>
                <a:gd name="connsiteX161" fmla="*/ 159482 w 548219"/>
                <a:gd name="connsiteY161" fmla="*/ 159482 h 548219"/>
                <a:gd name="connsiteX162" fmla="*/ 159482 w 548219"/>
                <a:gd name="connsiteY162" fmla="*/ 229256 h 548219"/>
                <a:gd name="connsiteX163" fmla="*/ 229256 w 548219"/>
                <a:gd name="connsiteY163" fmla="*/ 229256 h 548219"/>
                <a:gd name="connsiteX164" fmla="*/ 229256 w 548219"/>
                <a:gd name="connsiteY164" fmla="*/ 159482 h 548219"/>
                <a:gd name="connsiteX165" fmla="*/ 229256 w 548219"/>
                <a:gd name="connsiteY165" fmla="*/ 308996 h 548219"/>
                <a:gd name="connsiteX166" fmla="*/ 229256 w 548219"/>
                <a:gd name="connsiteY166" fmla="*/ 239223 h 548219"/>
                <a:gd name="connsiteX167" fmla="*/ 159482 w 548219"/>
                <a:gd name="connsiteY167" fmla="*/ 239223 h 548219"/>
                <a:gd name="connsiteX168" fmla="*/ 159482 w 548219"/>
                <a:gd name="connsiteY168" fmla="*/ 308996 h 548219"/>
                <a:gd name="connsiteX169" fmla="*/ 229256 w 548219"/>
                <a:gd name="connsiteY169" fmla="*/ 308996 h 548219"/>
                <a:gd name="connsiteX170" fmla="*/ 229256 w 548219"/>
                <a:gd name="connsiteY170" fmla="*/ 388738 h 548219"/>
                <a:gd name="connsiteX171" fmla="*/ 229256 w 548219"/>
                <a:gd name="connsiteY171" fmla="*/ 318965 h 548219"/>
                <a:gd name="connsiteX172" fmla="*/ 159482 w 548219"/>
                <a:gd name="connsiteY172" fmla="*/ 318965 h 548219"/>
                <a:gd name="connsiteX173" fmla="*/ 159482 w 548219"/>
                <a:gd name="connsiteY173" fmla="*/ 388738 h 548219"/>
                <a:gd name="connsiteX174" fmla="*/ 229256 w 548219"/>
                <a:gd name="connsiteY174" fmla="*/ 388738 h 548219"/>
                <a:gd name="connsiteX175" fmla="*/ 548220 w 548219"/>
                <a:gd name="connsiteY175" fmla="*/ 69773 h 548219"/>
                <a:gd name="connsiteX176" fmla="*/ 548220 w 548219"/>
                <a:gd name="connsiteY176" fmla="*/ 0 h 548219"/>
                <a:gd name="connsiteX177" fmla="*/ 478446 w 548219"/>
                <a:gd name="connsiteY177" fmla="*/ 0 h 548219"/>
                <a:gd name="connsiteX178" fmla="*/ 478446 w 548219"/>
                <a:gd name="connsiteY178" fmla="*/ 39870 h 548219"/>
                <a:gd name="connsiteX179" fmla="*/ 478446 w 548219"/>
                <a:gd name="connsiteY179" fmla="*/ 69773 h 548219"/>
                <a:gd name="connsiteX180" fmla="*/ 548220 w 548219"/>
                <a:gd name="connsiteY180" fmla="*/ 69773 h 548219"/>
                <a:gd name="connsiteX181" fmla="*/ 548220 w 548219"/>
                <a:gd name="connsiteY181" fmla="*/ 149515 h 548219"/>
                <a:gd name="connsiteX182" fmla="*/ 548220 w 548219"/>
                <a:gd name="connsiteY182" fmla="*/ 79742 h 548219"/>
                <a:gd name="connsiteX183" fmla="*/ 478446 w 548219"/>
                <a:gd name="connsiteY183" fmla="*/ 79742 h 548219"/>
                <a:gd name="connsiteX184" fmla="*/ 478446 w 548219"/>
                <a:gd name="connsiteY184" fmla="*/ 149515 h 548219"/>
                <a:gd name="connsiteX185" fmla="*/ 548220 w 548219"/>
                <a:gd name="connsiteY185" fmla="*/ 149515 h 548219"/>
                <a:gd name="connsiteX186" fmla="*/ 548220 w 548219"/>
                <a:gd name="connsiteY186" fmla="*/ 229256 h 548219"/>
                <a:gd name="connsiteX187" fmla="*/ 548220 w 548219"/>
                <a:gd name="connsiteY187" fmla="*/ 159482 h 548219"/>
                <a:gd name="connsiteX188" fmla="*/ 478446 w 548219"/>
                <a:gd name="connsiteY188" fmla="*/ 159482 h 548219"/>
                <a:gd name="connsiteX189" fmla="*/ 478446 w 548219"/>
                <a:gd name="connsiteY189" fmla="*/ 229256 h 548219"/>
                <a:gd name="connsiteX190" fmla="*/ 548220 w 548219"/>
                <a:gd name="connsiteY190" fmla="*/ 229256 h 548219"/>
                <a:gd name="connsiteX191" fmla="*/ 548220 w 548219"/>
                <a:gd name="connsiteY191" fmla="*/ 308996 h 548219"/>
                <a:gd name="connsiteX192" fmla="*/ 548220 w 548219"/>
                <a:gd name="connsiteY192" fmla="*/ 239223 h 548219"/>
                <a:gd name="connsiteX193" fmla="*/ 478446 w 548219"/>
                <a:gd name="connsiteY193" fmla="*/ 239223 h 548219"/>
                <a:gd name="connsiteX194" fmla="*/ 478446 w 548219"/>
                <a:gd name="connsiteY194" fmla="*/ 308996 h 548219"/>
                <a:gd name="connsiteX195" fmla="*/ 548220 w 548219"/>
                <a:gd name="connsiteY195" fmla="*/ 308996 h 548219"/>
                <a:gd name="connsiteX196" fmla="*/ 548220 w 548219"/>
                <a:gd name="connsiteY196" fmla="*/ 388738 h 548219"/>
                <a:gd name="connsiteX197" fmla="*/ 548220 w 548219"/>
                <a:gd name="connsiteY197" fmla="*/ 318965 h 548219"/>
                <a:gd name="connsiteX198" fmla="*/ 478446 w 548219"/>
                <a:gd name="connsiteY198" fmla="*/ 318965 h 548219"/>
                <a:gd name="connsiteX199" fmla="*/ 478446 w 548219"/>
                <a:gd name="connsiteY199" fmla="*/ 388738 h 548219"/>
                <a:gd name="connsiteX200" fmla="*/ 548220 w 548219"/>
                <a:gd name="connsiteY200" fmla="*/ 388738 h 548219"/>
                <a:gd name="connsiteX201" fmla="*/ 548220 w 548219"/>
                <a:gd name="connsiteY201" fmla="*/ 468479 h 548219"/>
                <a:gd name="connsiteX202" fmla="*/ 548220 w 548219"/>
                <a:gd name="connsiteY202" fmla="*/ 398705 h 548219"/>
                <a:gd name="connsiteX203" fmla="*/ 478446 w 548219"/>
                <a:gd name="connsiteY203" fmla="*/ 398705 h 548219"/>
                <a:gd name="connsiteX204" fmla="*/ 478446 w 548219"/>
                <a:gd name="connsiteY204" fmla="*/ 468479 h 548219"/>
                <a:gd name="connsiteX205" fmla="*/ 548220 w 548219"/>
                <a:gd name="connsiteY205" fmla="*/ 468479 h 548219"/>
                <a:gd name="connsiteX206" fmla="*/ 478446 w 548219"/>
                <a:gd name="connsiteY206" fmla="*/ 478447 h 548219"/>
                <a:gd name="connsiteX207" fmla="*/ 478446 w 548219"/>
                <a:gd name="connsiteY207" fmla="*/ 548220 h 548219"/>
                <a:gd name="connsiteX208" fmla="*/ 548220 w 548219"/>
                <a:gd name="connsiteY208" fmla="*/ 548220 h 548219"/>
                <a:gd name="connsiteX209" fmla="*/ 548220 w 548219"/>
                <a:gd name="connsiteY209" fmla="*/ 478447 h 548219"/>
                <a:gd name="connsiteX210" fmla="*/ 478446 w 548219"/>
                <a:gd name="connsiteY210" fmla="*/ 478447 h 54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548219" h="548219">
                  <a:moveTo>
                    <a:pt x="69773" y="0"/>
                  </a:moveTo>
                  <a:cubicBezTo>
                    <a:pt x="69773" y="0"/>
                    <a:pt x="0" y="0"/>
                    <a:pt x="0" y="0"/>
                  </a:cubicBezTo>
                  <a:lnTo>
                    <a:pt x="0" y="69773"/>
                  </a:lnTo>
                  <a:lnTo>
                    <a:pt x="69773" y="69773"/>
                  </a:lnTo>
                  <a:lnTo>
                    <a:pt x="69773" y="0"/>
                  </a:lnTo>
                  <a:close/>
                  <a:moveTo>
                    <a:pt x="79741" y="0"/>
                  </a:moveTo>
                  <a:lnTo>
                    <a:pt x="79741" y="69773"/>
                  </a:lnTo>
                  <a:lnTo>
                    <a:pt x="149515" y="69773"/>
                  </a:lnTo>
                  <a:lnTo>
                    <a:pt x="149515" y="0"/>
                  </a:lnTo>
                  <a:cubicBezTo>
                    <a:pt x="149515" y="0"/>
                    <a:pt x="79741" y="0"/>
                    <a:pt x="79741" y="0"/>
                  </a:cubicBezTo>
                  <a:close/>
                  <a:moveTo>
                    <a:pt x="159482" y="0"/>
                  </a:moveTo>
                  <a:lnTo>
                    <a:pt x="159482" y="69773"/>
                  </a:lnTo>
                  <a:lnTo>
                    <a:pt x="229256" y="69773"/>
                  </a:lnTo>
                  <a:lnTo>
                    <a:pt x="229256" y="0"/>
                  </a:lnTo>
                  <a:cubicBezTo>
                    <a:pt x="229256" y="0"/>
                    <a:pt x="159482" y="0"/>
                    <a:pt x="159482" y="0"/>
                  </a:cubicBezTo>
                  <a:close/>
                  <a:moveTo>
                    <a:pt x="239223" y="0"/>
                  </a:moveTo>
                  <a:lnTo>
                    <a:pt x="239223" y="69773"/>
                  </a:lnTo>
                  <a:lnTo>
                    <a:pt x="308996" y="69773"/>
                  </a:lnTo>
                  <a:lnTo>
                    <a:pt x="308996" y="0"/>
                  </a:lnTo>
                  <a:cubicBezTo>
                    <a:pt x="308996" y="0"/>
                    <a:pt x="239223" y="0"/>
                    <a:pt x="239223" y="0"/>
                  </a:cubicBezTo>
                  <a:close/>
                  <a:moveTo>
                    <a:pt x="318965" y="0"/>
                  </a:moveTo>
                  <a:lnTo>
                    <a:pt x="318965" y="69773"/>
                  </a:lnTo>
                  <a:lnTo>
                    <a:pt x="388738" y="69773"/>
                  </a:lnTo>
                  <a:lnTo>
                    <a:pt x="388738" y="0"/>
                  </a:lnTo>
                  <a:cubicBezTo>
                    <a:pt x="388738" y="0"/>
                    <a:pt x="318965" y="0"/>
                    <a:pt x="318965" y="0"/>
                  </a:cubicBezTo>
                  <a:close/>
                  <a:moveTo>
                    <a:pt x="388738" y="149515"/>
                  </a:moveTo>
                  <a:lnTo>
                    <a:pt x="388738" y="79742"/>
                  </a:lnTo>
                  <a:lnTo>
                    <a:pt x="318965" y="79742"/>
                  </a:lnTo>
                  <a:lnTo>
                    <a:pt x="318965" y="149515"/>
                  </a:lnTo>
                  <a:lnTo>
                    <a:pt x="388738" y="149515"/>
                  </a:lnTo>
                  <a:close/>
                  <a:moveTo>
                    <a:pt x="388738" y="229256"/>
                  </a:moveTo>
                  <a:lnTo>
                    <a:pt x="388738" y="159482"/>
                  </a:lnTo>
                  <a:lnTo>
                    <a:pt x="318965" y="159482"/>
                  </a:lnTo>
                  <a:lnTo>
                    <a:pt x="318965" y="229256"/>
                  </a:lnTo>
                  <a:lnTo>
                    <a:pt x="388738" y="229256"/>
                  </a:lnTo>
                  <a:close/>
                  <a:moveTo>
                    <a:pt x="388738" y="308996"/>
                  </a:moveTo>
                  <a:lnTo>
                    <a:pt x="388738" y="239223"/>
                  </a:lnTo>
                  <a:lnTo>
                    <a:pt x="318965" y="239223"/>
                  </a:lnTo>
                  <a:lnTo>
                    <a:pt x="318965" y="308996"/>
                  </a:lnTo>
                  <a:lnTo>
                    <a:pt x="388738" y="308996"/>
                  </a:lnTo>
                  <a:close/>
                  <a:moveTo>
                    <a:pt x="388738" y="388738"/>
                  </a:moveTo>
                  <a:lnTo>
                    <a:pt x="388738" y="318965"/>
                  </a:lnTo>
                  <a:lnTo>
                    <a:pt x="318965" y="318965"/>
                  </a:lnTo>
                  <a:lnTo>
                    <a:pt x="318965" y="388738"/>
                  </a:lnTo>
                  <a:lnTo>
                    <a:pt x="388738" y="388738"/>
                  </a:lnTo>
                  <a:close/>
                  <a:moveTo>
                    <a:pt x="388738" y="468479"/>
                  </a:moveTo>
                  <a:lnTo>
                    <a:pt x="388738" y="398705"/>
                  </a:lnTo>
                  <a:lnTo>
                    <a:pt x="318965" y="398705"/>
                  </a:lnTo>
                  <a:lnTo>
                    <a:pt x="318965" y="468479"/>
                  </a:lnTo>
                  <a:lnTo>
                    <a:pt x="388738" y="468479"/>
                  </a:lnTo>
                  <a:close/>
                  <a:moveTo>
                    <a:pt x="318965" y="548220"/>
                  </a:moveTo>
                  <a:lnTo>
                    <a:pt x="388738" y="548220"/>
                  </a:lnTo>
                  <a:lnTo>
                    <a:pt x="388738" y="478447"/>
                  </a:lnTo>
                  <a:lnTo>
                    <a:pt x="318965" y="478447"/>
                  </a:lnTo>
                  <a:lnTo>
                    <a:pt x="318965" y="548220"/>
                  </a:lnTo>
                  <a:close/>
                  <a:moveTo>
                    <a:pt x="239223" y="548220"/>
                  </a:moveTo>
                  <a:lnTo>
                    <a:pt x="308996" y="548220"/>
                  </a:lnTo>
                  <a:lnTo>
                    <a:pt x="308996" y="478447"/>
                  </a:lnTo>
                  <a:lnTo>
                    <a:pt x="239223" y="478447"/>
                  </a:lnTo>
                  <a:lnTo>
                    <a:pt x="239223" y="548220"/>
                  </a:lnTo>
                  <a:close/>
                  <a:moveTo>
                    <a:pt x="159482" y="548220"/>
                  </a:moveTo>
                  <a:lnTo>
                    <a:pt x="229256" y="548220"/>
                  </a:lnTo>
                  <a:lnTo>
                    <a:pt x="229256" y="478447"/>
                  </a:lnTo>
                  <a:lnTo>
                    <a:pt x="159482" y="478447"/>
                  </a:lnTo>
                  <a:lnTo>
                    <a:pt x="159482" y="548220"/>
                  </a:lnTo>
                  <a:close/>
                  <a:moveTo>
                    <a:pt x="79741" y="548220"/>
                  </a:moveTo>
                  <a:lnTo>
                    <a:pt x="149515" y="548220"/>
                  </a:lnTo>
                  <a:lnTo>
                    <a:pt x="149515" y="478447"/>
                  </a:lnTo>
                  <a:lnTo>
                    <a:pt x="79741" y="478447"/>
                  </a:lnTo>
                  <a:lnTo>
                    <a:pt x="79741" y="548220"/>
                  </a:lnTo>
                  <a:close/>
                  <a:moveTo>
                    <a:pt x="0" y="478447"/>
                  </a:moveTo>
                  <a:lnTo>
                    <a:pt x="0" y="548220"/>
                  </a:lnTo>
                  <a:lnTo>
                    <a:pt x="69773" y="548220"/>
                  </a:lnTo>
                  <a:lnTo>
                    <a:pt x="69773" y="478447"/>
                  </a:lnTo>
                  <a:lnTo>
                    <a:pt x="0" y="478447"/>
                  </a:lnTo>
                  <a:close/>
                  <a:moveTo>
                    <a:pt x="0" y="398705"/>
                  </a:moveTo>
                  <a:lnTo>
                    <a:pt x="0" y="468479"/>
                  </a:lnTo>
                  <a:lnTo>
                    <a:pt x="69773" y="468479"/>
                  </a:lnTo>
                  <a:lnTo>
                    <a:pt x="69773" y="398705"/>
                  </a:lnTo>
                  <a:lnTo>
                    <a:pt x="0" y="398705"/>
                  </a:lnTo>
                  <a:close/>
                  <a:moveTo>
                    <a:pt x="0" y="318965"/>
                  </a:moveTo>
                  <a:lnTo>
                    <a:pt x="0" y="388738"/>
                  </a:lnTo>
                  <a:lnTo>
                    <a:pt x="69773" y="388738"/>
                  </a:lnTo>
                  <a:lnTo>
                    <a:pt x="69773" y="318965"/>
                  </a:lnTo>
                  <a:lnTo>
                    <a:pt x="0" y="318965"/>
                  </a:lnTo>
                  <a:close/>
                  <a:moveTo>
                    <a:pt x="0" y="239223"/>
                  </a:moveTo>
                  <a:lnTo>
                    <a:pt x="0" y="308996"/>
                  </a:lnTo>
                  <a:lnTo>
                    <a:pt x="69773" y="308996"/>
                  </a:lnTo>
                  <a:lnTo>
                    <a:pt x="69773" y="239223"/>
                  </a:lnTo>
                  <a:lnTo>
                    <a:pt x="0" y="239223"/>
                  </a:lnTo>
                  <a:close/>
                  <a:moveTo>
                    <a:pt x="0" y="159482"/>
                  </a:moveTo>
                  <a:lnTo>
                    <a:pt x="0" y="229256"/>
                  </a:lnTo>
                  <a:lnTo>
                    <a:pt x="69773" y="229256"/>
                  </a:lnTo>
                  <a:lnTo>
                    <a:pt x="69773" y="159482"/>
                  </a:lnTo>
                  <a:lnTo>
                    <a:pt x="0" y="159482"/>
                  </a:lnTo>
                  <a:close/>
                  <a:moveTo>
                    <a:pt x="0" y="79742"/>
                  </a:moveTo>
                  <a:lnTo>
                    <a:pt x="0" y="149515"/>
                  </a:lnTo>
                  <a:lnTo>
                    <a:pt x="69773" y="149515"/>
                  </a:lnTo>
                  <a:lnTo>
                    <a:pt x="69773" y="79742"/>
                  </a:lnTo>
                  <a:lnTo>
                    <a:pt x="0" y="79742"/>
                  </a:lnTo>
                  <a:close/>
                  <a:moveTo>
                    <a:pt x="149515" y="79742"/>
                  </a:moveTo>
                  <a:lnTo>
                    <a:pt x="79741" y="79742"/>
                  </a:lnTo>
                  <a:lnTo>
                    <a:pt x="79741" y="149515"/>
                  </a:lnTo>
                  <a:lnTo>
                    <a:pt x="149515" y="149515"/>
                  </a:lnTo>
                  <a:lnTo>
                    <a:pt x="149515" y="79742"/>
                  </a:lnTo>
                  <a:close/>
                  <a:moveTo>
                    <a:pt x="229256" y="79742"/>
                  </a:moveTo>
                  <a:lnTo>
                    <a:pt x="159482" y="79742"/>
                  </a:lnTo>
                  <a:lnTo>
                    <a:pt x="159482" y="149515"/>
                  </a:lnTo>
                  <a:lnTo>
                    <a:pt x="229256" y="149515"/>
                  </a:lnTo>
                  <a:lnTo>
                    <a:pt x="229256" y="79742"/>
                  </a:lnTo>
                  <a:close/>
                  <a:moveTo>
                    <a:pt x="308996" y="79742"/>
                  </a:moveTo>
                  <a:lnTo>
                    <a:pt x="239223" y="79742"/>
                  </a:lnTo>
                  <a:lnTo>
                    <a:pt x="239223" y="149515"/>
                  </a:lnTo>
                  <a:lnTo>
                    <a:pt x="308996" y="149515"/>
                  </a:lnTo>
                  <a:lnTo>
                    <a:pt x="308996" y="79742"/>
                  </a:lnTo>
                  <a:close/>
                  <a:moveTo>
                    <a:pt x="308996" y="229256"/>
                  </a:moveTo>
                  <a:lnTo>
                    <a:pt x="308996" y="159482"/>
                  </a:lnTo>
                  <a:lnTo>
                    <a:pt x="239223" y="159482"/>
                  </a:lnTo>
                  <a:lnTo>
                    <a:pt x="239223" y="229256"/>
                  </a:lnTo>
                  <a:lnTo>
                    <a:pt x="308996" y="229256"/>
                  </a:lnTo>
                  <a:close/>
                  <a:moveTo>
                    <a:pt x="308996" y="308996"/>
                  </a:moveTo>
                  <a:lnTo>
                    <a:pt x="308996" y="239223"/>
                  </a:lnTo>
                  <a:lnTo>
                    <a:pt x="239223" y="239223"/>
                  </a:lnTo>
                  <a:lnTo>
                    <a:pt x="239223" y="308996"/>
                  </a:lnTo>
                  <a:lnTo>
                    <a:pt x="308996" y="308996"/>
                  </a:lnTo>
                  <a:close/>
                  <a:moveTo>
                    <a:pt x="308996" y="388738"/>
                  </a:moveTo>
                  <a:lnTo>
                    <a:pt x="308996" y="318965"/>
                  </a:lnTo>
                  <a:lnTo>
                    <a:pt x="239223" y="318965"/>
                  </a:lnTo>
                  <a:lnTo>
                    <a:pt x="239223" y="388738"/>
                  </a:lnTo>
                  <a:lnTo>
                    <a:pt x="308996" y="388738"/>
                  </a:lnTo>
                  <a:close/>
                  <a:moveTo>
                    <a:pt x="308996" y="468479"/>
                  </a:moveTo>
                  <a:lnTo>
                    <a:pt x="308996" y="398705"/>
                  </a:lnTo>
                  <a:lnTo>
                    <a:pt x="239223" y="398705"/>
                  </a:lnTo>
                  <a:lnTo>
                    <a:pt x="239223" y="468479"/>
                  </a:lnTo>
                  <a:lnTo>
                    <a:pt x="308996" y="468479"/>
                  </a:lnTo>
                  <a:close/>
                  <a:moveTo>
                    <a:pt x="159482" y="468479"/>
                  </a:moveTo>
                  <a:lnTo>
                    <a:pt x="229256" y="468479"/>
                  </a:lnTo>
                  <a:lnTo>
                    <a:pt x="229256" y="398705"/>
                  </a:lnTo>
                  <a:lnTo>
                    <a:pt x="159482" y="398705"/>
                  </a:lnTo>
                  <a:lnTo>
                    <a:pt x="159482" y="468479"/>
                  </a:lnTo>
                  <a:close/>
                  <a:moveTo>
                    <a:pt x="79741" y="468479"/>
                  </a:moveTo>
                  <a:lnTo>
                    <a:pt x="149515" y="468479"/>
                  </a:lnTo>
                  <a:lnTo>
                    <a:pt x="149515" y="398705"/>
                  </a:lnTo>
                  <a:lnTo>
                    <a:pt x="79741" y="398705"/>
                  </a:lnTo>
                  <a:lnTo>
                    <a:pt x="79741" y="468479"/>
                  </a:lnTo>
                  <a:close/>
                  <a:moveTo>
                    <a:pt x="79741" y="318965"/>
                  </a:moveTo>
                  <a:lnTo>
                    <a:pt x="79741" y="388738"/>
                  </a:lnTo>
                  <a:lnTo>
                    <a:pt x="149515" y="388738"/>
                  </a:lnTo>
                  <a:lnTo>
                    <a:pt x="149515" y="318965"/>
                  </a:lnTo>
                  <a:lnTo>
                    <a:pt x="79741" y="318965"/>
                  </a:lnTo>
                  <a:close/>
                  <a:moveTo>
                    <a:pt x="79741" y="239223"/>
                  </a:moveTo>
                  <a:lnTo>
                    <a:pt x="79741" y="308996"/>
                  </a:lnTo>
                  <a:lnTo>
                    <a:pt x="149515" y="308996"/>
                  </a:lnTo>
                  <a:lnTo>
                    <a:pt x="149515" y="239223"/>
                  </a:lnTo>
                  <a:lnTo>
                    <a:pt x="79741" y="239223"/>
                  </a:lnTo>
                  <a:close/>
                  <a:moveTo>
                    <a:pt x="79741" y="159482"/>
                  </a:moveTo>
                  <a:lnTo>
                    <a:pt x="79741" y="229256"/>
                  </a:lnTo>
                  <a:lnTo>
                    <a:pt x="149515" y="229256"/>
                  </a:lnTo>
                  <a:lnTo>
                    <a:pt x="149515" y="159482"/>
                  </a:lnTo>
                  <a:lnTo>
                    <a:pt x="79741" y="159482"/>
                  </a:lnTo>
                  <a:close/>
                  <a:moveTo>
                    <a:pt x="229256" y="159482"/>
                  </a:moveTo>
                  <a:lnTo>
                    <a:pt x="159482" y="159482"/>
                  </a:lnTo>
                  <a:lnTo>
                    <a:pt x="159482" y="229256"/>
                  </a:lnTo>
                  <a:lnTo>
                    <a:pt x="229256" y="229256"/>
                  </a:lnTo>
                  <a:lnTo>
                    <a:pt x="229256" y="159482"/>
                  </a:lnTo>
                  <a:close/>
                  <a:moveTo>
                    <a:pt x="229256" y="308996"/>
                  </a:moveTo>
                  <a:lnTo>
                    <a:pt x="229256" y="239223"/>
                  </a:lnTo>
                  <a:lnTo>
                    <a:pt x="159482" y="239223"/>
                  </a:lnTo>
                  <a:lnTo>
                    <a:pt x="159482" y="308996"/>
                  </a:lnTo>
                  <a:lnTo>
                    <a:pt x="229256" y="308996"/>
                  </a:lnTo>
                  <a:close/>
                  <a:moveTo>
                    <a:pt x="229256" y="388738"/>
                  </a:moveTo>
                  <a:lnTo>
                    <a:pt x="229256" y="318965"/>
                  </a:lnTo>
                  <a:lnTo>
                    <a:pt x="159482" y="318965"/>
                  </a:lnTo>
                  <a:lnTo>
                    <a:pt x="159482" y="388738"/>
                  </a:lnTo>
                  <a:lnTo>
                    <a:pt x="229256" y="388738"/>
                  </a:lnTo>
                  <a:close/>
                  <a:moveTo>
                    <a:pt x="548220" y="69773"/>
                  </a:moveTo>
                  <a:lnTo>
                    <a:pt x="548220" y="0"/>
                  </a:lnTo>
                  <a:lnTo>
                    <a:pt x="478446" y="0"/>
                  </a:lnTo>
                  <a:lnTo>
                    <a:pt x="478446" y="39870"/>
                  </a:lnTo>
                  <a:lnTo>
                    <a:pt x="478446" y="69773"/>
                  </a:lnTo>
                  <a:lnTo>
                    <a:pt x="548220" y="69773"/>
                  </a:lnTo>
                  <a:close/>
                  <a:moveTo>
                    <a:pt x="548220" y="149515"/>
                  </a:moveTo>
                  <a:lnTo>
                    <a:pt x="548220" y="79742"/>
                  </a:lnTo>
                  <a:lnTo>
                    <a:pt x="478446" y="79742"/>
                  </a:lnTo>
                  <a:lnTo>
                    <a:pt x="478446" y="149515"/>
                  </a:lnTo>
                  <a:lnTo>
                    <a:pt x="548220" y="149515"/>
                  </a:lnTo>
                  <a:close/>
                  <a:moveTo>
                    <a:pt x="548220" y="229256"/>
                  </a:moveTo>
                  <a:lnTo>
                    <a:pt x="548220" y="159482"/>
                  </a:lnTo>
                  <a:lnTo>
                    <a:pt x="478446" y="159482"/>
                  </a:lnTo>
                  <a:lnTo>
                    <a:pt x="478446" y="229256"/>
                  </a:lnTo>
                  <a:lnTo>
                    <a:pt x="548220" y="229256"/>
                  </a:lnTo>
                  <a:close/>
                  <a:moveTo>
                    <a:pt x="548220" y="308996"/>
                  </a:moveTo>
                  <a:lnTo>
                    <a:pt x="548220" y="239223"/>
                  </a:lnTo>
                  <a:lnTo>
                    <a:pt x="478446" y="239223"/>
                  </a:lnTo>
                  <a:lnTo>
                    <a:pt x="478446" y="308996"/>
                  </a:lnTo>
                  <a:lnTo>
                    <a:pt x="548220" y="308996"/>
                  </a:lnTo>
                  <a:close/>
                  <a:moveTo>
                    <a:pt x="548220" y="388738"/>
                  </a:moveTo>
                  <a:lnTo>
                    <a:pt x="548220" y="318965"/>
                  </a:lnTo>
                  <a:lnTo>
                    <a:pt x="478446" y="318965"/>
                  </a:lnTo>
                  <a:lnTo>
                    <a:pt x="478446" y="388738"/>
                  </a:lnTo>
                  <a:lnTo>
                    <a:pt x="548220" y="388738"/>
                  </a:lnTo>
                  <a:close/>
                  <a:moveTo>
                    <a:pt x="548220" y="468479"/>
                  </a:moveTo>
                  <a:lnTo>
                    <a:pt x="548220" y="398705"/>
                  </a:lnTo>
                  <a:lnTo>
                    <a:pt x="478446" y="398705"/>
                  </a:lnTo>
                  <a:lnTo>
                    <a:pt x="478446" y="468479"/>
                  </a:lnTo>
                  <a:lnTo>
                    <a:pt x="548220" y="468479"/>
                  </a:lnTo>
                  <a:close/>
                  <a:moveTo>
                    <a:pt x="478446" y="478447"/>
                  </a:moveTo>
                  <a:lnTo>
                    <a:pt x="478446" y="548220"/>
                  </a:lnTo>
                  <a:cubicBezTo>
                    <a:pt x="478446" y="548220"/>
                    <a:pt x="548220" y="548220"/>
                    <a:pt x="548220" y="548220"/>
                  </a:cubicBezTo>
                  <a:lnTo>
                    <a:pt x="548220" y="478447"/>
                  </a:lnTo>
                  <a:lnTo>
                    <a:pt x="478446" y="478447"/>
                  </a:lnTo>
                  <a:close/>
                </a:path>
              </a:pathLst>
            </a:custGeom>
            <a:solidFill>
              <a:srgbClr val="0070C0"/>
            </a:solidFill>
            <a:ln w="1195" cap="flat">
              <a:noFill/>
              <a:prstDash val="solid"/>
              <a:round/>
            </a:ln>
          </p:spPr>
          <p:txBody>
            <a:bodyPr rtlCol="0" anchor="ctr">
              <a:noAutofit/>
            </a:bodyPr>
            <a:lstStyle/>
            <a:p>
              <a:endParaRPr lang="en-US" sz="13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DCFB039-2005-6834-33F4-BE1C0D06D53F}"/>
                </a:ext>
              </a:extLst>
            </p:cNvPr>
            <p:cNvSpPr>
              <a:spLocks/>
            </p:cNvSpPr>
            <p:nvPr/>
          </p:nvSpPr>
          <p:spPr>
            <a:xfrm>
              <a:off x="6458986" y="1106764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network_summary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Pass an </a:t>
              </a:r>
              <a:r>
                <a:rPr lang="en-US" sz="1300" err="1">
                  <a:solidFill>
                    <a:schemeClr val="tx1"/>
                  </a:solidFill>
                </a:rPr>
                <a:t>igraph</a:t>
              </a:r>
              <a:r>
                <a:rPr lang="en-US" sz="1300">
                  <a:solidFill>
                    <a:schemeClr val="tx1"/>
                  </a:solidFill>
                </a:rPr>
                <a:t> object to the function and obtain centrality statistics for each node in the object as a data frame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00F8A88-95D9-870F-EA41-2BCBADCD021A}"/>
              </a:ext>
            </a:extLst>
          </p:cNvPr>
          <p:cNvGrpSpPr/>
          <p:nvPr/>
        </p:nvGrpSpPr>
        <p:grpSpPr>
          <a:xfrm>
            <a:off x="12468952" y="2052638"/>
            <a:ext cx="5395736" cy="625812"/>
            <a:chOff x="12468952" y="2052638"/>
            <a:chExt cx="5395736" cy="625812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D0CA0E6-6BC7-815E-FB3E-447D528C325F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468952" y="2052638"/>
              <a:ext cx="295072" cy="295072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7CE6978-AC4C-A1C7-B938-AF3E7108BF48}"/>
                </a:ext>
              </a:extLst>
            </p:cNvPr>
            <p:cNvSpPr/>
            <p:nvPr/>
          </p:nvSpPr>
          <p:spPr>
            <a:xfrm>
              <a:off x="12468952" y="205263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create_lorenz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This function computes the Gini coefficient and plots the Lorenz curve based on a selected metric from a Person Query data frame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74F71D9-C908-B032-C3EE-F2BAA5CB617E}"/>
              </a:ext>
            </a:extLst>
          </p:cNvPr>
          <p:cNvGrpSpPr>
            <a:grpSpLocks/>
          </p:cNvGrpSpPr>
          <p:nvPr/>
        </p:nvGrpSpPr>
        <p:grpSpPr>
          <a:xfrm>
            <a:off x="12468952" y="4819747"/>
            <a:ext cx="5395736" cy="825867"/>
            <a:chOff x="12468952" y="5350827"/>
            <a:chExt cx="5395736" cy="825867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B8FAE6F-8152-3936-62A4-C8A98C53E1CC}"/>
                </a:ext>
              </a:extLst>
            </p:cNvPr>
            <p:cNvSpPr/>
            <p:nvPr/>
          </p:nvSpPr>
          <p:spPr>
            <a:xfrm>
              <a:off x="12468952" y="5350827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maxmin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This function allows you to scale vectors or an entire data frame using the max-min scaling method, always returning a numeric vector</a:t>
              </a: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967462D-587C-79B1-E312-7676EE9D9BC8}"/>
                </a:ext>
              </a:extLst>
            </p:cNvPr>
            <p:cNvSpPr>
              <a:spLocks/>
            </p:cNvSpPr>
            <p:nvPr/>
          </p:nvSpPr>
          <p:spPr>
            <a:xfrm>
              <a:off x="12468952" y="5350827"/>
              <a:ext cx="263572" cy="360044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marL="514350"/>
              <a:endParaRPr lang="en-US" sz="130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B2D092E-85A3-59C3-9503-A32FC872A5E2}"/>
              </a:ext>
            </a:extLst>
          </p:cNvPr>
          <p:cNvGrpSpPr>
            <a:grpSpLocks/>
          </p:cNvGrpSpPr>
          <p:nvPr/>
        </p:nvGrpSpPr>
        <p:grpSpPr>
          <a:xfrm>
            <a:off x="12468952" y="3697324"/>
            <a:ext cx="5395736" cy="825867"/>
            <a:chOff x="12468952" y="4105945"/>
            <a:chExt cx="5395736" cy="82586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E28967E-D811-F2CC-7A01-1E9B7026E3EC}"/>
                </a:ext>
              </a:extLst>
            </p:cNvPr>
            <p:cNvSpPr/>
            <p:nvPr/>
          </p:nvSpPr>
          <p:spPr>
            <a:xfrm>
              <a:off x="12468952" y="4105945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IV_report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The function generates an interactive HTML report using Standard Person Query data as an input. Report based on running the Information Value (IV) algorithm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5AE9B87-7CBC-EC4B-E834-386CD9998028}"/>
                </a:ext>
              </a:extLst>
            </p:cNvPr>
            <p:cNvGrpSpPr/>
            <p:nvPr/>
          </p:nvGrpSpPr>
          <p:grpSpPr>
            <a:xfrm>
              <a:off x="12468952" y="4105945"/>
              <a:ext cx="281317" cy="372994"/>
              <a:chOff x="17990265" y="6562118"/>
              <a:chExt cx="255743" cy="339085"/>
            </a:xfrm>
            <a:solidFill>
              <a:srgbClr val="0070C0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8D84089-52CF-FC6F-7483-10E22E825C23}"/>
                  </a:ext>
                </a:extLst>
              </p:cNvPr>
              <p:cNvSpPr/>
              <p:nvPr/>
            </p:nvSpPr>
            <p:spPr>
              <a:xfrm>
                <a:off x="17990265" y="6562118"/>
                <a:ext cx="255743" cy="232494"/>
              </a:xfrm>
              <a:custGeom>
                <a:avLst/>
                <a:gdLst>
                  <a:gd name="connsiteX0" fmla="*/ 185996 w 255743"/>
                  <a:gd name="connsiteY0" fmla="*/ 29062 h 232494"/>
                  <a:gd name="connsiteX1" fmla="*/ 185996 w 255743"/>
                  <a:gd name="connsiteY1" fmla="*/ 0 h 232494"/>
                  <a:gd name="connsiteX2" fmla="*/ 29062 w 255743"/>
                  <a:gd name="connsiteY2" fmla="*/ 0 h 232494"/>
                  <a:gd name="connsiteX3" fmla="*/ 0 w 255743"/>
                  <a:gd name="connsiteY3" fmla="*/ 29062 h 232494"/>
                  <a:gd name="connsiteX4" fmla="*/ 0 w 255743"/>
                  <a:gd name="connsiteY4" fmla="*/ 232494 h 232494"/>
                  <a:gd name="connsiteX5" fmla="*/ 255744 w 255743"/>
                  <a:gd name="connsiteY5" fmla="*/ 232494 h 232494"/>
                  <a:gd name="connsiteX6" fmla="*/ 255744 w 255743"/>
                  <a:gd name="connsiteY6" fmla="*/ 69748 h 232494"/>
                  <a:gd name="connsiteX7" fmla="*/ 226682 w 255743"/>
                  <a:gd name="connsiteY7" fmla="*/ 69748 h 232494"/>
                  <a:gd name="connsiteX8" fmla="*/ 185996 w 255743"/>
                  <a:gd name="connsiteY8" fmla="*/ 29062 h 232494"/>
                  <a:gd name="connsiteX9" fmla="*/ 91295 w 255743"/>
                  <a:gd name="connsiteY9" fmla="*/ 158636 h 232494"/>
                  <a:gd name="connsiteX10" fmla="*/ 91295 w 255743"/>
                  <a:gd name="connsiteY10" fmla="*/ 166856 h 232494"/>
                  <a:gd name="connsiteX11" fmla="*/ 83075 w 255743"/>
                  <a:gd name="connsiteY11" fmla="*/ 166856 h 232494"/>
                  <a:gd name="connsiteX12" fmla="*/ 48201 w 255743"/>
                  <a:gd name="connsiteY12" fmla="*/ 131982 h 232494"/>
                  <a:gd name="connsiteX13" fmla="*/ 48201 w 255743"/>
                  <a:gd name="connsiteY13" fmla="*/ 123762 h 232494"/>
                  <a:gd name="connsiteX14" fmla="*/ 48201 w 255743"/>
                  <a:gd name="connsiteY14" fmla="*/ 123762 h 232494"/>
                  <a:gd name="connsiteX15" fmla="*/ 83075 w 255743"/>
                  <a:gd name="connsiteY15" fmla="*/ 88888 h 232494"/>
                  <a:gd name="connsiteX16" fmla="*/ 91295 w 255743"/>
                  <a:gd name="connsiteY16" fmla="*/ 88888 h 232494"/>
                  <a:gd name="connsiteX17" fmla="*/ 91295 w 255743"/>
                  <a:gd name="connsiteY17" fmla="*/ 97108 h 232494"/>
                  <a:gd name="connsiteX18" fmla="*/ 60531 w 255743"/>
                  <a:gd name="connsiteY18" fmla="*/ 127872 h 232494"/>
                  <a:gd name="connsiteX19" fmla="*/ 150823 w 255743"/>
                  <a:gd name="connsiteY19" fmla="*/ 77399 h 232494"/>
                  <a:gd name="connsiteX20" fmla="*/ 115949 w 255743"/>
                  <a:gd name="connsiteY20" fmla="*/ 182021 h 232494"/>
                  <a:gd name="connsiteX21" fmla="*/ 108560 w 255743"/>
                  <a:gd name="connsiteY21" fmla="*/ 185625 h 232494"/>
                  <a:gd name="connsiteX22" fmla="*/ 104921 w 255743"/>
                  <a:gd name="connsiteY22" fmla="*/ 178345 h 232494"/>
                  <a:gd name="connsiteX23" fmla="*/ 139795 w 255743"/>
                  <a:gd name="connsiteY23" fmla="*/ 73722 h 232494"/>
                  <a:gd name="connsiteX24" fmla="*/ 147111 w 255743"/>
                  <a:gd name="connsiteY24" fmla="*/ 69975 h 232494"/>
                  <a:gd name="connsiteX25" fmla="*/ 150859 w 255743"/>
                  <a:gd name="connsiteY25" fmla="*/ 77290 h 232494"/>
                  <a:gd name="connsiteX26" fmla="*/ 150823 w 255743"/>
                  <a:gd name="connsiteY26" fmla="*/ 77399 h 232494"/>
                  <a:gd name="connsiteX27" fmla="*/ 207543 w 255743"/>
                  <a:gd name="connsiteY27" fmla="*/ 131982 h 232494"/>
                  <a:gd name="connsiteX28" fmla="*/ 172669 w 255743"/>
                  <a:gd name="connsiteY28" fmla="*/ 166856 h 232494"/>
                  <a:gd name="connsiteX29" fmla="*/ 164448 w 255743"/>
                  <a:gd name="connsiteY29" fmla="*/ 166856 h 232494"/>
                  <a:gd name="connsiteX30" fmla="*/ 164448 w 255743"/>
                  <a:gd name="connsiteY30" fmla="*/ 158636 h 232494"/>
                  <a:gd name="connsiteX31" fmla="*/ 195213 w 255743"/>
                  <a:gd name="connsiteY31" fmla="*/ 127872 h 232494"/>
                  <a:gd name="connsiteX32" fmla="*/ 164448 w 255743"/>
                  <a:gd name="connsiteY32" fmla="*/ 97108 h 232494"/>
                  <a:gd name="connsiteX33" fmla="*/ 164448 w 255743"/>
                  <a:gd name="connsiteY33" fmla="*/ 88888 h 232494"/>
                  <a:gd name="connsiteX34" fmla="*/ 172669 w 255743"/>
                  <a:gd name="connsiteY34" fmla="*/ 88888 h 232494"/>
                  <a:gd name="connsiteX35" fmla="*/ 207543 w 255743"/>
                  <a:gd name="connsiteY35" fmla="*/ 123762 h 232494"/>
                  <a:gd name="connsiteX36" fmla="*/ 207543 w 255743"/>
                  <a:gd name="connsiteY36" fmla="*/ 131982 h 232494"/>
                  <a:gd name="connsiteX37" fmla="*/ 207543 w 255743"/>
                  <a:gd name="connsiteY37" fmla="*/ 131982 h 232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5743" h="232494">
                    <a:moveTo>
                      <a:pt x="185996" y="29062"/>
                    </a:moveTo>
                    <a:lnTo>
                      <a:pt x="185996" y="0"/>
                    </a:lnTo>
                    <a:lnTo>
                      <a:pt x="29062" y="0"/>
                    </a:lnTo>
                    <a:cubicBezTo>
                      <a:pt x="13019" y="18"/>
                      <a:pt x="18" y="13019"/>
                      <a:pt x="0" y="29062"/>
                    </a:cubicBezTo>
                    <a:lnTo>
                      <a:pt x="0" y="232494"/>
                    </a:lnTo>
                    <a:lnTo>
                      <a:pt x="255744" y="232494"/>
                    </a:lnTo>
                    <a:lnTo>
                      <a:pt x="255744" y="69748"/>
                    </a:lnTo>
                    <a:lnTo>
                      <a:pt x="226682" y="69748"/>
                    </a:lnTo>
                    <a:cubicBezTo>
                      <a:pt x="204222" y="69723"/>
                      <a:pt x="186021" y="51521"/>
                      <a:pt x="185996" y="29062"/>
                    </a:cubicBezTo>
                    <a:close/>
                    <a:moveTo>
                      <a:pt x="91295" y="158636"/>
                    </a:moveTo>
                    <a:cubicBezTo>
                      <a:pt x="93565" y="160905"/>
                      <a:pt x="93565" y="164586"/>
                      <a:pt x="91295" y="166856"/>
                    </a:cubicBezTo>
                    <a:cubicBezTo>
                      <a:pt x="89026" y="169126"/>
                      <a:pt x="85345" y="169126"/>
                      <a:pt x="83075" y="166856"/>
                    </a:cubicBezTo>
                    <a:lnTo>
                      <a:pt x="48201" y="131982"/>
                    </a:lnTo>
                    <a:cubicBezTo>
                      <a:pt x="45931" y="129712"/>
                      <a:pt x="45931" y="126032"/>
                      <a:pt x="48201" y="123762"/>
                    </a:cubicBezTo>
                    <a:cubicBezTo>
                      <a:pt x="48201" y="123762"/>
                      <a:pt x="48201" y="123762"/>
                      <a:pt x="48201" y="123762"/>
                    </a:cubicBezTo>
                    <a:lnTo>
                      <a:pt x="83075" y="88888"/>
                    </a:lnTo>
                    <a:cubicBezTo>
                      <a:pt x="85345" y="86618"/>
                      <a:pt x="89026" y="86618"/>
                      <a:pt x="91295" y="88888"/>
                    </a:cubicBezTo>
                    <a:cubicBezTo>
                      <a:pt x="93565" y="91157"/>
                      <a:pt x="93565" y="94838"/>
                      <a:pt x="91295" y="97108"/>
                    </a:cubicBezTo>
                    <a:lnTo>
                      <a:pt x="60531" y="127872"/>
                    </a:lnTo>
                    <a:close/>
                    <a:moveTo>
                      <a:pt x="150823" y="77399"/>
                    </a:moveTo>
                    <a:lnTo>
                      <a:pt x="115949" y="182021"/>
                    </a:lnTo>
                    <a:cubicBezTo>
                      <a:pt x="114904" y="185057"/>
                      <a:pt x="111596" y="186669"/>
                      <a:pt x="108560" y="185625"/>
                    </a:cubicBezTo>
                    <a:cubicBezTo>
                      <a:pt x="105568" y="184594"/>
                      <a:pt x="103950" y="181358"/>
                      <a:pt x="104921" y="178345"/>
                    </a:cubicBezTo>
                    <a:lnTo>
                      <a:pt x="139795" y="73722"/>
                    </a:lnTo>
                    <a:cubicBezTo>
                      <a:pt x="140780" y="70667"/>
                      <a:pt x="144056" y="68989"/>
                      <a:pt x="147111" y="69975"/>
                    </a:cubicBezTo>
                    <a:cubicBezTo>
                      <a:pt x="150166" y="70960"/>
                      <a:pt x="151844" y="74235"/>
                      <a:pt x="150859" y="77290"/>
                    </a:cubicBezTo>
                    <a:cubicBezTo>
                      <a:pt x="150847" y="77327"/>
                      <a:pt x="150835" y="77362"/>
                      <a:pt x="150823" y="77399"/>
                    </a:cubicBezTo>
                    <a:close/>
                    <a:moveTo>
                      <a:pt x="207543" y="131982"/>
                    </a:moveTo>
                    <a:lnTo>
                      <a:pt x="172669" y="166856"/>
                    </a:lnTo>
                    <a:cubicBezTo>
                      <a:pt x="170399" y="169126"/>
                      <a:pt x="166718" y="169126"/>
                      <a:pt x="164448" y="166856"/>
                    </a:cubicBezTo>
                    <a:cubicBezTo>
                      <a:pt x="162179" y="164586"/>
                      <a:pt x="162179" y="160905"/>
                      <a:pt x="164448" y="158636"/>
                    </a:cubicBezTo>
                    <a:lnTo>
                      <a:pt x="195213" y="127872"/>
                    </a:lnTo>
                    <a:lnTo>
                      <a:pt x="164448" y="97108"/>
                    </a:lnTo>
                    <a:cubicBezTo>
                      <a:pt x="162179" y="94838"/>
                      <a:pt x="162179" y="91157"/>
                      <a:pt x="164448" y="88888"/>
                    </a:cubicBezTo>
                    <a:cubicBezTo>
                      <a:pt x="166718" y="86618"/>
                      <a:pt x="170399" y="86618"/>
                      <a:pt x="172669" y="88888"/>
                    </a:cubicBezTo>
                    <a:lnTo>
                      <a:pt x="207543" y="123762"/>
                    </a:lnTo>
                    <a:cubicBezTo>
                      <a:pt x="209812" y="126031"/>
                      <a:pt x="209812" y="129711"/>
                      <a:pt x="207543" y="131982"/>
                    </a:cubicBezTo>
                    <a:cubicBezTo>
                      <a:pt x="207543" y="131982"/>
                      <a:pt x="207543" y="131982"/>
                      <a:pt x="207543" y="131982"/>
                    </a:cubicBezTo>
                    <a:close/>
                  </a:path>
                </a:pathLst>
              </a:custGeom>
              <a:grpFill/>
              <a:ln w="7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514350"/>
                <a:endParaRPr lang="en-IN" sz="13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FDBF2860-3BB2-CA8A-81B6-F9540CC0E2AD}"/>
                  </a:ext>
                </a:extLst>
              </p:cNvPr>
              <p:cNvSpPr/>
              <p:nvPr/>
            </p:nvSpPr>
            <p:spPr>
              <a:xfrm>
                <a:off x="18187885" y="6570337"/>
                <a:ext cx="49904" cy="49904"/>
              </a:xfrm>
              <a:custGeom>
                <a:avLst/>
                <a:gdLst>
                  <a:gd name="connsiteX0" fmla="*/ 29062 w 49904"/>
                  <a:gd name="connsiteY0" fmla="*/ 49904 h 49904"/>
                  <a:gd name="connsiteX1" fmla="*/ 49904 w 49904"/>
                  <a:gd name="connsiteY1" fmla="*/ 49904 h 49904"/>
                  <a:gd name="connsiteX2" fmla="*/ 0 w 49904"/>
                  <a:gd name="connsiteY2" fmla="*/ 0 h 49904"/>
                  <a:gd name="connsiteX3" fmla="*/ 0 w 49904"/>
                  <a:gd name="connsiteY3" fmla="*/ 20842 h 49904"/>
                  <a:gd name="connsiteX4" fmla="*/ 29062 w 49904"/>
                  <a:gd name="connsiteY4" fmla="*/ 49904 h 4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4" h="49904">
                    <a:moveTo>
                      <a:pt x="29062" y="49904"/>
                    </a:moveTo>
                    <a:lnTo>
                      <a:pt x="49904" y="49904"/>
                    </a:lnTo>
                    <a:lnTo>
                      <a:pt x="0" y="0"/>
                    </a:lnTo>
                    <a:lnTo>
                      <a:pt x="0" y="20842"/>
                    </a:lnTo>
                    <a:cubicBezTo>
                      <a:pt x="18" y="36885"/>
                      <a:pt x="13019" y="49886"/>
                      <a:pt x="29062" y="49904"/>
                    </a:cubicBezTo>
                    <a:close/>
                  </a:path>
                </a:pathLst>
              </a:custGeom>
              <a:grpFill/>
              <a:ln w="7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514350"/>
                <a:endParaRPr lang="en-IN" sz="13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1B2027A-7370-B1B9-BDD8-B658EF6DC78C}"/>
                  </a:ext>
                </a:extLst>
              </p:cNvPr>
              <p:cNvSpPr/>
              <p:nvPr/>
            </p:nvSpPr>
            <p:spPr>
              <a:xfrm>
                <a:off x="17990265" y="6811694"/>
                <a:ext cx="255743" cy="89509"/>
              </a:xfrm>
              <a:custGeom>
                <a:avLst/>
                <a:gdLst>
                  <a:gd name="connsiteX0" fmla="*/ 0 w 255743"/>
                  <a:gd name="connsiteY0" fmla="*/ 52311 h 81372"/>
                  <a:gd name="connsiteX1" fmla="*/ 29062 w 255743"/>
                  <a:gd name="connsiteY1" fmla="*/ 81373 h 81372"/>
                  <a:gd name="connsiteX2" fmla="*/ 226682 w 255743"/>
                  <a:gd name="connsiteY2" fmla="*/ 81373 h 81372"/>
                  <a:gd name="connsiteX3" fmla="*/ 255744 w 255743"/>
                  <a:gd name="connsiteY3" fmla="*/ 52311 h 81372"/>
                  <a:gd name="connsiteX4" fmla="*/ 255744 w 255743"/>
                  <a:gd name="connsiteY4" fmla="*/ 0 h 81372"/>
                  <a:gd name="connsiteX5" fmla="*/ 0 w 255743"/>
                  <a:gd name="connsiteY5" fmla="*/ 0 h 81372"/>
                  <a:gd name="connsiteX6" fmla="*/ 185996 w 255743"/>
                  <a:gd name="connsiteY6" fmla="*/ 17437 h 81372"/>
                  <a:gd name="connsiteX7" fmla="*/ 191808 w 255743"/>
                  <a:gd name="connsiteY7" fmla="*/ 11625 h 81372"/>
                  <a:gd name="connsiteX8" fmla="*/ 197620 w 255743"/>
                  <a:gd name="connsiteY8" fmla="*/ 17437 h 81372"/>
                  <a:gd name="connsiteX9" fmla="*/ 197620 w 255743"/>
                  <a:gd name="connsiteY9" fmla="*/ 58124 h 81372"/>
                  <a:gd name="connsiteX10" fmla="*/ 215057 w 255743"/>
                  <a:gd name="connsiteY10" fmla="*/ 58124 h 81372"/>
                  <a:gd name="connsiteX11" fmla="*/ 220870 w 255743"/>
                  <a:gd name="connsiteY11" fmla="*/ 63936 h 81372"/>
                  <a:gd name="connsiteX12" fmla="*/ 215057 w 255743"/>
                  <a:gd name="connsiteY12" fmla="*/ 69748 h 81372"/>
                  <a:gd name="connsiteX13" fmla="*/ 191808 w 255743"/>
                  <a:gd name="connsiteY13" fmla="*/ 69748 h 81372"/>
                  <a:gd name="connsiteX14" fmla="*/ 185996 w 255743"/>
                  <a:gd name="connsiteY14" fmla="*/ 63936 h 81372"/>
                  <a:gd name="connsiteX15" fmla="*/ 127872 w 255743"/>
                  <a:gd name="connsiteY15" fmla="*/ 17437 h 81372"/>
                  <a:gd name="connsiteX16" fmla="*/ 133685 w 255743"/>
                  <a:gd name="connsiteY16" fmla="*/ 11625 h 81372"/>
                  <a:gd name="connsiteX17" fmla="*/ 138883 w 255743"/>
                  <a:gd name="connsiteY17" fmla="*/ 14837 h 81372"/>
                  <a:gd name="connsiteX18" fmla="*/ 151121 w 255743"/>
                  <a:gd name="connsiteY18" fmla="*/ 39314 h 81372"/>
                  <a:gd name="connsiteX19" fmla="*/ 163360 w 255743"/>
                  <a:gd name="connsiteY19" fmla="*/ 14837 h 81372"/>
                  <a:gd name="connsiteX20" fmla="*/ 171159 w 255743"/>
                  <a:gd name="connsiteY20" fmla="*/ 12239 h 81372"/>
                  <a:gd name="connsiteX21" fmla="*/ 174371 w 255743"/>
                  <a:gd name="connsiteY21" fmla="*/ 17437 h 81372"/>
                  <a:gd name="connsiteX22" fmla="*/ 174371 w 255743"/>
                  <a:gd name="connsiteY22" fmla="*/ 63936 h 81372"/>
                  <a:gd name="connsiteX23" fmla="*/ 168558 w 255743"/>
                  <a:gd name="connsiteY23" fmla="*/ 69748 h 81372"/>
                  <a:gd name="connsiteX24" fmla="*/ 162746 w 255743"/>
                  <a:gd name="connsiteY24" fmla="*/ 63936 h 81372"/>
                  <a:gd name="connsiteX25" fmla="*/ 162746 w 255743"/>
                  <a:gd name="connsiteY25" fmla="*/ 42059 h 81372"/>
                  <a:gd name="connsiteX26" fmla="*/ 156320 w 255743"/>
                  <a:gd name="connsiteY26" fmla="*/ 54911 h 81372"/>
                  <a:gd name="connsiteX27" fmla="*/ 148521 w 255743"/>
                  <a:gd name="connsiteY27" fmla="*/ 57509 h 81372"/>
                  <a:gd name="connsiteX28" fmla="*/ 145923 w 255743"/>
                  <a:gd name="connsiteY28" fmla="*/ 54911 h 81372"/>
                  <a:gd name="connsiteX29" fmla="*/ 139497 w 255743"/>
                  <a:gd name="connsiteY29" fmla="*/ 42059 h 81372"/>
                  <a:gd name="connsiteX30" fmla="*/ 139497 w 255743"/>
                  <a:gd name="connsiteY30" fmla="*/ 63936 h 81372"/>
                  <a:gd name="connsiteX31" fmla="*/ 133684 w 255743"/>
                  <a:gd name="connsiteY31" fmla="*/ 69748 h 81372"/>
                  <a:gd name="connsiteX32" fmla="*/ 127872 w 255743"/>
                  <a:gd name="connsiteY32" fmla="*/ 63936 h 81372"/>
                  <a:gd name="connsiteX33" fmla="*/ 87185 w 255743"/>
                  <a:gd name="connsiteY33" fmla="*/ 11625 h 81372"/>
                  <a:gd name="connsiteX34" fmla="*/ 110435 w 255743"/>
                  <a:gd name="connsiteY34" fmla="*/ 11625 h 81372"/>
                  <a:gd name="connsiteX35" fmla="*/ 116247 w 255743"/>
                  <a:gd name="connsiteY35" fmla="*/ 17437 h 81372"/>
                  <a:gd name="connsiteX36" fmla="*/ 110435 w 255743"/>
                  <a:gd name="connsiteY36" fmla="*/ 23249 h 81372"/>
                  <a:gd name="connsiteX37" fmla="*/ 104622 w 255743"/>
                  <a:gd name="connsiteY37" fmla="*/ 23249 h 81372"/>
                  <a:gd name="connsiteX38" fmla="*/ 104622 w 255743"/>
                  <a:gd name="connsiteY38" fmla="*/ 63936 h 81372"/>
                  <a:gd name="connsiteX39" fmla="*/ 98810 w 255743"/>
                  <a:gd name="connsiteY39" fmla="*/ 69748 h 81372"/>
                  <a:gd name="connsiteX40" fmla="*/ 92998 w 255743"/>
                  <a:gd name="connsiteY40" fmla="*/ 63936 h 81372"/>
                  <a:gd name="connsiteX41" fmla="*/ 92998 w 255743"/>
                  <a:gd name="connsiteY41" fmla="*/ 23249 h 81372"/>
                  <a:gd name="connsiteX42" fmla="*/ 87185 w 255743"/>
                  <a:gd name="connsiteY42" fmla="*/ 23249 h 81372"/>
                  <a:gd name="connsiteX43" fmla="*/ 81373 w 255743"/>
                  <a:gd name="connsiteY43" fmla="*/ 17437 h 81372"/>
                  <a:gd name="connsiteX44" fmla="*/ 87185 w 255743"/>
                  <a:gd name="connsiteY44" fmla="*/ 11625 h 81372"/>
                  <a:gd name="connsiteX45" fmla="*/ 34874 w 255743"/>
                  <a:gd name="connsiteY45" fmla="*/ 17437 h 81372"/>
                  <a:gd name="connsiteX46" fmla="*/ 40687 w 255743"/>
                  <a:gd name="connsiteY46" fmla="*/ 11625 h 81372"/>
                  <a:gd name="connsiteX47" fmla="*/ 46499 w 255743"/>
                  <a:gd name="connsiteY47" fmla="*/ 17437 h 81372"/>
                  <a:gd name="connsiteX48" fmla="*/ 46499 w 255743"/>
                  <a:gd name="connsiteY48" fmla="*/ 34874 h 81372"/>
                  <a:gd name="connsiteX49" fmla="*/ 58124 w 255743"/>
                  <a:gd name="connsiteY49" fmla="*/ 34874 h 81372"/>
                  <a:gd name="connsiteX50" fmla="*/ 58124 w 255743"/>
                  <a:gd name="connsiteY50" fmla="*/ 17437 h 81372"/>
                  <a:gd name="connsiteX51" fmla="*/ 63936 w 255743"/>
                  <a:gd name="connsiteY51" fmla="*/ 11625 h 81372"/>
                  <a:gd name="connsiteX52" fmla="*/ 69748 w 255743"/>
                  <a:gd name="connsiteY52" fmla="*/ 17437 h 81372"/>
                  <a:gd name="connsiteX53" fmla="*/ 69748 w 255743"/>
                  <a:gd name="connsiteY53" fmla="*/ 63936 h 81372"/>
                  <a:gd name="connsiteX54" fmla="*/ 63936 w 255743"/>
                  <a:gd name="connsiteY54" fmla="*/ 69748 h 81372"/>
                  <a:gd name="connsiteX55" fmla="*/ 58124 w 255743"/>
                  <a:gd name="connsiteY55" fmla="*/ 63936 h 81372"/>
                  <a:gd name="connsiteX56" fmla="*/ 58124 w 255743"/>
                  <a:gd name="connsiteY56" fmla="*/ 46499 h 81372"/>
                  <a:gd name="connsiteX57" fmla="*/ 46499 w 255743"/>
                  <a:gd name="connsiteY57" fmla="*/ 46499 h 81372"/>
                  <a:gd name="connsiteX58" fmla="*/ 46499 w 255743"/>
                  <a:gd name="connsiteY58" fmla="*/ 63936 h 81372"/>
                  <a:gd name="connsiteX59" fmla="*/ 40687 w 255743"/>
                  <a:gd name="connsiteY59" fmla="*/ 69748 h 81372"/>
                  <a:gd name="connsiteX60" fmla="*/ 34874 w 255743"/>
                  <a:gd name="connsiteY60" fmla="*/ 63936 h 81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255743" h="81372">
                    <a:moveTo>
                      <a:pt x="0" y="52311"/>
                    </a:moveTo>
                    <a:cubicBezTo>
                      <a:pt x="18" y="68354"/>
                      <a:pt x="13019" y="81355"/>
                      <a:pt x="29062" y="81373"/>
                    </a:cubicBezTo>
                    <a:lnTo>
                      <a:pt x="226682" y="81373"/>
                    </a:lnTo>
                    <a:cubicBezTo>
                      <a:pt x="242725" y="81355"/>
                      <a:pt x="255726" y="68354"/>
                      <a:pt x="255744" y="52311"/>
                    </a:cubicBezTo>
                    <a:lnTo>
                      <a:pt x="255744" y="0"/>
                    </a:lnTo>
                    <a:lnTo>
                      <a:pt x="0" y="0"/>
                    </a:lnTo>
                    <a:close/>
                    <a:moveTo>
                      <a:pt x="185996" y="17437"/>
                    </a:moveTo>
                    <a:cubicBezTo>
                      <a:pt x="185996" y="14227"/>
                      <a:pt x="188598" y="11625"/>
                      <a:pt x="191808" y="11625"/>
                    </a:cubicBezTo>
                    <a:cubicBezTo>
                      <a:pt x="195018" y="11625"/>
                      <a:pt x="197620" y="14227"/>
                      <a:pt x="197620" y="17437"/>
                    </a:cubicBezTo>
                    <a:lnTo>
                      <a:pt x="197620" y="58124"/>
                    </a:lnTo>
                    <a:lnTo>
                      <a:pt x="215057" y="58124"/>
                    </a:lnTo>
                    <a:cubicBezTo>
                      <a:pt x="218267" y="58124"/>
                      <a:pt x="220870" y="60726"/>
                      <a:pt x="220870" y="63936"/>
                    </a:cubicBezTo>
                    <a:cubicBezTo>
                      <a:pt x="220870" y="67146"/>
                      <a:pt x="218267" y="69748"/>
                      <a:pt x="215057" y="69748"/>
                    </a:cubicBezTo>
                    <a:lnTo>
                      <a:pt x="191808" y="69748"/>
                    </a:lnTo>
                    <a:cubicBezTo>
                      <a:pt x="188598" y="69748"/>
                      <a:pt x="185996" y="67146"/>
                      <a:pt x="185996" y="63936"/>
                    </a:cubicBezTo>
                    <a:close/>
                    <a:moveTo>
                      <a:pt x="127872" y="17437"/>
                    </a:moveTo>
                    <a:cubicBezTo>
                      <a:pt x="127872" y="14227"/>
                      <a:pt x="130474" y="11625"/>
                      <a:pt x="133685" y="11625"/>
                    </a:cubicBezTo>
                    <a:cubicBezTo>
                      <a:pt x="135886" y="11625"/>
                      <a:pt x="137898" y="12869"/>
                      <a:pt x="138883" y="14837"/>
                    </a:cubicBezTo>
                    <a:lnTo>
                      <a:pt x="151121" y="39314"/>
                    </a:lnTo>
                    <a:lnTo>
                      <a:pt x="163360" y="14837"/>
                    </a:lnTo>
                    <a:cubicBezTo>
                      <a:pt x="164796" y="11966"/>
                      <a:pt x="168287" y="10803"/>
                      <a:pt x="171159" y="12239"/>
                    </a:cubicBezTo>
                    <a:cubicBezTo>
                      <a:pt x="173127" y="13224"/>
                      <a:pt x="174371" y="15236"/>
                      <a:pt x="174371" y="17437"/>
                    </a:cubicBezTo>
                    <a:lnTo>
                      <a:pt x="174371" y="63936"/>
                    </a:lnTo>
                    <a:cubicBezTo>
                      <a:pt x="174371" y="67146"/>
                      <a:pt x="171768" y="69748"/>
                      <a:pt x="168558" y="69748"/>
                    </a:cubicBezTo>
                    <a:cubicBezTo>
                      <a:pt x="165349" y="69748"/>
                      <a:pt x="162746" y="67146"/>
                      <a:pt x="162746" y="63936"/>
                    </a:cubicBezTo>
                    <a:lnTo>
                      <a:pt x="162746" y="42059"/>
                    </a:lnTo>
                    <a:lnTo>
                      <a:pt x="156320" y="54911"/>
                    </a:lnTo>
                    <a:cubicBezTo>
                      <a:pt x="154884" y="57782"/>
                      <a:pt x="151392" y="58945"/>
                      <a:pt x="148521" y="57509"/>
                    </a:cubicBezTo>
                    <a:cubicBezTo>
                      <a:pt x="147397" y="56947"/>
                      <a:pt x="146485" y="56035"/>
                      <a:pt x="145923" y="54911"/>
                    </a:cubicBezTo>
                    <a:lnTo>
                      <a:pt x="139497" y="42059"/>
                    </a:lnTo>
                    <a:lnTo>
                      <a:pt x="139497" y="63936"/>
                    </a:lnTo>
                    <a:cubicBezTo>
                      <a:pt x="139497" y="67146"/>
                      <a:pt x="136894" y="69748"/>
                      <a:pt x="133684" y="69748"/>
                    </a:cubicBezTo>
                    <a:cubicBezTo>
                      <a:pt x="130474" y="69748"/>
                      <a:pt x="127872" y="67146"/>
                      <a:pt x="127872" y="63936"/>
                    </a:cubicBezTo>
                    <a:close/>
                    <a:moveTo>
                      <a:pt x="87185" y="11625"/>
                    </a:moveTo>
                    <a:lnTo>
                      <a:pt x="110435" y="11625"/>
                    </a:lnTo>
                    <a:cubicBezTo>
                      <a:pt x="113645" y="11625"/>
                      <a:pt x="116247" y="14227"/>
                      <a:pt x="116247" y="17437"/>
                    </a:cubicBezTo>
                    <a:cubicBezTo>
                      <a:pt x="116247" y="20647"/>
                      <a:pt x="113645" y="23249"/>
                      <a:pt x="110435" y="23249"/>
                    </a:cubicBezTo>
                    <a:lnTo>
                      <a:pt x="104622" y="23249"/>
                    </a:lnTo>
                    <a:lnTo>
                      <a:pt x="104622" y="63936"/>
                    </a:lnTo>
                    <a:cubicBezTo>
                      <a:pt x="104622" y="67146"/>
                      <a:pt x="102020" y="69748"/>
                      <a:pt x="98810" y="69748"/>
                    </a:cubicBezTo>
                    <a:cubicBezTo>
                      <a:pt x="95600" y="69748"/>
                      <a:pt x="92998" y="67146"/>
                      <a:pt x="92998" y="63936"/>
                    </a:cubicBezTo>
                    <a:lnTo>
                      <a:pt x="92998" y="23249"/>
                    </a:lnTo>
                    <a:lnTo>
                      <a:pt x="87185" y="23249"/>
                    </a:lnTo>
                    <a:cubicBezTo>
                      <a:pt x="83976" y="23249"/>
                      <a:pt x="81373" y="20647"/>
                      <a:pt x="81373" y="17437"/>
                    </a:cubicBezTo>
                    <a:cubicBezTo>
                      <a:pt x="81373" y="14227"/>
                      <a:pt x="83976" y="11625"/>
                      <a:pt x="87185" y="11625"/>
                    </a:cubicBezTo>
                    <a:close/>
                    <a:moveTo>
                      <a:pt x="34874" y="17437"/>
                    </a:moveTo>
                    <a:cubicBezTo>
                      <a:pt x="34874" y="14227"/>
                      <a:pt x="37477" y="11625"/>
                      <a:pt x="40687" y="11625"/>
                    </a:cubicBezTo>
                    <a:cubicBezTo>
                      <a:pt x="43896" y="11625"/>
                      <a:pt x="46499" y="14227"/>
                      <a:pt x="46499" y="17437"/>
                    </a:cubicBezTo>
                    <a:lnTo>
                      <a:pt x="46499" y="34874"/>
                    </a:lnTo>
                    <a:lnTo>
                      <a:pt x="58124" y="34874"/>
                    </a:lnTo>
                    <a:lnTo>
                      <a:pt x="58124" y="17437"/>
                    </a:lnTo>
                    <a:cubicBezTo>
                      <a:pt x="58124" y="14227"/>
                      <a:pt x="60726" y="11625"/>
                      <a:pt x="63936" y="11625"/>
                    </a:cubicBezTo>
                    <a:cubicBezTo>
                      <a:pt x="67146" y="11625"/>
                      <a:pt x="69748" y="14227"/>
                      <a:pt x="69748" y="17437"/>
                    </a:cubicBezTo>
                    <a:lnTo>
                      <a:pt x="69748" y="63936"/>
                    </a:lnTo>
                    <a:cubicBezTo>
                      <a:pt x="69748" y="67146"/>
                      <a:pt x="67146" y="69748"/>
                      <a:pt x="63936" y="69748"/>
                    </a:cubicBezTo>
                    <a:cubicBezTo>
                      <a:pt x="60726" y="69748"/>
                      <a:pt x="58124" y="67146"/>
                      <a:pt x="58124" y="63936"/>
                    </a:cubicBezTo>
                    <a:lnTo>
                      <a:pt x="58124" y="46499"/>
                    </a:lnTo>
                    <a:lnTo>
                      <a:pt x="46499" y="46499"/>
                    </a:lnTo>
                    <a:lnTo>
                      <a:pt x="46499" y="63936"/>
                    </a:lnTo>
                    <a:cubicBezTo>
                      <a:pt x="46499" y="67146"/>
                      <a:pt x="43896" y="69748"/>
                      <a:pt x="40687" y="69748"/>
                    </a:cubicBezTo>
                    <a:cubicBezTo>
                      <a:pt x="37477" y="69748"/>
                      <a:pt x="34874" y="67146"/>
                      <a:pt x="34874" y="63936"/>
                    </a:cubicBezTo>
                    <a:close/>
                  </a:path>
                </a:pathLst>
              </a:custGeom>
              <a:grpFill/>
              <a:ln w="7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514350"/>
                <a:endParaRPr lang="en-IN" sz="1300"/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2F2F4D1-476A-4E6C-0BBF-97870D7926E5}"/>
              </a:ext>
            </a:extLst>
          </p:cNvPr>
          <p:cNvGrpSpPr>
            <a:grpSpLocks/>
          </p:cNvGrpSpPr>
          <p:nvPr/>
        </p:nvGrpSpPr>
        <p:grpSpPr>
          <a:xfrm>
            <a:off x="12468952" y="2975008"/>
            <a:ext cx="5395736" cy="425758"/>
            <a:chOff x="12468952" y="3353504"/>
            <a:chExt cx="5395736" cy="425758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D133E94-AEE3-34A5-297E-8C71566F63C2}"/>
                </a:ext>
              </a:extLst>
            </p:cNvPr>
            <p:cNvSpPr/>
            <p:nvPr/>
          </p:nvSpPr>
          <p:spPr>
            <a:xfrm>
              <a:off x="12468952" y="3353504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create_IV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Specify an outcome variable and return IV outputs</a:t>
              </a: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8BF999A-2749-A177-3CF9-700439F157E7}"/>
                </a:ext>
              </a:extLst>
            </p:cNvPr>
            <p:cNvSpPr>
              <a:spLocks/>
            </p:cNvSpPr>
            <p:nvPr/>
          </p:nvSpPr>
          <p:spPr>
            <a:xfrm flipH="1">
              <a:off x="12468952" y="3353504"/>
              <a:ext cx="277717" cy="353456"/>
            </a:xfrm>
            <a:custGeom>
              <a:avLst/>
              <a:gdLst>
                <a:gd name="connsiteX0" fmla="*/ 228267 w 229518"/>
                <a:gd name="connsiteY0" fmla="*/ 41731 h 292113"/>
                <a:gd name="connsiteX1" fmla="*/ 187788 w 229518"/>
                <a:gd name="connsiteY1" fmla="*/ 41731 h 292113"/>
                <a:gd name="connsiteX2" fmla="*/ 187788 w 229518"/>
                <a:gd name="connsiteY2" fmla="*/ 1252 h 292113"/>
                <a:gd name="connsiteX3" fmla="*/ 201246 w 229518"/>
                <a:gd name="connsiteY3" fmla="*/ 9181 h 292113"/>
                <a:gd name="connsiteX4" fmla="*/ 220338 w 229518"/>
                <a:gd name="connsiteY4" fmla="*/ 28273 h 292113"/>
                <a:gd name="connsiteX5" fmla="*/ 228267 w 229518"/>
                <a:gd name="connsiteY5" fmla="*/ 41731 h 292113"/>
                <a:gd name="connsiteX6" fmla="*/ 229519 w 229518"/>
                <a:gd name="connsiteY6" fmla="*/ 62596 h 292113"/>
                <a:gd name="connsiteX7" fmla="*/ 229519 w 229518"/>
                <a:gd name="connsiteY7" fmla="*/ 260816 h 292113"/>
                <a:gd name="connsiteX8" fmla="*/ 198221 w 229518"/>
                <a:gd name="connsiteY8" fmla="*/ 292114 h 292113"/>
                <a:gd name="connsiteX9" fmla="*/ 31298 w 229518"/>
                <a:gd name="connsiteY9" fmla="*/ 292114 h 292113"/>
                <a:gd name="connsiteX10" fmla="*/ 0 w 229518"/>
                <a:gd name="connsiteY10" fmla="*/ 260816 h 292113"/>
                <a:gd name="connsiteX11" fmla="*/ 0 w 229518"/>
                <a:gd name="connsiteY11" fmla="*/ 31298 h 292113"/>
                <a:gd name="connsiteX12" fmla="*/ 31298 w 229518"/>
                <a:gd name="connsiteY12" fmla="*/ 0 h 292113"/>
                <a:gd name="connsiteX13" fmla="*/ 166923 w 229518"/>
                <a:gd name="connsiteY13" fmla="*/ 0 h 292113"/>
                <a:gd name="connsiteX14" fmla="*/ 166923 w 229518"/>
                <a:gd name="connsiteY14" fmla="*/ 41731 h 292113"/>
                <a:gd name="connsiteX15" fmla="*/ 187788 w 229518"/>
                <a:gd name="connsiteY15" fmla="*/ 62596 h 292113"/>
                <a:gd name="connsiteX16" fmla="*/ 187788 w 229518"/>
                <a:gd name="connsiteY16" fmla="*/ 93894 h 292113"/>
                <a:gd name="connsiteX17" fmla="*/ 166923 w 229518"/>
                <a:gd name="connsiteY17" fmla="*/ 73028 h 292113"/>
                <a:gd name="connsiteX18" fmla="*/ 62596 w 229518"/>
                <a:gd name="connsiteY18" fmla="*/ 73028 h 292113"/>
                <a:gd name="connsiteX19" fmla="*/ 41731 w 229518"/>
                <a:gd name="connsiteY19" fmla="*/ 93894 h 292113"/>
                <a:gd name="connsiteX20" fmla="*/ 41731 w 229518"/>
                <a:gd name="connsiteY20" fmla="*/ 239951 h 292113"/>
                <a:gd name="connsiteX21" fmla="*/ 62596 w 229518"/>
                <a:gd name="connsiteY21" fmla="*/ 260816 h 292113"/>
                <a:gd name="connsiteX22" fmla="*/ 166923 w 229518"/>
                <a:gd name="connsiteY22" fmla="*/ 260816 h 292113"/>
                <a:gd name="connsiteX23" fmla="*/ 187788 w 229518"/>
                <a:gd name="connsiteY23" fmla="*/ 239951 h 292113"/>
                <a:gd name="connsiteX24" fmla="*/ 62596 w 229518"/>
                <a:gd name="connsiteY24" fmla="*/ 219085 h 292113"/>
                <a:gd name="connsiteX25" fmla="*/ 62596 w 229518"/>
                <a:gd name="connsiteY25" fmla="*/ 239951 h 292113"/>
                <a:gd name="connsiteX26" fmla="*/ 83461 w 229518"/>
                <a:gd name="connsiteY26" fmla="*/ 239951 h 292113"/>
                <a:gd name="connsiteX27" fmla="*/ 83461 w 229518"/>
                <a:gd name="connsiteY27" fmla="*/ 219085 h 292113"/>
                <a:gd name="connsiteX28" fmla="*/ 104327 w 229518"/>
                <a:gd name="connsiteY28" fmla="*/ 219085 h 292113"/>
                <a:gd name="connsiteX29" fmla="*/ 104327 w 229518"/>
                <a:gd name="connsiteY29" fmla="*/ 239951 h 292113"/>
                <a:gd name="connsiteX30" fmla="*/ 166923 w 229518"/>
                <a:gd name="connsiteY30" fmla="*/ 239951 h 292113"/>
                <a:gd name="connsiteX31" fmla="*/ 166923 w 229518"/>
                <a:gd name="connsiteY31" fmla="*/ 219085 h 292113"/>
                <a:gd name="connsiteX32" fmla="*/ 104327 w 229518"/>
                <a:gd name="connsiteY32" fmla="*/ 177355 h 292113"/>
                <a:gd name="connsiteX33" fmla="*/ 104327 w 229518"/>
                <a:gd name="connsiteY33" fmla="*/ 198220 h 292113"/>
                <a:gd name="connsiteX34" fmla="*/ 166923 w 229518"/>
                <a:gd name="connsiteY34" fmla="*/ 198220 h 292113"/>
                <a:gd name="connsiteX35" fmla="*/ 166923 w 229518"/>
                <a:gd name="connsiteY35" fmla="*/ 177355 h 292113"/>
                <a:gd name="connsiteX36" fmla="*/ 62596 w 229518"/>
                <a:gd name="connsiteY36" fmla="*/ 177355 h 292113"/>
                <a:gd name="connsiteX37" fmla="*/ 62596 w 229518"/>
                <a:gd name="connsiteY37" fmla="*/ 198220 h 292113"/>
                <a:gd name="connsiteX38" fmla="*/ 83461 w 229518"/>
                <a:gd name="connsiteY38" fmla="*/ 198220 h 292113"/>
                <a:gd name="connsiteX39" fmla="*/ 83461 w 229518"/>
                <a:gd name="connsiteY39" fmla="*/ 177355 h 292113"/>
                <a:gd name="connsiteX40" fmla="*/ 104327 w 229518"/>
                <a:gd name="connsiteY40" fmla="*/ 135624 h 292113"/>
                <a:gd name="connsiteX41" fmla="*/ 104327 w 229518"/>
                <a:gd name="connsiteY41" fmla="*/ 156490 h 292113"/>
                <a:gd name="connsiteX42" fmla="*/ 166923 w 229518"/>
                <a:gd name="connsiteY42" fmla="*/ 156490 h 292113"/>
                <a:gd name="connsiteX43" fmla="*/ 166923 w 229518"/>
                <a:gd name="connsiteY43" fmla="*/ 135624 h 292113"/>
                <a:gd name="connsiteX44" fmla="*/ 62596 w 229518"/>
                <a:gd name="connsiteY44" fmla="*/ 135624 h 292113"/>
                <a:gd name="connsiteX45" fmla="*/ 62596 w 229518"/>
                <a:gd name="connsiteY45" fmla="*/ 156490 h 292113"/>
                <a:gd name="connsiteX46" fmla="*/ 83461 w 229518"/>
                <a:gd name="connsiteY46" fmla="*/ 156490 h 292113"/>
                <a:gd name="connsiteX47" fmla="*/ 83461 w 229518"/>
                <a:gd name="connsiteY47" fmla="*/ 135624 h 292113"/>
                <a:gd name="connsiteX48" fmla="*/ 62596 w 229518"/>
                <a:gd name="connsiteY48" fmla="*/ 93894 h 292113"/>
                <a:gd name="connsiteX49" fmla="*/ 62596 w 229518"/>
                <a:gd name="connsiteY49" fmla="*/ 114759 h 292113"/>
                <a:gd name="connsiteX50" fmla="*/ 83461 w 229518"/>
                <a:gd name="connsiteY50" fmla="*/ 114759 h 292113"/>
                <a:gd name="connsiteX51" fmla="*/ 83461 w 229518"/>
                <a:gd name="connsiteY51" fmla="*/ 93894 h 292113"/>
                <a:gd name="connsiteX52" fmla="*/ 104327 w 229518"/>
                <a:gd name="connsiteY52" fmla="*/ 93894 h 292113"/>
                <a:gd name="connsiteX53" fmla="*/ 104327 w 229518"/>
                <a:gd name="connsiteY53" fmla="*/ 114759 h 292113"/>
                <a:gd name="connsiteX54" fmla="*/ 166923 w 229518"/>
                <a:gd name="connsiteY54" fmla="*/ 114759 h 292113"/>
                <a:gd name="connsiteX55" fmla="*/ 166923 w 229518"/>
                <a:gd name="connsiteY55" fmla="*/ 93894 h 29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9518" h="292113">
                  <a:moveTo>
                    <a:pt x="228267" y="41731"/>
                  </a:moveTo>
                  <a:lnTo>
                    <a:pt x="187788" y="41731"/>
                  </a:lnTo>
                  <a:lnTo>
                    <a:pt x="187788" y="1252"/>
                  </a:lnTo>
                  <a:cubicBezTo>
                    <a:pt x="192900" y="2608"/>
                    <a:pt x="197490" y="5321"/>
                    <a:pt x="201246" y="9181"/>
                  </a:cubicBezTo>
                  <a:lnTo>
                    <a:pt x="220338" y="28273"/>
                  </a:lnTo>
                  <a:cubicBezTo>
                    <a:pt x="224198" y="32028"/>
                    <a:pt x="226911" y="36619"/>
                    <a:pt x="228267" y="41731"/>
                  </a:cubicBezTo>
                  <a:close/>
                  <a:moveTo>
                    <a:pt x="229519" y="62596"/>
                  </a:moveTo>
                  <a:lnTo>
                    <a:pt x="229519" y="260816"/>
                  </a:lnTo>
                  <a:cubicBezTo>
                    <a:pt x="229519" y="278030"/>
                    <a:pt x="215434" y="292114"/>
                    <a:pt x="198221" y="292114"/>
                  </a:cubicBezTo>
                  <a:lnTo>
                    <a:pt x="31298" y="292114"/>
                  </a:lnTo>
                  <a:cubicBezTo>
                    <a:pt x="14084" y="292114"/>
                    <a:pt x="0" y="278030"/>
                    <a:pt x="0" y="260816"/>
                  </a:cubicBezTo>
                  <a:lnTo>
                    <a:pt x="0" y="31298"/>
                  </a:lnTo>
                  <a:cubicBezTo>
                    <a:pt x="0" y="14084"/>
                    <a:pt x="14084" y="0"/>
                    <a:pt x="31298" y="0"/>
                  </a:cubicBezTo>
                  <a:lnTo>
                    <a:pt x="166923" y="0"/>
                  </a:lnTo>
                  <a:lnTo>
                    <a:pt x="166923" y="41731"/>
                  </a:lnTo>
                  <a:cubicBezTo>
                    <a:pt x="166923" y="53206"/>
                    <a:pt x="176312" y="62596"/>
                    <a:pt x="187788" y="62596"/>
                  </a:cubicBezTo>
                  <a:close/>
                  <a:moveTo>
                    <a:pt x="187788" y="93894"/>
                  </a:moveTo>
                  <a:cubicBezTo>
                    <a:pt x="187788" y="82418"/>
                    <a:pt x="178399" y="73028"/>
                    <a:pt x="166923" y="73028"/>
                  </a:cubicBezTo>
                  <a:lnTo>
                    <a:pt x="62596" y="73028"/>
                  </a:lnTo>
                  <a:cubicBezTo>
                    <a:pt x="51120" y="73028"/>
                    <a:pt x="41731" y="82418"/>
                    <a:pt x="41731" y="93894"/>
                  </a:cubicBezTo>
                  <a:lnTo>
                    <a:pt x="41731" y="239951"/>
                  </a:lnTo>
                  <a:cubicBezTo>
                    <a:pt x="41731" y="251427"/>
                    <a:pt x="51120" y="260816"/>
                    <a:pt x="62596" y="260816"/>
                  </a:cubicBezTo>
                  <a:lnTo>
                    <a:pt x="166923" y="260816"/>
                  </a:lnTo>
                  <a:cubicBezTo>
                    <a:pt x="178399" y="260816"/>
                    <a:pt x="187788" y="251427"/>
                    <a:pt x="187788" y="239951"/>
                  </a:cubicBezTo>
                  <a:close/>
                  <a:moveTo>
                    <a:pt x="62596" y="219085"/>
                  </a:moveTo>
                  <a:lnTo>
                    <a:pt x="62596" y="239951"/>
                  </a:lnTo>
                  <a:lnTo>
                    <a:pt x="83461" y="239951"/>
                  </a:lnTo>
                  <a:lnTo>
                    <a:pt x="83461" y="219085"/>
                  </a:lnTo>
                  <a:close/>
                  <a:moveTo>
                    <a:pt x="104327" y="219085"/>
                  </a:moveTo>
                  <a:lnTo>
                    <a:pt x="104327" y="239951"/>
                  </a:lnTo>
                  <a:lnTo>
                    <a:pt x="166923" y="239951"/>
                  </a:lnTo>
                  <a:lnTo>
                    <a:pt x="166923" y="219085"/>
                  </a:lnTo>
                  <a:close/>
                  <a:moveTo>
                    <a:pt x="104327" y="177355"/>
                  </a:moveTo>
                  <a:lnTo>
                    <a:pt x="104327" y="198220"/>
                  </a:lnTo>
                  <a:lnTo>
                    <a:pt x="166923" y="198220"/>
                  </a:lnTo>
                  <a:lnTo>
                    <a:pt x="166923" y="177355"/>
                  </a:lnTo>
                  <a:close/>
                  <a:moveTo>
                    <a:pt x="62596" y="177355"/>
                  </a:moveTo>
                  <a:lnTo>
                    <a:pt x="62596" y="198220"/>
                  </a:lnTo>
                  <a:lnTo>
                    <a:pt x="83461" y="198220"/>
                  </a:lnTo>
                  <a:lnTo>
                    <a:pt x="83461" y="177355"/>
                  </a:lnTo>
                  <a:close/>
                  <a:moveTo>
                    <a:pt x="104327" y="135624"/>
                  </a:moveTo>
                  <a:lnTo>
                    <a:pt x="104327" y="156490"/>
                  </a:lnTo>
                  <a:lnTo>
                    <a:pt x="166923" y="156490"/>
                  </a:lnTo>
                  <a:lnTo>
                    <a:pt x="166923" y="135624"/>
                  </a:lnTo>
                  <a:close/>
                  <a:moveTo>
                    <a:pt x="62596" y="135624"/>
                  </a:moveTo>
                  <a:lnTo>
                    <a:pt x="62596" y="156490"/>
                  </a:lnTo>
                  <a:lnTo>
                    <a:pt x="83461" y="156490"/>
                  </a:lnTo>
                  <a:lnTo>
                    <a:pt x="83461" y="135624"/>
                  </a:lnTo>
                  <a:close/>
                  <a:moveTo>
                    <a:pt x="62596" y="93894"/>
                  </a:moveTo>
                  <a:lnTo>
                    <a:pt x="62596" y="114759"/>
                  </a:lnTo>
                  <a:lnTo>
                    <a:pt x="83461" y="114759"/>
                  </a:lnTo>
                  <a:lnTo>
                    <a:pt x="83461" y="93894"/>
                  </a:lnTo>
                  <a:close/>
                  <a:moveTo>
                    <a:pt x="104327" y="93894"/>
                  </a:moveTo>
                  <a:lnTo>
                    <a:pt x="104327" y="114759"/>
                  </a:lnTo>
                  <a:lnTo>
                    <a:pt x="166923" y="114759"/>
                  </a:lnTo>
                  <a:lnTo>
                    <a:pt x="166923" y="93894"/>
                  </a:lnTo>
                  <a:close/>
                </a:path>
              </a:pathLst>
            </a:custGeom>
            <a:solidFill>
              <a:srgbClr val="0070C0"/>
            </a:solidFill>
            <a:ln w="32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/>
              <a:endParaRPr lang="en-IN" sz="1300"/>
            </a:p>
          </p:txBody>
        </p: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7B9ABEE-2930-9278-FA97-B311E9E80F94}"/>
              </a:ext>
            </a:extLst>
          </p:cNvPr>
          <p:cNvCxnSpPr>
            <a:cxnSpLocks/>
          </p:cNvCxnSpPr>
          <p:nvPr/>
        </p:nvCxnSpPr>
        <p:spPr>
          <a:xfrm>
            <a:off x="12468952" y="467147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98CF4C0-32A3-FC8C-546B-9B54E8A942C1}"/>
              </a:ext>
            </a:extLst>
          </p:cNvPr>
          <p:cNvCxnSpPr>
            <a:cxnSpLocks/>
          </p:cNvCxnSpPr>
          <p:nvPr/>
        </p:nvCxnSpPr>
        <p:spPr>
          <a:xfrm>
            <a:off x="12468952" y="354904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CBAEB28-4E98-CE05-0FCB-1E9225193D1B}"/>
              </a:ext>
            </a:extLst>
          </p:cNvPr>
          <p:cNvCxnSpPr>
            <a:cxnSpLocks/>
          </p:cNvCxnSpPr>
          <p:nvPr/>
        </p:nvCxnSpPr>
        <p:spPr>
          <a:xfrm>
            <a:off x="12468952" y="282672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D2D01F9-105C-59F5-A152-79A5F85F898E}"/>
              </a:ext>
            </a:extLst>
          </p:cNvPr>
          <p:cNvSpPr>
            <a:spLocks/>
          </p:cNvSpPr>
          <p:nvPr/>
        </p:nvSpPr>
        <p:spPr>
          <a:xfrm>
            <a:off x="449020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Flexible analysis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508CFBD-81E2-DA19-858F-B9C78A55F38A}"/>
              </a:ext>
            </a:extLst>
          </p:cNvPr>
          <p:cNvSpPr>
            <a:spLocks/>
          </p:cNvSpPr>
          <p:nvPr/>
        </p:nvSpPr>
        <p:spPr>
          <a:xfrm>
            <a:off x="6458986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>
                <a:solidFill>
                  <a:srgbClr val="0070C0"/>
                </a:solidFill>
                <a:latin typeface="+mj-lt"/>
              </a:rPr>
              <a:t>Flexible analysis - over time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70C2300-5C50-EB48-5254-CB15D5E5D0BF}"/>
              </a:ext>
            </a:extLst>
          </p:cNvPr>
          <p:cNvSpPr>
            <a:spLocks/>
          </p:cNvSpPr>
          <p:nvPr/>
        </p:nvSpPr>
        <p:spPr>
          <a:xfrm>
            <a:off x="12468952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>
                <a:solidFill>
                  <a:srgbClr val="0070C0"/>
                </a:solidFill>
                <a:latin typeface="+mj-lt"/>
              </a:rPr>
              <a:t>Other analysis 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B64ACD1-87CC-D52E-7D49-CCD48CDC6518}"/>
              </a:ext>
            </a:extLst>
          </p:cNvPr>
          <p:cNvSpPr>
            <a:spLocks/>
          </p:cNvSpPr>
          <p:nvPr/>
        </p:nvSpPr>
        <p:spPr>
          <a:xfrm>
            <a:off x="18478918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Helper functions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6D417E7-BFD0-5702-AD6B-5771B827DED4}"/>
              </a:ext>
            </a:extLst>
          </p:cNvPr>
          <p:cNvGrpSpPr>
            <a:grpSpLocks/>
          </p:cNvGrpSpPr>
          <p:nvPr/>
        </p:nvGrpSpPr>
        <p:grpSpPr>
          <a:xfrm>
            <a:off x="18478918" y="8024871"/>
            <a:ext cx="5395736" cy="625812"/>
            <a:chOff x="18478918" y="8513184"/>
            <a:chExt cx="5395736" cy="625812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E569833-C910-6E3A-B106-E8B1974932E9}"/>
                </a:ext>
              </a:extLst>
            </p:cNvPr>
            <p:cNvSpPr/>
            <p:nvPr/>
          </p:nvSpPr>
          <p:spPr>
            <a:xfrm>
              <a:off x="18478918" y="8513184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wrap_text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Wrap text in visualizations according to a preset character threshold</a:t>
              </a: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B4C2421-B3D4-25A6-E84F-85481DF72AAD}"/>
                </a:ext>
              </a:extLst>
            </p:cNvPr>
            <p:cNvSpPr>
              <a:spLocks/>
            </p:cNvSpPr>
            <p:nvPr/>
          </p:nvSpPr>
          <p:spPr>
            <a:xfrm>
              <a:off x="18478918" y="8513184"/>
              <a:ext cx="265176" cy="315724"/>
            </a:xfrm>
            <a:custGeom>
              <a:avLst/>
              <a:gdLst>
                <a:gd name="connsiteX0" fmla="*/ 28575 w 285750"/>
                <a:gd name="connsiteY0" fmla="*/ 0 h 285750"/>
                <a:gd name="connsiteX1" fmla="*/ 0 w 285750"/>
                <a:gd name="connsiteY1" fmla="*/ 28575 h 285750"/>
                <a:gd name="connsiteX2" fmla="*/ 0 w 285750"/>
                <a:gd name="connsiteY2" fmla="*/ 257175 h 285750"/>
                <a:gd name="connsiteX3" fmla="*/ 28575 w 285750"/>
                <a:gd name="connsiteY3" fmla="*/ 285750 h 285750"/>
                <a:gd name="connsiteX4" fmla="*/ 257175 w 285750"/>
                <a:gd name="connsiteY4" fmla="*/ 285750 h 285750"/>
                <a:gd name="connsiteX5" fmla="*/ 285750 w 285750"/>
                <a:gd name="connsiteY5" fmla="*/ 257175 h 285750"/>
                <a:gd name="connsiteX6" fmla="*/ 285750 w 285750"/>
                <a:gd name="connsiteY6" fmla="*/ 28575 h 285750"/>
                <a:gd name="connsiteX7" fmla="*/ 257175 w 285750"/>
                <a:gd name="connsiteY7" fmla="*/ 0 h 285750"/>
                <a:gd name="connsiteX8" fmla="*/ 28575 w 285750"/>
                <a:gd name="connsiteY8" fmla="*/ 0 h 285750"/>
                <a:gd name="connsiteX9" fmla="*/ 47625 w 285750"/>
                <a:gd name="connsiteY9" fmla="*/ 228600 h 285750"/>
                <a:gd name="connsiteX10" fmla="*/ 238125 w 285750"/>
                <a:gd name="connsiteY10" fmla="*/ 228600 h 285750"/>
                <a:gd name="connsiteX11" fmla="*/ 247650 w 285750"/>
                <a:gd name="connsiteY11" fmla="*/ 238125 h 285750"/>
                <a:gd name="connsiteX12" fmla="*/ 238125 w 285750"/>
                <a:gd name="connsiteY12" fmla="*/ 247650 h 285750"/>
                <a:gd name="connsiteX13" fmla="*/ 47625 w 285750"/>
                <a:gd name="connsiteY13" fmla="*/ 247650 h 285750"/>
                <a:gd name="connsiteX14" fmla="*/ 38100 w 285750"/>
                <a:gd name="connsiteY14" fmla="*/ 238125 h 285750"/>
                <a:gd name="connsiteX15" fmla="*/ 47625 w 285750"/>
                <a:gd name="connsiteY15" fmla="*/ 228600 h 285750"/>
                <a:gd name="connsiteX16" fmla="*/ 47625 w 285750"/>
                <a:gd name="connsiteY16" fmla="*/ 190500 h 285750"/>
                <a:gd name="connsiteX17" fmla="*/ 238125 w 285750"/>
                <a:gd name="connsiteY17" fmla="*/ 190500 h 285750"/>
                <a:gd name="connsiteX18" fmla="*/ 247650 w 285750"/>
                <a:gd name="connsiteY18" fmla="*/ 200025 h 285750"/>
                <a:gd name="connsiteX19" fmla="*/ 238125 w 285750"/>
                <a:gd name="connsiteY19" fmla="*/ 209550 h 285750"/>
                <a:gd name="connsiteX20" fmla="*/ 47625 w 285750"/>
                <a:gd name="connsiteY20" fmla="*/ 209550 h 285750"/>
                <a:gd name="connsiteX21" fmla="*/ 38100 w 285750"/>
                <a:gd name="connsiteY21" fmla="*/ 200025 h 285750"/>
                <a:gd name="connsiteX22" fmla="*/ 47625 w 285750"/>
                <a:gd name="connsiteY22" fmla="*/ 190500 h 285750"/>
                <a:gd name="connsiteX23" fmla="*/ 47625 w 285750"/>
                <a:gd name="connsiteY23" fmla="*/ 38100 h 285750"/>
                <a:gd name="connsiteX24" fmla="*/ 142875 w 285750"/>
                <a:gd name="connsiteY24" fmla="*/ 38100 h 285750"/>
                <a:gd name="connsiteX25" fmla="*/ 152400 w 285750"/>
                <a:gd name="connsiteY25" fmla="*/ 47625 h 285750"/>
                <a:gd name="connsiteX26" fmla="*/ 152400 w 285750"/>
                <a:gd name="connsiteY26" fmla="*/ 76200 h 285750"/>
                <a:gd name="connsiteX27" fmla="*/ 142875 w 285750"/>
                <a:gd name="connsiteY27" fmla="*/ 85725 h 285750"/>
                <a:gd name="connsiteX28" fmla="*/ 133350 w 285750"/>
                <a:gd name="connsiteY28" fmla="*/ 76200 h 285750"/>
                <a:gd name="connsiteX29" fmla="*/ 133350 w 285750"/>
                <a:gd name="connsiteY29" fmla="*/ 57150 h 285750"/>
                <a:gd name="connsiteX30" fmla="*/ 104775 w 285750"/>
                <a:gd name="connsiteY30" fmla="*/ 57150 h 285750"/>
                <a:gd name="connsiteX31" fmla="*/ 104775 w 285750"/>
                <a:gd name="connsiteY31" fmla="*/ 152400 h 285750"/>
                <a:gd name="connsiteX32" fmla="*/ 111138 w 285750"/>
                <a:gd name="connsiteY32" fmla="*/ 152400 h 285750"/>
                <a:gd name="connsiteX33" fmla="*/ 120663 w 285750"/>
                <a:gd name="connsiteY33" fmla="*/ 161925 h 285750"/>
                <a:gd name="connsiteX34" fmla="*/ 111138 w 285750"/>
                <a:gd name="connsiteY34" fmla="*/ 171450 h 285750"/>
                <a:gd name="connsiteX35" fmla="*/ 79381 w 285750"/>
                <a:gd name="connsiteY35" fmla="*/ 171450 h 285750"/>
                <a:gd name="connsiteX36" fmla="*/ 69856 w 285750"/>
                <a:gd name="connsiteY36" fmla="*/ 161925 h 285750"/>
                <a:gd name="connsiteX37" fmla="*/ 79381 w 285750"/>
                <a:gd name="connsiteY37" fmla="*/ 152400 h 285750"/>
                <a:gd name="connsiteX38" fmla="*/ 85725 w 285750"/>
                <a:gd name="connsiteY38" fmla="*/ 152400 h 285750"/>
                <a:gd name="connsiteX39" fmla="*/ 85725 w 285750"/>
                <a:gd name="connsiteY39" fmla="*/ 57150 h 285750"/>
                <a:gd name="connsiteX40" fmla="*/ 57150 w 285750"/>
                <a:gd name="connsiteY40" fmla="*/ 57150 h 285750"/>
                <a:gd name="connsiteX41" fmla="*/ 57150 w 285750"/>
                <a:gd name="connsiteY41" fmla="*/ 76200 h 285750"/>
                <a:gd name="connsiteX42" fmla="*/ 47625 w 285750"/>
                <a:gd name="connsiteY42" fmla="*/ 85725 h 285750"/>
                <a:gd name="connsiteX43" fmla="*/ 38100 w 285750"/>
                <a:gd name="connsiteY43" fmla="*/ 76200 h 285750"/>
                <a:gd name="connsiteX44" fmla="*/ 38100 w 285750"/>
                <a:gd name="connsiteY44" fmla="*/ 47625 h 285750"/>
                <a:gd name="connsiteX45" fmla="*/ 47625 w 285750"/>
                <a:gd name="connsiteY45" fmla="*/ 38100 h 285750"/>
                <a:gd name="connsiteX46" fmla="*/ 180975 w 285750"/>
                <a:gd name="connsiteY46" fmla="*/ 152400 h 285750"/>
                <a:gd name="connsiteX47" fmla="*/ 238125 w 285750"/>
                <a:gd name="connsiteY47" fmla="*/ 152400 h 285750"/>
                <a:gd name="connsiteX48" fmla="*/ 247650 w 285750"/>
                <a:gd name="connsiteY48" fmla="*/ 161925 h 285750"/>
                <a:gd name="connsiteX49" fmla="*/ 238125 w 285750"/>
                <a:gd name="connsiteY49" fmla="*/ 171450 h 285750"/>
                <a:gd name="connsiteX50" fmla="*/ 180975 w 285750"/>
                <a:gd name="connsiteY50" fmla="*/ 171450 h 285750"/>
                <a:gd name="connsiteX51" fmla="*/ 171450 w 285750"/>
                <a:gd name="connsiteY51" fmla="*/ 161925 h 285750"/>
                <a:gd name="connsiteX52" fmla="*/ 180975 w 285750"/>
                <a:gd name="connsiteY52" fmla="*/ 152400 h 285750"/>
                <a:gd name="connsiteX53" fmla="*/ 180975 w 285750"/>
                <a:gd name="connsiteY53" fmla="*/ 114300 h 285750"/>
                <a:gd name="connsiteX54" fmla="*/ 238125 w 285750"/>
                <a:gd name="connsiteY54" fmla="*/ 114300 h 285750"/>
                <a:gd name="connsiteX55" fmla="*/ 247650 w 285750"/>
                <a:gd name="connsiteY55" fmla="*/ 123825 h 285750"/>
                <a:gd name="connsiteX56" fmla="*/ 238125 w 285750"/>
                <a:gd name="connsiteY56" fmla="*/ 133350 h 285750"/>
                <a:gd name="connsiteX57" fmla="*/ 180975 w 285750"/>
                <a:gd name="connsiteY57" fmla="*/ 133350 h 285750"/>
                <a:gd name="connsiteX58" fmla="*/ 171450 w 285750"/>
                <a:gd name="connsiteY58" fmla="*/ 123825 h 285750"/>
                <a:gd name="connsiteX59" fmla="*/ 180975 w 285750"/>
                <a:gd name="connsiteY59" fmla="*/ 114300 h 285750"/>
                <a:gd name="connsiteX60" fmla="*/ 180975 w 285750"/>
                <a:gd name="connsiteY60" fmla="*/ 76200 h 285750"/>
                <a:gd name="connsiteX61" fmla="*/ 238125 w 285750"/>
                <a:gd name="connsiteY61" fmla="*/ 76200 h 285750"/>
                <a:gd name="connsiteX62" fmla="*/ 247650 w 285750"/>
                <a:gd name="connsiteY62" fmla="*/ 85725 h 285750"/>
                <a:gd name="connsiteX63" fmla="*/ 238125 w 285750"/>
                <a:gd name="connsiteY63" fmla="*/ 95250 h 285750"/>
                <a:gd name="connsiteX64" fmla="*/ 180975 w 285750"/>
                <a:gd name="connsiteY64" fmla="*/ 95250 h 285750"/>
                <a:gd name="connsiteX65" fmla="*/ 171450 w 285750"/>
                <a:gd name="connsiteY65" fmla="*/ 85725 h 285750"/>
                <a:gd name="connsiteX66" fmla="*/ 180975 w 285750"/>
                <a:gd name="connsiteY66" fmla="*/ 76200 h 285750"/>
                <a:gd name="connsiteX67" fmla="*/ 180975 w 285750"/>
                <a:gd name="connsiteY67" fmla="*/ 38100 h 285750"/>
                <a:gd name="connsiteX68" fmla="*/ 238125 w 285750"/>
                <a:gd name="connsiteY68" fmla="*/ 38100 h 285750"/>
                <a:gd name="connsiteX69" fmla="*/ 247650 w 285750"/>
                <a:gd name="connsiteY69" fmla="*/ 47625 h 285750"/>
                <a:gd name="connsiteX70" fmla="*/ 238125 w 285750"/>
                <a:gd name="connsiteY70" fmla="*/ 57150 h 285750"/>
                <a:gd name="connsiteX71" fmla="*/ 180975 w 285750"/>
                <a:gd name="connsiteY71" fmla="*/ 57150 h 285750"/>
                <a:gd name="connsiteX72" fmla="*/ 171450 w 285750"/>
                <a:gd name="connsiteY72" fmla="*/ 47625 h 285750"/>
                <a:gd name="connsiteX73" fmla="*/ 180975 w 285750"/>
                <a:gd name="connsiteY73" fmla="*/ 3810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5750" h="285750">
                  <a:moveTo>
                    <a:pt x="28575" y="0"/>
                  </a:moveTo>
                  <a:cubicBezTo>
                    <a:pt x="12802" y="0"/>
                    <a:pt x="0" y="12802"/>
                    <a:pt x="0" y="28575"/>
                  </a:cubicBezTo>
                  <a:lnTo>
                    <a:pt x="0" y="257175"/>
                  </a:lnTo>
                  <a:cubicBezTo>
                    <a:pt x="0" y="272948"/>
                    <a:pt x="12802" y="285750"/>
                    <a:pt x="28575" y="285750"/>
                  </a:cubicBezTo>
                  <a:lnTo>
                    <a:pt x="257175" y="285750"/>
                  </a:lnTo>
                  <a:cubicBezTo>
                    <a:pt x="272948" y="285750"/>
                    <a:pt x="285750" y="272948"/>
                    <a:pt x="285750" y="257175"/>
                  </a:cubicBezTo>
                  <a:lnTo>
                    <a:pt x="285750" y="28575"/>
                  </a:lnTo>
                  <a:cubicBezTo>
                    <a:pt x="285750" y="12802"/>
                    <a:pt x="272948" y="0"/>
                    <a:pt x="257175" y="0"/>
                  </a:cubicBezTo>
                  <a:lnTo>
                    <a:pt x="28575" y="0"/>
                  </a:lnTo>
                  <a:close/>
                  <a:moveTo>
                    <a:pt x="47625" y="228600"/>
                  </a:moveTo>
                  <a:lnTo>
                    <a:pt x="238125" y="228600"/>
                  </a:lnTo>
                  <a:cubicBezTo>
                    <a:pt x="243392" y="228600"/>
                    <a:pt x="247650" y="232867"/>
                    <a:pt x="247650" y="238125"/>
                  </a:cubicBezTo>
                  <a:cubicBezTo>
                    <a:pt x="247650" y="243383"/>
                    <a:pt x="243392" y="247650"/>
                    <a:pt x="238125" y="247650"/>
                  </a:cubicBezTo>
                  <a:lnTo>
                    <a:pt x="47625" y="247650"/>
                  </a:lnTo>
                  <a:cubicBezTo>
                    <a:pt x="42358" y="247650"/>
                    <a:pt x="38100" y="243383"/>
                    <a:pt x="38100" y="238125"/>
                  </a:cubicBezTo>
                  <a:cubicBezTo>
                    <a:pt x="38100" y="232867"/>
                    <a:pt x="42358" y="228600"/>
                    <a:pt x="47625" y="228600"/>
                  </a:cubicBezTo>
                  <a:close/>
                  <a:moveTo>
                    <a:pt x="47625" y="190500"/>
                  </a:moveTo>
                  <a:lnTo>
                    <a:pt x="238125" y="190500"/>
                  </a:lnTo>
                  <a:cubicBezTo>
                    <a:pt x="243392" y="190500"/>
                    <a:pt x="247650" y="194767"/>
                    <a:pt x="247650" y="200025"/>
                  </a:cubicBezTo>
                  <a:cubicBezTo>
                    <a:pt x="247650" y="205283"/>
                    <a:pt x="243392" y="209550"/>
                    <a:pt x="238125" y="209550"/>
                  </a:cubicBezTo>
                  <a:lnTo>
                    <a:pt x="47625" y="209550"/>
                  </a:lnTo>
                  <a:cubicBezTo>
                    <a:pt x="42358" y="209550"/>
                    <a:pt x="38100" y="205283"/>
                    <a:pt x="38100" y="200025"/>
                  </a:cubicBezTo>
                  <a:cubicBezTo>
                    <a:pt x="38100" y="194767"/>
                    <a:pt x="42358" y="190500"/>
                    <a:pt x="47625" y="190500"/>
                  </a:cubicBezTo>
                  <a:close/>
                  <a:moveTo>
                    <a:pt x="47625" y="38100"/>
                  </a:moveTo>
                  <a:lnTo>
                    <a:pt x="142875" y="38100"/>
                  </a:lnTo>
                  <a:cubicBezTo>
                    <a:pt x="148133" y="38100"/>
                    <a:pt x="152400" y="42367"/>
                    <a:pt x="152400" y="47625"/>
                  </a:cubicBezTo>
                  <a:lnTo>
                    <a:pt x="152400" y="76200"/>
                  </a:lnTo>
                  <a:cubicBezTo>
                    <a:pt x="152400" y="81458"/>
                    <a:pt x="148133" y="85725"/>
                    <a:pt x="142875" y="85725"/>
                  </a:cubicBezTo>
                  <a:cubicBezTo>
                    <a:pt x="137617" y="85725"/>
                    <a:pt x="133350" y="81458"/>
                    <a:pt x="133350" y="76200"/>
                  </a:cubicBezTo>
                  <a:lnTo>
                    <a:pt x="133350" y="57150"/>
                  </a:lnTo>
                  <a:lnTo>
                    <a:pt x="104775" y="57150"/>
                  </a:lnTo>
                  <a:lnTo>
                    <a:pt x="104775" y="152400"/>
                  </a:lnTo>
                  <a:lnTo>
                    <a:pt x="111138" y="152400"/>
                  </a:lnTo>
                  <a:cubicBezTo>
                    <a:pt x="116396" y="152400"/>
                    <a:pt x="120663" y="156667"/>
                    <a:pt x="120663" y="161925"/>
                  </a:cubicBezTo>
                  <a:cubicBezTo>
                    <a:pt x="120663" y="167183"/>
                    <a:pt x="116396" y="171450"/>
                    <a:pt x="111138" y="171450"/>
                  </a:cubicBezTo>
                  <a:lnTo>
                    <a:pt x="79381" y="171450"/>
                  </a:lnTo>
                  <a:cubicBezTo>
                    <a:pt x="74124" y="171450"/>
                    <a:pt x="69856" y="167183"/>
                    <a:pt x="69856" y="161925"/>
                  </a:cubicBezTo>
                  <a:cubicBezTo>
                    <a:pt x="69856" y="156667"/>
                    <a:pt x="74124" y="152400"/>
                    <a:pt x="79381" y="152400"/>
                  </a:cubicBezTo>
                  <a:lnTo>
                    <a:pt x="85725" y="152400"/>
                  </a:lnTo>
                  <a:lnTo>
                    <a:pt x="85725" y="57150"/>
                  </a:lnTo>
                  <a:lnTo>
                    <a:pt x="57150" y="57150"/>
                  </a:lnTo>
                  <a:lnTo>
                    <a:pt x="57150" y="76200"/>
                  </a:lnTo>
                  <a:cubicBezTo>
                    <a:pt x="57150" y="81458"/>
                    <a:pt x="52883" y="85725"/>
                    <a:pt x="47625" y="85725"/>
                  </a:cubicBezTo>
                  <a:cubicBezTo>
                    <a:pt x="42367" y="85725"/>
                    <a:pt x="38100" y="81458"/>
                    <a:pt x="38100" y="76200"/>
                  </a:cubicBezTo>
                  <a:lnTo>
                    <a:pt x="38100" y="47625"/>
                  </a:lnTo>
                  <a:cubicBezTo>
                    <a:pt x="38100" y="42367"/>
                    <a:pt x="42367" y="38100"/>
                    <a:pt x="47625" y="38100"/>
                  </a:cubicBezTo>
                  <a:close/>
                  <a:moveTo>
                    <a:pt x="180975" y="152400"/>
                  </a:moveTo>
                  <a:lnTo>
                    <a:pt x="238125" y="152400"/>
                  </a:lnTo>
                  <a:cubicBezTo>
                    <a:pt x="243383" y="152400"/>
                    <a:pt x="247650" y="156667"/>
                    <a:pt x="247650" y="161925"/>
                  </a:cubicBezTo>
                  <a:cubicBezTo>
                    <a:pt x="247650" y="167183"/>
                    <a:pt x="243383" y="171450"/>
                    <a:pt x="238125" y="171450"/>
                  </a:cubicBezTo>
                  <a:lnTo>
                    <a:pt x="180975" y="171450"/>
                  </a:lnTo>
                  <a:cubicBezTo>
                    <a:pt x="175717" y="171450"/>
                    <a:pt x="171450" y="167183"/>
                    <a:pt x="171450" y="161925"/>
                  </a:cubicBezTo>
                  <a:cubicBezTo>
                    <a:pt x="171450" y="156667"/>
                    <a:pt x="175717" y="152400"/>
                    <a:pt x="180975" y="152400"/>
                  </a:cubicBezTo>
                  <a:close/>
                  <a:moveTo>
                    <a:pt x="180975" y="114300"/>
                  </a:moveTo>
                  <a:lnTo>
                    <a:pt x="238125" y="114300"/>
                  </a:lnTo>
                  <a:cubicBezTo>
                    <a:pt x="243383" y="114300"/>
                    <a:pt x="247650" y="118567"/>
                    <a:pt x="247650" y="123825"/>
                  </a:cubicBezTo>
                  <a:cubicBezTo>
                    <a:pt x="247650" y="129083"/>
                    <a:pt x="243383" y="133350"/>
                    <a:pt x="238125" y="133350"/>
                  </a:cubicBezTo>
                  <a:lnTo>
                    <a:pt x="180975" y="133350"/>
                  </a:lnTo>
                  <a:cubicBezTo>
                    <a:pt x="175717" y="133350"/>
                    <a:pt x="171450" y="129083"/>
                    <a:pt x="171450" y="123825"/>
                  </a:cubicBezTo>
                  <a:cubicBezTo>
                    <a:pt x="171450" y="118567"/>
                    <a:pt x="175717" y="114300"/>
                    <a:pt x="180975" y="114300"/>
                  </a:cubicBezTo>
                  <a:close/>
                  <a:moveTo>
                    <a:pt x="180975" y="76200"/>
                  </a:moveTo>
                  <a:lnTo>
                    <a:pt x="238125" y="76200"/>
                  </a:lnTo>
                  <a:cubicBezTo>
                    <a:pt x="243383" y="76200"/>
                    <a:pt x="247650" y="80467"/>
                    <a:pt x="247650" y="85725"/>
                  </a:cubicBezTo>
                  <a:cubicBezTo>
                    <a:pt x="247650" y="90983"/>
                    <a:pt x="243383" y="95250"/>
                    <a:pt x="238125" y="95250"/>
                  </a:cubicBezTo>
                  <a:lnTo>
                    <a:pt x="180975" y="95250"/>
                  </a:lnTo>
                  <a:cubicBezTo>
                    <a:pt x="175717" y="95250"/>
                    <a:pt x="171450" y="90983"/>
                    <a:pt x="171450" y="85725"/>
                  </a:cubicBezTo>
                  <a:cubicBezTo>
                    <a:pt x="171450" y="80467"/>
                    <a:pt x="175717" y="76200"/>
                    <a:pt x="180975" y="76200"/>
                  </a:cubicBezTo>
                  <a:close/>
                  <a:moveTo>
                    <a:pt x="180975" y="38100"/>
                  </a:moveTo>
                  <a:lnTo>
                    <a:pt x="238125" y="38100"/>
                  </a:lnTo>
                  <a:cubicBezTo>
                    <a:pt x="243383" y="38100"/>
                    <a:pt x="247650" y="42367"/>
                    <a:pt x="247650" y="47625"/>
                  </a:cubicBezTo>
                  <a:cubicBezTo>
                    <a:pt x="247650" y="52883"/>
                    <a:pt x="243383" y="57150"/>
                    <a:pt x="238125" y="57150"/>
                  </a:cubicBezTo>
                  <a:lnTo>
                    <a:pt x="180975" y="57150"/>
                  </a:lnTo>
                  <a:cubicBezTo>
                    <a:pt x="175717" y="57150"/>
                    <a:pt x="171450" y="52883"/>
                    <a:pt x="171450" y="47625"/>
                  </a:cubicBezTo>
                  <a:cubicBezTo>
                    <a:pt x="171450" y="42367"/>
                    <a:pt x="175717" y="38100"/>
                    <a:pt x="180975" y="3810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round/>
            </a:ln>
          </p:spPr>
          <p:txBody>
            <a:bodyPr rtlCol="0" anchor="ctr">
              <a:noAutofit/>
            </a:bodyPr>
            <a:lstStyle/>
            <a:p>
              <a:endParaRPr lang="en-IN" sz="130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0358BE4-3CA2-A9A2-426A-04FB784DB73D}"/>
              </a:ext>
            </a:extLst>
          </p:cNvPr>
          <p:cNvGrpSpPr>
            <a:grpSpLocks/>
          </p:cNvGrpSpPr>
          <p:nvPr/>
        </p:nvGrpSpPr>
        <p:grpSpPr>
          <a:xfrm>
            <a:off x="18478918" y="7062844"/>
            <a:ext cx="5395736" cy="625812"/>
            <a:chOff x="18478918" y="7462180"/>
            <a:chExt cx="5395736" cy="625812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C3A10F22-040B-8A5E-1163-752629A92BC3}"/>
                </a:ext>
              </a:extLst>
            </p:cNvPr>
            <p:cNvSpPr/>
            <p:nvPr/>
          </p:nvSpPr>
          <p:spPr>
            <a:xfrm>
              <a:off x="18478918" y="7462180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  <a:latin typeface="+mj-lt"/>
                </a:rPr>
                <a:t>wrap()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This function adds a character at the start and end of a character string, where the default behavior is to add a double quote</a:t>
              </a: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77EA196-D2E7-76B5-854B-9AAB4C526D76}"/>
                </a:ext>
              </a:extLst>
            </p:cNvPr>
            <p:cNvSpPr>
              <a:spLocks/>
            </p:cNvSpPr>
            <p:nvPr/>
          </p:nvSpPr>
          <p:spPr>
            <a:xfrm>
              <a:off x="18478918" y="7462180"/>
              <a:ext cx="265176" cy="315724"/>
            </a:xfrm>
            <a:custGeom>
              <a:avLst/>
              <a:gdLst>
                <a:gd name="connsiteX0" fmla="*/ 28575 w 285750"/>
                <a:gd name="connsiteY0" fmla="*/ 0 h 285750"/>
                <a:gd name="connsiteX1" fmla="*/ 0 w 285750"/>
                <a:gd name="connsiteY1" fmla="*/ 28575 h 285750"/>
                <a:gd name="connsiteX2" fmla="*/ 0 w 285750"/>
                <a:gd name="connsiteY2" fmla="*/ 257175 h 285750"/>
                <a:gd name="connsiteX3" fmla="*/ 28575 w 285750"/>
                <a:gd name="connsiteY3" fmla="*/ 285750 h 285750"/>
                <a:gd name="connsiteX4" fmla="*/ 257175 w 285750"/>
                <a:gd name="connsiteY4" fmla="*/ 285750 h 285750"/>
                <a:gd name="connsiteX5" fmla="*/ 285750 w 285750"/>
                <a:gd name="connsiteY5" fmla="*/ 257175 h 285750"/>
                <a:gd name="connsiteX6" fmla="*/ 285750 w 285750"/>
                <a:gd name="connsiteY6" fmla="*/ 28575 h 285750"/>
                <a:gd name="connsiteX7" fmla="*/ 257175 w 285750"/>
                <a:gd name="connsiteY7" fmla="*/ 0 h 285750"/>
                <a:gd name="connsiteX8" fmla="*/ 28575 w 285750"/>
                <a:gd name="connsiteY8" fmla="*/ 0 h 285750"/>
                <a:gd name="connsiteX9" fmla="*/ 47625 w 285750"/>
                <a:gd name="connsiteY9" fmla="*/ 228600 h 285750"/>
                <a:gd name="connsiteX10" fmla="*/ 238125 w 285750"/>
                <a:gd name="connsiteY10" fmla="*/ 228600 h 285750"/>
                <a:gd name="connsiteX11" fmla="*/ 247650 w 285750"/>
                <a:gd name="connsiteY11" fmla="*/ 238125 h 285750"/>
                <a:gd name="connsiteX12" fmla="*/ 238125 w 285750"/>
                <a:gd name="connsiteY12" fmla="*/ 247650 h 285750"/>
                <a:gd name="connsiteX13" fmla="*/ 47625 w 285750"/>
                <a:gd name="connsiteY13" fmla="*/ 247650 h 285750"/>
                <a:gd name="connsiteX14" fmla="*/ 38100 w 285750"/>
                <a:gd name="connsiteY14" fmla="*/ 238125 h 285750"/>
                <a:gd name="connsiteX15" fmla="*/ 47625 w 285750"/>
                <a:gd name="connsiteY15" fmla="*/ 228600 h 285750"/>
                <a:gd name="connsiteX16" fmla="*/ 47625 w 285750"/>
                <a:gd name="connsiteY16" fmla="*/ 190500 h 285750"/>
                <a:gd name="connsiteX17" fmla="*/ 238125 w 285750"/>
                <a:gd name="connsiteY17" fmla="*/ 190500 h 285750"/>
                <a:gd name="connsiteX18" fmla="*/ 247650 w 285750"/>
                <a:gd name="connsiteY18" fmla="*/ 200025 h 285750"/>
                <a:gd name="connsiteX19" fmla="*/ 238125 w 285750"/>
                <a:gd name="connsiteY19" fmla="*/ 209550 h 285750"/>
                <a:gd name="connsiteX20" fmla="*/ 47625 w 285750"/>
                <a:gd name="connsiteY20" fmla="*/ 209550 h 285750"/>
                <a:gd name="connsiteX21" fmla="*/ 38100 w 285750"/>
                <a:gd name="connsiteY21" fmla="*/ 200025 h 285750"/>
                <a:gd name="connsiteX22" fmla="*/ 47625 w 285750"/>
                <a:gd name="connsiteY22" fmla="*/ 190500 h 285750"/>
                <a:gd name="connsiteX23" fmla="*/ 47625 w 285750"/>
                <a:gd name="connsiteY23" fmla="*/ 38100 h 285750"/>
                <a:gd name="connsiteX24" fmla="*/ 142875 w 285750"/>
                <a:gd name="connsiteY24" fmla="*/ 38100 h 285750"/>
                <a:gd name="connsiteX25" fmla="*/ 152400 w 285750"/>
                <a:gd name="connsiteY25" fmla="*/ 47625 h 285750"/>
                <a:gd name="connsiteX26" fmla="*/ 152400 w 285750"/>
                <a:gd name="connsiteY26" fmla="*/ 76200 h 285750"/>
                <a:gd name="connsiteX27" fmla="*/ 142875 w 285750"/>
                <a:gd name="connsiteY27" fmla="*/ 85725 h 285750"/>
                <a:gd name="connsiteX28" fmla="*/ 133350 w 285750"/>
                <a:gd name="connsiteY28" fmla="*/ 76200 h 285750"/>
                <a:gd name="connsiteX29" fmla="*/ 133350 w 285750"/>
                <a:gd name="connsiteY29" fmla="*/ 57150 h 285750"/>
                <a:gd name="connsiteX30" fmla="*/ 104775 w 285750"/>
                <a:gd name="connsiteY30" fmla="*/ 57150 h 285750"/>
                <a:gd name="connsiteX31" fmla="*/ 104775 w 285750"/>
                <a:gd name="connsiteY31" fmla="*/ 152400 h 285750"/>
                <a:gd name="connsiteX32" fmla="*/ 111138 w 285750"/>
                <a:gd name="connsiteY32" fmla="*/ 152400 h 285750"/>
                <a:gd name="connsiteX33" fmla="*/ 120663 w 285750"/>
                <a:gd name="connsiteY33" fmla="*/ 161925 h 285750"/>
                <a:gd name="connsiteX34" fmla="*/ 111138 w 285750"/>
                <a:gd name="connsiteY34" fmla="*/ 171450 h 285750"/>
                <a:gd name="connsiteX35" fmla="*/ 79381 w 285750"/>
                <a:gd name="connsiteY35" fmla="*/ 171450 h 285750"/>
                <a:gd name="connsiteX36" fmla="*/ 69856 w 285750"/>
                <a:gd name="connsiteY36" fmla="*/ 161925 h 285750"/>
                <a:gd name="connsiteX37" fmla="*/ 79381 w 285750"/>
                <a:gd name="connsiteY37" fmla="*/ 152400 h 285750"/>
                <a:gd name="connsiteX38" fmla="*/ 85725 w 285750"/>
                <a:gd name="connsiteY38" fmla="*/ 152400 h 285750"/>
                <a:gd name="connsiteX39" fmla="*/ 85725 w 285750"/>
                <a:gd name="connsiteY39" fmla="*/ 57150 h 285750"/>
                <a:gd name="connsiteX40" fmla="*/ 57150 w 285750"/>
                <a:gd name="connsiteY40" fmla="*/ 57150 h 285750"/>
                <a:gd name="connsiteX41" fmla="*/ 57150 w 285750"/>
                <a:gd name="connsiteY41" fmla="*/ 76200 h 285750"/>
                <a:gd name="connsiteX42" fmla="*/ 47625 w 285750"/>
                <a:gd name="connsiteY42" fmla="*/ 85725 h 285750"/>
                <a:gd name="connsiteX43" fmla="*/ 38100 w 285750"/>
                <a:gd name="connsiteY43" fmla="*/ 76200 h 285750"/>
                <a:gd name="connsiteX44" fmla="*/ 38100 w 285750"/>
                <a:gd name="connsiteY44" fmla="*/ 47625 h 285750"/>
                <a:gd name="connsiteX45" fmla="*/ 47625 w 285750"/>
                <a:gd name="connsiteY45" fmla="*/ 38100 h 285750"/>
                <a:gd name="connsiteX46" fmla="*/ 180975 w 285750"/>
                <a:gd name="connsiteY46" fmla="*/ 152400 h 285750"/>
                <a:gd name="connsiteX47" fmla="*/ 238125 w 285750"/>
                <a:gd name="connsiteY47" fmla="*/ 152400 h 285750"/>
                <a:gd name="connsiteX48" fmla="*/ 247650 w 285750"/>
                <a:gd name="connsiteY48" fmla="*/ 161925 h 285750"/>
                <a:gd name="connsiteX49" fmla="*/ 238125 w 285750"/>
                <a:gd name="connsiteY49" fmla="*/ 171450 h 285750"/>
                <a:gd name="connsiteX50" fmla="*/ 180975 w 285750"/>
                <a:gd name="connsiteY50" fmla="*/ 171450 h 285750"/>
                <a:gd name="connsiteX51" fmla="*/ 171450 w 285750"/>
                <a:gd name="connsiteY51" fmla="*/ 161925 h 285750"/>
                <a:gd name="connsiteX52" fmla="*/ 180975 w 285750"/>
                <a:gd name="connsiteY52" fmla="*/ 152400 h 285750"/>
                <a:gd name="connsiteX53" fmla="*/ 180975 w 285750"/>
                <a:gd name="connsiteY53" fmla="*/ 114300 h 285750"/>
                <a:gd name="connsiteX54" fmla="*/ 238125 w 285750"/>
                <a:gd name="connsiteY54" fmla="*/ 114300 h 285750"/>
                <a:gd name="connsiteX55" fmla="*/ 247650 w 285750"/>
                <a:gd name="connsiteY55" fmla="*/ 123825 h 285750"/>
                <a:gd name="connsiteX56" fmla="*/ 238125 w 285750"/>
                <a:gd name="connsiteY56" fmla="*/ 133350 h 285750"/>
                <a:gd name="connsiteX57" fmla="*/ 180975 w 285750"/>
                <a:gd name="connsiteY57" fmla="*/ 133350 h 285750"/>
                <a:gd name="connsiteX58" fmla="*/ 171450 w 285750"/>
                <a:gd name="connsiteY58" fmla="*/ 123825 h 285750"/>
                <a:gd name="connsiteX59" fmla="*/ 180975 w 285750"/>
                <a:gd name="connsiteY59" fmla="*/ 114300 h 285750"/>
                <a:gd name="connsiteX60" fmla="*/ 180975 w 285750"/>
                <a:gd name="connsiteY60" fmla="*/ 76200 h 285750"/>
                <a:gd name="connsiteX61" fmla="*/ 238125 w 285750"/>
                <a:gd name="connsiteY61" fmla="*/ 76200 h 285750"/>
                <a:gd name="connsiteX62" fmla="*/ 247650 w 285750"/>
                <a:gd name="connsiteY62" fmla="*/ 85725 h 285750"/>
                <a:gd name="connsiteX63" fmla="*/ 238125 w 285750"/>
                <a:gd name="connsiteY63" fmla="*/ 95250 h 285750"/>
                <a:gd name="connsiteX64" fmla="*/ 180975 w 285750"/>
                <a:gd name="connsiteY64" fmla="*/ 95250 h 285750"/>
                <a:gd name="connsiteX65" fmla="*/ 171450 w 285750"/>
                <a:gd name="connsiteY65" fmla="*/ 85725 h 285750"/>
                <a:gd name="connsiteX66" fmla="*/ 180975 w 285750"/>
                <a:gd name="connsiteY66" fmla="*/ 76200 h 285750"/>
                <a:gd name="connsiteX67" fmla="*/ 180975 w 285750"/>
                <a:gd name="connsiteY67" fmla="*/ 38100 h 285750"/>
                <a:gd name="connsiteX68" fmla="*/ 238125 w 285750"/>
                <a:gd name="connsiteY68" fmla="*/ 38100 h 285750"/>
                <a:gd name="connsiteX69" fmla="*/ 247650 w 285750"/>
                <a:gd name="connsiteY69" fmla="*/ 47625 h 285750"/>
                <a:gd name="connsiteX70" fmla="*/ 238125 w 285750"/>
                <a:gd name="connsiteY70" fmla="*/ 57150 h 285750"/>
                <a:gd name="connsiteX71" fmla="*/ 180975 w 285750"/>
                <a:gd name="connsiteY71" fmla="*/ 57150 h 285750"/>
                <a:gd name="connsiteX72" fmla="*/ 171450 w 285750"/>
                <a:gd name="connsiteY72" fmla="*/ 47625 h 285750"/>
                <a:gd name="connsiteX73" fmla="*/ 180975 w 285750"/>
                <a:gd name="connsiteY73" fmla="*/ 3810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5750" h="285750">
                  <a:moveTo>
                    <a:pt x="28575" y="0"/>
                  </a:moveTo>
                  <a:cubicBezTo>
                    <a:pt x="12802" y="0"/>
                    <a:pt x="0" y="12802"/>
                    <a:pt x="0" y="28575"/>
                  </a:cubicBezTo>
                  <a:lnTo>
                    <a:pt x="0" y="257175"/>
                  </a:lnTo>
                  <a:cubicBezTo>
                    <a:pt x="0" y="272948"/>
                    <a:pt x="12802" y="285750"/>
                    <a:pt x="28575" y="285750"/>
                  </a:cubicBezTo>
                  <a:lnTo>
                    <a:pt x="257175" y="285750"/>
                  </a:lnTo>
                  <a:cubicBezTo>
                    <a:pt x="272948" y="285750"/>
                    <a:pt x="285750" y="272948"/>
                    <a:pt x="285750" y="257175"/>
                  </a:cubicBezTo>
                  <a:lnTo>
                    <a:pt x="285750" y="28575"/>
                  </a:lnTo>
                  <a:cubicBezTo>
                    <a:pt x="285750" y="12802"/>
                    <a:pt x="272948" y="0"/>
                    <a:pt x="257175" y="0"/>
                  </a:cubicBezTo>
                  <a:lnTo>
                    <a:pt x="28575" y="0"/>
                  </a:lnTo>
                  <a:close/>
                  <a:moveTo>
                    <a:pt x="47625" y="228600"/>
                  </a:moveTo>
                  <a:lnTo>
                    <a:pt x="238125" y="228600"/>
                  </a:lnTo>
                  <a:cubicBezTo>
                    <a:pt x="243392" y="228600"/>
                    <a:pt x="247650" y="232867"/>
                    <a:pt x="247650" y="238125"/>
                  </a:cubicBezTo>
                  <a:cubicBezTo>
                    <a:pt x="247650" y="243383"/>
                    <a:pt x="243392" y="247650"/>
                    <a:pt x="238125" y="247650"/>
                  </a:cubicBezTo>
                  <a:lnTo>
                    <a:pt x="47625" y="247650"/>
                  </a:lnTo>
                  <a:cubicBezTo>
                    <a:pt x="42358" y="247650"/>
                    <a:pt x="38100" y="243383"/>
                    <a:pt x="38100" y="238125"/>
                  </a:cubicBezTo>
                  <a:cubicBezTo>
                    <a:pt x="38100" y="232867"/>
                    <a:pt x="42358" y="228600"/>
                    <a:pt x="47625" y="228600"/>
                  </a:cubicBezTo>
                  <a:close/>
                  <a:moveTo>
                    <a:pt x="47625" y="190500"/>
                  </a:moveTo>
                  <a:lnTo>
                    <a:pt x="238125" y="190500"/>
                  </a:lnTo>
                  <a:cubicBezTo>
                    <a:pt x="243392" y="190500"/>
                    <a:pt x="247650" y="194767"/>
                    <a:pt x="247650" y="200025"/>
                  </a:cubicBezTo>
                  <a:cubicBezTo>
                    <a:pt x="247650" y="205283"/>
                    <a:pt x="243392" y="209550"/>
                    <a:pt x="238125" y="209550"/>
                  </a:cubicBezTo>
                  <a:lnTo>
                    <a:pt x="47625" y="209550"/>
                  </a:lnTo>
                  <a:cubicBezTo>
                    <a:pt x="42358" y="209550"/>
                    <a:pt x="38100" y="205283"/>
                    <a:pt x="38100" y="200025"/>
                  </a:cubicBezTo>
                  <a:cubicBezTo>
                    <a:pt x="38100" y="194767"/>
                    <a:pt x="42358" y="190500"/>
                    <a:pt x="47625" y="190500"/>
                  </a:cubicBezTo>
                  <a:close/>
                  <a:moveTo>
                    <a:pt x="47625" y="38100"/>
                  </a:moveTo>
                  <a:lnTo>
                    <a:pt x="142875" y="38100"/>
                  </a:lnTo>
                  <a:cubicBezTo>
                    <a:pt x="148133" y="38100"/>
                    <a:pt x="152400" y="42367"/>
                    <a:pt x="152400" y="47625"/>
                  </a:cubicBezTo>
                  <a:lnTo>
                    <a:pt x="152400" y="76200"/>
                  </a:lnTo>
                  <a:cubicBezTo>
                    <a:pt x="152400" y="81458"/>
                    <a:pt x="148133" y="85725"/>
                    <a:pt x="142875" y="85725"/>
                  </a:cubicBezTo>
                  <a:cubicBezTo>
                    <a:pt x="137617" y="85725"/>
                    <a:pt x="133350" y="81458"/>
                    <a:pt x="133350" y="76200"/>
                  </a:cubicBezTo>
                  <a:lnTo>
                    <a:pt x="133350" y="57150"/>
                  </a:lnTo>
                  <a:lnTo>
                    <a:pt x="104775" y="57150"/>
                  </a:lnTo>
                  <a:lnTo>
                    <a:pt x="104775" y="152400"/>
                  </a:lnTo>
                  <a:lnTo>
                    <a:pt x="111138" y="152400"/>
                  </a:lnTo>
                  <a:cubicBezTo>
                    <a:pt x="116396" y="152400"/>
                    <a:pt x="120663" y="156667"/>
                    <a:pt x="120663" y="161925"/>
                  </a:cubicBezTo>
                  <a:cubicBezTo>
                    <a:pt x="120663" y="167183"/>
                    <a:pt x="116396" y="171450"/>
                    <a:pt x="111138" y="171450"/>
                  </a:cubicBezTo>
                  <a:lnTo>
                    <a:pt x="79381" y="171450"/>
                  </a:lnTo>
                  <a:cubicBezTo>
                    <a:pt x="74124" y="171450"/>
                    <a:pt x="69856" y="167183"/>
                    <a:pt x="69856" y="161925"/>
                  </a:cubicBezTo>
                  <a:cubicBezTo>
                    <a:pt x="69856" y="156667"/>
                    <a:pt x="74124" y="152400"/>
                    <a:pt x="79381" y="152400"/>
                  </a:cubicBezTo>
                  <a:lnTo>
                    <a:pt x="85725" y="152400"/>
                  </a:lnTo>
                  <a:lnTo>
                    <a:pt x="85725" y="57150"/>
                  </a:lnTo>
                  <a:lnTo>
                    <a:pt x="57150" y="57150"/>
                  </a:lnTo>
                  <a:lnTo>
                    <a:pt x="57150" y="76200"/>
                  </a:lnTo>
                  <a:cubicBezTo>
                    <a:pt x="57150" y="81458"/>
                    <a:pt x="52883" y="85725"/>
                    <a:pt x="47625" y="85725"/>
                  </a:cubicBezTo>
                  <a:cubicBezTo>
                    <a:pt x="42367" y="85725"/>
                    <a:pt x="38100" y="81458"/>
                    <a:pt x="38100" y="76200"/>
                  </a:cubicBezTo>
                  <a:lnTo>
                    <a:pt x="38100" y="47625"/>
                  </a:lnTo>
                  <a:cubicBezTo>
                    <a:pt x="38100" y="42367"/>
                    <a:pt x="42367" y="38100"/>
                    <a:pt x="47625" y="38100"/>
                  </a:cubicBezTo>
                  <a:close/>
                  <a:moveTo>
                    <a:pt x="180975" y="152400"/>
                  </a:moveTo>
                  <a:lnTo>
                    <a:pt x="238125" y="152400"/>
                  </a:lnTo>
                  <a:cubicBezTo>
                    <a:pt x="243383" y="152400"/>
                    <a:pt x="247650" y="156667"/>
                    <a:pt x="247650" y="161925"/>
                  </a:cubicBezTo>
                  <a:cubicBezTo>
                    <a:pt x="247650" y="167183"/>
                    <a:pt x="243383" y="171450"/>
                    <a:pt x="238125" y="171450"/>
                  </a:cubicBezTo>
                  <a:lnTo>
                    <a:pt x="180975" y="171450"/>
                  </a:lnTo>
                  <a:cubicBezTo>
                    <a:pt x="175717" y="171450"/>
                    <a:pt x="171450" y="167183"/>
                    <a:pt x="171450" y="161925"/>
                  </a:cubicBezTo>
                  <a:cubicBezTo>
                    <a:pt x="171450" y="156667"/>
                    <a:pt x="175717" y="152400"/>
                    <a:pt x="180975" y="152400"/>
                  </a:cubicBezTo>
                  <a:close/>
                  <a:moveTo>
                    <a:pt x="180975" y="114300"/>
                  </a:moveTo>
                  <a:lnTo>
                    <a:pt x="238125" y="114300"/>
                  </a:lnTo>
                  <a:cubicBezTo>
                    <a:pt x="243383" y="114300"/>
                    <a:pt x="247650" y="118567"/>
                    <a:pt x="247650" y="123825"/>
                  </a:cubicBezTo>
                  <a:cubicBezTo>
                    <a:pt x="247650" y="129083"/>
                    <a:pt x="243383" y="133350"/>
                    <a:pt x="238125" y="133350"/>
                  </a:cubicBezTo>
                  <a:lnTo>
                    <a:pt x="180975" y="133350"/>
                  </a:lnTo>
                  <a:cubicBezTo>
                    <a:pt x="175717" y="133350"/>
                    <a:pt x="171450" y="129083"/>
                    <a:pt x="171450" y="123825"/>
                  </a:cubicBezTo>
                  <a:cubicBezTo>
                    <a:pt x="171450" y="118567"/>
                    <a:pt x="175717" y="114300"/>
                    <a:pt x="180975" y="114300"/>
                  </a:cubicBezTo>
                  <a:close/>
                  <a:moveTo>
                    <a:pt x="180975" y="76200"/>
                  </a:moveTo>
                  <a:lnTo>
                    <a:pt x="238125" y="76200"/>
                  </a:lnTo>
                  <a:cubicBezTo>
                    <a:pt x="243383" y="76200"/>
                    <a:pt x="247650" y="80467"/>
                    <a:pt x="247650" y="85725"/>
                  </a:cubicBezTo>
                  <a:cubicBezTo>
                    <a:pt x="247650" y="90983"/>
                    <a:pt x="243383" y="95250"/>
                    <a:pt x="238125" y="95250"/>
                  </a:cubicBezTo>
                  <a:lnTo>
                    <a:pt x="180975" y="95250"/>
                  </a:lnTo>
                  <a:cubicBezTo>
                    <a:pt x="175717" y="95250"/>
                    <a:pt x="171450" y="90983"/>
                    <a:pt x="171450" y="85725"/>
                  </a:cubicBezTo>
                  <a:cubicBezTo>
                    <a:pt x="171450" y="80467"/>
                    <a:pt x="175717" y="76200"/>
                    <a:pt x="180975" y="76200"/>
                  </a:cubicBezTo>
                  <a:close/>
                  <a:moveTo>
                    <a:pt x="180975" y="38100"/>
                  </a:moveTo>
                  <a:lnTo>
                    <a:pt x="238125" y="38100"/>
                  </a:lnTo>
                  <a:cubicBezTo>
                    <a:pt x="243383" y="38100"/>
                    <a:pt x="247650" y="42367"/>
                    <a:pt x="247650" y="47625"/>
                  </a:cubicBezTo>
                  <a:cubicBezTo>
                    <a:pt x="247650" y="52883"/>
                    <a:pt x="243383" y="57150"/>
                    <a:pt x="238125" y="57150"/>
                  </a:cubicBezTo>
                  <a:lnTo>
                    <a:pt x="180975" y="57150"/>
                  </a:lnTo>
                  <a:cubicBezTo>
                    <a:pt x="175717" y="57150"/>
                    <a:pt x="171450" y="52883"/>
                    <a:pt x="171450" y="47625"/>
                  </a:cubicBezTo>
                  <a:cubicBezTo>
                    <a:pt x="171450" y="42367"/>
                    <a:pt x="175717" y="38100"/>
                    <a:pt x="180975" y="3810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round/>
            </a:ln>
          </p:spPr>
          <p:txBody>
            <a:bodyPr rtlCol="0" anchor="ctr">
              <a:noAutofit/>
            </a:bodyPr>
            <a:lstStyle/>
            <a:p>
              <a:endParaRPr lang="en-IN" sz="130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01F319A-15B6-4548-B69A-F61995538CFD}"/>
              </a:ext>
            </a:extLst>
          </p:cNvPr>
          <p:cNvGrpSpPr>
            <a:grpSpLocks/>
          </p:cNvGrpSpPr>
          <p:nvPr/>
        </p:nvGrpSpPr>
        <p:grpSpPr>
          <a:xfrm>
            <a:off x="18478918" y="4176753"/>
            <a:ext cx="5395736" cy="625812"/>
            <a:chOff x="18478918" y="4616191"/>
            <a:chExt cx="5395736" cy="625812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FE183E4-65F3-285E-EF94-2968D2546E23}"/>
                </a:ext>
              </a:extLst>
            </p:cNvPr>
            <p:cNvSpPr/>
            <p:nvPr/>
          </p:nvSpPr>
          <p:spPr>
            <a:xfrm>
              <a:off x="18478918" y="4616191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totals_col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Create a 'Total' column of character type comprising exactly of one unique value</a:t>
              </a:r>
              <a:endParaRPr lang="en-IN" sz="1300">
                <a:solidFill>
                  <a:schemeClr val="tx1"/>
                </a:solidFill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802A7789-21DB-67EE-990B-80BE6122AF82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478918" y="4616191"/>
              <a:ext cx="268247" cy="324579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424D14F-D219-4D0F-AE0C-C9B92781EFCA}"/>
              </a:ext>
            </a:extLst>
          </p:cNvPr>
          <p:cNvGrpSpPr>
            <a:grpSpLocks/>
          </p:cNvGrpSpPr>
          <p:nvPr/>
        </p:nvGrpSpPr>
        <p:grpSpPr>
          <a:xfrm>
            <a:off x="18478918" y="5138783"/>
            <a:ext cx="5395736" cy="825867"/>
            <a:chOff x="18478918" y="5510224"/>
            <a:chExt cx="5395736" cy="825867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F0E7CE2-4D06-1510-B171-85B192D7389C}"/>
                </a:ext>
              </a:extLst>
            </p:cNvPr>
            <p:cNvSpPr/>
            <p:nvPr/>
          </p:nvSpPr>
          <p:spPr>
            <a:xfrm>
              <a:off x="18478918" y="5510224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tstamp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This function generates a time stamp of the format `'</a:t>
              </a:r>
              <a:r>
                <a:rPr lang="en-US" sz="1300" err="1">
                  <a:solidFill>
                    <a:schemeClr val="tx1"/>
                  </a:solidFill>
                </a:rPr>
                <a:t>yymmdd_hhmmss</a:t>
              </a:r>
              <a:r>
                <a:rPr lang="en-US" sz="1300">
                  <a:solidFill>
                    <a:schemeClr val="tx1"/>
                  </a:solidFill>
                </a:rPr>
                <a:t>'`. This is a support function and is not intended for direct use</a:t>
              </a: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00F4D0DB-2492-3F9A-717B-38C2CDCB47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5510224"/>
              <a:ext cx="263572" cy="360044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E50D03E-0A12-4412-8727-2FD00EB13BB8}"/>
              </a:ext>
            </a:extLst>
          </p:cNvPr>
          <p:cNvGrpSpPr>
            <a:grpSpLocks/>
          </p:cNvGrpSpPr>
          <p:nvPr/>
        </p:nvGrpSpPr>
        <p:grpSpPr>
          <a:xfrm>
            <a:off x="18478918" y="3214723"/>
            <a:ext cx="5395736" cy="625812"/>
            <a:chOff x="18478918" y="3562686"/>
            <a:chExt cx="5395736" cy="625812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6A87928-85A2-BB16-D268-5BDC45EEE387}"/>
                </a:ext>
              </a:extLst>
            </p:cNvPr>
            <p:cNvSpPr/>
            <p:nvPr/>
          </p:nvSpPr>
          <p:spPr>
            <a:xfrm>
              <a:off x="18478918" y="3562686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totals_bind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The purpose of this is to enable to creation of summary tables with a calculated "Total" row</a:t>
              </a: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CE8D17F-49A3-7460-4042-D4A800325D6D}"/>
                </a:ext>
              </a:extLst>
            </p:cNvPr>
            <p:cNvSpPr>
              <a:spLocks/>
            </p:cNvSpPr>
            <p:nvPr/>
          </p:nvSpPr>
          <p:spPr>
            <a:xfrm flipH="1">
              <a:off x="18478918" y="3562686"/>
              <a:ext cx="277717" cy="353456"/>
            </a:xfrm>
            <a:custGeom>
              <a:avLst/>
              <a:gdLst>
                <a:gd name="connsiteX0" fmla="*/ 228267 w 229518"/>
                <a:gd name="connsiteY0" fmla="*/ 41731 h 292113"/>
                <a:gd name="connsiteX1" fmla="*/ 187788 w 229518"/>
                <a:gd name="connsiteY1" fmla="*/ 41731 h 292113"/>
                <a:gd name="connsiteX2" fmla="*/ 187788 w 229518"/>
                <a:gd name="connsiteY2" fmla="*/ 1252 h 292113"/>
                <a:gd name="connsiteX3" fmla="*/ 201246 w 229518"/>
                <a:gd name="connsiteY3" fmla="*/ 9181 h 292113"/>
                <a:gd name="connsiteX4" fmla="*/ 220338 w 229518"/>
                <a:gd name="connsiteY4" fmla="*/ 28273 h 292113"/>
                <a:gd name="connsiteX5" fmla="*/ 228267 w 229518"/>
                <a:gd name="connsiteY5" fmla="*/ 41731 h 292113"/>
                <a:gd name="connsiteX6" fmla="*/ 229519 w 229518"/>
                <a:gd name="connsiteY6" fmla="*/ 62596 h 292113"/>
                <a:gd name="connsiteX7" fmla="*/ 229519 w 229518"/>
                <a:gd name="connsiteY7" fmla="*/ 260816 h 292113"/>
                <a:gd name="connsiteX8" fmla="*/ 198221 w 229518"/>
                <a:gd name="connsiteY8" fmla="*/ 292114 h 292113"/>
                <a:gd name="connsiteX9" fmla="*/ 31298 w 229518"/>
                <a:gd name="connsiteY9" fmla="*/ 292114 h 292113"/>
                <a:gd name="connsiteX10" fmla="*/ 0 w 229518"/>
                <a:gd name="connsiteY10" fmla="*/ 260816 h 292113"/>
                <a:gd name="connsiteX11" fmla="*/ 0 w 229518"/>
                <a:gd name="connsiteY11" fmla="*/ 31298 h 292113"/>
                <a:gd name="connsiteX12" fmla="*/ 31298 w 229518"/>
                <a:gd name="connsiteY12" fmla="*/ 0 h 292113"/>
                <a:gd name="connsiteX13" fmla="*/ 166923 w 229518"/>
                <a:gd name="connsiteY13" fmla="*/ 0 h 292113"/>
                <a:gd name="connsiteX14" fmla="*/ 166923 w 229518"/>
                <a:gd name="connsiteY14" fmla="*/ 41731 h 292113"/>
                <a:gd name="connsiteX15" fmla="*/ 187788 w 229518"/>
                <a:gd name="connsiteY15" fmla="*/ 62596 h 292113"/>
                <a:gd name="connsiteX16" fmla="*/ 187788 w 229518"/>
                <a:gd name="connsiteY16" fmla="*/ 93894 h 292113"/>
                <a:gd name="connsiteX17" fmla="*/ 166923 w 229518"/>
                <a:gd name="connsiteY17" fmla="*/ 73028 h 292113"/>
                <a:gd name="connsiteX18" fmla="*/ 62596 w 229518"/>
                <a:gd name="connsiteY18" fmla="*/ 73028 h 292113"/>
                <a:gd name="connsiteX19" fmla="*/ 41731 w 229518"/>
                <a:gd name="connsiteY19" fmla="*/ 93894 h 292113"/>
                <a:gd name="connsiteX20" fmla="*/ 41731 w 229518"/>
                <a:gd name="connsiteY20" fmla="*/ 239951 h 292113"/>
                <a:gd name="connsiteX21" fmla="*/ 62596 w 229518"/>
                <a:gd name="connsiteY21" fmla="*/ 260816 h 292113"/>
                <a:gd name="connsiteX22" fmla="*/ 166923 w 229518"/>
                <a:gd name="connsiteY22" fmla="*/ 260816 h 292113"/>
                <a:gd name="connsiteX23" fmla="*/ 187788 w 229518"/>
                <a:gd name="connsiteY23" fmla="*/ 239951 h 292113"/>
                <a:gd name="connsiteX24" fmla="*/ 62596 w 229518"/>
                <a:gd name="connsiteY24" fmla="*/ 219085 h 292113"/>
                <a:gd name="connsiteX25" fmla="*/ 62596 w 229518"/>
                <a:gd name="connsiteY25" fmla="*/ 239951 h 292113"/>
                <a:gd name="connsiteX26" fmla="*/ 83461 w 229518"/>
                <a:gd name="connsiteY26" fmla="*/ 239951 h 292113"/>
                <a:gd name="connsiteX27" fmla="*/ 83461 w 229518"/>
                <a:gd name="connsiteY27" fmla="*/ 219085 h 292113"/>
                <a:gd name="connsiteX28" fmla="*/ 104327 w 229518"/>
                <a:gd name="connsiteY28" fmla="*/ 219085 h 292113"/>
                <a:gd name="connsiteX29" fmla="*/ 104327 w 229518"/>
                <a:gd name="connsiteY29" fmla="*/ 239951 h 292113"/>
                <a:gd name="connsiteX30" fmla="*/ 166923 w 229518"/>
                <a:gd name="connsiteY30" fmla="*/ 239951 h 292113"/>
                <a:gd name="connsiteX31" fmla="*/ 166923 w 229518"/>
                <a:gd name="connsiteY31" fmla="*/ 219085 h 292113"/>
                <a:gd name="connsiteX32" fmla="*/ 104327 w 229518"/>
                <a:gd name="connsiteY32" fmla="*/ 177355 h 292113"/>
                <a:gd name="connsiteX33" fmla="*/ 104327 w 229518"/>
                <a:gd name="connsiteY33" fmla="*/ 198220 h 292113"/>
                <a:gd name="connsiteX34" fmla="*/ 166923 w 229518"/>
                <a:gd name="connsiteY34" fmla="*/ 198220 h 292113"/>
                <a:gd name="connsiteX35" fmla="*/ 166923 w 229518"/>
                <a:gd name="connsiteY35" fmla="*/ 177355 h 292113"/>
                <a:gd name="connsiteX36" fmla="*/ 62596 w 229518"/>
                <a:gd name="connsiteY36" fmla="*/ 177355 h 292113"/>
                <a:gd name="connsiteX37" fmla="*/ 62596 w 229518"/>
                <a:gd name="connsiteY37" fmla="*/ 198220 h 292113"/>
                <a:gd name="connsiteX38" fmla="*/ 83461 w 229518"/>
                <a:gd name="connsiteY38" fmla="*/ 198220 h 292113"/>
                <a:gd name="connsiteX39" fmla="*/ 83461 w 229518"/>
                <a:gd name="connsiteY39" fmla="*/ 177355 h 292113"/>
                <a:gd name="connsiteX40" fmla="*/ 104327 w 229518"/>
                <a:gd name="connsiteY40" fmla="*/ 135624 h 292113"/>
                <a:gd name="connsiteX41" fmla="*/ 104327 w 229518"/>
                <a:gd name="connsiteY41" fmla="*/ 156490 h 292113"/>
                <a:gd name="connsiteX42" fmla="*/ 166923 w 229518"/>
                <a:gd name="connsiteY42" fmla="*/ 156490 h 292113"/>
                <a:gd name="connsiteX43" fmla="*/ 166923 w 229518"/>
                <a:gd name="connsiteY43" fmla="*/ 135624 h 292113"/>
                <a:gd name="connsiteX44" fmla="*/ 62596 w 229518"/>
                <a:gd name="connsiteY44" fmla="*/ 135624 h 292113"/>
                <a:gd name="connsiteX45" fmla="*/ 62596 w 229518"/>
                <a:gd name="connsiteY45" fmla="*/ 156490 h 292113"/>
                <a:gd name="connsiteX46" fmla="*/ 83461 w 229518"/>
                <a:gd name="connsiteY46" fmla="*/ 156490 h 292113"/>
                <a:gd name="connsiteX47" fmla="*/ 83461 w 229518"/>
                <a:gd name="connsiteY47" fmla="*/ 135624 h 292113"/>
                <a:gd name="connsiteX48" fmla="*/ 62596 w 229518"/>
                <a:gd name="connsiteY48" fmla="*/ 93894 h 292113"/>
                <a:gd name="connsiteX49" fmla="*/ 62596 w 229518"/>
                <a:gd name="connsiteY49" fmla="*/ 114759 h 292113"/>
                <a:gd name="connsiteX50" fmla="*/ 83461 w 229518"/>
                <a:gd name="connsiteY50" fmla="*/ 114759 h 292113"/>
                <a:gd name="connsiteX51" fmla="*/ 83461 w 229518"/>
                <a:gd name="connsiteY51" fmla="*/ 93894 h 292113"/>
                <a:gd name="connsiteX52" fmla="*/ 104327 w 229518"/>
                <a:gd name="connsiteY52" fmla="*/ 93894 h 292113"/>
                <a:gd name="connsiteX53" fmla="*/ 104327 w 229518"/>
                <a:gd name="connsiteY53" fmla="*/ 114759 h 292113"/>
                <a:gd name="connsiteX54" fmla="*/ 166923 w 229518"/>
                <a:gd name="connsiteY54" fmla="*/ 114759 h 292113"/>
                <a:gd name="connsiteX55" fmla="*/ 166923 w 229518"/>
                <a:gd name="connsiteY55" fmla="*/ 93894 h 29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9518" h="292113">
                  <a:moveTo>
                    <a:pt x="228267" y="41731"/>
                  </a:moveTo>
                  <a:lnTo>
                    <a:pt x="187788" y="41731"/>
                  </a:lnTo>
                  <a:lnTo>
                    <a:pt x="187788" y="1252"/>
                  </a:lnTo>
                  <a:cubicBezTo>
                    <a:pt x="192900" y="2608"/>
                    <a:pt x="197490" y="5321"/>
                    <a:pt x="201246" y="9181"/>
                  </a:cubicBezTo>
                  <a:lnTo>
                    <a:pt x="220338" y="28273"/>
                  </a:lnTo>
                  <a:cubicBezTo>
                    <a:pt x="224198" y="32028"/>
                    <a:pt x="226911" y="36619"/>
                    <a:pt x="228267" y="41731"/>
                  </a:cubicBezTo>
                  <a:close/>
                  <a:moveTo>
                    <a:pt x="229519" y="62596"/>
                  </a:moveTo>
                  <a:lnTo>
                    <a:pt x="229519" y="260816"/>
                  </a:lnTo>
                  <a:cubicBezTo>
                    <a:pt x="229519" y="278030"/>
                    <a:pt x="215434" y="292114"/>
                    <a:pt x="198221" y="292114"/>
                  </a:cubicBezTo>
                  <a:lnTo>
                    <a:pt x="31298" y="292114"/>
                  </a:lnTo>
                  <a:cubicBezTo>
                    <a:pt x="14084" y="292114"/>
                    <a:pt x="0" y="278030"/>
                    <a:pt x="0" y="260816"/>
                  </a:cubicBezTo>
                  <a:lnTo>
                    <a:pt x="0" y="31298"/>
                  </a:lnTo>
                  <a:cubicBezTo>
                    <a:pt x="0" y="14084"/>
                    <a:pt x="14084" y="0"/>
                    <a:pt x="31298" y="0"/>
                  </a:cubicBezTo>
                  <a:lnTo>
                    <a:pt x="166923" y="0"/>
                  </a:lnTo>
                  <a:lnTo>
                    <a:pt x="166923" y="41731"/>
                  </a:lnTo>
                  <a:cubicBezTo>
                    <a:pt x="166923" y="53206"/>
                    <a:pt x="176312" y="62596"/>
                    <a:pt x="187788" y="62596"/>
                  </a:cubicBezTo>
                  <a:close/>
                  <a:moveTo>
                    <a:pt x="187788" y="93894"/>
                  </a:moveTo>
                  <a:cubicBezTo>
                    <a:pt x="187788" y="82418"/>
                    <a:pt x="178399" y="73028"/>
                    <a:pt x="166923" y="73028"/>
                  </a:cubicBezTo>
                  <a:lnTo>
                    <a:pt x="62596" y="73028"/>
                  </a:lnTo>
                  <a:cubicBezTo>
                    <a:pt x="51120" y="73028"/>
                    <a:pt x="41731" y="82418"/>
                    <a:pt x="41731" y="93894"/>
                  </a:cubicBezTo>
                  <a:lnTo>
                    <a:pt x="41731" y="239951"/>
                  </a:lnTo>
                  <a:cubicBezTo>
                    <a:pt x="41731" y="251427"/>
                    <a:pt x="51120" y="260816"/>
                    <a:pt x="62596" y="260816"/>
                  </a:cubicBezTo>
                  <a:lnTo>
                    <a:pt x="166923" y="260816"/>
                  </a:lnTo>
                  <a:cubicBezTo>
                    <a:pt x="178399" y="260816"/>
                    <a:pt x="187788" y="251427"/>
                    <a:pt x="187788" y="239951"/>
                  </a:cubicBezTo>
                  <a:close/>
                  <a:moveTo>
                    <a:pt x="62596" y="219085"/>
                  </a:moveTo>
                  <a:lnTo>
                    <a:pt x="62596" y="239951"/>
                  </a:lnTo>
                  <a:lnTo>
                    <a:pt x="83461" y="239951"/>
                  </a:lnTo>
                  <a:lnTo>
                    <a:pt x="83461" y="219085"/>
                  </a:lnTo>
                  <a:close/>
                  <a:moveTo>
                    <a:pt x="104327" y="219085"/>
                  </a:moveTo>
                  <a:lnTo>
                    <a:pt x="104327" y="239951"/>
                  </a:lnTo>
                  <a:lnTo>
                    <a:pt x="166923" y="239951"/>
                  </a:lnTo>
                  <a:lnTo>
                    <a:pt x="166923" y="219085"/>
                  </a:lnTo>
                  <a:close/>
                  <a:moveTo>
                    <a:pt x="104327" y="177355"/>
                  </a:moveTo>
                  <a:lnTo>
                    <a:pt x="104327" y="198220"/>
                  </a:lnTo>
                  <a:lnTo>
                    <a:pt x="166923" y="198220"/>
                  </a:lnTo>
                  <a:lnTo>
                    <a:pt x="166923" y="177355"/>
                  </a:lnTo>
                  <a:close/>
                  <a:moveTo>
                    <a:pt x="62596" y="177355"/>
                  </a:moveTo>
                  <a:lnTo>
                    <a:pt x="62596" y="198220"/>
                  </a:lnTo>
                  <a:lnTo>
                    <a:pt x="83461" y="198220"/>
                  </a:lnTo>
                  <a:lnTo>
                    <a:pt x="83461" y="177355"/>
                  </a:lnTo>
                  <a:close/>
                  <a:moveTo>
                    <a:pt x="104327" y="135624"/>
                  </a:moveTo>
                  <a:lnTo>
                    <a:pt x="104327" y="156490"/>
                  </a:lnTo>
                  <a:lnTo>
                    <a:pt x="166923" y="156490"/>
                  </a:lnTo>
                  <a:lnTo>
                    <a:pt x="166923" y="135624"/>
                  </a:lnTo>
                  <a:close/>
                  <a:moveTo>
                    <a:pt x="62596" y="135624"/>
                  </a:moveTo>
                  <a:lnTo>
                    <a:pt x="62596" y="156490"/>
                  </a:lnTo>
                  <a:lnTo>
                    <a:pt x="83461" y="156490"/>
                  </a:lnTo>
                  <a:lnTo>
                    <a:pt x="83461" y="135624"/>
                  </a:lnTo>
                  <a:close/>
                  <a:moveTo>
                    <a:pt x="62596" y="93894"/>
                  </a:moveTo>
                  <a:lnTo>
                    <a:pt x="62596" y="114759"/>
                  </a:lnTo>
                  <a:lnTo>
                    <a:pt x="83461" y="114759"/>
                  </a:lnTo>
                  <a:lnTo>
                    <a:pt x="83461" y="93894"/>
                  </a:lnTo>
                  <a:close/>
                  <a:moveTo>
                    <a:pt x="104327" y="93894"/>
                  </a:moveTo>
                  <a:lnTo>
                    <a:pt x="104327" y="114759"/>
                  </a:lnTo>
                  <a:lnTo>
                    <a:pt x="166923" y="114759"/>
                  </a:lnTo>
                  <a:lnTo>
                    <a:pt x="166923" y="93894"/>
                  </a:lnTo>
                  <a:close/>
                </a:path>
              </a:pathLst>
            </a:custGeom>
            <a:solidFill>
              <a:srgbClr val="0070C0"/>
            </a:solidFill>
            <a:ln w="329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IN" sz="130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36A0F34-6459-8A05-ECD3-331EDBCB6942}"/>
              </a:ext>
            </a:extLst>
          </p:cNvPr>
          <p:cNvGrpSpPr>
            <a:grpSpLocks/>
          </p:cNvGrpSpPr>
          <p:nvPr/>
        </p:nvGrpSpPr>
        <p:grpSpPr>
          <a:xfrm>
            <a:off x="18478918" y="6300868"/>
            <a:ext cx="5395736" cy="425758"/>
            <a:chOff x="18478918" y="6561223"/>
            <a:chExt cx="5395736" cy="425758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D5A5BC4-3E65-42FB-4D8B-89F23CF4A657}"/>
                </a:ext>
              </a:extLst>
            </p:cNvPr>
            <p:cNvSpPr/>
            <p:nvPr/>
          </p:nvSpPr>
          <p:spPr>
            <a:xfrm>
              <a:off x="18478918" y="6561223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err="1">
                  <a:solidFill>
                    <a:schemeClr val="tx1"/>
                  </a:solidFill>
                  <a:latin typeface="+mj-lt"/>
                </a:rPr>
                <a:t>us_to_space</a:t>
              </a:r>
              <a:r>
                <a:rPr lang="en-US" sz="130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>
                  <a:solidFill>
                    <a:schemeClr val="tx1"/>
                  </a:solidFill>
                </a:rPr>
                <a:t>Convenience function to convert underscores to space</a:t>
              </a: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152AD1-C0D4-EBFC-998A-13BCA29DDC3F}"/>
                </a:ext>
              </a:extLst>
            </p:cNvPr>
            <p:cNvSpPr>
              <a:spLocks/>
            </p:cNvSpPr>
            <p:nvPr/>
          </p:nvSpPr>
          <p:spPr>
            <a:xfrm>
              <a:off x="18478918" y="6561223"/>
              <a:ext cx="263572" cy="360044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91B324F-23EC-E98D-E5B2-8BA2B007AE32}"/>
              </a:ext>
            </a:extLst>
          </p:cNvPr>
          <p:cNvGrpSpPr/>
          <p:nvPr/>
        </p:nvGrpSpPr>
        <p:grpSpPr>
          <a:xfrm>
            <a:off x="18478918" y="2052638"/>
            <a:ext cx="5395736" cy="825867"/>
            <a:chOff x="18478918" y="2052638"/>
            <a:chExt cx="5395736" cy="825867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0A2EE224-737A-DEAF-4134-CF417E8C02FF}"/>
                </a:ext>
              </a:extLst>
            </p:cNvPr>
            <p:cNvSpPr/>
            <p:nvPr/>
          </p:nvSpPr>
          <p:spPr>
            <a:xfrm>
              <a:off x="18478918" y="2052638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anonymise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(), anonymize()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Anonymize categorical variables such as HR variables by replacing values with dummy team names such as 'Team A'. The behavior is to make 1 to 1 replacements by default</a:t>
              </a: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2D9D789-A6C3-29D1-CC10-B3341587DB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2052638"/>
              <a:ext cx="263572" cy="360044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922C518-872A-738C-6D1C-E58BD6E50D45}"/>
              </a:ext>
            </a:extLst>
          </p:cNvPr>
          <p:cNvCxnSpPr>
            <a:cxnSpLocks/>
          </p:cNvCxnSpPr>
          <p:nvPr/>
        </p:nvCxnSpPr>
        <p:spPr>
          <a:xfrm>
            <a:off x="18478918" y="785676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C191816-31FC-8B80-0362-50C1B2B2D180}"/>
              </a:ext>
            </a:extLst>
          </p:cNvPr>
          <p:cNvCxnSpPr>
            <a:cxnSpLocks/>
          </p:cNvCxnSpPr>
          <p:nvPr/>
        </p:nvCxnSpPr>
        <p:spPr>
          <a:xfrm>
            <a:off x="18478918" y="689473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E8EB9D47-F353-66D9-F2CC-7F5A834A8B66}"/>
              </a:ext>
            </a:extLst>
          </p:cNvPr>
          <p:cNvCxnSpPr>
            <a:cxnSpLocks/>
          </p:cNvCxnSpPr>
          <p:nvPr/>
        </p:nvCxnSpPr>
        <p:spPr>
          <a:xfrm>
            <a:off x="18478918" y="613275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8D7C0BD-4A34-AC9B-6039-113900E649BE}"/>
              </a:ext>
            </a:extLst>
          </p:cNvPr>
          <p:cNvCxnSpPr>
            <a:cxnSpLocks/>
          </p:cNvCxnSpPr>
          <p:nvPr/>
        </p:nvCxnSpPr>
        <p:spPr>
          <a:xfrm>
            <a:off x="18478918" y="497067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3B4028-3804-2951-F847-1CFA2EFBD795}"/>
              </a:ext>
            </a:extLst>
          </p:cNvPr>
          <p:cNvCxnSpPr>
            <a:cxnSpLocks/>
          </p:cNvCxnSpPr>
          <p:nvPr/>
        </p:nvCxnSpPr>
        <p:spPr>
          <a:xfrm>
            <a:off x="18478918" y="400864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EEB0004-CF7A-A957-7330-F6A0CCE9A3EE}"/>
              </a:ext>
            </a:extLst>
          </p:cNvPr>
          <p:cNvCxnSpPr>
            <a:cxnSpLocks/>
          </p:cNvCxnSpPr>
          <p:nvPr/>
        </p:nvCxnSpPr>
        <p:spPr>
          <a:xfrm>
            <a:off x="18478918" y="304661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B80475D7-7636-DAFD-7A8B-2C5F7B72E6FD}"/>
              </a:ext>
            </a:extLst>
          </p:cNvPr>
          <p:cNvSpPr txBox="1"/>
          <p:nvPr/>
        </p:nvSpPr>
        <p:spPr>
          <a:xfrm>
            <a:off x="762316" y="13262839"/>
            <a:ext cx="23112338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GB" sz="1200" dirty="0"/>
              <a:t>CC by Martin Chan •  </a:t>
            </a:r>
            <a:r>
              <a:rPr lang="en-GB" sz="1200" dirty="0" err="1"/>
              <a:t>martinchan</a:t>
            </a:r>
            <a:r>
              <a:rPr sz="1200" dirty="0"/>
              <a:t>@</a:t>
            </a:r>
            <a:r>
              <a:rPr lang="en-GB" sz="1200" dirty="0" err="1"/>
              <a:t>microsoft</a:t>
            </a:r>
            <a:r>
              <a:rPr sz="1200" dirty="0"/>
              <a:t>.com •</a:t>
            </a:r>
            <a:r>
              <a:rPr lang="en-GB" sz="1200" dirty="0"/>
              <a:t> Learn more at </a:t>
            </a:r>
            <a:r>
              <a:rPr lang="en-GB" sz="1200" b="1" dirty="0"/>
              <a:t>microsoft.github.io/</a:t>
            </a:r>
            <a:r>
              <a:rPr lang="en-GB" sz="1200" b="1" dirty="0" err="1"/>
              <a:t>vivainsights</a:t>
            </a:r>
            <a:r>
              <a:rPr lang="en-GB" sz="1200" dirty="0"/>
              <a:t> •</a:t>
            </a:r>
            <a:r>
              <a:rPr sz="1200" dirty="0"/>
              <a:t> package version  </a:t>
            </a:r>
            <a:r>
              <a:rPr lang="en-GB" sz="1200" dirty="0"/>
              <a:t>0</a:t>
            </a:r>
            <a:r>
              <a:rPr sz="1200" dirty="0"/>
              <a:t>.</a:t>
            </a:r>
            <a:r>
              <a:rPr lang="en-GB" sz="1200" dirty="0"/>
              <a:t>7</a:t>
            </a:r>
            <a:r>
              <a:rPr sz="1200" dirty="0"/>
              <a:t>.</a:t>
            </a:r>
            <a:r>
              <a:rPr lang="en-GB" sz="1200" dirty="0"/>
              <a:t>4</a:t>
            </a:r>
            <a:r>
              <a:rPr sz="1200" dirty="0"/>
              <a:t> •  Updated: 20</a:t>
            </a:r>
            <a:r>
              <a:rPr lang="en-GB" sz="1200" dirty="0"/>
              <a:t>26</a:t>
            </a:r>
            <a:r>
              <a:rPr sz="1200" dirty="0"/>
              <a:t>-</a:t>
            </a:r>
            <a:r>
              <a:rPr lang="en-US" sz="1200" dirty="0"/>
              <a:t>0</a:t>
            </a:r>
            <a:r>
              <a:rPr lang="en-GB" sz="1200" dirty="0"/>
              <a:t>2</a:t>
            </a:r>
            <a:endParaRPr sz="1200" dirty="0"/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41D8BACF-31A6-F41B-CE0B-919E16B87D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351528" y="12722898"/>
            <a:ext cx="693804" cy="801076"/>
          </a:xfrm>
          <a:prstGeom prst="rect">
            <a:avLst/>
          </a:prstGeom>
        </p:spPr>
      </p:pic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11FB24F-8D08-D072-4976-B1006E773F97}"/>
              </a:ext>
            </a:extLst>
          </p:cNvPr>
          <p:cNvGrpSpPr>
            <a:grpSpLocks/>
          </p:cNvGrpSpPr>
          <p:nvPr/>
        </p:nvGrpSpPr>
        <p:grpSpPr>
          <a:xfrm>
            <a:off x="6458986" y="6584266"/>
            <a:ext cx="5395736" cy="851515"/>
            <a:chOff x="6458986" y="6218511"/>
            <a:chExt cx="5395736" cy="851515"/>
          </a:xfrm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AB109E2-E70F-88C7-9793-BCB2BC55D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6218511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36ED97E-343A-EAE3-E985-4EEA8A0FF0E0}"/>
                </a:ext>
              </a:extLst>
            </p:cNvPr>
            <p:cNvSpPr>
              <a:spLocks/>
            </p:cNvSpPr>
            <p:nvPr/>
          </p:nvSpPr>
          <p:spPr>
            <a:xfrm>
              <a:off x="6458986" y="6218511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create_itsa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percent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Runs interrupted time-series analysis to estimate the impact of an intervention at a specified time point.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CE63E05-774E-2FA3-B9DB-2B1B063F9C33}"/>
              </a:ext>
            </a:extLst>
          </p:cNvPr>
          <p:cNvGrpSpPr>
            <a:grpSpLocks/>
          </p:cNvGrpSpPr>
          <p:nvPr/>
        </p:nvGrpSpPr>
        <p:grpSpPr>
          <a:xfrm>
            <a:off x="6458986" y="7698573"/>
            <a:ext cx="5395736" cy="851515"/>
            <a:chOff x="6458986" y="6218511"/>
            <a:chExt cx="5395736" cy="851515"/>
          </a:xfrm>
        </p:grpSpPr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E18F582-7A4C-6D4F-ED93-E68CF7723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6218511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D136BFA-3637-2A3E-C48A-2C830ADBFC76}"/>
                </a:ext>
              </a:extLst>
            </p:cNvPr>
            <p:cNvSpPr>
              <a:spLocks/>
            </p:cNvSpPr>
            <p:nvPr/>
          </p:nvSpPr>
          <p:spPr>
            <a:xfrm>
              <a:off x="6458986" y="6218511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create_rogers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percent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Generates a Rogers adoption-curve style view of adoption using a usage metric/segment distribution.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86A5D11-71FD-62FB-A837-8BC23DBF1AD0}"/>
              </a:ext>
            </a:extLst>
          </p:cNvPr>
          <p:cNvGrpSpPr>
            <a:grpSpLocks/>
          </p:cNvGrpSpPr>
          <p:nvPr/>
        </p:nvGrpSpPr>
        <p:grpSpPr>
          <a:xfrm>
            <a:off x="6458986" y="8812884"/>
            <a:ext cx="5395736" cy="851515"/>
            <a:chOff x="6458986" y="6218511"/>
            <a:chExt cx="5395736" cy="851515"/>
          </a:xfrm>
        </p:grpSpPr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E6F2156-F132-708E-07EC-066AD06E44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6218511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338B3C2-3083-C479-568A-D0054DEF0BB8}"/>
                </a:ext>
              </a:extLst>
            </p:cNvPr>
            <p:cNvSpPr>
              <a:spLocks/>
            </p:cNvSpPr>
            <p:nvPr/>
          </p:nvSpPr>
          <p:spPr>
            <a:xfrm>
              <a:off x="6458986" y="6218511"/>
              <a:ext cx="5395736" cy="851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>
                <a:spcAft>
                  <a:spcPts val="200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+mj-lt"/>
                </a:rPr>
                <a:t>xicor</a:t>
              </a:r>
              <a:r>
                <a:rPr lang="en-US" sz="1300" dirty="0">
                  <a:solidFill>
                    <a:schemeClr val="tx1"/>
                  </a:solidFill>
                  <a:latin typeface="+mj-lt"/>
                </a:rPr>
                <a:t>()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i="1" dirty="0">
                  <a:solidFill>
                    <a:schemeClr val="tx1"/>
                  </a:solidFill>
                </a:rPr>
                <a:t>metric, percent</a:t>
              </a:r>
            </a:p>
            <a:p>
              <a:pPr marL="514350">
                <a:spcAft>
                  <a:spcPts val="2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Computes Chatterjee’s Xi (rank correlation) to quantify association between two variables (including non-linear relationships).</a:t>
              </a: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D1BD690D-D9DB-5F0F-475B-E227A41AD68E}"/>
              </a:ext>
            </a:extLst>
          </p:cNvPr>
          <p:cNvSpPr txBox="1"/>
          <p:nvPr/>
        </p:nvSpPr>
        <p:spPr>
          <a:xfrm>
            <a:off x="16826723" y="488316"/>
            <a:ext cx="4686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Full documentation site: </a:t>
            </a:r>
          </a:p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https://microsoft.github.io/vivainsights/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B191C360-ED95-97B1-2076-9271101BC4FB}"/>
              </a:ext>
            </a:extLst>
          </p:cNvPr>
          <p:cNvCxnSpPr>
            <a:cxnSpLocks/>
          </p:cNvCxnSpPr>
          <p:nvPr/>
        </p:nvCxnSpPr>
        <p:spPr>
          <a:xfrm flipV="1">
            <a:off x="449020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47DD5B9-3512-D3B4-F390-FAC7307ADEF5}"/>
              </a:ext>
            </a:extLst>
          </p:cNvPr>
          <p:cNvCxnSpPr>
            <a:cxnSpLocks/>
          </p:cNvCxnSpPr>
          <p:nvPr/>
        </p:nvCxnSpPr>
        <p:spPr>
          <a:xfrm flipV="1">
            <a:off x="6458986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6FF2CC5D-B48F-5844-BFCB-A8F663C7AA7C}"/>
              </a:ext>
            </a:extLst>
          </p:cNvPr>
          <p:cNvCxnSpPr>
            <a:cxnSpLocks/>
          </p:cNvCxnSpPr>
          <p:nvPr/>
        </p:nvCxnSpPr>
        <p:spPr>
          <a:xfrm flipV="1">
            <a:off x="12468952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55C5BD47-2301-E75C-F852-D487996A0F3C}"/>
              </a:ext>
            </a:extLst>
          </p:cNvPr>
          <p:cNvCxnSpPr>
            <a:cxnSpLocks/>
          </p:cNvCxnSpPr>
          <p:nvPr/>
        </p:nvCxnSpPr>
        <p:spPr>
          <a:xfrm flipV="1">
            <a:off x="18478918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6534E089-B47E-6430-7AAB-99D48076EC4C}"/>
              </a:ext>
            </a:extLst>
          </p:cNvPr>
          <p:cNvCxnSpPr>
            <a:cxnSpLocks/>
          </p:cNvCxnSpPr>
          <p:nvPr/>
        </p:nvCxnSpPr>
        <p:spPr>
          <a:xfrm>
            <a:off x="6458986" y="645287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A78E272-889B-E95B-E644-3D88C9B28A34}"/>
              </a:ext>
            </a:extLst>
          </p:cNvPr>
          <p:cNvCxnSpPr>
            <a:cxnSpLocks/>
          </p:cNvCxnSpPr>
          <p:nvPr/>
        </p:nvCxnSpPr>
        <p:spPr>
          <a:xfrm>
            <a:off x="6458986" y="7567177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BCEC781-A886-905A-56EE-12D6F0CA98A4}"/>
              </a:ext>
            </a:extLst>
          </p:cNvPr>
          <p:cNvCxnSpPr>
            <a:cxnSpLocks/>
          </p:cNvCxnSpPr>
          <p:nvPr/>
        </p:nvCxnSpPr>
        <p:spPr>
          <a:xfrm>
            <a:off x="6458986" y="868148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90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D46F-EE7E-77F5-3F6A-73BF65D0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">
            <a:extLst>
              <a:ext uri="{FF2B5EF4-FFF2-40B4-BE49-F238E27FC236}">
                <a16:creationId xmlns:a16="http://schemas.microsoft.com/office/drawing/2014/main" id="{B91080A5-3019-332D-ED92-4241963E255E}"/>
              </a:ext>
            </a:extLst>
          </p:cNvPr>
          <p:cNvGrpSpPr/>
          <p:nvPr/>
        </p:nvGrpSpPr>
        <p:grpSpPr>
          <a:xfrm>
            <a:off x="18719163" y="-1034750"/>
            <a:ext cx="6159575" cy="3553962"/>
            <a:chOff x="0" y="51032"/>
            <a:chExt cx="6159573" cy="3553961"/>
          </a:xfrm>
        </p:grpSpPr>
        <p:grpSp>
          <p:nvGrpSpPr>
            <p:cNvPr id="38" name="Group">
              <a:extLst>
                <a:ext uri="{FF2B5EF4-FFF2-40B4-BE49-F238E27FC236}">
                  <a16:creationId xmlns:a16="http://schemas.microsoft.com/office/drawing/2014/main" id="{D4A53A35-E441-CEA5-D1F8-60CC8931B870}"/>
                </a:ext>
              </a:extLst>
            </p:cNvPr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45" name="Triangle">
                <a:extLst>
                  <a:ext uri="{FF2B5EF4-FFF2-40B4-BE49-F238E27FC236}">
                    <a16:creationId xmlns:a16="http://schemas.microsoft.com/office/drawing/2014/main" id="{D50C0B18-D58E-A4A4-556E-1DBC95490482}"/>
                  </a:ext>
                </a:extLst>
              </p:cNvPr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Circle">
                <a:extLst>
                  <a:ext uri="{FF2B5EF4-FFF2-40B4-BE49-F238E27FC236}">
                    <a16:creationId xmlns:a16="http://schemas.microsoft.com/office/drawing/2014/main" id="{E6F9BA44-122A-6226-D2CF-37979343A7D6}"/>
                  </a:ext>
                </a:extLst>
              </p:cNvPr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Circle">
                <a:extLst>
                  <a:ext uri="{FF2B5EF4-FFF2-40B4-BE49-F238E27FC236}">
                    <a16:creationId xmlns:a16="http://schemas.microsoft.com/office/drawing/2014/main" id="{D0DE96CD-5B4D-7123-EEB4-D91A912192CE}"/>
                  </a:ext>
                </a:extLst>
              </p:cNvPr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Triangle">
                <a:extLst>
                  <a:ext uri="{FF2B5EF4-FFF2-40B4-BE49-F238E27FC236}">
                    <a16:creationId xmlns:a16="http://schemas.microsoft.com/office/drawing/2014/main" id="{A586D23F-02DD-4978-D368-3359B4231141}"/>
                  </a:ext>
                </a:extLst>
              </p:cNvPr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Triangle">
                <a:extLst>
                  <a:ext uri="{FF2B5EF4-FFF2-40B4-BE49-F238E27FC236}">
                    <a16:creationId xmlns:a16="http://schemas.microsoft.com/office/drawing/2014/main" id="{A7BBC6DD-B5E7-97C6-6771-CFCD9B0B98B4}"/>
                  </a:ext>
                </a:extLst>
              </p:cNvPr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Circle">
                <a:extLst>
                  <a:ext uri="{FF2B5EF4-FFF2-40B4-BE49-F238E27FC236}">
                    <a16:creationId xmlns:a16="http://schemas.microsoft.com/office/drawing/2014/main" id="{AE09E9D2-69C8-2272-D982-1B8DCF3490C7}"/>
                  </a:ext>
                </a:extLst>
              </p:cNvPr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09D29423-DF07-1C57-ECC9-28495E1B5EC3}"/>
                  </a:ext>
                </a:extLst>
              </p:cNvPr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Triangle">
                <a:extLst>
                  <a:ext uri="{FF2B5EF4-FFF2-40B4-BE49-F238E27FC236}">
                    <a16:creationId xmlns:a16="http://schemas.microsoft.com/office/drawing/2014/main" id="{3A8DB1EC-52AE-2B1A-9BE7-E00006A6AB19}"/>
                  </a:ext>
                </a:extLst>
              </p:cNvPr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Circle">
                <a:extLst>
                  <a:ext uri="{FF2B5EF4-FFF2-40B4-BE49-F238E27FC236}">
                    <a16:creationId xmlns:a16="http://schemas.microsoft.com/office/drawing/2014/main" id="{88F72D22-7A55-6C3F-F904-F67176224528}"/>
                  </a:ext>
                </a:extLst>
              </p:cNvPr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6" name="Triangle">
                <a:extLst>
                  <a:ext uri="{FF2B5EF4-FFF2-40B4-BE49-F238E27FC236}">
                    <a16:creationId xmlns:a16="http://schemas.microsoft.com/office/drawing/2014/main" id="{26ADB6F4-93A3-2F9F-4C52-553B06C42694}"/>
                  </a:ext>
                </a:extLst>
              </p:cNvPr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Circle">
                <a:extLst>
                  <a:ext uri="{FF2B5EF4-FFF2-40B4-BE49-F238E27FC236}">
                    <a16:creationId xmlns:a16="http://schemas.microsoft.com/office/drawing/2014/main" id="{40A44A83-81EA-1549-8FF9-DFA6E3797742}"/>
                  </a:ext>
                </a:extLst>
              </p:cNvPr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Triangle">
                <a:extLst>
                  <a:ext uri="{FF2B5EF4-FFF2-40B4-BE49-F238E27FC236}">
                    <a16:creationId xmlns:a16="http://schemas.microsoft.com/office/drawing/2014/main" id="{253111D5-26F9-1FF4-2A30-3CC0049CEE54}"/>
                  </a:ext>
                </a:extLst>
              </p:cNvPr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9" name="Circle">
                <a:extLst>
                  <a:ext uri="{FF2B5EF4-FFF2-40B4-BE49-F238E27FC236}">
                    <a16:creationId xmlns:a16="http://schemas.microsoft.com/office/drawing/2014/main" id="{69D03630-95B3-9D72-3AA7-BB205A2D7515}"/>
                  </a:ext>
                </a:extLst>
              </p:cNvPr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0" name="Triangle">
                <a:extLst>
                  <a:ext uri="{FF2B5EF4-FFF2-40B4-BE49-F238E27FC236}">
                    <a16:creationId xmlns:a16="http://schemas.microsoft.com/office/drawing/2014/main" id="{9B7050A9-B624-F734-01E8-21E9F5DF62B0}"/>
                  </a:ext>
                </a:extLst>
              </p:cNvPr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1" name="Circle">
                <a:extLst>
                  <a:ext uri="{FF2B5EF4-FFF2-40B4-BE49-F238E27FC236}">
                    <a16:creationId xmlns:a16="http://schemas.microsoft.com/office/drawing/2014/main" id="{55DB7C7D-E975-8362-0DF1-5A3F571F9A29}"/>
                  </a:ext>
                </a:extLst>
              </p:cNvPr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0">
                    <a:solidFill>
                      <a:srgbClr val="000000"/>
                    </a:solidFill>
                  </a:defRPr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2" name="Rectangle">
              <a:extLst>
                <a:ext uri="{FF2B5EF4-FFF2-40B4-BE49-F238E27FC236}">
                  <a16:creationId xmlns:a16="http://schemas.microsoft.com/office/drawing/2014/main" id="{0A23FC86-98C3-C259-569D-CF19802A5939}"/>
                </a:ext>
              </a:extLst>
            </p:cNvPr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0">
                  <a:solidFill>
                    <a:srgbClr val="000000"/>
                  </a:solidFill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3" name="Image" descr="Image">
              <a:extLst>
                <a:ext uri="{FF2B5EF4-FFF2-40B4-BE49-F238E27FC236}">
                  <a16:creationId xmlns:a16="http://schemas.microsoft.com/office/drawing/2014/main" id="{0A505299-6AEC-2D8D-49F6-4570E500D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51818B3B-8957-EC01-62A3-6E413D5618A1}"/>
              </a:ext>
            </a:extLst>
          </p:cNvPr>
          <p:cNvSpPr/>
          <p:nvPr/>
        </p:nvSpPr>
        <p:spPr>
          <a:xfrm>
            <a:off x="449020" y="424518"/>
            <a:ext cx="2342563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vivainsights</a:t>
            </a: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Python library: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CHEAT SHEET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068C5AD-1C97-50C7-4B7B-4553C70B1457}"/>
              </a:ext>
            </a:extLst>
          </p:cNvPr>
          <p:cNvGrpSpPr/>
          <p:nvPr/>
        </p:nvGrpSpPr>
        <p:grpSpPr>
          <a:xfrm>
            <a:off x="21777394" y="267623"/>
            <a:ext cx="2097259" cy="1065766"/>
            <a:chOff x="21777394" y="267623"/>
            <a:chExt cx="2097259" cy="1065766"/>
          </a:xfrm>
        </p:grpSpPr>
        <p:pic>
          <p:nvPicPr>
            <p:cNvPr id="448" name="Picture 447">
              <a:extLst>
                <a:ext uri="{FF2B5EF4-FFF2-40B4-BE49-F238E27FC236}">
                  <a16:creationId xmlns:a16="http://schemas.microsoft.com/office/drawing/2014/main" id="{CFC4C736-537C-D4A2-FF1B-93A1A613C1B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3104" y="267623"/>
              <a:ext cx="831549" cy="960120"/>
            </a:xfrm>
            <a:prstGeom prst="rect">
              <a:avLst/>
            </a:prstGeom>
          </p:spPr>
        </p:pic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6572143A-BE07-55C5-4755-E021D8BD2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77394" y="324630"/>
              <a:ext cx="913443" cy="1008759"/>
            </a:xfrm>
            <a:prstGeom prst="rect">
              <a:avLst/>
            </a:prstGeom>
          </p:spPr>
        </p:pic>
      </p:grpSp>
      <p:sp>
        <p:nvSpPr>
          <p:cNvPr id="450" name="Rectangle 449">
            <a:extLst>
              <a:ext uri="{FF2B5EF4-FFF2-40B4-BE49-F238E27FC236}">
                <a16:creationId xmlns:a16="http://schemas.microsoft.com/office/drawing/2014/main" id="{C8DABE7A-C10E-AFEE-1014-F65F3A1EB7B6}"/>
              </a:ext>
            </a:extLst>
          </p:cNvPr>
          <p:cNvSpPr>
            <a:spLocks/>
          </p:cNvSpPr>
          <p:nvPr/>
        </p:nvSpPr>
        <p:spPr>
          <a:xfrm>
            <a:off x="1148393" y="2054394"/>
            <a:ext cx="4696363" cy="6001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  <a:hlinkClick r:id="rId5"/>
              </a:rPr>
              <a:t>vivainsights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 a Python library that offers a set of tools and functions for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analysing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visualising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data from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6"/>
              </a:rPr>
              <a:t>Microsoft Viva Insights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AED71C6-1F82-0C10-7122-27FFD1C53EED}"/>
              </a:ext>
            </a:extLst>
          </p:cNvPr>
          <p:cNvSpPr>
            <a:spLocks/>
          </p:cNvSpPr>
          <p:nvPr/>
        </p:nvSpPr>
        <p:spPr>
          <a:xfrm>
            <a:off x="449020" y="860684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Inbuilt datasets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9539FB19-E654-7D10-3F80-0738DFF0DB19}"/>
              </a:ext>
            </a:extLst>
          </p:cNvPr>
          <p:cNvSpPr>
            <a:spLocks/>
          </p:cNvSpPr>
          <p:nvPr/>
        </p:nvSpPr>
        <p:spPr>
          <a:xfrm>
            <a:off x="449020" y="8983651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Explore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vivainsights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by using inbuilt demo datasets</a:t>
            </a:r>
          </a:p>
        </p:txBody>
      </p: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1BC4B1F5-E41E-2D55-248C-E0AF9CA3B5ED}"/>
              </a:ext>
            </a:extLst>
          </p:cNvPr>
          <p:cNvCxnSpPr>
            <a:cxnSpLocks/>
          </p:cNvCxnSpPr>
          <p:nvPr/>
        </p:nvCxnSpPr>
        <p:spPr>
          <a:xfrm>
            <a:off x="449020" y="989633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09FEB1AB-37A5-16C2-D471-B9C6E3146E53}"/>
              </a:ext>
            </a:extLst>
          </p:cNvPr>
          <p:cNvCxnSpPr>
            <a:cxnSpLocks/>
          </p:cNvCxnSpPr>
          <p:nvPr/>
        </p:nvCxnSpPr>
        <p:spPr>
          <a:xfrm>
            <a:off x="449020" y="1055359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928BB7C9-85C1-7E11-E733-09316AB6CE4B}"/>
              </a:ext>
            </a:extLst>
          </p:cNvPr>
          <p:cNvCxnSpPr>
            <a:cxnSpLocks/>
          </p:cNvCxnSpPr>
          <p:nvPr/>
        </p:nvCxnSpPr>
        <p:spPr>
          <a:xfrm>
            <a:off x="449020" y="1121085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FF19AE03-C94F-D140-4E56-824D2DFC09B6}"/>
              </a:ext>
            </a:extLst>
          </p:cNvPr>
          <p:cNvGrpSpPr/>
          <p:nvPr/>
        </p:nvGrpSpPr>
        <p:grpSpPr>
          <a:xfrm>
            <a:off x="449020" y="9354820"/>
            <a:ext cx="5395736" cy="425758"/>
            <a:chOff x="449020" y="9252678"/>
            <a:chExt cx="5395736" cy="425758"/>
          </a:xfrm>
        </p:grpSpPr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A10494B3-07F5-BD7E-2924-895F271734DD}"/>
                </a:ext>
              </a:extLst>
            </p:cNvPr>
            <p:cNvSpPr>
              <a:spLocks/>
            </p:cNvSpPr>
            <p:nvPr/>
          </p:nvSpPr>
          <p:spPr>
            <a:xfrm>
              <a:off x="449020" y="9252678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load_pq_data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Loads a sample Person Query data to the environment</a:t>
              </a: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234D55AC-A4C3-BEBB-90DC-891647391C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9252678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7296EC9E-E788-5E46-1410-25322CD7F94D}"/>
              </a:ext>
            </a:extLst>
          </p:cNvPr>
          <p:cNvCxnSpPr>
            <a:cxnSpLocks/>
          </p:cNvCxnSpPr>
          <p:nvPr/>
        </p:nvCxnSpPr>
        <p:spPr>
          <a:xfrm>
            <a:off x="6458986" y="298231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E0CAEA8A-0346-2789-7012-ED98AB8C8CAB}"/>
              </a:ext>
            </a:extLst>
          </p:cNvPr>
          <p:cNvCxnSpPr>
            <a:cxnSpLocks/>
          </p:cNvCxnSpPr>
          <p:nvPr/>
        </p:nvCxnSpPr>
        <p:spPr>
          <a:xfrm>
            <a:off x="6458986" y="382899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6B5A4523-5E45-F2D7-771B-A2BC32B646A6}"/>
              </a:ext>
            </a:extLst>
          </p:cNvPr>
          <p:cNvCxnSpPr>
            <a:cxnSpLocks/>
          </p:cNvCxnSpPr>
          <p:nvPr/>
        </p:nvCxnSpPr>
        <p:spPr>
          <a:xfrm>
            <a:off x="6458986" y="467567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7A9384B0-08AE-89E9-BDBF-E1AD62624601}"/>
              </a:ext>
            </a:extLst>
          </p:cNvPr>
          <p:cNvSpPr txBox="1"/>
          <p:nvPr/>
        </p:nvSpPr>
        <p:spPr>
          <a:xfrm>
            <a:off x="749616" y="13262839"/>
            <a:ext cx="23125038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000000"/>
                </a:solidFill>
              </a:defRPr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CC by Martin Chan •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martinchan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.com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Learn more at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microsoft.github.io/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vivainsights-py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•  package version  0.4.</a:t>
            </a:r>
            <a:r>
              <a:rPr lang="en-GB" sz="1200" dirty="0">
                <a:solidFill>
                  <a:srgbClr val="000000"/>
                </a:solidFill>
                <a:latin typeface="Segoe UI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•  Updated: 2026-02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EAECCA07-A8E6-47DB-C995-A7EDF426E223}"/>
              </a:ext>
            </a:extLst>
          </p:cNvPr>
          <p:cNvSpPr txBox="1"/>
          <p:nvPr/>
        </p:nvSpPr>
        <p:spPr>
          <a:xfrm>
            <a:off x="16826723" y="488316"/>
            <a:ext cx="5143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Full documentation site: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https://microsoft.github.io/vivainsights-py/</a:t>
            </a:r>
          </a:p>
        </p:txBody>
      </p: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2CD2809E-0570-9226-E7BC-1775EC7B2E94}"/>
              </a:ext>
            </a:extLst>
          </p:cNvPr>
          <p:cNvCxnSpPr>
            <a:cxnSpLocks/>
          </p:cNvCxnSpPr>
          <p:nvPr/>
        </p:nvCxnSpPr>
        <p:spPr>
          <a:xfrm flipV="1">
            <a:off x="12468952" y="8994719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Rectangle 464">
            <a:extLst>
              <a:ext uri="{FF2B5EF4-FFF2-40B4-BE49-F238E27FC236}">
                <a16:creationId xmlns:a16="http://schemas.microsoft.com/office/drawing/2014/main" id="{FD6A8BE9-4DA7-EE3C-0E62-1831C0BA1A21}"/>
              </a:ext>
            </a:extLst>
          </p:cNvPr>
          <p:cNvSpPr>
            <a:spLocks/>
          </p:cNvSpPr>
          <p:nvPr/>
        </p:nvSpPr>
        <p:spPr>
          <a:xfrm>
            <a:off x="12468952" y="9138026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Exploratory analysis</a:t>
            </a: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00F7427C-F427-7E75-8839-33FB075BCAC1}"/>
              </a:ext>
            </a:extLst>
          </p:cNvPr>
          <p:cNvSpPr>
            <a:spLocks/>
          </p:cNvSpPr>
          <p:nvPr/>
        </p:nvSpPr>
        <p:spPr>
          <a:xfrm>
            <a:off x="12468952" y="9514828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Explore the data and surface initial hypotheses</a:t>
            </a:r>
          </a:p>
        </p:txBody>
      </p: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E10F22AD-9CF3-EE89-5791-0B790F73CC92}"/>
              </a:ext>
            </a:extLst>
          </p:cNvPr>
          <p:cNvCxnSpPr>
            <a:cxnSpLocks/>
          </p:cNvCxnSpPr>
          <p:nvPr/>
        </p:nvCxnSpPr>
        <p:spPr>
          <a:xfrm>
            <a:off x="12468952" y="10678534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1FBCB07C-8858-8382-FE80-8F1E5DA34ED5}"/>
              </a:ext>
            </a:extLst>
          </p:cNvPr>
          <p:cNvGrpSpPr/>
          <p:nvPr/>
        </p:nvGrpSpPr>
        <p:grpSpPr>
          <a:xfrm>
            <a:off x="12468952" y="9920693"/>
            <a:ext cx="5395736" cy="625812"/>
            <a:chOff x="12468952" y="10593592"/>
            <a:chExt cx="5395736" cy="625812"/>
          </a:xfrm>
        </p:grpSpPr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689F25BD-8400-2E96-0C5E-A2971EF8E02E}"/>
                </a:ext>
              </a:extLst>
            </p:cNvPr>
            <p:cNvSpPr>
              <a:spLocks/>
            </p:cNvSpPr>
            <p:nvPr/>
          </p:nvSpPr>
          <p:spPr>
            <a:xfrm>
              <a:off x="12468952" y="10593592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keymetrics_scan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Aggregate multiple key metrics by an org attribute and return a heatmap plot by default, with options to return a data frame; </a:t>
              </a: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B3C2A0E2-8267-0DC8-52FC-2327D9557C83}"/>
                </a:ext>
              </a:extLst>
            </p:cNvPr>
            <p:cNvSpPr/>
            <p:nvPr/>
          </p:nvSpPr>
          <p:spPr>
            <a:xfrm>
              <a:off x="12468952" y="10593592"/>
              <a:ext cx="320863" cy="320863"/>
            </a:xfrm>
            <a:custGeom>
              <a:avLst/>
              <a:gdLst>
                <a:gd name="connsiteX0" fmla="*/ 69773 w 548219"/>
                <a:gd name="connsiteY0" fmla="*/ 0 h 548219"/>
                <a:gd name="connsiteX1" fmla="*/ 0 w 548219"/>
                <a:gd name="connsiteY1" fmla="*/ 0 h 548219"/>
                <a:gd name="connsiteX2" fmla="*/ 0 w 548219"/>
                <a:gd name="connsiteY2" fmla="*/ 69773 h 548219"/>
                <a:gd name="connsiteX3" fmla="*/ 69773 w 548219"/>
                <a:gd name="connsiteY3" fmla="*/ 69773 h 548219"/>
                <a:gd name="connsiteX4" fmla="*/ 69773 w 548219"/>
                <a:gd name="connsiteY4" fmla="*/ 0 h 548219"/>
                <a:gd name="connsiteX5" fmla="*/ 79741 w 548219"/>
                <a:gd name="connsiteY5" fmla="*/ 0 h 548219"/>
                <a:gd name="connsiteX6" fmla="*/ 79741 w 548219"/>
                <a:gd name="connsiteY6" fmla="*/ 69773 h 548219"/>
                <a:gd name="connsiteX7" fmla="*/ 149515 w 548219"/>
                <a:gd name="connsiteY7" fmla="*/ 69773 h 548219"/>
                <a:gd name="connsiteX8" fmla="*/ 149515 w 548219"/>
                <a:gd name="connsiteY8" fmla="*/ 0 h 548219"/>
                <a:gd name="connsiteX9" fmla="*/ 79741 w 548219"/>
                <a:gd name="connsiteY9" fmla="*/ 0 h 548219"/>
                <a:gd name="connsiteX10" fmla="*/ 159482 w 548219"/>
                <a:gd name="connsiteY10" fmla="*/ 0 h 548219"/>
                <a:gd name="connsiteX11" fmla="*/ 159482 w 548219"/>
                <a:gd name="connsiteY11" fmla="*/ 69773 h 548219"/>
                <a:gd name="connsiteX12" fmla="*/ 229256 w 548219"/>
                <a:gd name="connsiteY12" fmla="*/ 69773 h 548219"/>
                <a:gd name="connsiteX13" fmla="*/ 229256 w 548219"/>
                <a:gd name="connsiteY13" fmla="*/ 0 h 548219"/>
                <a:gd name="connsiteX14" fmla="*/ 159482 w 548219"/>
                <a:gd name="connsiteY14" fmla="*/ 0 h 548219"/>
                <a:gd name="connsiteX15" fmla="*/ 239223 w 548219"/>
                <a:gd name="connsiteY15" fmla="*/ 0 h 548219"/>
                <a:gd name="connsiteX16" fmla="*/ 239223 w 548219"/>
                <a:gd name="connsiteY16" fmla="*/ 69773 h 548219"/>
                <a:gd name="connsiteX17" fmla="*/ 308996 w 548219"/>
                <a:gd name="connsiteY17" fmla="*/ 69773 h 548219"/>
                <a:gd name="connsiteX18" fmla="*/ 308996 w 548219"/>
                <a:gd name="connsiteY18" fmla="*/ 0 h 548219"/>
                <a:gd name="connsiteX19" fmla="*/ 239223 w 548219"/>
                <a:gd name="connsiteY19" fmla="*/ 0 h 548219"/>
                <a:gd name="connsiteX20" fmla="*/ 318965 w 548219"/>
                <a:gd name="connsiteY20" fmla="*/ 0 h 548219"/>
                <a:gd name="connsiteX21" fmla="*/ 318965 w 548219"/>
                <a:gd name="connsiteY21" fmla="*/ 69773 h 548219"/>
                <a:gd name="connsiteX22" fmla="*/ 388738 w 548219"/>
                <a:gd name="connsiteY22" fmla="*/ 69773 h 548219"/>
                <a:gd name="connsiteX23" fmla="*/ 388738 w 548219"/>
                <a:gd name="connsiteY23" fmla="*/ 0 h 548219"/>
                <a:gd name="connsiteX24" fmla="*/ 318965 w 548219"/>
                <a:gd name="connsiteY24" fmla="*/ 0 h 548219"/>
                <a:gd name="connsiteX25" fmla="*/ 388738 w 548219"/>
                <a:gd name="connsiteY25" fmla="*/ 149515 h 548219"/>
                <a:gd name="connsiteX26" fmla="*/ 388738 w 548219"/>
                <a:gd name="connsiteY26" fmla="*/ 79742 h 548219"/>
                <a:gd name="connsiteX27" fmla="*/ 318965 w 548219"/>
                <a:gd name="connsiteY27" fmla="*/ 79742 h 548219"/>
                <a:gd name="connsiteX28" fmla="*/ 318965 w 548219"/>
                <a:gd name="connsiteY28" fmla="*/ 149515 h 548219"/>
                <a:gd name="connsiteX29" fmla="*/ 388738 w 548219"/>
                <a:gd name="connsiteY29" fmla="*/ 149515 h 548219"/>
                <a:gd name="connsiteX30" fmla="*/ 388738 w 548219"/>
                <a:gd name="connsiteY30" fmla="*/ 229256 h 548219"/>
                <a:gd name="connsiteX31" fmla="*/ 388738 w 548219"/>
                <a:gd name="connsiteY31" fmla="*/ 159482 h 548219"/>
                <a:gd name="connsiteX32" fmla="*/ 318965 w 548219"/>
                <a:gd name="connsiteY32" fmla="*/ 159482 h 548219"/>
                <a:gd name="connsiteX33" fmla="*/ 318965 w 548219"/>
                <a:gd name="connsiteY33" fmla="*/ 229256 h 548219"/>
                <a:gd name="connsiteX34" fmla="*/ 388738 w 548219"/>
                <a:gd name="connsiteY34" fmla="*/ 229256 h 548219"/>
                <a:gd name="connsiteX35" fmla="*/ 388738 w 548219"/>
                <a:gd name="connsiteY35" fmla="*/ 308996 h 548219"/>
                <a:gd name="connsiteX36" fmla="*/ 388738 w 548219"/>
                <a:gd name="connsiteY36" fmla="*/ 239223 h 548219"/>
                <a:gd name="connsiteX37" fmla="*/ 318965 w 548219"/>
                <a:gd name="connsiteY37" fmla="*/ 239223 h 548219"/>
                <a:gd name="connsiteX38" fmla="*/ 318965 w 548219"/>
                <a:gd name="connsiteY38" fmla="*/ 308996 h 548219"/>
                <a:gd name="connsiteX39" fmla="*/ 388738 w 548219"/>
                <a:gd name="connsiteY39" fmla="*/ 308996 h 548219"/>
                <a:gd name="connsiteX40" fmla="*/ 388738 w 548219"/>
                <a:gd name="connsiteY40" fmla="*/ 388738 h 548219"/>
                <a:gd name="connsiteX41" fmla="*/ 388738 w 548219"/>
                <a:gd name="connsiteY41" fmla="*/ 318965 h 548219"/>
                <a:gd name="connsiteX42" fmla="*/ 318965 w 548219"/>
                <a:gd name="connsiteY42" fmla="*/ 318965 h 548219"/>
                <a:gd name="connsiteX43" fmla="*/ 318965 w 548219"/>
                <a:gd name="connsiteY43" fmla="*/ 388738 h 548219"/>
                <a:gd name="connsiteX44" fmla="*/ 388738 w 548219"/>
                <a:gd name="connsiteY44" fmla="*/ 388738 h 548219"/>
                <a:gd name="connsiteX45" fmla="*/ 388738 w 548219"/>
                <a:gd name="connsiteY45" fmla="*/ 468479 h 548219"/>
                <a:gd name="connsiteX46" fmla="*/ 388738 w 548219"/>
                <a:gd name="connsiteY46" fmla="*/ 398705 h 548219"/>
                <a:gd name="connsiteX47" fmla="*/ 318965 w 548219"/>
                <a:gd name="connsiteY47" fmla="*/ 398705 h 548219"/>
                <a:gd name="connsiteX48" fmla="*/ 318965 w 548219"/>
                <a:gd name="connsiteY48" fmla="*/ 468479 h 548219"/>
                <a:gd name="connsiteX49" fmla="*/ 388738 w 548219"/>
                <a:gd name="connsiteY49" fmla="*/ 468479 h 548219"/>
                <a:gd name="connsiteX50" fmla="*/ 318965 w 548219"/>
                <a:gd name="connsiteY50" fmla="*/ 548220 h 548219"/>
                <a:gd name="connsiteX51" fmla="*/ 388738 w 548219"/>
                <a:gd name="connsiteY51" fmla="*/ 548220 h 548219"/>
                <a:gd name="connsiteX52" fmla="*/ 388738 w 548219"/>
                <a:gd name="connsiteY52" fmla="*/ 478447 h 548219"/>
                <a:gd name="connsiteX53" fmla="*/ 318965 w 548219"/>
                <a:gd name="connsiteY53" fmla="*/ 478447 h 548219"/>
                <a:gd name="connsiteX54" fmla="*/ 318965 w 548219"/>
                <a:gd name="connsiteY54" fmla="*/ 548220 h 548219"/>
                <a:gd name="connsiteX55" fmla="*/ 239223 w 548219"/>
                <a:gd name="connsiteY55" fmla="*/ 548220 h 548219"/>
                <a:gd name="connsiteX56" fmla="*/ 308996 w 548219"/>
                <a:gd name="connsiteY56" fmla="*/ 548220 h 548219"/>
                <a:gd name="connsiteX57" fmla="*/ 308996 w 548219"/>
                <a:gd name="connsiteY57" fmla="*/ 478447 h 548219"/>
                <a:gd name="connsiteX58" fmla="*/ 239223 w 548219"/>
                <a:gd name="connsiteY58" fmla="*/ 478447 h 548219"/>
                <a:gd name="connsiteX59" fmla="*/ 239223 w 548219"/>
                <a:gd name="connsiteY59" fmla="*/ 548220 h 548219"/>
                <a:gd name="connsiteX60" fmla="*/ 159482 w 548219"/>
                <a:gd name="connsiteY60" fmla="*/ 548220 h 548219"/>
                <a:gd name="connsiteX61" fmla="*/ 229256 w 548219"/>
                <a:gd name="connsiteY61" fmla="*/ 548220 h 548219"/>
                <a:gd name="connsiteX62" fmla="*/ 229256 w 548219"/>
                <a:gd name="connsiteY62" fmla="*/ 478447 h 548219"/>
                <a:gd name="connsiteX63" fmla="*/ 159482 w 548219"/>
                <a:gd name="connsiteY63" fmla="*/ 478447 h 548219"/>
                <a:gd name="connsiteX64" fmla="*/ 159482 w 548219"/>
                <a:gd name="connsiteY64" fmla="*/ 548220 h 548219"/>
                <a:gd name="connsiteX65" fmla="*/ 79741 w 548219"/>
                <a:gd name="connsiteY65" fmla="*/ 548220 h 548219"/>
                <a:gd name="connsiteX66" fmla="*/ 149515 w 548219"/>
                <a:gd name="connsiteY66" fmla="*/ 548220 h 548219"/>
                <a:gd name="connsiteX67" fmla="*/ 149515 w 548219"/>
                <a:gd name="connsiteY67" fmla="*/ 478447 h 548219"/>
                <a:gd name="connsiteX68" fmla="*/ 79741 w 548219"/>
                <a:gd name="connsiteY68" fmla="*/ 478447 h 548219"/>
                <a:gd name="connsiteX69" fmla="*/ 79741 w 548219"/>
                <a:gd name="connsiteY69" fmla="*/ 548220 h 548219"/>
                <a:gd name="connsiteX70" fmla="*/ 0 w 548219"/>
                <a:gd name="connsiteY70" fmla="*/ 478447 h 548219"/>
                <a:gd name="connsiteX71" fmla="*/ 0 w 548219"/>
                <a:gd name="connsiteY71" fmla="*/ 548220 h 548219"/>
                <a:gd name="connsiteX72" fmla="*/ 69773 w 548219"/>
                <a:gd name="connsiteY72" fmla="*/ 548220 h 548219"/>
                <a:gd name="connsiteX73" fmla="*/ 69773 w 548219"/>
                <a:gd name="connsiteY73" fmla="*/ 478447 h 548219"/>
                <a:gd name="connsiteX74" fmla="*/ 0 w 548219"/>
                <a:gd name="connsiteY74" fmla="*/ 478447 h 548219"/>
                <a:gd name="connsiteX75" fmla="*/ 0 w 548219"/>
                <a:gd name="connsiteY75" fmla="*/ 398705 h 548219"/>
                <a:gd name="connsiteX76" fmla="*/ 0 w 548219"/>
                <a:gd name="connsiteY76" fmla="*/ 468479 h 548219"/>
                <a:gd name="connsiteX77" fmla="*/ 69773 w 548219"/>
                <a:gd name="connsiteY77" fmla="*/ 468479 h 548219"/>
                <a:gd name="connsiteX78" fmla="*/ 69773 w 548219"/>
                <a:gd name="connsiteY78" fmla="*/ 398705 h 548219"/>
                <a:gd name="connsiteX79" fmla="*/ 0 w 548219"/>
                <a:gd name="connsiteY79" fmla="*/ 398705 h 548219"/>
                <a:gd name="connsiteX80" fmla="*/ 0 w 548219"/>
                <a:gd name="connsiteY80" fmla="*/ 318965 h 548219"/>
                <a:gd name="connsiteX81" fmla="*/ 0 w 548219"/>
                <a:gd name="connsiteY81" fmla="*/ 388738 h 548219"/>
                <a:gd name="connsiteX82" fmla="*/ 69773 w 548219"/>
                <a:gd name="connsiteY82" fmla="*/ 388738 h 548219"/>
                <a:gd name="connsiteX83" fmla="*/ 69773 w 548219"/>
                <a:gd name="connsiteY83" fmla="*/ 318965 h 548219"/>
                <a:gd name="connsiteX84" fmla="*/ 0 w 548219"/>
                <a:gd name="connsiteY84" fmla="*/ 318965 h 548219"/>
                <a:gd name="connsiteX85" fmla="*/ 0 w 548219"/>
                <a:gd name="connsiteY85" fmla="*/ 239223 h 548219"/>
                <a:gd name="connsiteX86" fmla="*/ 0 w 548219"/>
                <a:gd name="connsiteY86" fmla="*/ 308996 h 548219"/>
                <a:gd name="connsiteX87" fmla="*/ 69773 w 548219"/>
                <a:gd name="connsiteY87" fmla="*/ 308996 h 548219"/>
                <a:gd name="connsiteX88" fmla="*/ 69773 w 548219"/>
                <a:gd name="connsiteY88" fmla="*/ 239223 h 548219"/>
                <a:gd name="connsiteX89" fmla="*/ 0 w 548219"/>
                <a:gd name="connsiteY89" fmla="*/ 239223 h 548219"/>
                <a:gd name="connsiteX90" fmla="*/ 0 w 548219"/>
                <a:gd name="connsiteY90" fmla="*/ 159482 h 548219"/>
                <a:gd name="connsiteX91" fmla="*/ 0 w 548219"/>
                <a:gd name="connsiteY91" fmla="*/ 229256 h 548219"/>
                <a:gd name="connsiteX92" fmla="*/ 69773 w 548219"/>
                <a:gd name="connsiteY92" fmla="*/ 229256 h 548219"/>
                <a:gd name="connsiteX93" fmla="*/ 69773 w 548219"/>
                <a:gd name="connsiteY93" fmla="*/ 159482 h 548219"/>
                <a:gd name="connsiteX94" fmla="*/ 0 w 548219"/>
                <a:gd name="connsiteY94" fmla="*/ 159482 h 548219"/>
                <a:gd name="connsiteX95" fmla="*/ 0 w 548219"/>
                <a:gd name="connsiteY95" fmla="*/ 79742 h 548219"/>
                <a:gd name="connsiteX96" fmla="*/ 0 w 548219"/>
                <a:gd name="connsiteY96" fmla="*/ 149515 h 548219"/>
                <a:gd name="connsiteX97" fmla="*/ 69773 w 548219"/>
                <a:gd name="connsiteY97" fmla="*/ 149515 h 548219"/>
                <a:gd name="connsiteX98" fmla="*/ 69773 w 548219"/>
                <a:gd name="connsiteY98" fmla="*/ 79742 h 548219"/>
                <a:gd name="connsiteX99" fmla="*/ 0 w 548219"/>
                <a:gd name="connsiteY99" fmla="*/ 79742 h 548219"/>
                <a:gd name="connsiteX100" fmla="*/ 149515 w 548219"/>
                <a:gd name="connsiteY100" fmla="*/ 79742 h 548219"/>
                <a:gd name="connsiteX101" fmla="*/ 79741 w 548219"/>
                <a:gd name="connsiteY101" fmla="*/ 79742 h 548219"/>
                <a:gd name="connsiteX102" fmla="*/ 79741 w 548219"/>
                <a:gd name="connsiteY102" fmla="*/ 149515 h 548219"/>
                <a:gd name="connsiteX103" fmla="*/ 149515 w 548219"/>
                <a:gd name="connsiteY103" fmla="*/ 149515 h 548219"/>
                <a:gd name="connsiteX104" fmla="*/ 149515 w 548219"/>
                <a:gd name="connsiteY104" fmla="*/ 79742 h 548219"/>
                <a:gd name="connsiteX105" fmla="*/ 229256 w 548219"/>
                <a:gd name="connsiteY105" fmla="*/ 79742 h 548219"/>
                <a:gd name="connsiteX106" fmla="*/ 159482 w 548219"/>
                <a:gd name="connsiteY106" fmla="*/ 79742 h 548219"/>
                <a:gd name="connsiteX107" fmla="*/ 159482 w 548219"/>
                <a:gd name="connsiteY107" fmla="*/ 149515 h 548219"/>
                <a:gd name="connsiteX108" fmla="*/ 229256 w 548219"/>
                <a:gd name="connsiteY108" fmla="*/ 149515 h 548219"/>
                <a:gd name="connsiteX109" fmla="*/ 229256 w 548219"/>
                <a:gd name="connsiteY109" fmla="*/ 79742 h 548219"/>
                <a:gd name="connsiteX110" fmla="*/ 308996 w 548219"/>
                <a:gd name="connsiteY110" fmla="*/ 79742 h 548219"/>
                <a:gd name="connsiteX111" fmla="*/ 239223 w 548219"/>
                <a:gd name="connsiteY111" fmla="*/ 79742 h 548219"/>
                <a:gd name="connsiteX112" fmla="*/ 239223 w 548219"/>
                <a:gd name="connsiteY112" fmla="*/ 149515 h 548219"/>
                <a:gd name="connsiteX113" fmla="*/ 308996 w 548219"/>
                <a:gd name="connsiteY113" fmla="*/ 149515 h 548219"/>
                <a:gd name="connsiteX114" fmla="*/ 308996 w 548219"/>
                <a:gd name="connsiteY114" fmla="*/ 79742 h 548219"/>
                <a:gd name="connsiteX115" fmla="*/ 308996 w 548219"/>
                <a:gd name="connsiteY115" fmla="*/ 229256 h 548219"/>
                <a:gd name="connsiteX116" fmla="*/ 308996 w 548219"/>
                <a:gd name="connsiteY116" fmla="*/ 159482 h 548219"/>
                <a:gd name="connsiteX117" fmla="*/ 239223 w 548219"/>
                <a:gd name="connsiteY117" fmla="*/ 159482 h 548219"/>
                <a:gd name="connsiteX118" fmla="*/ 239223 w 548219"/>
                <a:gd name="connsiteY118" fmla="*/ 229256 h 548219"/>
                <a:gd name="connsiteX119" fmla="*/ 308996 w 548219"/>
                <a:gd name="connsiteY119" fmla="*/ 229256 h 548219"/>
                <a:gd name="connsiteX120" fmla="*/ 308996 w 548219"/>
                <a:gd name="connsiteY120" fmla="*/ 308996 h 548219"/>
                <a:gd name="connsiteX121" fmla="*/ 308996 w 548219"/>
                <a:gd name="connsiteY121" fmla="*/ 239223 h 548219"/>
                <a:gd name="connsiteX122" fmla="*/ 239223 w 548219"/>
                <a:gd name="connsiteY122" fmla="*/ 239223 h 548219"/>
                <a:gd name="connsiteX123" fmla="*/ 239223 w 548219"/>
                <a:gd name="connsiteY123" fmla="*/ 308996 h 548219"/>
                <a:gd name="connsiteX124" fmla="*/ 308996 w 548219"/>
                <a:gd name="connsiteY124" fmla="*/ 308996 h 548219"/>
                <a:gd name="connsiteX125" fmla="*/ 308996 w 548219"/>
                <a:gd name="connsiteY125" fmla="*/ 388738 h 548219"/>
                <a:gd name="connsiteX126" fmla="*/ 308996 w 548219"/>
                <a:gd name="connsiteY126" fmla="*/ 318965 h 548219"/>
                <a:gd name="connsiteX127" fmla="*/ 239223 w 548219"/>
                <a:gd name="connsiteY127" fmla="*/ 318965 h 548219"/>
                <a:gd name="connsiteX128" fmla="*/ 239223 w 548219"/>
                <a:gd name="connsiteY128" fmla="*/ 388738 h 548219"/>
                <a:gd name="connsiteX129" fmla="*/ 308996 w 548219"/>
                <a:gd name="connsiteY129" fmla="*/ 388738 h 548219"/>
                <a:gd name="connsiteX130" fmla="*/ 308996 w 548219"/>
                <a:gd name="connsiteY130" fmla="*/ 468479 h 548219"/>
                <a:gd name="connsiteX131" fmla="*/ 308996 w 548219"/>
                <a:gd name="connsiteY131" fmla="*/ 398705 h 548219"/>
                <a:gd name="connsiteX132" fmla="*/ 239223 w 548219"/>
                <a:gd name="connsiteY132" fmla="*/ 398705 h 548219"/>
                <a:gd name="connsiteX133" fmla="*/ 239223 w 548219"/>
                <a:gd name="connsiteY133" fmla="*/ 468479 h 548219"/>
                <a:gd name="connsiteX134" fmla="*/ 308996 w 548219"/>
                <a:gd name="connsiteY134" fmla="*/ 468479 h 548219"/>
                <a:gd name="connsiteX135" fmla="*/ 159482 w 548219"/>
                <a:gd name="connsiteY135" fmla="*/ 468479 h 548219"/>
                <a:gd name="connsiteX136" fmla="*/ 229256 w 548219"/>
                <a:gd name="connsiteY136" fmla="*/ 468479 h 548219"/>
                <a:gd name="connsiteX137" fmla="*/ 229256 w 548219"/>
                <a:gd name="connsiteY137" fmla="*/ 398705 h 548219"/>
                <a:gd name="connsiteX138" fmla="*/ 159482 w 548219"/>
                <a:gd name="connsiteY138" fmla="*/ 398705 h 548219"/>
                <a:gd name="connsiteX139" fmla="*/ 159482 w 548219"/>
                <a:gd name="connsiteY139" fmla="*/ 468479 h 548219"/>
                <a:gd name="connsiteX140" fmla="*/ 79741 w 548219"/>
                <a:gd name="connsiteY140" fmla="*/ 468479 h 548219"/>
                <a:gd name="connsiteX141" fmla="*/ 149515 w 548219"/>
                <a:gd name="connsiteY141" fmla="*/ 468479 h 548219"/>
                <a:gd name="connsiteX142" fmla="*/ 149515 w 548219"/>
                <a:gd name="connsiteY142" fmla="*/ 398705 h 548219"/>
                <a:gd name="connsiteX143" fmla="*/ 79741 w 548219"/>
                <a:gd name="connsiteY143" fmla="*/ 398705 h 548219"/>
                <a:gd name="connsiteX144" fmla="*/ 79741 w 548219"/>
                <a:gd name="connsiteY144" fmla="*/ 468479 h 548219"/>
                <a:gd name="connsiteX145" fmla="*/ 79741 w 548219"/>
                <a:gd name="connsiteY145" fmla="*/ 318965 h 548219"/>
                <a:gd name="connsiteX146" fmla="*/ 79741 w 548219"/>
                <a:gd name="connsiteY146" fmla="*/ 388738 h 548219"/>
                <a:gd name="connsiteX147" fmla="*/ 149515 w 548219"/>
                <a:gd name="connsiteY147" fmla="*/ 388738 h 548219"/>
                <a:gd name="connsiteX148" fmla="*/ 149515 w 548219"/>
                <a:gd name="connsiteY148" fmla="*/ 318965 h 548219"/>
                <a:gd name="connsiteX149" fmla="*/ 79741 w 548219"/>
                <a:gd name="connsiteY149" fmla="*/ 318965 h 548219"/>
                <a:gd name="connsiteX150" fmla="*/ 79741 w 548219"/>
                <a:gd name="connsiteY150" fmla="*/ 239223 h 548219"/>
                <a:gd name="connsiteX151" fmla="*/ 79741 w 548219"/>
                <a:gd name="connsiteY151" fmla="*/ 308996 h 548219"/>
                <a:gd name="connsiteX152" fmla="*/ 149515 w 548219"/>
                <a:gd name="connsiteY152" fmla="*/ 308996 h 548219"/>
                <a:gd name="connsiteX153" fmla="*/ 149515 w 548219"/>
                <a:gd name="connsiteY153" fmla="*/ 239223 h 548219"/>
                <a:gd name="connsiteX154" fmla="*/ 79741 w 548219"/>
                <a:gd name="connsiteY154" fmla="*/ 239223 h 548219"/>
                <a:gd name="connsiteX155" fmla="*/ 79741 w 548219"/>
                <a:gd name="connsiteY155" fmla="*/ 159482 h 548219"/>
                <a:gd name="connsiteX156" fmla="*/ 79741 w 548219"/>
                <a:gd name="connsiteY156" fmla="*/ 229256 h 548219"/>
                <a:gd name="connsiteX157" fmla="*/ 149515 w 548219"/>
                <a:gd name="connsiteY157" fmla="*/ 229256 h 548219"/>
                <a:gd name="connsiteX158" fmla="*/ 149515 w 548219"/>
                <a:gd name="connsiteY158" fmla="*/ 159482 h 548219"/>
                <a:gd name="connsiteX159" fmla="*/ 79741 w 548219"/>
                <a:gd name="connsiteY159" fmla="*/ 159482 h 548219"/>
                <a:gd name="connsiteX160" fmla="*/ 229256 w 548219"/>
                <a:gd name="connsiteY160" fmla="*/ 159482 h 548219"/>
                <a:gd name="connsiteX161" fmla="*/ 159482 w 548219"/>
                <a:gd name="connsiteY161" fmla="*/ 159482 h 548219"/>
                <a:gd name="connsiteX162" fmla="*/ 159482 w 548219"/>
                <a:gd name="connsiteY162" fmla="*/ 229256 h 548219"/>
                <a:gd name="connsiteX163" fmla="*/ 229256 w 548219"/>
                <a:gd name="connsiteY163" fmla="*/ 229256 h 548219"/>
                <a:gd name="connsiteX164" fmla="*/ 229256 w 548219"/>
                <a:gd name="connsiteY164" fmla="*/ 159482 h 548219"/>
                <a:gd name="connsiteX165" fmla="*/ 229256 w 548219"/>
                <a:gd name="connsiteY165" fmla="*/ 308996 h 548219"/>
                <a:gd name="connsiteX166" fmla="*/ 229256 w 548219"/>
                <a:gd name="connsiteY166" fmla="*/ 239223 h 548219"/>
                <a:gd name="connsiteX167" fmla="*/ 159482 w 548219"/>
                <a:gd name="connsiteY167" fmla="*/ 239223 h 548219"/>
                <a:gd name="connsiteX168" fmla="*/ 159482 w 548219"/>
                <a:gd name="connsiteY168" fmla="*/ 308996 h 548219"/>
                <a:gd name="connsiteX169" fmla="*/ 229256 w 548219"/>
                <a:gd name="connsiteY169" fmla="*/ 308996 h 548219"/>
                <a:gd name="connsiteX170" fmla="*/ 229256 w 548219"/>
                <a:gd name="connsiteY170" fmla="*/ 388738 h 548219"/>
                <a:gd name="connsiteX171" fmla="*/ 229256 w 548219"/>
                <a:gd name="connsiteY171" fmla="*/ 318965 h 548219"/>
                <a:gd name="connsiteX172" fmla="*/ 159482 w 548219"/>
                <a:gd name="connsiteY172" fmla="*/ 318965 h 548219"/>
                <a:gd name="connsiteX173" fmla="*/ 159482 w 548219"/>
                <a:gd name="connsiteY173" fmla="*/ 388738 h 548219"/>
                <a:gd name="connsiteX174" fmla="*/ 229256 w 548219"/>
                <a:gd name="connsiteY174" fmla="*/ 388738 h 548219"/>
                <a:gd name="connsiteX175" fmla="*/ 548220 w 548219"/>
                <a:gd name="connsiteY175" fmla="*/ 69773 h 548219"/>
                <a:gd name="connsiteX176" fmla="*/ 548220 w 548219"/>
                <a:gd name="connsiteY176" fmla="*/ 0 h 548219"/>
                <a:gd name="connsiteX177" fmla="*/ 478446 w 548219"/>
                <a:gd name="connsiteY177" fmla="*/ 0 h 548219"/>
                <a:gd name="connsiteX178" fmla="*/ 478446 w 548219"/>
                <a:gd name="connsiteY178" fmla="*/ 39870 h 548219"/>
                <a:gd name="connsiteX179" fmla="*/ 478446 w 548219"/>
                <a:gd name="connsiteY179" fmla="*/ 69773 h 548219"/>
                <a:gd name="connsiteX180" fmla="*/ 548220 w 548219"/>
                <a:gd name="connsiteY180" fmla="*/ 69773 h 548219"/>
                <a:gd name="connsiteX181" fmla="*/ 548220 w 548219"/>
                <a:gd name="connsiteY181" fmla="*/ 149515 h 548219"/>
                <a:gd name="connsiteX182" fmla="*/ 548220 w 548219"/>
                <a:gd name="connsiteY182" fmla="*/ 79742 h 548219"/>
                <a:gd name="connsiteX183" fmla="*/ 478446 w 548219"/>
                <a:gd name="connsiteY183" fmla="*/ 79742 h 548219"/>
                <a:gd name="connsiteX184" fmla="*/ 478446 w 548219"/>
                <a:gd name="connsiteY184" fmla="*/ 149515 h 548219"/>
                <a:gd name="connsiteX185" fmla="*/ 548220 w 548219"/>
                <a:gd name="connsiteY185" fmla="*/ 149515 h 548219"/>
                <a:gd name="connsiteX186" fmla="*/ 548220 w 548219"/>
                <a:gd name="connsiteY186" fmla="*/ 229256 h 548219"/>
                <a:gd name="connsiteX187" fmla="*/ 548220 w 548219"/>
                <a:gd name="connsiteY187" fmla="*/ 159482 h 548219"/>
                <a:gd name="connsiteX188" fmla="*/ 478446 w 548219"/>
                <a:gd name="connsiteY188" fmla="*/ 159482 h 548219"/>
                <a:gd name="connsiteX189" fmla="*/ 478446 w 548219"/>
                <a:gd name="connsiteY189" fmla="*/ 229256 h 548219"/>
                <a:gd name="connsiteX190" fmla="*/ 548220 w 548219"/>
                <a:gd name="connsiteY190" fmla="*/ 229256 h 548219"/>
                <a:gd name="connsiteX191" fmla="*/ 548220 w 548219"/>
                <a:gd name="connsiteY191" fmla="*/ 308996 h 548219"/>
                <a:gd name="connsiteX192" fmla="*/ 548220 w 548219"/>
                <a:gd name="connsiteY192" fmla="*/ 239223 h 548219"/>
                <a:gd name="connsiteX193" fmla="*/ 478446 w 548219"/>
                <a:gd name="connsiteY193" fmla="*/ 239223 h 548219"/>
                <a:gd name="connsiteX194" fmla="*/ 478446 w 548219"/>
                <a:gd name="connsiteY194" fmla="*/ 308996 h 548219"/>
                <a:gd name="connsiteX195" fmla="*/ 548220 w 548219"/>
                <a:gd name="connsiteY195" fmla="*/ 308996 h 548219"/>
                <a:gd name="connsiteX196" fmla="*/ 548220 w 548219"/>
                <a:gd name="connsiteY196" fmla="*/ 388738 h 548219"/>
                <a:gd name="connsiteX197" fmla="*/ 548220 w 548219"/>
                <a:gd name="connsiteY197" fmla="*/ 318965 h 548219"/>
                <a:gd name="connsiteX198" fmla="*/ 478446 w 548219"/>
                <a:gd name="connsiteY198" fmla="*/ 318965 h 548219"/>
                <a:gd name="connsiteX199" fmla="*/ 478446 w 548219"/>
                <a:gd name="connsiteY199" fmla="*/ 388738 h 548219"/>
                <a:gd name="connsiteX200" fmla="*/ 548220 w 548219"/>
                <a:gd name="connsiteY200" fmla="*/ 388738 h 548219"/>
                <a:gd name="connsiteX201" fmla="*/ 548220 w 548219"/>
                <a:gd name="connsiteY201" fmla="*/ 468479 h 548219"/>
                <a:gd name="connsiteX202" fmla="*/ 548220 w 548219"/>
                <a:gd name="connsiteY202" fmla="*/ 398705 h 548219"/>
                <a:gd name="connsiteX203" fmla="*/ 478446 w 548219"/>
                <a:gd name="connsiteY203" fmla="*/ 398705 h 548219"/>
                <a:gd name="connsiteX204" fmla="*/ 478446 w 548219"/>
                <a:gd name="connsiteY204" fmla="*/ 468479 h 548219"/>
                <a:gd name="connsiteX205" fmla="*/ 548220 w 548219"/>
                <a:gd name="connsiteY205" fmla="*/ 468479 h 548219"/>
                <a:gd name="connsiteX206" fmla="*/ 478446 w 548219"/>
                <a:gd name="connsiteY206" fmla="*/ 478447 h 548219"/>
                <a:gd name="connsiteX207" fmla="*/ 478446 w 548219"/>
                <a:gd name="connsiteY207" fmla="*/ 548220 h 548219"/>
                <a:gd name="connsiteX208" fmla="*/ 548220 w 548219"/>
                <a:gd name="connsiteY208" fmla="*/ 548220 h 548219"/>
                <a:gd name="connsiteX209" fmla="*/ 548220 w 548219"/>
                <a:gd name="connsiteY209" fmla="*/ 478447 h 548219"/>
                <a:gd name="connsiteX210" fmla="*/ 478446 w 548219"/>
                <a:gd name="connsiteY210" fmla="*/ 478447 h 54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548219" h="548219">
                  <a:moveTo>
                    <a:pt x="69773" y="0"/>
                  </a:moveTo>
                  <a:cubicBezTo>
                    <a:pt x="69773" y="0"/>
                    <a:pt x="0" y="0"/>
                    <a:pt x="0" y="0"/>
                  </a:cubicBezTo>
                  <a:lnTo>
                    <a:pt x="0" y="69773"/>
                  </a:lnTo>
                  <a:lnTo>
                    <a:pt x="69773" y="69773"/>
                  </a:lnTo>
                  <a:lnTo>
                    <a:pt x="69773" y="0"/>
                  </a:lnTo>
                  <a:close/>
                  <a:moveTo>
                    <a:pt x="79741" y="0"/>
                  </a:moveTo>
                  <a:lnTo>
                    <a:pt x="79741" y="69773"/>
                  </a:lnTo>
                  <a:lnTo>
                    <a:pt x="149515" y="69773"/>
                  </a:lnTo>
                  <a:lnTo>
                    <a:pt x="149515" y="0"/>
                  </a:lnTo>
                  <a:cubicBezTo>
                    <a:pt x="149515" y="0"/>
                    <a:pt x="79741" y="0"/>
                    <a:pt x="79741" y="0"/>
                  </a:cubicBezTo>
                  <a:close/>
                  <a:moveTo>
                    <a:pt x="159482" y="0"/>
                  </a:moveTo>
                  <a:lnTo>
                    <a:pt x="159482" y="69773"/>
                  </a:lnTo>
                  <a:lnTo>
                    <a:pt x="229256" y="69773"/>
                  </a:lnTo>
                  <a:lnTo>
                    <a:pt x="229256" y="0"/>
                  </a:lnTo>
                  <a:cubicBezTo>
                    <a:pt x="229256" y="0"/>
                    <a:pt x="159482" y="0"/>
                    <a:pt x="159482" y="0"/>
                  </a:cubicBezTo>
                  <a:close/>
                  <a:moveTo>
                    <a:pt x="239223" y="0"/>
                  </a:moveTo>
                  <a:lnTo>
                    <a:pt x="239223" y="69773"/>
                  </a:lnTo>
                  <a:lnTo>
                    <a:pt x="308996" y="69773"/>
                  </a:lnTo>
                  <a:lnTo>
                    <a:pt x="308996" y="0"/>
                  </a:lnTo>
                  <a:cubicBezTo>
                    <a:pt x="308996" y="0"/>
                    <a:pt x="239223" y="0"/>
                    <a:pt x="239223" y="0"/>
                  </a:cubicBezTo>
                  <a:close/>
                  <a:moveTo>
                    <a:pt x="318965" y="0"/>
                  </a:moveTo>
                  <a:lnTo>
                    <a:pt x="318965" y="69773"/>
                  </a:lnTo>
                  <a:lnTo>
                    <a:pt x="388738" y="69773"/>
                  </a:lnTo>
                  <a:lnTo>
                    <a:pt x="388738" y="0"/>
                  </a:lnTo>
                  <a:cubicBezTo>
                    <a:pt x="388738" y="0"/>
                    <a:pt x="318965" y="0"/>
                    <a:pt x="318965" y="0"/>
                  </a:cubicBezTo>
                  <a:close/>
                  <a:moveTo>
                    <a:pt x="388738" y="149515"/>
                  </a:moveTo>
                  <a:lnTo>
                    <a:pt x="388738" y="79742"/>
                  </a:lnTo>
                  <a:lnTo>
                    <a:pt x="318965" y="79742"/>
                  </a:lnTo>
                  <a:lnTo>
                    <a:pt x="318965" y="149515"/>
                  </a:lnTo>
                  <a:lnTo>
                    <a:pt x="388738" y="149515"/>
                  </a:lnTo>
                  <a:close/>
                  <a:moveTo>
                    <a:pt x="388738" y="229256"/>
                  </a:moveTo>
                  <a:lnTo>
                    <a:pt x="388738" y="159482"/>
                  </a:lnTo>
                  <a:lnTo>
                    <a:pt x="318965" y="159482"/>
                  </a:lnTo>
                  <a:lnTo>
                    <a:pt x="318965" y="229256"/>
                  </a:lnTo>
                  <a:lnTo>
                    <a:pt x="388738" y="229256"/>
                  </a:lnTo>
                  <a:close/>
                  <a:moveTo>
                    <a:pt x="388738" y="308996"/>
                  </a:moveTo>
                  <a:lnTo>
                    <a:pt x="388738" y="239223"/>
                  </a:lnTo>
                  <a:lnTo>
                    <a:pt x="318965" y="239223"/>
                  </a:lnTo>
                  <a:lnTo>
                    <a:pt x="318965" y="308996"/>
                  </a:lnTo>
                  <a:lnTo>
                    <a:pt x="388738" y="308996"/>
                  </a:lnTo>
                  <a:close/>
                  <a:moveTo>
                    <a:pt x="388738" y="388738"/>
                  </a:moveTo>
                  <a:lnTo>
                    <a:pt x="388738" y="318965"/>
                  </a:lnTo>
                  <a:lnTo>
                    <a:pt x="318965" y="318965"/>
                  </a:lnTo>
                  <a:lnTo>
                    <a:pt x="318965" y="388738"/>
                  </a:lnTo>
                  <a:lnTo>
                    <a:pt x="388738" y="388738"/>
                  </a:lnTo>
                  <a:close/>
                  <a:moveTo>
                    <a:pt x="388738" y="468479"/>
                  </a:moveTo>
                  <a:lnTo>
                    <a:pt x="388738" y="398705"/>
                  </a:lnTo>
                  <a:lnTo>
                    <a:pt x="318965" y="398705"/>
                  </a:lnTo>
                  <a:lnTo>
                    <a:pt x="318965" y="468479"/>
                  </a:lnTo>
                  <a:lnTo>
                    <a:pt x="388738" y="468479"/>
                  </a:lnTo>
                  <a:close/>
                  <a:moveTo>
                    <a:pt x="318965" y="548220"/>
                  </a:moveTo>
                  <a:lnTo>
                    <a:pt x="388738" y="548220"/>
                  </a:lnTo>
                  <a:lnTo>
                    <a:pt x="388738" y="478447"/>
                  </a:lnTo>
                  <a:lnTo>
                    <a:pt x="318965" y="478447"/>
                  </a:lnTo>
                  <a:lnTo>
                    <a:pt x="318965" y="548220"/>
                  </a:lnTo>
                  <a:close/>
                  <a:moveTo>
                    <a:pt x="239223" y="548220"/>
                  </a:moveTo>
                  <a:lnTo>
                    <a:pt x="308996" y="548220"/>
                  </a:lnTo>
                  <a:lnTo>
                    <a:pt x="308996" y="478447"/>
                  </a:lnTo>
                  <a:lnTo>
                    <a:pt x="239223" y="478447"/>
                  </a:lnTo>
                  <a:lnTo>
                    <a:pt x="239223" y="548220"/>
                  </a:lnTo>
                  <a:close/>
                  <a:moveTo>
                    <a:pt x="159482" y="548220"/>
                  </a:moveTo>
                  <a:lnTo>
                    <a:pt x="229256" y="548220"/>
                  </a:lnTo>
                  <a:lnTo>
                    <a:pt x="229256" y="478447"/>
                  </a:lnTo>
                  <a:lnTo>
                    <a:pt x="159482" y="478447"/>
                  </a:lnTo>
                  <a:lnTo>
                    <a:pt x="159482" y="548220"/>
                  </a:lnTo>
                  <a:close/>
                  <a:moveTo>
                    <a:pt x="79741" y="548220"/>
                  </a:moveTo>
                  <a:lnTo>
                    <a:pt x="149515" y="548220"/>
                  </a:lnTo>
                  <a:lnTo>
                    <a:pt x="149515" y="478447"/>
                  </a:lnTo>
                  <a:lnTo>
                    <a:pt x="79741" y="478447"/>
                  </a:lnTo>
                  <a:lnTo>
                    <a:pt x="79741" y="548220"/>
                  </a:lnTo>
                  <a:close/>
                  <a:moveTo>
                    <a:pt x="0" y="478447"/>
                  </a:moveTo>
                  <a:lnTo>
                    <a:pt x="0" y="548220"/>
                  </a:lnTo>
                  <a:lnTo>
                    <a:pt x="69773" y="548220"/>
                  </a:lnTo>
                  <a:lnTo>
                    <a:pt x="69773" y="478447"/>
                  </a:lnTo>
                  <a:lnTo>
                    <a:pt x="0" y="478447"/>
                  </a:lnTo>
                  <a:close/>
                  <a:moveTo>
                    <a:pt x="0" y="398705"/>
                  </a:moveTo>
                  <a:lnTo>
                    <a:pt x="0" y="468479"/>
                  </a:lnTo>
                  <a:lnTo>
                    <a:pt x="69773" y="468479"/>
                  </a:lnTo>
                  <a:lnTo>
                    <a:pt x="69773" y="398705"/>
                  </a:lnTo>
                  <a:lnTo>
                    <a:pt x="0" y="398705"/>
                  </a:lnTo>
                  <a:close/>
                  <a:moveTo>
                    <a:pt x="0" y="318965"/>
                  </a:moveTo>
                  <a:lnTo>
                    <a:pt x="0" y="388738"/>
                  </a:lnTo>
                  <a:lnTo>
                    <a:pt x="69773" y="388738"/>
                  </a:lnTo>
                  <a:lnTo>
                    <a:pt x="69773" y="318965"/>
                  </a:lnTo>
                  <a:lnTo>
                    <a:pt x="0" y="318965"/>
                  </a:lnTo>
                  <a:close/>
                  <a:moveTo>
                    <a:pt x="0" y="239223"/>
                  </a:moveTo>
                  <a:lnTo>
                    <a:pt x="0" y="308996"/>
                  </a:lnTo>
                  <a:lnTo>
                    <a:pt x="69773" y="308996"/>
                  </a:lnTo>
                  <a:lnTo>
                    <a:pt x="69773" y="239223"/>
                  </a:lnTo>
                  <a:lnTo>
                    <a:pt x="0" y="239223"/>
                  </a:lnTo>
                  <a:close/>
                  <a:moveTo>
                    <a:pt x="0" y="159482"/>
                  </a:moveTo>
                  <a:lnTo>
                    <a:pt x="0" y="229256"/>
                  </a:lnTo>
                  <a:lnTo>
                    <a:pt x="69773" y="229256"/>
                  </a:lnTo>
                  <a:lnTo>
                    <a:pt x="69773" y="159482"/>
                  </a:lnTo>
                  <a:lnTo>
                    <a:pt x="0" y="159482"/>
                  </a:lnTo>
                  <a:close/>
                  <a:moveTo>
                    <a:pt x="0" y="79742"/>
                  </a:moveTo>
                  <a:lnTo>
                    <a:pt x="0" y="149515"/>
                  </a:lnTo>
                  <a:lnTo>
                    <a:pt x="69773" y="149515"/>
                  </a:lnTo>
                  <a:lnTo>
                    <a:pt x="69773" y="79742"/>
                  </a:lnTo>
                  <a:lnTo>
                    <a:pt x="0" y="79742"/>
                  </a:lnTo>
                  <a:close/>
                  <a:moveTo>
                    <a:pt x="149515" y="79742"/>
                  </a:moveTo>
                  <a:lnTo>
                    <a:pt x="79741" y="79742"/>
                  </a:lnTo>
                  <a:lnTo>
                    <a:pt x="79741" y="149515"/>
                  </a:lnTo>
                  <a:lnTo>
                    <a:pt x="149515" y="149515"/>
                  </a:lnTo>
                  <a:lnTo>
                    <a:pt x="149515" y="79742"/>
                  </a:lnTo>
                  <a:close/>
                  <a:moveTo>
                    <a:pt x="229256" y="79742"/>
                  </a:moveTo>
                  <a:lnTo>
                    <a:pt x="159482" y="79742"/>
                  </a:lnTo>
                  <a:lnTo>
                    <a:pt x="159482" y="149515"/>
                  </a:lnTo>
                  <a:lnTo>
                    <a:pt x="229256" y="149515"/>
                  </a:lnTo>
                  <a:lnTo>
                    <a:pt x="229256" y="79742"/>
                  </a:lnTo>
                  <a:close/>
                  <a:moveTo>
                    <a:pt x="308996" y="79742"/>
                  </a:moveTo>
                  <a:lnTo>
                    <a:pt x="239223" y="79742"/>
                  </a:lnTo>
                  <a:lnTo>
                    <a:pt x="239223" y="149515"/>
                  </a:lnTo>
                  <a:lnTo>
                    <a:pt x="308996" y="149515"/>
                  </a:lnTo>
                  <a:lnTo>
                    <a:pt x="308996" y="79742"/>
                  </a:lnTo>
                  <a:close/>
                  <a:moveTo>
                    <a:pt x="308996" y="229256"/>
                  </a:moveTo>
                  <a:lnTo>
                    <a:pt x="308996" y="159482"/>
                  </a:lnTo>
                  <a:lnTo>
                    <a:pt x="239223" y="159482"/>
                  </a:lnTo>
                  <a:lnTo>
                    <a:pt x="239223" y="229256"/>
                  </a:lnTo>
                  <a:lnTo>
                    <a:pt x="308996" y="229256"/>
                  </a:lnTo>
                  <a:close/>
                  <a:moveTo>
                    <a:pt x="308996" y="308996"/>
                  </a:moveTo>
                  <a:lnTo>
                    <a:pt x="308996" y="239223"/>
                  </a:lnTo>
                  <a:lnTo>
                    <a:pt x="239223" y="239223"/>
                  </a:lnTo>
                  <a:lnTo>
                    <a:pt x="239223" y="308996"/>
                  </a:lnTo>
                  <a:lnTo>
                    <a:pt x="308996" y="308996"/>
                  </a:lnTo>
                  <a:close/>
                  <a:moveTo>
                    <a:pt x="308996" y="388738"/>
                  </a:moveTo>
                  <a:lnTo>
                    <a:pt x="308996" y="318965"/>
                  </a:lnTo>
                  <a:lnTo>
                    <a:pt x="239223" y="318965"/>
                  </a:lnTo>
                  <a:lnTo>
                    <a:pt x="239223" y="388738"/>
                  </a:lnTo>
                  <a:lnTo>
                    <a:pt x="308996" y="388738"/>
                  </a:lnTo>
                  <a:close/>
                  <a:moveTo>
                    <a:pt x="308996" y="468479"/>
                  </a:moveTo>
                  <a:lnTo>
                    <a:pt x="308996" y="398705"/>
                  </a:lnTo>
                  <a:lnTo>
                    <a:pt x="239223" y="398705"/>
                  </a:lnTo>
                  <a:lnTo>
                    <a:pt x="239223" y="468479"/>
                  </a:lnTo>
                  <a:lnTo>
                    <a:pt x="308996" y="468479"/>
                  </a:lnTo>
                  <a:close/>
                  <a:moveTo>
                    <a:pt x="159482" y="468479"/>
                  </a:moveTo>
                  <a:lnTo>
                    <a:pt x="229256" y="468479"/>
                  </a:lnTo>
                  <a:lnTo>
                    <a:pt x="229256" y="398705"/>
                  </a:lnTo>
                  <a:lnTo>
                    <a:pt x="159482" y="398705"/>
                  </a:lnTo>
                  <a:lnTo>
                    <a:pt x="159482" y="468479"/>
                  </a:lnTo>
                  <a:close/>
                  <a:moveTo>
                    <a:pt x="79741" y="468479"/>
                  </a:moveTo>
                  <a:lnTo>
                    <a:pt x="149515" y="468479"/>
                  </a:lnTo>
                  <a:lnTo>
                    <a:pt x="149515" y="398705"/>
                  </a:lnTo>
                  <a:lnTo>
                    <a:pt x="79741" y="398705"/>
                  </a:lnTo>
                  <a:lnTo>
                    <a:pt x="79741" y="468479"/>
                  </a:lnTo>
                  <a:close/>
                  <a:moveTo>
                    <a:pt x="79741" y="318965"/>
                  </a:moveTo>
                  <a:lnTo>
                    <a:pt x="79741" y="388738"/>
                  </a:lnTo>
                  <a:lnTo>
                    <a:pt x="149515" y="388738"/>
                  </a:lnTo>
                  <a:lnTo>
                    <a:pt x="149515" y="318965"/>
                  </a:lnTo>
                  <a:lnTo>
                    <a:pt x="79741" y="318965"/>
                  </a:lnTo>
                  <a:close/>
                  <a:moveTo>
                    <a:pt x="79741" y="239223"/>
                  </a:moveTo>
                  <a:lnTo>
                    <a:pt x="79741" y="308996"/>
                  </a:lnTo>
                  <a:lnTo>
                    <a:pt x="149515" y="308996"/>
                  </a:lnTo>
                  <a:lnTo>
                    <a:pt x="149515" y="239223"/>
                  </a:lnTo>
                  <a:lnTo>
                    <a:pt x="79741" y="239223"/>
                  </a:lnTo>
                  <a:close/>
                  <a:moveTo>
                    <a:pt x="79741" y="159482"/>
                  </a:moveTo>
                  <a:lnTo>
                    <a:pt x="79741" y="229256"/>
                  </a:lnTo>
                  <a:lnTo>
                    <a:pt x="149515" y="229256"/>
                  </a:lnTo>
                  <a:lnTo>
                    <a:pt x="149515" y="159482"/>
                  </a:lnTo>
                  <a:lnTo>
                    <a:pt x="79741" y="159482"/>
                  </a:lnTo>
                  <a:close/>
                  <a:moveTo>
                    <a:pt x="229256" y="159482"/>
                  </a:moveTo>
                  <a:lnTo>
                    <a:pt x="159482" y="159482"/>
                  </a:lnTo>
                  <a:lnTo>
                    <a:pt x="159482" y="229256"/>
                  </a:lnTo>
                  <a:lnTo>
                    <a:pt x="229256" y="229256"/>
                  </a:lnTo>
                  <a:lnTo>
                    <a:pt x="229256" y="159482"/>
                  </a:lnTo>
                  <a:close/>
                  <a:moveTo>
                    <a:pt x="229256" y="308996"/>
                  </a:moveTo>
                  <a:lnTo>
                    <a:pt x="229256" y="239223"/>
                  </a:lnTo>
                  <a:lnTo>
                    <a:pt x="159482" y="239223"/>
                  </a:lnTo>
                  <a:lnTo>
                    <a:pt x="159482" y="308996"/>
                  </a:lnTo>
                  <a:lnTo>
                    <a:pt x="229256" y="308996"/>
                  </a:lnTo>
                  <a:close/>
                  <a:moveTo>
                    <a:pt x="229256" y="388738"/>
                  </a:moveTo>
                  <a:lnTo>
                    <a:pt x="229256" y="318965"/>
                  </a:lnTo>
                  <a:lnTo>
                    <a:pt x="159482" y="318965"/>
                  </a:lnTo>
                  <a:lnTo>
                    <a:pt x="159482" y="388738"/>
                  </a:lnTo>
                  <a:lnTo>
                    <a:pt x="229256" y="388738"/>
                  </a:lnTo>
                  <a:close/>
                  <a:moveTo>
                    <a:pt x="548220" y="69773"/>
                  </a:moveTo>
                  <a:lnTo>
                    <a:pt x="548220" y="0"/>
                  </a:lnTo>
                  <a:lnTo>
                    <a:pt x="478446" y="0"/>
                  </a:lnTo>
                  <a:lnTo>
                    <a:pt x="478446" y="39870"/>
                  </a:lnTo>
                  <a:lnTo>
                    <a:pt x="478446" y="69773"/>
                  </a:lnTo>
                  <a:lnTo>
                    <a:pt x="548220" y="69773"/>
                  </a:lnTo>
                  <a:close/>
                  <a:moveTo>
                    <a:pt x="548220" y="149515"/>
                  </a:moveTo>
                  <a:lnTo>
                    <a:pt x="548220" y="79742"/>
                  </a:lnTo>
                  <a:lnTo>
                    <a:pt x="478446" y="79742"/>
                  </a:lnTo>
                  <a:lnTo>
                    <a:pt x="478446" y="149515"/>
                  </a:lnTo>
                  <a:lnTo>
                    <a:pt x="548220" y="149515"/>
                  </a:lnTo>
                  <a:close/>
                  <a:moveTo>
                    <a:pt x="548220" y="229256"/>
                  </a:moveTo>
                  <a:lnTo>
                    <a:pt x="548220" y="159482"/>
                  </a:lnTo>
                  <a:lnTo>
                    <a:pt x="478446" y="159482"/>
                  </a:lnTo>
                  <a:lnTo>
                    <a:pt x="478446" y="229256"/>
                  </a:lnTo>
                  <a:lnTo>
                    <a:pt x="548220" y="229256"/>
                  </a:lnTo>
                  <a:close/>
                  <a:moveTo>
                    <a:pt x="548220" y="308996"/>
                  </a:moveTo>
                  <a:lnTo>
                    <a:pt x="548220" y="239223"/>
                  </a:lnTo>
                  <a:lnTo>
                    <a:pt x="478446" y="239223"/>
                  </a:lnTo>
                  <a:lnTo>
                    <a:pt x="478446" y="308996"/>
                  </a:lnTo>
                  <a:lnTo>
                    <a:pt x="548220" y="308996"/>
                  </a:lnTo>
                  <a:close/>
                  <a:moveTo>
                    <a:pt x="548220" y="388738"/>
                  </a:moveTo>
                  <a:lnTo>
                    <a:pt x="548220" y="318965"/>
                  </a:lnTo>
                  <a:lnTo>
                    <a:pt x="478446" y="318965"/>
                  </a:lnTo>
                  <a:lnTo>
                    <a:pt x="478446" y="388738"/>
                  </a:lnTo>
                  <a:lnTo>
                    <a:pt x="548220" y="388738"/>
                  </a:lnTo>
                  <a:close/>
                  <a:moveTo>
                    <a:pt x="548220" y="468479"/>
                  </a:moveTo>
                  <a:lnTo>
                    <a:pt x="548220" y="398705"/>
                  </a:lnTo>
                  <a:lnTo>
                    <a:pt x="478446" y="398705"/>
                  </a:lnTo>
                  <a:lnTo>
                    <a:pt x="478446" y="468479"/>
                  </a:lnTo>
                  <a:lnTo>
                    <a:pt x="548220" y="468479"/>
                  </a:lnTo>
                  <a:close/>
                  <a:moveTo>
                    <a:pt x="478446" y="478447"/>
                  </a:moveTo>
                  <a:lnTo>
                    <a:pt x="478446" y="548220"/>
                  </a:lnTo>
                  <a:cubicBezTo>
                    <a:pt x="478446" y="548220"/>
                    <a:pt x="548220" y="548220"/>
                    <a:pt x="548220" y="548220"/>
                  </a:cubicBezTo>
                  <a:lnTo>
                    <a:pt x="548220" y="478447"/>
                  </a:lnTo>
                  <a:lnTo>
                    <a:pt x="478446" y="478447"/>
                  </a:lnTo>
                  <a:close/>
                </a:path>
              </a:pathLst>
            </a:custGeom>
            <a:solidFill>
              <a:srgbClr val="0070C0"/>
            </a:solidFill>
            <a:ln w="1195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F52B5115-6316-3555-FE85-C39C91393EF2}"/>
              </a:ext>
            </a:extLst>
          </p:cNvPr>
          <p:cNvGrpSpPr/>
          <p:nvPr/>
        </p:nvGrpSpPr>
        <p:grpSpPr>
          <a:xfrm>
            <a:off x="12468952" y="10810563"/>
            <a:ext cx="5395736" cy="825867"/>
            <a:chOff x="12468952" y="11959450"/>
            <a:chExt cx="5395736" cy="825867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5E0AC100-928D-1CC0-6CDF-1AEE20504F09}"/>
                </a:ext>
              </a:extLst>
            </p:cNvPr>
            <p:cNvSpPr>
              <a:spLocks/>
            </p:cNvSpPr>
            <p:nvPr/>
          </p:nvSpPr>
          <p:spPr>
            <a:xfrm>
              <a:off x="12468952" y="11959450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create_rank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Returns a plot by default, with an option to return a table with all groups (across multiple HR attributes) ranked by the specified metric</a:t>
              </a: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EFBB83E2-CAD5-2DFD-1B51-030472B6969D}"/>
                </a:ext>
              </a:extLst>
            </p:cNvPr>
            <p:cNvSpPr/>
            <p:nvPr/>
          </p:nvSpPr>
          <p:spPr>
            <a:xfrm>
              <a:off x="12468952" y="11959450"/>
              <a:ext cx="320865" cy="320863"/>
            </a:xfrm>
            <a:custGeom>
              <a:avLst/>
              <a:gdLst>
                <a:gd name="connsiteX0" fmla="*/ 181493 w 265177"/>
                <a:gd name="connsiteY0" fmla="*/ 161907 h 265176"/>
                <a:gd name="connsiteX1" fmla="*/ 265177 w 265177"/>
                <a:gd name="connsiteY1" fmla="*/ 161907 h 265176"/>
                <a:gd name="connsiteX2" fmla="*/ 265177 w 265177"/>
                <a:gd name="connsiteY2" fmla="*/ 171051 h 265176"/>
                <a:gd name="connsiteX3" fmla="*/ 181493 w 265177"/>
                <a:gd name="connsiteY3" fmla="*/ 171051 h 265176"/>
                <a:gd name="connsiteX4" fmla="*/ 188637 w 265177"/>
                <a:gd name="connsiteY4" fmla="*/ 51381 h 265176"/>
                <a:gd name="connsiteX5" fmla="*/ 265177 w 265177"/>
                <a:gd name="connsiteY5" fmla="*/ 51381 h 265176"/>
                <a:gd name="connsiteX6" fmla="*/ 265177 w 265177"/>
                <a:gd name="connsiteY6" fmla="*/ 60525 h 265176"/>
                <a:gd name="connsiteX7" fmla="*/ 188637 w 265177"/>
                <a:gd name="connsiteY7" fmla="*/ 60525 h 265176"/>
                <a:gd name="connsiteX8" fmla="*/ 157030 w 265177"/>
                <a:gd name="connsiteY8" fmla="*/ 26198 h 265176"/>
                <a:gd name="connsiteX9" fmla="*/ 186257 w 265177"/>
                <a:gd name="connsiteY9" fmla="*/ 55953 h 265176"/>
                <a:gd name="connsiteX10" fmla="*/ 157030 w 265177"/>
                <a:gd name="connsiteY10" fmla="*/ 85708 h 265176"/>
                <a:gd name="connsiteX11" fmla="*/ 127803 w 265177"/>
                <a:gd name="connsiteY11" fmla="*/ 55953 h 265176"/>
                <a:gd name="connsiteX12" fmla="*/ 157030 w 265177"/>
                <a:gd name="connsiteY12" fmla="*/ 26198 h 265176"/>
                <a:gd name="connsiteX13" fmla="*/ 1 w 265177"/>
                <a:gd name="connsiteY13" fmla="*/ 0 h 265176"/>
                <a:gd name="connsiteX14" fmla="*/ 18289 w 265177"/>
                <a:gd name="connsiteY14" fmla="*/ 0 h 265176"/>
                <a:gd name="connsiteX15" fmla="*/ 18289 w 265177"/>
                <a:gd name="connsiteY15" fmla="*/ 51381 h 265176"/>
                <a:gd name="connsiteX16" fmla="*/ 126724 w 265177"/>
                <a:gd name="connsiteY16" fmla="*/ 51381 h 265176"/>
                <a:gd name="connsiteX17" fmla="*/ 126724 w 265177"/>
                <a:gd name="connsiteY17" fmla="*/ 60525 h 265176"/>
                <a:gd name="connsiteX18" fmla="*/ 18289 w 265177"/>
                <a:gd name="connsiteY18" fmla="*/ 60525 h 265176"/>
                <a:gd name="connsiteX19" fmla="*/ 18289 w 265177"/>
                <a:gd name="connsiteY19" fmla="*/ 161907 h 265176"/>
                <a:gd name="connsiteX20" fmla="*/ 78705 w 265177"/>
                <a:gd name="connsiteY20" fmla="*/ 161907 h 265176"/>
                <a:gd name="connsiteX21" fmla="*/ 81780 w 265177"/>
                <a:gd name="connsiteY21" fmla="*/ 146405 h 265176"/>
                <a:gd name="connsiteX22" fmla="*/ 128456 w 265177"/>
                <a:gd name="connsiteY22" fmla="*/ 114907 h 265176"/>
                <a:gd name="connsiteX23" fmla="*/ 179113 w 265177"/>
                <a:gd name="connsiteY23" fmla="*/ 166479 h 265176"/>
                <a:gd name="connsiteX24" fmla="*/ 128456 w 265177"/>
                <a:gd name="connsiteY24" fmla="*/ 218051 h 265176"/>
                <a:gd name="connsiteX25" fmla="*/ 81780 w 265177"/>
                <a:gd name="connsiteY25" fmla="*/ 186553 h 265176"/>
                <a:gd name="connsiteX26" fmla="*/ 78705 w 265177"/>
                <a:gd name="connsiteY26" fmla="*/ 171051 h 265176"/>
                <a:gd name="connsiteX27" fmla="*/ 18289 w 265177"/>
                <a:gd name="connsiteY27" fmla="*/ 171051 h 265176"/>
                <a:gd name="connsiteX28" fmla="*/ 18289 w 265177"/>
                <a:gd name="connsiteY28" fmla="*/ 246888 h 265176"/>
                <a:gd name="connsiteX29" fmla="*/ 265177 w 265177"/>
                <a:gd name="connsiteY29" fmla="*/ 246888 h 265176"/>
                <a:gd name="connsiteX30" fmla="*/ 265177 w 265177"/>
                <a:gd name="connsiteY30" fmla="*/ 265176 h 265176"/>
                <a:gd name="connsiteX31" fmla="*/ 1 w 265177"/>
                <a:gd name="connsiteY31" fmla="*/ 265176 h 265176"/>
                <a:gd name="connsiteX32" fmla="*/ 1 w 265177"/>
                <a:gd name="connsiteY32" fmla="*/ 171051 h 265176"/>
                <a:gd name="connsiteX33" fmla="*/ 0 w 265177"/>
                <a:gd name="connsiteY33" fmla="*/ 171051 h 265176"/>
                <a:gd name="connsiteX34" fmla="*/ 0 w 265177"/>
                <a:gd name="connsiteY34" fmla="*/ 161907 h 265176"/>
                <a:gd name="connsiteX35" fmla="*/ 1 w 265177"/>
                <a:gd name="connsiteY35" fmla="*/ 161907 h 265176"/>
                <a:gd name="connsiteX36" fmla="*/ 1 w 265177"/>
                <a:gd name="connsiteY36" fmla="*/ 60525 h 265176"/>
                <a:gd name="connsiteX37" fmla="*/ 0 w 265177"/>
                <a:gd name="connsiteY37" fmla="*/ 60525 h 265176"/>
                <a:gd name="connsiteX38" fmla="*/ 0 w 265177"/>
                <a:gd name="connsiteY38" fmla="*/ 51381 h 265176"/>
                <a:gd name="connsiteX39" fmla="*/ 1 w 265177"/>
                <a:gd name="connsiteY39" fmla="*/ 51381 h 265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65177" h="265176">
                  <a:moveTo>
                    <a:pt x="181493" y="161907"/>
                  </a:moveTo>
                  <a:lnTo>
                    <a:pt x="265177" y="161907"/>
                  </a:lnTo>
                  <a:lnTo>
                    <a:pt x="265177" y="171051"/>
                  </a:lnTo>
                  <a:lnTo>
                    <a:pt x="181493" y="171051"/>
                  </a:lnTo>
                  <a:close/>
                  <a:moveTo>
                    <a:pt x="188637" y="51381"/>
                  </a:moveTo>
                  <a:lnTo>
                    <a:pt x="265177" y="51381"/>
                  </a:lnTo>
                  <a:lnTo>
                    <a:pt x="265177" y="60525"/>
                  </a:lnTo>
                  <a:lnTo>
                    <a:pt x="188637" y="60525"/>
                  </a:lnTo>
                  <a:close/>
                  <a:moveTo>
                    <a:pt x="157030" y="26198"/>
                  </a:moveTo>
                  <a:cubicBezTo>
                    <a:pt x="173172" y="26198"/>
                    <a:pt x="186257" y="39520"/>
                    <a:pt x="186257" y="55953"/>
                  </a:cubicBezTo>
                  <a:cubicBezTo>
                    <a:pt x="186257" y="72386"/>
                    <a:pt x="173172" y="85708"/>
                    <a:pt x="157030" y="85708"/>
                  </a:cubicBezTo>
                  <a:cubicBezTo>
                    <a:pt x="140888" y="85708"/>
                    <a:pt x="127803" y="72386"/>
                    <a:pt x="127803" y="55953"/>
                  </a:cubicBezTo>
                  <a:cubicBezTo>
                    <a:pt x="127803" y="39520"/>
                    <a:pt x="140888" y="26198"/>
                    <a:pt x="157030" y="26198"/>
                  </a:cubicBezTo>
                  <a:close/>
                  <a:moveTo>
                    <a:pt x="1" y="0"/>
                  </a:moveTo>
                  <a:lnTo>
                    <a:pt x="18289" y="0"/>
                  </a:lnTo>
                  <a:lnTo>
                    <a:pt x="18289" y="51381"/>
                  </a:lnTo>
                  <a:lnTo>
                    <a:pt x="126724" y="51381"/>
                  </a:lnTo>
                  <a:lnTo>
                    <a:pt x="126724" y="60525"/>
                  </a:lnTo>
                  <a:lnTo>
                    <a:pt x="18289" y="60525"/>
                  </a:lnTo>
                  <a:lnTo>
                    <a:pt x="18289" y="161907"/>
                  </a:lnTo>
                  <a:lnTo>
                    <a:pt x="78705" y="161907"/>
                  </a:lnTo>
                  <a:lnTo>
                    <a:pt x="81780" y="146405"/>
                  </a:lnTo>
                  <a:cubicBezTo>
                    <a:pt x="89470" y="127895"/>
                    <a:pt x="107473" y="114907"/>
                    <a:pt x="128456" y="114907"/>
                  </a:cubicBezTo>
                  <a:cubicBezTo>
                    <a:pt x="156433" y="114907"/>
                    <a:pt x="179113" y="137997"/>
                    <a:pt x="179113" y="166479"/>
                  </a:cubicBezTo>
                  <a:cubicBezTo>
                    <a:pt x="179113" y="194961"/>
                    <a:pt x="156433" y="218051"/>
                    <a:pt x="128456" y="218051"/>
                  </a:cubicBezTo>
                  <a:cubicBezTo>
                    <a:pt x="107473" y="218051"/>
                    <a:pt x="89470" y="205063"/>
                    <a:pt x="81780" y="186553"/>
                  </a:cubicBezTo>
                  <a:lnTo>
                    <a:pt x="78705" y="171051"/>
                  </a:lnTo>
                  <a:lnTo>
                    <a:pt x="18289" y="171051"/>
                  </a:lnTo>
                  <a:lnTo>
                    <a:pt x="18289" y="246888"/>
                  </a:lnTo>
                  <a:lnTo>
                    <a:pt x="265177" y="246888"/>
                  </a:lnTo>
                  <a:lnTo>
                    <a:pt x="265177" y="265176"/>
                  </a:lnTo>
                  <a:lnTo>
                    <a:pt x="1" y="265176"/>
                  </a:lnTo>
                  <a:lnTo>
                    <a:pt x="1" y="171051"/>
                  </a:lnTo>
                  <a:lnTo>
                    <a:pt x="0" y="171051"/>
                  </a:lnTo>
                  <a:lnTo>
                    <a:pt x="0" y="161907"/>
                  </a:lnTo>
                  <a:lnTo>
                    <a:pt x="1" y="161907"/>
                  </a:lnTo>
                  <a:lnTo>
                    <a:pt x="1" y="60525"/>
                  </a:lnTo>
                  <a:lnTo>
                    <a:pt x="0" y="60525"/>
                  </a:lnTo>
                  <a:lnTo>
                    <a:pt x="0" y="51381"/>
                  </a:lnTo>
                  <a:lnTo>
                    <a:pt x="1" y="5138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474" name="Rectangle 473">
            <a:extLst>
              <a:ext uri="{FF2B5EF4-FFF2-40B4-BE49-F238E27FC236}">
                <a16:creationId xmlns:a16="http://schemas.microsoft.com/office/drawing/2014/main" id="{C8F63542-9D3B-B28C-AE2A-7E0327D58612}"/>
              </a:ext>
            </a:extLst>
          </p:cNvPr>
          <p:cNvSpPr>
            <a:spLocks/>
          </p:cNvSpPr>
          <p:nvPr/>
        </p:nvSpPr>
        <p:spPr>
          <a:xfrm>
            <a:off x="449020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Basics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1D55EBFD-2945-9F76-721F-0E05D90296DC}"/>
              </a:ext>
            </a:extLst>
          </p:cNvPr>
          <p:cNvSpPr>
            <a:spLocks/>
          </p:cNvSpPr>
          <p:nvPr/>
        </p:nvSpPr>
        <p:spPr>
          <a:xfrm>
            <a:off x="449020" y="2897938"/>
            <a:ext cx="5395736" cy="547842"/>
          </a:xfrm>
          <a:prstGeom prst="rect">
            <a:avLst/>
          </a:prstGeom>
          <a:solidFill>
            <a:srgbClr val="DFF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73152" rIns="73152" bIns="73152" rtlCol="0" anchor="ctr">
            <a:spAutoFit/>
          </a:bodyPr>
          <a:lstStyle/>
          <a:p>
            <a:pPr>
              <a:spcAft>
                <a:spcPts val="286"/>
              </a:spcAft>
            </a:pPr>
            <a:r>
              <a:rPr lang="en-US" sz="1300" dirty="0">
                <a:solidFill>
                  <a:schemeClr val="tx1"/>
                </a:solidFill>
              </a:rPr>
              <a:t>You can install or update the package from </a:t>
            </a:r>
            <a:r>
              <a:rPr lang="en-US" sz="1300" dirty="0" err="1">
                <a:solidFill>
                  <a:schemeClr val="tx1"/>
                </a:solidFill>
              </a:rPr>
              <a:t>PyPI</a:t>
            </a:r>
            <a:r>
              <a:rPr lang="en-US" sz="1300" dirty="0">
                <a:solidFill>
                  <a:schemeClr val="tx1"/>
                </a:solidFill>
              </a:rPr>
              <a:t> by running: 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1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vivainsights</a:t>
            </a:r>
            <a:endParaRPr lang="en-US" sz="13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6D1457E9-E951-30A4-F812-BB4E9E53C977}"/>
              </a:ext>
            </a:extLst>
          </p:cNvPr>
          <p:cNvGrpSpPr/>
          <p:nvPr/>
        </p:nvGrpSpPr>
        <p:grpSpPr>
          <a:xfrm>
            <a:off x="449020" y="3689160"/>
            <a:ext cx="5395736" cy="600164"/>
            <a:chOff x="449020" y="4063506"/>
            <a:chExt cx="5395736" cy="600164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F2C9D1D9-1BF1-6524-8BA7-5A31FC39DFD1}"/>
                </a:ext>
              </a:extLst>
            </p:cNvPr>
            <p:cNvSpPr>
              <a:spLocks/>
            </p:cNvSpPr>
            <p:nvPr/>
          </p:nvSpPr>
          <p:spPr>
            <a:xfrm>
              <a:off x="1148392" y="4063506"/>
              <a:ext cx="4696364" cy="6001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lvl="0">
                <a:spcAft>
                  <a:spcPts val="286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The latest development version and documentation can be found on our GitHub repository: </a:t>
              </a:r>
              <a:r>
                <a:rPr lang="en-US" sz="1300" dirty="0">
                  <a:solidFill>
                    <a:srgbClr val="0000ED"/>
                  </a:solidFill>
                  <a:latin typeface="Segoe UI Semibold"/>
                  <a:hlinkClick r:id="rId7"/>
                </a:rPr>
                <a:t>https://github.com/microsoft/vivainsights-py/</a:t>
              </a:r>
              <a:r>
                <a:rPr lang="en-US" sz="1300" dirty="0">
                  <a:solidFill>
                    <a:srgbClr val="0000ED"/>
                  </a:solidFill>
                  <a:latin typeface="Segoe UI Semibold"/>
                </a:rPr>
                <a:t> </a:t>
              </a:r>
              <a:endParaRPr lang="en-US" sz="1300" dirty="0">
                <a:solidFill>
                  <a:prstClr val="black"/>
                </a:solidFill>
                <a:latin typeface="Segoe UI Semibold"/>
              </a:endParaRPr>
            </a:p>
          </p:txBody>
        </p:sp>
        <p:pic>
          <p:nvPicPr>
            <p:cNvPr id="478" name="Picture 477">
              <a:extLst>
                <a:ext uri="{FF2B5EF4-FFF2-40B4-BE49-F238E27FC236}">
                  <a16:creationId xmlns:a16="http://schemas.microsoft.com/office/drawing/2014/main" id="{4D721158-DA0A-DD10-A9EE-7FFC715A9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9020" y="4124820"/>
              <a:ext cx="523702" cy="523702"/>
            </a:xfrm>
            <a:prstGeom prst="rect">
              <a:avLst/>
            </a:prstGeom>
          </p:spPr>
        </p:pic>
      </p:grp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7645F47E-6B4B-E3F4-E56A-B96654D7C611}"/>
              </a:ext>
            </a:extLst>
          </p:cNvPr>
          <p:cNvCxnSpPr>
            <a:cxnSpLocks/>
          </p:cNvCxnSpPr>
          <p:nvPr/>
        </p:nvCxnSpPr>
        <p:spPr>
          <a:xfrm flipV="1">
            <a:off x="449020" y="5930080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Rectangle 479">
            <a:extLst>
              <a:ext uri="{FF2B5EF4-FFF2-40B4-BE49-F238E27FC236}">
                <a16:creationId xmlns:a16="http://schemas.microsoft.com/office/drawing/2014/main" id="{E9D43565-42D3-2C20-7614-C57FBCCDA35D}"/>
              </a:ext>
            </a:extLst>
          </p:cNvPr>
          <p:cNvSpPr>
            <a:spLocks/>
          </p:cNvSpPr>
          <p:nvPr/>
        </p:nvSpPr>
        <p:spPr>
          <a:xfrm>
            <a:off x="449020" y="6073387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Data import / export</a:t>
            </a: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7EA269FE-6F3E-25B6-7E02-94154B9F7003}"/>
              </a:ext>
            </a:extLst>
          </p:cNvPr>
          <p:cNvSpPr>
            <a:spLocks/>
          </p:cNvSpPr>
          <p:nvPr/>
        </p:nvSpPr>
        <p:spPr>
          <a:xfrm>
            <a:off x="449020" y="6450189"/>
            <a:ext cx="5395736" cy="175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573"/>
              </a:spcAft>
              <a:defRPr/>
            </a:pPr>
            <a:r>
              <a:rPr lang="en-US" sz="1300" dirty="0">
                <a:solidFill>
                  <a:prstClr val="black"/>
                </a:solidFill>
              </a:rPr>
              <a:t>Use our handy functions below which are optimized for best practice forgetting data </a:t>
            </a:r>
            <a:r>
              <a:rPr lang="en-US" sz="1300" i="1" dirty="0">
                <a:solidFill>
                  <a:prstClr val="black"/>
                </a:solidFill>
              </a:rPr>
              <a:t>in</a:t>
            </a:r>
            <a:r>
              <a:rPr lang="en-US" sz="1300" dirty="0">
                <a:solidFill>
                  <a:prstClr val="black"/>
                </a:solidFill>
              </a:rPr>
              <a:t> and </a:t>
            </a:r>
            <a:r>
              <a:rPr lang="en-US" sz="1300" i="1" dirty="0">
                <a:solidFill>
                  <a:prstClr val="black"/>
                </a:solidFill>
              </a:rPr>
              <a:t>out</a:t>
            </a:r>
            <a:r>
              <a:rPr lang="en-US" sz="1300" dirty="0">
                <a:solidFill>
                  <a:prstClr val="black"/>
                </a:solidFill>
              </a:rPr>
              <a:t> of Python</a:t>
            </a:r>
          </a:p>
          <a:p>
            <a:pPr marL="298450" lvl="0" indent="-298450">
              <a:spcAft>
                <a:spcPts val="573"/>
              </a:spcAft>
              <a:buFont typeface="Arial" panose="020B0604020202020204" pitchFamily="34" charset="0"/>
              <a:buChar char="•"/>
              <a:defRPr/>
            </a:pPr>
            <a:r>
              <a:rPr lang="en-US" sz="1300" dirty="0" err="1">
                <a:solidFill>
                  <a:prstClr val="black"/>
                </a:solidFill>
                <a:latin typeface="Segoe UI Semibold"/>
              </a:rPr>
              <a:t>import_query</a:t>
            </a:r>
            <a:r>
              <a:rPr lang="en-US" sz="1300" dirty="0">
                <a:solidFill>
                  <a:prstClr val="black"/>
                </a:solidFill>
                <a:latin typeface="Segoe UI Semibold"/>
              </a:rPr>
              <a:t>()</a:t>
            </a:r>
            <a:br>
              <a:rPr lang="en-US" sz="1300" dirty="0">
                <a:solidFill>
                  <a:prstClr val="black"/>
                </a:solidFill>
              </a:rPr>
            </a:br>
            <a:r>
              <a:rPr lang="en-US" sz="1300" dirty="0">
                <a:solidFill>
                  <a:prstClr val="black"/>
                </a:solidFill>
              </a:rPr>
              <a:t>Import CSV queries faster and pre-formatted for </a:t>
            </a:r>
            <a:r>
              <a:rPr lang="en-US" sz="1300" b="1" dirty="0" err="1">
                <a:solidFill>
                  <a:prstClr val="black"/>
                </a:solidFill>
                <a:latin typeface="+mj-lt"/>
              </a:rPr>
              <a:t>vivainsights</a:t>
            </a:r>
            <a:r>
              <a:rPr lang="en-US" sz="1300" dirty="0">
                <a:solidFill>
                  <a:prstClr val="black"/>
                </a:solidFill>
                <a:latin typeface="+mj-lt"/>
              </a:rPr>
              <a:t> </a:t>
            </a:r>
            <a:r>
              <a:rPr lang="en-US" sz="1300" dirty="0">
                <a:solidFill>
                  <a:prstClr val="black"/>
                </a:solidFill>
              </a:rPr>
              <a:t>functions (instead of read.csv())</a:t>
            </a:r>
          </a:p>
          <a:p>
            <a:pPr marL="298450" lvl="0" indent="-298450">
              <a:spcAft>
                <a:spcPts val="573"/>
              </a:spcAft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 Semibold"/>
              </a:rPr>
              <a:t>export()</a:t>
            </a:r>
            <a:br>
              <a:rPr lang="en-US" sz="1300" dirty="0">
                <a:solidFill>
                  <a:prstClr val="black"/>
                </a:solidFill>
              </a:rPr>
            </a:br>
            <a:r>
              <a:rPr lang="en-US" sz="1300" dirty="0">
                <a:solidFill>
                  <a:prstClr val="black"/>
                </a:solidFill>
              </a:rPr>
              <a:t>Copy a data frame to clipboard, or write as a CSV, or a </a:t>
            </a:r>
            <a:r>
              <a:rPr lang="en-US" sz="1300" dirty="0" err="1">
                <a:solidFill>
                  <a:prstClr val="black"/>
                </a:solidFill>
              </a:rPr>
              <a:t>ggplot</a:t>
            </a:r>
            <a:r>
              <a:rPr lang="en-US" sz="1300" dirty="0">
                <a:solidFill>
                  <a:prstClr val="black"/>
                </a:solidFill>
              </a:rPr>
              <a:t> object as PNG or SVG</a:t>
            </a:r>
          </a:p>
        </p:txBody>
      </p: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A67199B1-7FDB-BCB9-3CD2-19F6EE0BA692}"/>
              </a:ext>
            </a:extLst>
          </p:cNvPr>
          <p:cNvGrpSpPr/>
          <p:nvPr/>
        </p:nvGrpSpPr>
        <p:grpSpPr>
          <a:xfrm>
            <a:off x="449020" y="4532705"/>
            <a:ext cx="5395736" cy="1138348"/>
            <a:chOff x="449020" y="4532705"/>
            <a:chExt cx="5395736" cy="1138348"/>
          </a:xfrm>
        </p:grpSpPr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C9F48549-A6B0-8F58-595E-3279D8D9ACEA}"/>
                </a:ext>
              </a:extLst>
            </p:cNvPr>
            <p:cNvSpPr>
              <a:spLocks/>
            </p:cNvSpPr>
            <p:nvPr/>
          </p:nvSpPr>
          <p:spPr>
            <a:xfrm>
              <a:off x="449020" y="4846212"/>
              <a:ext cx="5395736" cy="824841"/>
            </a:xfrm>
            <a:prstGeom prst="rect">
              <a:avLst/>
            </a:prstGeom>
            <a:solidFill>
              <a:srgbClr val="DFF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73152" rIns="73152" bIns="73152" rtlCol="0" anchor="t">
              <a:spAutoFit/>
            </a:bodyPr>
            <a:lstStyle/>
            <a:p>
              <a:pPr>
                <a:spcAft>
                  <a:spcPts val="286"/>
                </a:spcAft>
              </a:pP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vivainsights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as vi</a:t>
              </a:r>
            </a:p>
            <a:p>
              <a:pPr>
                <a:spcAft>
                  <a:spcPts val="286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pq_df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vi.import_query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("path/pq_df.csv“)</a:t>
              </a:r>
            </a:p>
            <a:p>
              <a:pPr>
                <a:spcAft>
                  <a:spcPts val="286"/>
                </a:spcAft>
              </a:pP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vi.create_bar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pq_df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metric = '</a:t>
              </a:r>
              <a:r>
                <a:rPr lang="en-US" sz="1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Email_hours</a:t>
              </a:r>
              <a:r>
                <a:rPr lang="en-US" sz="1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’)</a:t>
              </a: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54EA8DBE-32BF-462D-AD20-26CF64492730}"/>
                </a:ext>
              </a:extLst>
            </p:cNvPr>
            <p:cNvSpPr>
              <a:spLocks/>
            </p:cNvSpPr>
            <p:nvPr/>
          </p:nvSpPr>
          <p:spPr>
            <a:xfrm>
              <a:off x="449020" y="4532705"/>
              <a:ext cx="5395736" cy="2000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lvl="0">
                <a:spcAft>
                  <a:spcPts val="286"/>
                </a:spcAft>
                <a:defRPr/>
              </a:pPr>
              <a:r>
                <a:rPr lang="en-US" sz="13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j-lt"/>
                </a:rPr>
                <a:t>Example – loading and running the library: </a:t>
              </a:r>
            </a:p>
          </p:txBody>
        </p:sp>
      </p:grpSp>
      <p:pic>
        <p:nvPicPr>
          <p:cNvPr id="485" name="Graphic 484">
            <a:extLst>
              <a:ext uri="{FF2B5EF4-FFF2-40B4-BE49-F238E27FC236}">
                <a16:creationId xmlns:a16="http://schemas.microsoft.com/office/drawing/2014/main" id="{4E9466AD-84B1-7CD9-6769-D23672DDA7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020" y="2092625"/>
            <a:ext cx="523702" cy="523702"/>
          </a:xfrm>
          <a:prstGeom prst="rect">
            <a:avLst/>
          </a:prstGeom>
        </p:spPr>
      </p:pic>
      <p:sp>
        <p:nvSpPr>
          <p:cNvPr id="486" name="Rectangle 485">
            <a:extLst>
              <a:ext uri="{FF2B5EF4-FFF2-40B4-BE49-F238E27FC236}">
                <a16:creationId xmlns:a16="http://schemas.microsoft.com/office/drawing/2014/main" id="{B8EF8149-1CC2-3EE2-8F12-219B9A4AB5F1}"/>
              </a:ext>
            </a:extLst>
          </p:cNvPr>
          <p:cNvSpPr>
            <a:spLocks/>
          </p:cNvSpPr>
          <p:nvPr/>
        </p:nvSpPr>
        <p:spPr>
          <a:xfrm>
            <a:off x="6458986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Data validation</a:t>
            </a: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ACC966C4-B9EA-136A-F5E8-A366B18C5438}"/>
              </a:ext>
            </a:extLst>
          </p:cNvPr>
          <p:cNvSpPr>
            <a:spLocks/>
          </p:cNvSpPr>
          <p:nvPr/>
        </p:nvSpPr>
        <p:spPr>
          <a:xfrm>
            <a:off x="6458986" y="2052638"/>
            <a:ext cx="5395736" cy="20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300" dirty="0">
                <a:solidFill>
                  <a:schemeClr val="tx1"/>
                </a:solidFill>
              </a:rPr>
              <a:t>Validate and understand your data prior to starting a piece of analysis</a:t>
            </a:r>
          </a:p>
        </p:txBody>
      </p: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25BA35DE-E4AA-FFB5-6A5A-C1582F4FC1BF}"/>
              </a:ext>
            </a:extLst>
          </p:cNvPr>
          <p:cNvGrpSpPr/>
          <p:nvPr/>
        </p:nvGrpSpPr>
        <p:grpSpPr>
          <a:xfrm>
            <a:off x="6458986" y="2446121"/>
            <a:ext cx="5395736" cy="425758"/>
            <a:chOff x="6458986" y="2446121"/>
            <a:chExt cx="5395736" cy="425758"/>
          </a:xfrm>
        </p:grpSpPr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94420A49-BC4E-F0BC-C70B-CE361B85B31E}"/>
                </a:ext>
              </a:extLst>
            </p:cNvPr>
            <p:cNvSpPr>
              <a:spLocks/>
            </p:cNvSpPr>
            <p:nvPr/>
          </p:nvSpPr>
          <p:spPr>
            <a:xfrm>
              <a:off x="6458986" y="2446121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identify_datefreq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Identify date frequency based on a series of dates</a:t>
              </a: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58099898-1D3D-8EEF-CB18-C38261B998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2446121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70F7869D-E0BF-F19B-0D8F-9938484504E4}"/>
              </a:ext>
            </a:extLst>
          </p:cNvPr>
          <p:cNvCxnSpPr>
            <a:cxnSpLocks/>
          </p:cNvCxnSpPr>
          <p:nvPr/>
        </p:nvCxnSpPr>
        <p:spPr>
          <a:xfrm flipV="1">
            <a:off x="449020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A3D158A5-EA4E-0FB4-00E5-3B63B1B745B1}"/>
              </a:ext>
            </a:extLst>
          </p:cNvPr>
          <p:cNvCxnSpPr>
            <a:cxnSpLocks/>
          </p:cNvCxnSpPr>
          <p:nvPr/>
        </p:nvCxnSpPr>
        <p:spPr>
          <a:xfrm flipV="1">
            <a:off x="6458986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35789B21-7DB6-D533-C722-63A8B2216FA7}"/>
              </a:ext>
            </a:extLst>
          </p:cNvPr>
          <p:cNvCxnSpPr>
            <a:cxnSpLocks/>
          </p:cNvCxnSpPr>
          <p:nvPr/>
        </p:nvCxnSpPr>
        <p:spPr>
          <a:xfrm flipV="1">
            <a:off x="18478918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ectangle 494">
            <a:extLst>
              <a:ext uri="{FF2B5EF4-FFF2-40B4-BE49-F238E27FC236}">
                <a16:creationId xmlns:a16="http://schemas.microsoft.com/office/drawing/2014/main" id="{56C0886B-D932-7904-E2B1-0980F9764F7F}"/>
              </a:ext>
            </a:extLst>
          </p:cNvPr>
          <p:cNvSpPr>
            <a:spLocks/>
          </p:cNvSpPr>
          <p:nvPr/>
        </p:nvSpPr>
        <p:spPr>
          <a:xfrm>
            <a:off x="18478918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Other analysis</a:t>
            </a:r>
          </a:p>
        </p:txBody>
      </p: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D887CD4A-F22C-140C-7D51-231202154F13}"/>
              </a:ext>
            </a:extLst>
          </p:cNvPr>
          <p:cNvCxnSpPr>
            <a:cxnSpLocks/>
          </p:cNvCxnSpPr>
          <p:nvPr/>
        </p:nvCxnSpPr>
        <p:spPr>
          <a:xfrm>
            <a:off x="449020" y="13115953"/>
            <a:ext cx="2342563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9" name="Picture 498">
            <a:extLst>
              <a:ext uri="{FF2B5EF4-FFF2-40B4-BE49-F238E27FC236}">
                <a16:creationId xmlns:a16="http://schemas.microsoft.com/office/drawing/2014/main" id="{6FE2D497-40FB-A9AB-6C2F-3A4A19086B1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1528" y="12722898"/>
            <a:ext cx="693804" cy="801076"/>
          </a:xfrm>
          <a:prstGeom prst="rect">
            <a:avLst/>
          </a:prstGeom>
        </p:spPr>
      </p:pic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18FFCAA3-0758-4D9B-9F48-682B6FB47646}"/>
              </a:ext>
            </a:extLst>
          </p:cNvPr>
          <p:cNvCxnSpPr>
            <a:cxnSpLocks/>
          </p:cNvCxnSpPr>
          <p:nvPr/>
        </p:nvCxnSpPr>
        <p:spPr>
          <a:xfrm flipV="1">
            <a:off x="449020" y="846354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35326DDE-4D0A-778E-251A-E19768B66604}"/>
              </a:ext>
            </a:extLst>
          </p:cNvPr>
          <p:cNvGrpSpPr/>
          <p:nvPr/>
        </p:nvGrpSpPr>
        <p:grpSpPr>
          <a:xfrm>
            <a:off x="449020" y="10012084"/>
            <a:ext cx="5395736" cy="425758"/>
            <a:chOff x="449020" y="10003171"/>
            <a:chExt cx="5395736" cy="425758"/>
          </a:xfrm>
        </p:grpSpPr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5B705838-542F-4C44-9F68-1CF1FE2216F5}"/>
                </a:ext>
              </a:extLst>
            </p:cNvPr>
            <p:cNvSpPr>
              <a:spLocks/>
            </p:cNvSpPr>
            <p:nvPr/>
          </p:nvSpPr>
          <p:spPr>
            <a:xfrm>
              <a:off x="449020" y="10003171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load_mt_data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Loads a sample Standard meeting query data to the environment</a:t>
              </a: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E173E44-D202-B7BF-3640-8F8B56E26C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10003171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232A606-847A-F523-511E-73EF724E0261}"/>
              </a:ext>
            </a:extLst>
          </p:cNvPr>
          <p:cNvGrpSpPr/>
          <p:nvPr/>
        </p:nvGrpSpPr>
        <p:grpSpPr>
          <a:xfrm>
            <a:off x="449020" y="10669348"/>
            <a:ext cx="5395736" cy="425758"/>
            <a:chOff x="449020" y="10753664"/>
            <a:chExt cx="5395736" cy="425758"/>
          </a:xfrm>
        </p:grpSpPr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95CD55BB-2613-C2EB-C6B9-FBCA55BE4E15}"/>
                </a:ext>
              </a:extLst>
            </p:cNvPr>
            <p:cNvSpPr>
              <a:spLocks/>
            </p:cNvSpPr>
            <p:nvPr/>
          </p:nvSpPr>
          <p:spPr>
            <a:xfrm>
              <a:off x="449020" y="10753664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load_g2g_data()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Loads a sample group-to-group query data to the environment</a:t>
              </a: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735F4B69-EFF6-764D-0327-3EDE9AA438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10753664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FD3A700F-2463-EEB3-6E18-34ADB9E8CA97}"/>
              </a:ext>
            </a:extLst>
          </p:cNvPr>
          <p:cNvGrpSpPr/>
          <p:nvPr/>
        </p:nvGrpSpPr>
        <p:grpSpPr>
          <a:xfrm>
            <a:off x="449020" y="11326612"/>
            <a:ext cx="5395736" cy="425758"/>
            <a:chOff x="449020" y="11504159"/>
            <a:chExt cx="5395736" cy="425758"/>
          </a:xfrm>
        </p:grpSpPr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EFE911D7-E875-3E43-1246-A6044F0B60E5}"/>
                </a:ext>
              </a:extLst>
            </p:cNvPr>
            <p:cNvSpPr>
              <a:spLocks/>
            </p:cNvSpPr>
            <p:nvPr/>
          </p:nvSpPr>
          <p:spPr>
            <a:xfrm>
              <a:off x="449020" y="11504159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p2p_data_sim()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, load_p2p_data()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Person to Person query / edge list based on the graph</a:t>
              </a: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4200F65-BF8D-AD8F-F683-B1D37016A4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11504159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133F4439-4FF9-0A7A-C3E6-4B78F1590CD7}"/>
              </a:ext>
            </a:extLst>
          </p:cNvPr>
          <p:cNvGrpSpPr/>
          <p:nvPr/>
        </p:nvGrpSpPr>
        <p:grpSpPr>
          <a:xfrm>
            <a:off x="449020" y="11983876"/>
            <a:ext cx="5395736" cy="625812"/>
            <a:chOff x="449020" y="12039731"/>
            <a:chExt cx="5395736" cy="625812"/>
          </a:xfrm>
        </p:grpSpPr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77BACB31-2819-131A-7A8A-D170E582E6A4}"/>
                </a:ext>
              </a:extLst>
            </p:cNvPr>
            <p:cNvSpPr>
              <a:spLocks/>
            </p:cNvSpPr>
            <p:nvPr/>
          </p:nvSpPr>
          <p:spPr>
            <a:xfrm>
              <a:off x="449020" y="12039731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load_p2g_data()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Loads a sample person-to-group query dataset for quick demos and testing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AE6D914-536D-8B67-D709-C3A1179655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20" y="12039731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26A7476B-A17F-3943-5352-D64C8AF54FDF}"/>
              </a:ext>
            </a:extLst>
          </p:cNvPr>
          <p:cNvCxnSpPr>
            <a:cxnSpLocks/>
          </p:cNvCxnSpPr>
          <p:nvPr/>
        </p:nvCxnSpPr>
        <p:spPr>
          <a:xfrm>
            <a:off x="449020" y="1186812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7695CC9D-26A7-62FE-4A9C-DD3CD8A7D30F}"/>
              </a:ext>
            </a:extLst>
          </p:cNvPr>
          <p:cNvGrpSpPr/>
          <p:nvPr/>
        </p:nvGrpSpPr>
        <p:grpSpPr>
          <a:xfrm>
            <a:off x="6458986" y="3092747"/>
            <a:ext cx="5395736" cy="625812"/>
            <a:chOff x="6458986" y="3284158"/>
            <a:chExt cx="5395736" cy="625812"/>
          </a:xfrm>
        </p:grpSpPr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714503ED-3343-99C6-C3C7-F506EC905C70}"/>
                </a:ext>
              </a:extLst>
            </p:cNvPr>
            <p:cNvSpPr>
              <a:spLocks/>
            </p:cNvSpPr>
            <p:nvPr/>
          </p:nvSpPr>
          <p:spPr>
            <a:xfrm>
              <a:off x="6458986" y="328415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identify_holidayweeks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Identify likely holiday weeks (for the entire pop) where collaboration hours lie far outside the mean</a:t>
              </a: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CDC4C53D-D3B8-3A47-FCD4-F39C572FA0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3284158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0ADABB6D-7F10-A9B5-A48E-F7C1A20A970F}"/>
              </a:ext>
            </a:extLst>
          </p:cNvPr>
          <p:cNvGrpSpPr/>
          <p:nvPr/>
        </p:nvGrpSpPr>
        <p:grpSpPr>
          <a:xfrm>
            <a:off x="6458986" y="3939427"/>
            <a:ext cx="5395736" cy="625812"/>
            <a:chOff x="6458986" y="4228199"/>
            <a:chExt cx="5395736" cy="625812"/>
          </a:xfrm>
        </p:grpSpPr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9B25F717-571E-28F3-7DE9-A47A96A48B3E}"/>
                </a:ext>
              </a:extLst>
            </p:cNvPr>
            <p:cNvSpPr>
              <a:spLocks/>
            </p:cNvSpPr>
            <p:nvPr/>
          </p:nvSpPr>
          <p:spPr>
            <a:xfrm>
              <a:off x="6458986" y="422819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identify_inactiveweeks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Identify likely person-weeks where collaboration hours lie far outside the mean relative to the population average</a:t>
              </a: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E65FEA5-03D3-368A-E720-8F8C4A6CB4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4228199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D62A4B4D-8D66-43F4-E9C9-BD5BD67AF250}"/>
              </a:ext>
            </a:extLst>
          </p:cNvPr>
          <p:cNvGrpSpPr>
            <a:grpSpLocks/>
          </p:cNvGrpSpPr>
          <p:nvPr/>
        </p:nvGrpSpPr>
        <p:grpSpPr>
          <a:xfrm>
            <a:off x="6458986" y="4786107"/>
            <a:ext cx="5395736" cy="625812"/>
            <a:chOff x="6458986" y="5190798"/>
            <a:chExt cx="5395736" cy="625812"/>
          </a:xfrm>
        </p:grpSpPr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2561B818-AC70-745F-776B-B416912B8526}"/>
                </a:ext>
              </a:extLst>
            </p:cNvPr>
            <p:cNvSpPr>
              <a:spLocks/>
            </p:cNvSpPr>
            <p:nvPr/>
          </p:nvSpPr>
          <p:spPr>
            <a:xfrm>
              <a:off x="6458986" y="519079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identify_nkw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Identify likely non-knowledge workers where average person collaboration hours lie far outside the mean</a:t>
              </a: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4DB81AE9-7772-6433-2022-AB703F86CE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5190798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33208FB4-D88E-54BC-1A53-86B3FB9829A2}"/>
              </a:ext>
            </a:extLst>
          </p:cNvPr>
          <p:cNvCxnSpPr>
            <a:cxnSpLocks/>
          </p:cNvCxnSpPr>
          <p:nvPr/>
        </p:nvCxnSpPr>
        <p:spPr>
          <a:xfrm>
            <a:off x="6458986" y="552235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FADF11D5-A5EA-3803-D4CE-EEA42271ED97}"/>
              </a:ext>
            </a:extLst>
          </p:cNvPr>
          <p:cNvGrpSpPr/>
          <p:nvPr/>
        </p:nvGrpSpPr>
        <p:grpSpPr>
          <a:xfrm>
            <a:off x="6458986" y="5632787"/>
            <a:ext cx="5395736" cy="625812"/>
            <a:chOff x="6458986" y="6519808"/>
            <a:chExt cx="5395736" cy="625812"/>
          </a:xfrm>
        </p:grpSpPr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7F9CE8F2-1551-8803-1E6F-AF474039A59D}"/>
                </a:ext>
              </a:extLst>
            </p:cNvPr>
            <p:cNvSpPr>
              <a:spLocks/>
            </p:cNvSpPr>
            <p:nvPr/>
          </p:nvSpPr>
          <p:spPr>
            <a:xfrm>
              <a:off x="6458986" y="651980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identify_outlier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Detects time-based outliers using z-scores for a chosen metric (useful for spotting abnormal weeks like holidays)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FC92805-AE30-A515-EE1C-4591B7521B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6519808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EE06779E-2C1E-8BE3-2111-045EC27B56DF}"/>
              </a:ext>
            </a:extLst>
          </p:cNvPr>
          <p:cNvGrpSpPr/>
          <p:nvPr/>
        </p:nvGrpSpPr>
        <p:grpSpPr>
          <a:xfrm>
            <a:off x="6458986" y="6479466"/>
            <a:ext cx="5395736" cy="625812"/>
            <a:chOff x="6458986" y="7880559"/>
            <a:chExt cx="5395736" cy="625812"/>
          </a:xfrm>
        </p:grpSpPr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B8227F1-83EB-BE7D-CE1C-F781D1D6EAAD}"/>
                </a:ext>
              </a:extLst>
            </p:cNvPr>
            <p:cNvSpPr>
              <a:spLocks/>
            </p:cNvSpPr>
            <p:nvPr/>
          </p:nvSpPr>
          <p:spPr>
            <a:xfrm>
              <a:off x="6458986" y="788055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extract_date_range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Extracts the available date range in the dataset (returns a small table or text diagnostic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C0E098F9-9BBB-C0DF-DDD0-87EF4664BA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7880559"/>
              <a:ext cx="320863" cy="320863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540" name="Straight Connector 539">
            <a:extLst>
              <a:ext uri="{FF2B5EF4-FFF2-40B4-BE49-F238E27FC236}">
                <a16:creationId xmlns:a16="http://schemas.microsoft.com/office/drawing/2014/main" id="{88F2BB55-AE04-9637-F04E-268A6B6323D9}"/>
              </a:ext>
            </a:extLst>
          </p:cNvPr>
          <p:cNvCxnSpPr>
            <a:cxnSpLocks/>
          </p:cNvCxnSpPr>
          <p:nvPr/>
        </p:nvCxnSpPr>
        <p:spPr>
          <a:xfrm>
            <a:off x="6458986" y="636903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6F84FC83-48BB-36F2-0741-A918B5836827}"/>
              </a:ext>
            </a:extLst>
          </p:cNvPr>
          <p:cNvGrpSpPr/>
          <p:nvPr/>
        </p:nvGrpSpPr>
        <p:grpSpPr>
          <a:xfrm>
            <a:off x="12468952" y="2609736"/>
            <a:ext cx="5395736" cy="852752"/>
            <a:chOff x="6458986" y="8896302"/>
            <a:chExt cx="5395736" cy="852752"/>
          </a:xfrm>
        </p:grpSpPr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240BE9EF-1433-0255-511F-D5FCCAEFA3D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432101" y="8923187"/>
              <a:ext cx="352949" cy="299179"/>
            </a:xfrm>
            <a:custGeom>
              <a:avLst/>
              <a:gdLst>
                <a:gd name="connsiteX0" fmla="*/ 125720 w 857250"/>
                <a:gd name="connsiteY0" fmla="*/ 606884 h 726651"/>
                <a:gd name="connsiteX1" fmla="*/ 0 w 857250"/>
                <a:gd name="connsiteY1" fmla="*/ 606884 h 726651"/>
                <a:gd name="connsiteX2" fmla="*/ 0 w 857250"/>
                <a:gd name="connsiteY2" fmla="*/ 726614 h 726651"/>
                <a:gd name="connsiteX3" fmla="*/ 125720 w 857250"/>
                <a:gd name="connsiteY3" fmla="*/ 726614 h 726651"/>
                <a:gd name="connsiteX4" fmla="*/ 731530 w 857250"/>
                <a:gd name="connsiteY4" fmla="*/ 118690 h 726651"/>
                <a:gd name="connsiteX5" fmla="*/ 731530 w 857250"/>
                <a:gd name="connsiteY5" fmla="*/ 726652 h 726651"/>
                <a:gd name="connsiteX6" fmla="*/ 857250 w 857250"/>
                <a:gd name="connsiteY6" fmla="*/ 726615 h 726651"/>
                <a:gd name="connsiteX7" fmla="*/ 857250 w 857250"/>
                <a:gd name="connsiteY7" fmla="*/ 0 h 726651"/>
                <a:gd name="connsiteX8" fmla="*/ 731530 w 857250"/>
                <a:gd name="connsiteY8" fmla="*/ 0 h 726651"/>
                <a:gd name="connsiteX9" fmla="*/ 548659 w 857250"/>
                <a:gd name="connsiteY9" fmla="*/ 374713 h 726651"/>
                <a:gd name="connsiteX10" fmla="*/ 548659 w 857250"/>
                <a:gd name="connsiteY10" fmla="*/ 726652 h 726651"/>
                <a:gd name="connsiteX11" fmla="*/ 674380 w 857250"/>
                <a:gd name="connsiteY11" fmla="*/ 726652 h 726651"/>
                <a:gd name="connsiteX12" fmla="*/ 674380 w 857250"/>
                <a:gd name="connsiteY12" fmla="*/ 175840 h 726651"/>
                <a:gd name="connsiteX13" fmla="*/ 548659 w 857250"/>
                <a:gd name="connsiteY13" fmla="*/ 175840 h 726651"/>
                <a:gd name="connsiteX14" fmla="*/ 491509 w 857250"/>
                <a:gd name="connsiteY14" fmla="*/ 726652 h 726651"/>
                <a:gd name="connsiteX15" fmla="*/ 491509 w 857250"/>
                <a:gd name="connsiteY15" fmla="*/ 431863 h 726651"/>
                <a:gd name="connsiteX16" fmla="*/ 365750 w 857250"/>
                <a:gd name="connsiteY16" fmla="*/ 431863 h 726651"/>
                <a:gd name="connsiteX17" fmla="*/ 365750 w 857250"/>
                <a:gd name="connsiteY17" fmla="*/ 726652 h 726651"/>
                <a:gd name="connsiteX18" fmla="*/ 182880 w 857250"/>
                <a:gd name="connsiteY18" fmla="*/ 549734 h 726651"/>
                <a:gd name="connsiteX19" fmla="*/ 182880 w 857250"/>
                <a:gd name="connsiteY19" fmla="*/ 726614 h 726651"/>
                <a:gd name="connsiteX20" fmla="*/ 308600 w 857250"/>
                <a:gd name="connsiteY20" fmla="*/ 726614 h 726651"/>
                <a:gd name="connsiteX21" fmla="*/ 308600 w 857250"/>
                <a:gd name="connsiteY21" fmla="*/ 288168 h 726651"/>
                <a:gd name="connsiteX22" fmla="*/ 182880 w 857250"/>
                <a:gd name="connsiteY22" fmla="*/ 288168 h 72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0" h="726651">
                  <a:moveTo>
                    <a:pt x="125720" y="606884"/>
                  </a:moveTo>
                  <a:lnTo>
                    <a:pt x="0" y="606884"/>
                  </a:lnTo>
                  <a:lnTo>
                    <a:pt x="0" y="726614"/>
                  </a:lnTo>
                  <a:lnTo>
                    <a:pt x="125720" y="726614"/>
                  </a:lnTo>
                  <a:close/>
                  <a:moveTo>
                    <a:pt x="731530" y="118690"/>
                  </a:moveTo>
                  <a:lnTo>
                    <a:pt x="731530" y="726652"/>
                  </a:lnTo>
                  <a:lnTo>
                    <a:pt x="857250" y="726615"/>
                  </a:lnTo>
                  <a:lnTo>
                    <a:pt x="857250" y="0"/>
                  </a:lnTo>
                  <a:lnTo>
                    <a:pt x="731530" y="0"/>
                  </a:lnTo>
                  <a:close/>
                  <a:moveTo>
                    <a:pt x="548659" y="374713"/>
                  </a:moveTo>
                  <a:lnTo>
                    <a:pt x="548659" y="726652"/>
                  </a:lnTo>
                  <a:lnTo>
                    <a:pt x="674380" y="726652"/>
                  </a:lnTo>
                  <a:lnTo>
                    <a:pt x="674380" y="175840"/>
                  </a:lnTo>
                  <a:lnTo>
                    <a:pt x="548659" y="175840"/>
                  </a:lnTo>
                  <a:close/>
                  <a:moveTo>
                    <a:pt x="491509" y="726652"/>
                  </a:moveTo>
                  <a:lnTo>
                    <a:pt x="491509" y="431863"/>
                  </a:lnTo>
                  <a:lnTo>
                    <a:pt x="365750" y="431863"/>
                  </a:lnTo>
                  <a:lnTo>
                    <a:pt x="365750" y="726652"/>
                  </a:lnTo>
                  <a:close/>
                  <a:moveTo>
                    <a:pt x="182880" y="549734"/>
                  </a:moveTo>
                  <a:lnTo>
                    <a:pt x="182880" y="726614"/>
                  </a:lnTo>
                  <a:lnTo>
                    <a:pt x="308600" y="726614"/>
                  </a:lnTo>
                  <a:lnTo>
                    <a:pt x="308600" y="288168"/>
                  </a:lnTo>
                  <a:lnTo>
                    <a:pt x="182880" y="288168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07D532F3-EEE4-E67B-3DFC-29B1764B13A8}"/>
                </a:ext>
              </a:extLst>
            </p:cNvPr>
            <p:cNvSpPr>
              <a:spLocks/>
            </p:cNvSpPr>
            <p:nvPr/>
          </p:nvSpPr>
          <p:spPr>
            <a:xfrm>
              <a:off x="6458986" y="8923187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create_bar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Returns a bar plot showing the average of a selected metric by default. This function creates a bar chart directly from the aggregated / summarized data</a:t>
              </a:r>
            </a:p>
          </p:txBody>
        </p:sp>
      </p:grp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D22F6C12-C270-8E71-2578-59642B0AFC17}"/>
              </a:ext>
            </a:extLst>
          </p:cNvPr>
          <p:cNvCxnSpPr>
            <a:cxnSpLocks/>
          </p:cNvCxnSpPr>
          <p:nvPr/>
        </p:nvCxnSpPr>
        <p:spPr>
          <a:xfrm>
            <a:off x="12468952" y="3623123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473B8510-F582-4050-A7A3-E914A03A7EF5}"/>
              </a:ext>
            </a:extLst>
          </p:cNvPr>
          <p:cNvCxnSpPr>
            <a:cxnSpLocks/>
          </p:cNvCxnSpPr>
          <p:nvPr/>
        </p:nvCxnSpPr>
        <p:spPr>
          <a:xfrm>
            <a:off x="12468952" y="4370151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9F10DCBA-1456-A6CB-F5A5-D187F5959AF3}"/>
              </a:ext>
            </a:extLst>
          </p:cNvPr>
          <p:cNvCxnSpPr>
            <a:cxnSpLocks/>
          </p:cNvCxnSpPr>
          <p:nvPr/>
        </p:nvCxnSpPr>
        <p:spPr>
          <a:xfrm>
            <a:off x="12468952" y="511717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E84C5809-1B98-F188-75F8-BB9BA73D1A8A}"/>
              </a:ext>
            </a:extLst>
          </p:cNvPr>
          <p:cNvCxnSpPr>
            <a:cxnSpLocks/>
          </p:cNvCxnSpPr>
          <p:nvPr/>
        </p:nvCxnSpPr>
        <p:spPr>
          <a:xfrm>
            <a:off x="12468952" y="5864207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A2C23E94-8074-DB61-032E-E054241184E6}"/>
              </a:ext>
            </a:extLst>
          </p:cNvPr>
          <p:cNvGrpSpPr/>
          <p:nvPr/>
        </p:nvGrpSpPr>
        <p:grpSpPr>
          <a:xfrm>
            <a:off x="12468952" y="3783758"/>
            <a:ext cx="5395736" cy="425758"/>
            <a:chOff x="6458986" y="10248197"/>
            <a:chExt cx="5395736" cy="425758"/>
          </a:xfrm>
        </p:grpSpPr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A4437AF5-228C-9903-87D4-F10BFE85FD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0248197"/>
              <a:ext cx="287242" cy="320863"/>
            </a:xfrm>
            <a:custGeom>
              <a:avLst/>
              <a:gdLst>
                <a:gd name="connsiteX0" fmla="*/ 581044 w 651748"/>
                <a:gd name="connsiteY0" fmla="*/ 0 h 728034"/>
                <a:gd name="connsiteX1" fmla="*/ 601094 w 651748"/>
                <a:gd name="connsiteY1" fmla="*/ 0 h 728034"/>
                <a:gd name="connsiteX2" fmla="*/ 601094 w 651748"/>
                <a:gd name="connsiteY2" fmla="*/ 47501 h 728034"/>
                <a:gd name="connsiteX3" fmla="*/ 651748 w 651748"/>
                <a:gd name="connsiteY3" fmla="*/ 47501 h 728034"/>
                <a:gd name="connsiteX4" fmla="*/ 651748 w 651748"/>
                <a:gd name="connsiteY4" fmla="*/ 537534 h 728034"/>
                <a:gd name="connsiteX5" fmla="*/ 601094 w 651748"/>
                <a:gd name="connsiteY5" fmla="*/ 537534 h 728034"/>
                <a:gd name="connsiteX6" fmla="*/ 601094 w 651748"/>
                <a:gd name="connsiteY6" fmla="*/ 728034 h 728034"/>
                <a:gd name="connsiteX7" fmla="*/ 581044 w 651748"/>
                <a:gd name="connsiteY7" fmla="*/ 728034 h 728034"/>
                <a:gd name="connsiteX8" fmla="*/ 581044 w 651748"/>
                <a:gd name="connsiteY8" fmla="*/ 537534 h 728034"/>
                <a:gd name="connsiteX9" fmla="*/ 530390 w 651748"/>
                <a:gd name="connsiteY9" fmla="*/ 537534 h 728034"/>
                <a:gd name="connsiteX10" fmla="*/ 530390 w 651748"/>
                <a:gd name="connsiteY10" fmla="*/ 47501 h 728034"/>
                <a:gd name="connsiteX11" fmla="*/ 581044 w 651748"/>
                <a:gd name="connsiteY11" fmla="*/ 47501 h 728034"/>
                <a:gd name="connsiteX12" fmla="*/ 403955 w 651748"/>
                <a:gd name="connsiteY12" fmla="*/ 0 h 728034"/>
                <a:gd name="connsiteX13" fmla="*/ 423996 w 651748"/>
                <a:gd name="connsiteY13" fmla="*/ 0 h 728034"/>
                <a:gd name="connsiteX14" fmla="*/ 423996 w 651748"/>
                <a:gd name="connsiteY14" fmla="*/ 172707 h 728034"/>
                <a:gd name="connsiteX15" fmla="*/ 474650 w 651748"/>
                <a:gd name="connsiteY15" fmla="*/ 172707 h 728034"/>
                <a:gd name="connsiteX16" fmla="*/ 474650 w 651748"/>
                <a:gd name="connsiteY16" fmla="*/ 592360 h 728034"/>
                <a:gd name="connsiteX17" fmla="*/ 423996 w 651748"/>
                <a:gd name="connsiteY17" fmla="*/ 592360 h 728034"/>
                <a:gd name="connsiteX18" fmla="*/ 423996 w 651748"/>
                <a:gd name="connsiteY18" fmla="*/ 728034 h 728034"/>
                <a:gd name="connsiteX19" fmla="*/ 403955 w 651748"/>
                <a:gd name="connsiteY19" fmla="*/ 728034 h 728034"/>
                <a:gd name="connsiteX20" fmla="*/ 403955 w 651748"/>
                <a:gd name="connsiteY20" fmla="*/ 592360 h 728034"/>
                <a:gd name="connsiteX21" fmla="*/ 353292 w 651748"/>
                <a:gd name="connsiteY21" fmla="*/ 592360 h 728034"/>
                <a:gd name="connsiteX22" fmla="*/ 353292 w 651748"/>
                <a:gd name="connsiteY22" fmla="*/ 172707 h 728034"/>
                <a:gd name="connsiteX23" fmla="*/ 403955 w 651748"/>
                <a:gd name="connsiteY23" fmla="*/ 172707 h 728034"/>
                <a:gd name="connsiteX24" fmla="*/ 227752 w 651748"/>
                <a:gd name="connsiteY24" fmla="*/ 0 h 728034"/>
                <a:gd name="connsiteX25" fmla="*/ 247793 w 651748"/>
                <a:gd name="connsiteY25" fmla="*/ 0 h 728034"/>
                <a:gd name="connsiteX26" fmla="*/ 247793 w 651748"/>
                <a:gd name="connsiteY26" fmla="*/ 102889 h 728034"/>
                <a:gd name="connsiteX27" fmla="*/ 298447 w 651748"/>
                <a:gd name="connsiteY27" fmla="*/ 102889 h 728034"/>
                <a:gd name="connsiteX28" fmla="*/ 298447 w 651748"/>
                <a:gd name="connsiteY28" fmla="*/ 625469 h 728034"/>
                <a:gd name="connsiteX29" fmla="*/ 247793 w 651748"/>
                <a:gd name="connsiteY29" fmla="*/ 625469 h 728034"/>
                <a:gd name="connsiteX30" fmla="*/ 247793 w 651748"/>
                <a:gd name="connsiteY30" fmla="*/ 728034 h 728034"/>
                <a:gd name="connsiteX31" fmla="*/ 227752 w 651748"/>
                <a:gd name="connsiteY31" fmla="*/ 728034 h 728034"/>
                <a:gd name="connsiteX32" fmla="*/ 227752 w 651748"/>
                <a:gd name="connsiteY32" fmla="*/ 625469 h 728034"/>
                <a:gd name="connsiteX33" fmla="*/ 177089 w 651748"/>
                <a:gd name="connsiteY33" fmla="*/ 625469 h 728034"/>
                <a:gd name="connsiteX34" fmla="*/ 177089 w 651748"/>
                <a:gd name="connsiteY34" fmla="*/ 102889 h 728034"/>
                <a:gd name="connsiteX35" fmla="*/ 227752 w 651748"/>
                <a:gd name="connsiteY35" fmla="*/ 102889 h 728034"/>
                <a:gd name="connsiteX36" fmla="*/ 50654 w 651748"/>
                <a:gd name="connsiteY36" fmla="*/ 0 h 728034"/>
                <a:gd name="connsiteX37" fmla="*/ 70704 w 651748"/>
                <a:gd name="connsiteY37" fmla="*/ 0 h 728034"/>
                <a:gd name="connsiteX38" fmla="*/ 70704 w 651748"/>
                <a:gd name="connsiteY38" fmla="*/ 211646 h 728034"/>
                <a:gd name="connsiteX39" fmla="*/ 121358 w 651748"/>
                <a:gd name="connsiteY39" fmla="*/ 211646 h 728034"/>
                <a:gd name="connsiteX40" fmla="*/ 121358 w 651748"/>
                <a:gd name="connsiteY40" fmla="*/ 420053 h 728034"/>
                <a:gd name="connsiteX41" fmla="*/ 70704 w 651748"/>
                <a:gd name="connsiteY41" fmla="*/ 420053 h 728034"/>
                <a:gd name="connsiteX42" fmla="*/ 70704 w 651748"/>
                <a:gd name="connsiteY42" fmla="*/ 728034 h 728034"/>
                <a:gd name="connsiteX43" fmla="*/ 50654 w 651748"/>
                <a:gd name="connsiteY43" fmla="*/ 728034 h 728034"/>
                <a:gd name="connsiteX44" fmla="*/ 50654 w 651748"/>
                <a:gd name="connsiteY44" fmla="*/ 420053 h 728034"/>
                <a:gd name="connsiteX45" fmla="*/ 0 w 651748"/>
                <a:gd name="connsiteY45" fmla="*/ 420053 h 728034"/>
                <a:gd name="connsiteX46" fmla="*/ 0 w 651748"/>
                <a:gd name="connsiteY46" fmla="*/ 211646 h 728034"/>
                <a:gd name="connsiteX47" fmla="*/ 50654 w 651748"/>
                <a:gd name="connsiteY47" fmla="*/ 211646 h 728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51748" h="728034">
                  <a:moveTo>
                    <a:pt x="581044" y="0"/>
                  </a:moveTo>
                  <a:lnTo>
                    <a:pt x="601094" y="0"/>
                  </a:lnTo>
                  <a:lnTo>
                    <a:pt x="601094" y="47501"/>
                  </a:lnTo>
                  <a:lnTo>
                    <a:pt x="651748" y="47501"/>
                  </a:lnTo>
                  <a:lnTo>
                    <a:pt x="651748" y="537534"/>
                  </a:lnTo>
                  <a:lnTo>
                    <a:pt x="601094" y="537534"/>
                  </a:lnTo>
                  <a:lnTo>
                    <a:pt x="601094" y="728034"/>
                  </a:lnTo>
                  <a:lnTo>
                    <a:pt x="581044" y="728034"/>
                  </a:lnTo>
                  <a:lnTo>
                    <a:pt x="581044" y="537534"/>
                  </a:lnTo>
                  <a:lnTo>
                    <a:pt x="530390" y="537534"/>
                  </a:lnTo>
                  <a:lnTo>
                    <a:pt x="530390" y="47501"/>
                  </a:lnTo>
                  <a:lnTo>
                    <a:pt x="581044" y="47501"/>
                  </a:lnTo>
                  <a:close/>
                  <a:moveTo>
                    <a:pt x="403955" y="0"/>
                  </a:moveTo>
                  <a:lnTo>
                    <a:pt x="423996" y="0"/>
                  </a:lnTo>
                  <a:lnTo>
                    <a:pt x="423996" y="172707"/>
                  </a:lnTo>
                  <a:lnTo>
                    <a:pt x="474650" y="172707"/>
                  </a:lnTo>
                  <a:lnTo>
                    <a:pt x="474650" y="592360"/>
                  </a:lnTo>
                  <a:lnTo>
                    <a:pt x="423996" y="592360"/>
                  </a:lnTo>
                  <a:lnTo>
                    <a:pt x="423996" y="728034"/>
                  </a:lnTo>
                  <a:lnTo>
                    <a:pt x="403955" y="728034"/>
                  </a:lnTo>
                  <a:lnTo>
                    <a:pt x="403955" y="592360"/>
                  </a:lnTo>
                  <a:lnTo>
                    <a:pt x="353292" y="592360"/>
                  </a:lnTo>
                  <a:lnTo>
                    <a:pt x="353292" y="172707"/>
                  </a:lnTo>
                  <a:lnTo>
                    <a:pt x="403955" y="172707"/>
                  </a:lnTo>
                  <a:close/>
                  <a:moveTo>
                    <a:pt x="227752" y="0"/>
                  </a:moveTo>
                  <a:lnTo>
                    <a:pt x="247793" y="0"/>
                  </a:lnTo>
                  <a:lnTo>
                    <a:pt x="247793" y="102889"/>
                  </a:lnTo>
                  <a:lnTo>
                    <a:pt x="298447" y="102889"/>
                  </a:lnTo>
                  <a:lnTo>
                    <a:pt x="298447" y="625469"/>
                  </a:lnTo>
                  <a:lnTo>
                    <a:pt x="247793" y="625469"/>
                  </a:lnTo>
                  <a:lnTo>
                    <a:pt x="247793" y="728034"/>
                  </a:lnTo>
                  <a:lnTo>
                    <a:pt x="227752" y="728034"/>
                  </a:lnTo>
                  <a:lnTo>
                    <a:pt x="227752" y="625469"/>
                  </a:lnTo>
                  <a:lnTo>
                    <a:pt x="177089" y="625469"/>
                  </a:lnTo>
                  <a:lnTo>
                    <a:pt x="177089" y="102889"/>
                  </a:lnTo>
                  <a:lnTo>
                    <a:pt x="227752" y="102889"/>
                  </a:lnTo>
                  <a:close/>
                  <a:moveTo>
                    <a:pt x="50654" y="0"/>
                  </a:moveTo>
                  <a:lnTo>
                    <a:pt x="70704" y="0"/>
                  </a:lnTo>
                  <a:lnTo>
                    <a:pt x="70704" y="211646"/>
                  </a:lnTo>
                  <a:lnTo>
                    <a:pt x="121358" y="211646"/>
                  </a:lnTo>
                  <a:lnTo>
                    <a:pt x="121358" y="420053"/>
                  </a:lnTo>
                  <a:lnTo>
                    <a:pt x="70704" y="420053"/>
                  </a:lnTo>
                  <a:lnTo>
                    <a:pt x="70704" y="728034"/>
                  </a:lnTo>
                  <a:lnTo>
                    <a:pt x="50654" y="728034"/>
                  </a:lnTo>
                  <a:lnTo>
                    <a:pt x="50654" y="420053"/>
                  </a:lnTo>
                  <a:lnTo>
                    <a:pt x="0" y="420053"/>
                  </a:lnTo>
                  <a:lnTo>
                    <a:pt x="0" y="211646"/>
                  </a:lnTo>
                  <a:lnTo>
                    <a:pt x="50654" y="211646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9DD825FE-C659-45FD-ABF6-B7DBB0D616B3}"/>
                </a:ext>
              </a:extLst>
            </p:cNvPr>
            <p:cNvSpPr>
              <a:spLocks/>
            </p:cNvSpPr>
            <p:nvPr/>
          </p:nvSpPr>
          <p:spPr>
            <a:xfrm>
              <a:off x="6458986" y="10248197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create_boxplot</a:t>
              </a: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Analyzes a selected metric and returns a box plot by default</a:t>
              </a:r>
            </a:p>
          </p:txBody>
        </p:sp>
      </p:grpSp>
      <p:grpSp>
        <p:nvGrpSpPr>
          <p:cNvPr id="565" name="Group 564">
            <a:extLst>
              <a:ext uri="{FF2B5EF4-FFF2-40B4-BE49-F238E27FC236}">
                <a16:creationId xmlns:a16="http://schemas.microsoft.com/office/drawing/2014/main" id="{A34A5F9F-8F41-550A-48F4-EECCBA14D8D6}"/>
              </a:ext>
            </a:extLst>
          </p:cNvPr>
          <p:cNvGrpSpPr/>
          <p:nvPr/>
        </p:nvGrpSpPr>
        <p:grpSpPr>
          <a:xfrm>
            <a:off x="12468952" y="6024842"/>
            <a:ext cx="5395736" cy="625812"/>
            <a:chOff x="6458986" y="12528376"/>
            <a:chExt cx="5395736" cy="625812"/>
          </a:xfrm>
        </p:grpSpPr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E8907F9C-31CA-963C-3409-80D2FCFABB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2528376"/>
              <a:ext cx="352949" cy="271814"/>
            </a:xfrm>
            <a:custGeom>
              <a:avLst/>
              <a:gdLst>
                <a:gd name="connsiteX0" fmla="*/ 243941 w 609611"/>
                <a:gd name="connsiteY0" fmla="*/ 311414 h 469474"/>
                <a:gd name="connsiteX1" fmla="*/ 270897 w 609611"/>
                <a:gd name="connsiteY1" fmla="*/ 336846 h 469474"/>
                <a:gd name="connsiteX2" fmla="*/ 248227 w 609611"/>
                <a:gd name="connsiteY2" fmla="*/ 379327 h 469474"/>
                <a:gd name="connsiteX3" fmla="*/ 160883 w 609611"/>
                <a:gd name="connsiteY3" fmla="*/ 431715 h 469474"/>
                <a:gd name="connsiteX4" fmla="*/ 125069 w 609611"/>
                <a:gd name="connsiteY4" fmla="*/ 431715 h 469474"/>
                <a:gd name="connsiteX5" fmla="*/ 127450 w 609611"/>
                <a:gd name="connsiteY5" fmla="*/ 413808 h 469474"/>
                <a:gd name="connsiteX6" fmla="*/ 125069 w 609611"/>
                <a:gd name="connsiteY6" fmla="*/ 395996 h 469474"/>
                <a:gd name="connsiteX7" fmla="*/ 160883 w 609611"/>
                <a:gd name="connsiteY7" fmla="*/ 395996 h 469474"/>
                <a:gd name="connsiteX8" fmla="*/ 216700 w 609611"/>
                <a:gd name="connsiteY8" fmla="*/ 362468 h 469474"/>
                <a:gd name="connsiteX9" fmla="*/ 125260 w 609611"/>
                <a:gd name="connsiteY9" fmla="*/ 217783 h 469474"/>
                <a:gd name="connsiteX10" fmla="*/ 172885 w 609611"/>
                <a:gd name="connsiteY10" fmla="*/ 217783 h 469474"/>
                <a:gd name="connsiteX11" fmla="*/ 248513 w 609611"/>
                <a:gd name="connsiteY11" fmla="*/ 247692 h 469474"/>
                <a:gd name="connsiteX12" fmla="*/ 306330 w 609611"/>
                <a:gd name="connsiteY12" fmla="*/ 301889 h 469474"/>
                <a:gd name="connsiteX13" fmla="*/ 385673 w 609611"/>
                <a:gd name="connsiteY13" fmla="*/ 375708 h 469474"/>
                <a:gd name="connsiteX14" fmla="*/ 436918 w 609611"/>
                <a:gd name="connsiteY14" fmla="*/ 395996 h 469474"/>
                <a:gd name="connsiteX15" fmla="*/ 484543 w 609611"/>
                <a:gd name="connsiteY15" fmla="*/ 395996 h 469474"/>
                <a:gd name="connsiteX16" fmla="*/ 481971 w 609611"/>
                <a:gd name="connsiteY16" fmla="*/ 413713 h 469474"/>
                <a:gd name="connsiteX17" fmla="*/ 484352 w 609611"/>
                <a:gd name="connsiteY17" fmla="*/ 431619 h 469474"/>
                <a:gd name="connsiteX18" fmla="*/ 436727 w 609611"/>
                <a:gd name="connsiteY18" fmla="*/ 431619 h 469474"/>
                <a:gd name="connsiteX19" fmla="*/ 361099 w 609611"/>
                <a:gd name="connsiteY19" fmla="*/ 401711 h 469474"/>
                <a:gd name="connsiteX20" fmla="*/ 306330 w 609611"/>
                <a:gd name="connsiteY20" fmla="*/ 350371 h 469474"/>
                <a:gd name="connsiteX21" fmla="*/ 224129 w 609611"/>
                <a:gd name="connsiteY21" fmla="*/ 273314 h 469474"/>
                <a:gd name="connsiteX22" fmla="*/ 172694 w 609611"/>
                <a:gd name="connsiteY22" fmla="*/ 253121 h 469474"/>
                <a:gd name="connsiteX23" fmla="*/ 125069 w 609611"/>
                <a:gd name="connsiteY23" fmla="*/ 253121 h 469474"/>
                <a:gd name="connsiteX24" fmla="*/ 127450 w 609611"/>
                <a:gd name="connsiteY24" fmla="*/ 235214 h 469474"/>
                <a:gd name="connsiteX25" fmla="*/ 125260 w 609611"/>
                <a:gd name="connsiteY25" fmla="*/ 217783 h 469474"/>
                <a:gd name="connsiteX26" fmla="*/ 307378 w 609611"/>
                <a:gd name="connsiteY26" fmla="*/ 192446 h 469474"/>
                <a:gd name="connsiteX27" fmla="*/ 334429 w 609611"/>
                <a:gd name="connsiteY27" fmla="*/ 217687 h 469474"/>
                <a:gd name="connsiteX28" fmla="*/ 306330 w 609611"/>
                <a:gd name="connsiteY28" fmla="*/ 270456 h 469474"/>
                <a:gd name="connsiteX29" fmla="*/ 302234 w 609611"/>
                <a:gd name="connsiteY29" fmla="*/ 278076 h 469474"/>
                <a:gd name="connsiteX30" fmla="*/ 275183 w 609611"/>
                <a:gd name="connsiteY30" fmla="*/ 252739 h 469474"/>
                <a:gd name="connsiteX31" fmla="*/ 306330 w 609611"/>
                <a:gd name="connsiteY31" fmla="*/ 194541 h 469474"/>
                <a:gd name="connsiteX32" fmla="*/ 448729 w 609611"/>
                <a:gd name="connsiteY32" fmla="*/ 38808 h 469474"/>
                <a:gd name="connsiteX33" fmla="*/ 484543 w 609611"/>
                <a:gd name="connsiteY33" fmla="*/ 38808 h 469474"/>
                <a:gd name="connsiteX34" fmla="*/ 482257 w 609611"/>
                <a:gd name="connsiteY34" fmla="*/ 56620 h 469474"/>
                <a:gd name="connsiteX35" fmla="*/ 484638 w 609611"/>
                <a:gd name="connsiteY35" fmla="*/ 74527 h 469474"/>
                <a:gd name="connsiteX36" fmla="*/ 448729 w 609611"/>
                <a:gd name="connsiteY36" fmla="*/ 74527 h 469474"/>
                <a:gd name="connsiteX37" fmla="*/ 392912 w 609611"/>
                <a:gd name="connsiteY37" fmla="*/ 108055 h 469474"/>
                <a:gd name="connsiteX38" fmla="*/ 365766 w 609611"/>
                <a:gd name="connsiteY38" fmla="*/ 159014 h 469474"/>
                <a:gd name="connsiteX39" fmla="*/ 338715 w 609611"/>
                <a:gd name="connsiteY39" fmla="*/ 133677 h 469474"/>
                <a:gd name="connsiteX40" fmla="*/ 361384 w 609611"/>
                <a:gd name="connsiteY40" fmla="*/ 91195 h 469474"/>
                <a:gd name="connsiteX41" fmla="*/ 448729 w 609611"/>
                <a:gd name="connsiteY41" fmla="*/ 38808 h 469474"/>
                <a:gd name="connsiteX42" fmla="*/ 125259 w 609611"/>
                <a:gd name="connsiteY42" fmla="*/ 38808 h 469474"/>
                <a:gd name="connsiteX43" fmla="*/ 172884 w 609611"/>
                <a:gd name="connsiteY43" fmla="*/ 38808 h 469474"/>
                <a:gd name="connsiteX44" fmla="*/ 248513 w 609611"/>
                <a:gd name="connsiteY44" fmla="*/ 68717 h 469474"/>
                <a:gd name="connsiteX45" fmla="*/ 306329 w 609611"/>
                <a:gd name="connsiteY45" fmla="*/ 122914 h 469474"/>
                <a:gd name="connsiteX46" fmla="*/ 385482 w 609611"/>
                <a:gd name="connsiteY46" fmla="*/ 197114 h 469474"/>
                <a:gd name="connsiteX47" fmla="*/ 436917 w 609611"/>
                <a:gd name="connsiteY47" fmla="*/ 217402 h 469474"/>
                <a:gd name="connsiteX48" fmla="*/ 484542 w 609611"/>
                <a:gd name="connsiteY48" fmla="*/ 217402 h 469474"/>
                <a:gd name="connsiteX49" fmla="*/ 482256 w 609611"/>
                <a:gd name="connsiteY49" fmla="*/ 235214 h 469474"/>
                <a:gd name="connsiteX50" fmla="*/ 484352 w 609611"/>
                <a:gd name="connsiteY50" fmla="*/ 253121 h 469474"/>
                <a:gd name="connsiteX51" fmla="*/ 436727 w 609611"/>
                <a:gd name="connsiteY51" fmla="*/ 253121 h 469474"/>
                <a:gd name="connsiteX52" fmla="*/ 361098 w 609611"/>
                <a:gd name="connsiteY52" fmla="*/ 223212 h 469474"/>
                <a:gd name="connsiteX53" fmla="*/ 306329 w 609611"/>
                <a:gd name="connsiteY53" fmla="*/ 171872 h 469474"/>
                <a:gd name="connsiteX54" fmla="*/ 224129 w 609611"/>
                <a:gd name="connsiteY54" fmla="*/ 94815 h 469474"/>
                <a:gd name="connsiteX55" fmla="*/ 172884 w 609611"/>
                <a:gd name="connsiteY55" fmla="*/ 74527 h 469474"/>
                <a:gd name="connsiteX56" fmla="*/ 125259 w 609611"/>
                <a:gd name="connsiteY56" fmla="*/ 74527 h 469474"/>
                <a:gd name="connsiteX57" fmla="*/ 127640 w 609611"/>
                <a:gd name="connsiteY57" fmla="*/ 56620 h 469474"/>
                <a:gd name="connsiteX58" fmla="*/ 125259 w 609611"/>
                <a:gd name="connsiteY58" fmla="*/ 38808 h 469474"/>
                <a:gd name="connsiteX59" fmla="*/ 545979 w 609611"/>
                <a:gd name="connsiteY59" fmla="*/ 447 h 469474"/>
                <a:gd name="connsiteX60" fmla="*/ 609165 w 609611"/>
                <a:gd name="connsiteY60" fmla="*/ 49536 h 469474"/>
                <a:gd name="connsiteX61" fmla="*/ 560076 w 609611"/>
                <a:gd name="connsiteY61" fmla="*/ 112722 h 469474"/>
                <a:gd name="connsiteX62" fmla="*/ 560076 w 609611"/>
                <a:gd name="connsiteY62" fmla="*/ 113198 h 469474"/>
                <a:gd name="connsiteX63" fmla="*/ 560076 w 609611"/>
                <a:gd name="connsiteY63" fmla="*/ 178635 h 469474"/>
                <a:gd name="connsiteX64" fmla="*/ 560076 w 609611"/>
                <a:gd name="connsiteY64" fmla="*/ 179111 h 469474"/>
                <a:gd name="connsiteX65" fmla="*/ 609606 w 609611"/>
                <a:gd name="connsiteY65" fmla="*/ 235213 h 469474"/>
                <a:gd name="connsiteX66" fmla="*/ 560076 w 609611"/>
                <a:gd name="connsiteY66" fmla="*/ 291792 h 469474"/>
                <a:gd name="connsiteX67" fmla="*/ 560076 w 609611"/>
                <a:gd name="connsiteY67" fmla="*/ 356752 h 469474"/>
                <a:gd name="connsiteX68" fmla="*/ 609165 w 609611"/>
                <a:gd name="connsiteY68" fmla="*/ 405841 h 469474"/>
                <a:gd name="connsiteX69" fmla="*/ 560076 w 609611"/>
                <a:gd name="connsiteY69" fmla="*/ 469027 h 469474"/>
                <a:gd name="connsiteX70" fmla="*/ 496890 w 609611"/>
                <a:gd name="connsiteY70" fmla="*/ 419938 h 469474"/>
                <a:gd name="connsiteX71" fmla="*/ 545979 w 609611"/>
                <a:gd name="connsiteY71" fmla="*/ 356752 h 469474"/>
                <a:gd name="connsiteX72" fmla="*/ 545979 w 609611"/>
                <a:gd name="connsiteY72" fmla="*/ 291316 h 469474"/>
                <a:gd name="connsiteX73" fmla="*/ 497202 w 609611"/>
                <a:gd name="connsiteY73" fmla="*/ 242539 h 469474"/>
                <a:gd name="connsiteX74" fmla="*/ 545979 w 609611"/>
                <a:gd name="connsiteY74" fmla="*/ 179111 h 469474"/>
                <a:gd name="connsiteX75" fmla="*/ 545979 w 609611"/>
                <a:gd name="connsiteY75" fmla="*/ 178635 h 469474"/>
                <a:gd name="connsiteX76" fmla="*/ 545979 w 609611"/>
                <a:gd name="connsiteY76" fmla="*/ 113198 h 469474"/>
                <a:gd name="connsiteX77" fmla="*/ 545979 w 609611"/>
                <a:gd name="connsiteY77" fmla="*/ 112722 h 469474"/>
                <a:gd name="connsiteX78" fmla="*/ 496890 w 609611"/>
                <a:gd name="connsiteY78" fmla="*/ 63633 h 469474"/>
                <a:gd name="connsiteX79" fmla="*/ 545979 w 609611"/>
                <a:gd name="connsiteY79" fmla="*/ 447 h 469474"/>
                <a:gd name="connsiteX80" fmla="*/ 56619 w 609611"/>
                <a:gd name="connsiteY80" fmla="*/ 6 h 469474"/>
                <a:gd name="connsiteX81" fmla="*/ 113162 w 609611"/>
                <a:gd name="connsiteY81" fmla="*/ 56620 h 469474"/>
                <a:gd name="connsiteX82" fmla="*/ 63632 w 609611"/>
                <a:gd name="connsiteY82" fmla="*/ 112722 h 469474"/>
                <a:gd name="connsiteX83" fmla="*/ 63632 w 609611"/>
                <a:gd name="connsiteY83" fmla="*/ 113198 h 469474"/>
                <a:gd name="connsiteX84" fmla="*/ 63632 w 609611"/>
                <a:gd name="connsiteY84" fmla="*/ 179111 h 469474"/>
                <a:gd name="connsiteX85" fmla="*/ 63632 w 609611"/>
                <a:gd name="connsiteY85" fmla="*/ 179588 h 469474"/>
                <a:gd name="connsiteX86" fmla="*/ 112409 w 609611"/>
                <a:gd name="connsiteY86" fmla="*/ 228364 h 469474"/>
                <a:gd name="connsiteX87" fmla="*/ 63632 w 609611"/>
                <a:gd name="connsiteY87" fmla="*/ 291792 h 469474"/>
                <a:gd name="connsiteX88" fmla="*/ 63632 w 609611"/>
                <a:gd name="connsiteY88" fmla="*/ 356753 h 469474"/>
                <a:gd name="connsiteX89" fmla="*/ 112721 w 609611"/>
                <a:gd name="connsiteY89" fmla="*/ 405842 h 469474"/>
                <a:gd name="connsiteX90" fmla="*/ 63632 w 609611"/>
                <a:gd name="connsiteY90" fmla="*/ 469028 h 469474"/>
                <a:gd name="connsiteX91" fmla="*/ 446 w 609611"/>
                <a:gd name="connsiteY91" fmla="*/ 419939 h 469474"/>
                <a:gd name="connsiteX92" fmla="*/ 49535 w 609611"/>
                <a:gd name="connsiteY92" fmla="*/ 356753 h 469474"/>
                <a:gd name="connsiteX93" fmla="*/ 49535 w 609611"/>
                <a:gd name="connsiteY93" fmla="*/ 291316 h 469474"/>
                <a:gd name="connsiteX94" fmla="*/ 758 w 609611"/>
                <a:gd name="connsiteY94" fmla="*/ 242539 h 469474"/>
                <a:gd name="connsiteX95" fmla="*/ 49535 w 609611"/>
                <a:gd name="connsiteY95" fmla="*/ 179111 h 469474"/>
                <a:gd name="connsiteX96" fmla="*/ 49535 w 609611"/>
                <a:gd name="connsiteY96" fmla="*/ 178635 h 469474"/>
                <a:gd name="connsiteX97" fmla="*/ 49535 w 609611"/>
                <a:gd name="connsiteY97" fmla="*/ 113198 h 469474"/>
                <a:gd name="connsiteX98" fmla="*/ 49535 w 609611"/>
                <a:gd name="connsiteY98" fmla="*/ 112722 h 469474"/>
                <a:gd name="connsiteX99" fmla="*/ 5 w 609611"/>
                <a:gd name="connsiteY99" fmla="*/ 56548 h 469474"/>
                <a:gd name="connsiteX100" fmla="*/ 56619 w 609611"/>
                <a:gd name="connsiteY100" fmla="*/ 6 h 469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609611" h="469474">
                  <a:moveTo>
                    <a:pt x="243941" y="311414"/>
                  </a:moveTo>
                  <a:lnTo>
                    <a:pt x="270897" y="336846"/>
                  </a:lnTo>
                  <a:lnTo>
                    <a:pt x="248227" y="379327"/>
                  </a:lnTo>
                  <a:cubicBezTo>
                    <a:pt x="231055" y="411611"/>
                    <a:pt x="197450" y="431766"/>
                    <a:pt x="160883" y="431715"/>
                  </a:cubicBezTo>
                  <a:lnTo>
                    <a:pt x="125069" y="431715"/>
                  </a:lnTo>
                  <a:cubicBezTo>
                    <a:pt x="126685" y="425884"/>
                    <a:pt x="127487" y="419858"/>
                    <a:pt x="127450" y="413808"/>
                  </a:cubicBezTo>
                  <a:cubicBezTo>
                    <a:pt x="127486" y="407789"/>
                    <a:pt x="126685" y="401794"/>
                    <a:pt x="125069" y="395996"/>
                  </a:cubicBezTo>
                  <a:lnTo>
                    <a:pt x="160883" y="395996"/>
                  </a:lnTo>
                  <a:cubicBezTo>
                    <a:pt x="184260" y="396012"/>
                    <a:pt x="205733" y="383113"/>
                    <a:pt x="216700" y="362468"/>
                  </a:cubicBezTo>
                  <a:close/>
                  <a:moveTo>
                    <a:pt x="125260" y="217783"/>
                  </a:moveTo>
                  <a:lnTo>
                    <a:pt x="172885" y="217783"/>
                  </a:lnTo>
                  <a:cubicBezTo>
                    <a:pt x="200989" y="217727"/>
                    <a:pt x="228050" y="228428"/>
                    <a:pt x="248513" y="247692"/>
                  </a:cubicBezTo>
                  <a:lnTo>
                    <a:pt x="306330" y="301889"/>
                  </a:lnTo>
                  <a:lnTo>
                    <a:pt x="385673" y="375708"/>
                  </a:lnTo>
                  <a:cubicBezTo>
                    <a:pt x="399559" y="388732"/>
                    <a:pt x="417880" y="395986"/>
                    <a:pt x="436918" y="395996"/>
                  </a:cubicBezTo>
                  <a:lnTo>
                    <a:pt x="484543" y="395996"/>
                  </a:lnTo>
                  <a:cubicBezTo>
                    <a:pt x="482916" y="401764"/>
                    <a:pt x="482052" y="407720"/>
                    <a:pt x="481971" y="413713"/>
                  </a:cubicBezTo>
                  <a:cubicBezTo>
                    <a:pt x="481934" y="419763"/>
                    <a:pt x="482736" y="425789"/>
                    <a:pt x="484352" y="431619"/>
                  </a:cubicBezTo>
                  <a:lnTo>
                    <a:pt x="436727" y="431619"/>
                  </a:lnTo>
                  <a:cubicBezTo>
                    <a:pt x="408630" y="431638"/>
                    <a:pt x="381583" y="420941"/>
                    <a:pt x="361099" y="401711"/>
                  </a:cubicBezTo>
                  <a:lnTo>
                    <a:pt x="306330" y="350371"/>
                  </a:lnTo>
                  <a:lnTo>
                    <a:pt x="224129" y="273314"/>
                  </a:lnTo>
                  <a:cubicBezTo>
                    <a:pt x="210202" y="260246"/>
                    <a:pt x="191792" y="253018"/>
                    <a:pt x="172694" y="253121"/>
                  </a:cubicBezTo>
                  <a:lnTo>
                    <a:pt x="125069" y="253121"/>
                  </a:lnTo>
                  <a:cubicBezTo>
                    <a:pt x="126685" y="247291"/>
                    <a:pt x="127487" y="241264"/>
                    <a:pt x="127450" y="235214"/>
                  </a:cubicBezTo>
                  <a:cubicBezTo>
                    <a:pt x="127514" y="229331"/>
                    <a:pt x="126777" y="223467"/>
                    <a:pt x="125260" y="217783"/>
                  </a:cubicBezTo>
                  <a:close/>
                  <a:moveTo>
                    <a:pt x="307378" y="192446"/>
                  </a:moveTo>
                  <a:lnTo>
                    <a:pt x="334429" y="217687"/>
                  </a:lnTo>
                  <a:lnTo>
                    <a:pt x="306330" y="270456"/>
                  </a:lnTo>
                  <a:lnTo>
                    <a:pt x="302234" y="278076"/>
                  </a:lnTo>
                  <a:lnTo>
                    <a:pt x="275183" y="252739"/>
                  </a:lnTo>
                  <a:lnTo>
                    <a:pt x="306330" y="194541"/>
                  </a:lnTo>
                  <a:close/>
                  <a:moveTo>
                    <a:pt x="448729" y="38808"/>
                  </a:moveTo>
                  <a:lnTo>
                    <a:pt x="484543" y="38808"/>
                  </a:lnTo>
                  <a:cubicBezTo>
                    <a:pt x="483004" y="44619"/>
                    <a:pt x="482236" y="50608"/>
                    <a:pt x="482257" y="56620"/>
                  </a:cubicBezTo>
                  <a:cubicBezTo>
                    <a:pt x="482220" y="62670"/>
                    <a:pt x="483022" y="68697"/>
                    <a:pt x="484638" y="74527"/>
                  </a:cubicBezTo>
                  <a:lnTo>
                    <a:pt x="448729" y="74527"/>
                  </a:lnTo>
                  <a:cubicBezTo>
                    <a:pt x="425352" y="74511"/>
                    <a:pt x="403878" y="87409"/>
                    <a:pt x="392912" y="108055"/>
                  </a:cubicBezTo>
                  <a:lnTo>
                    <a:pt x="365766" y="159014"/>
                  </a:lnTo>
                  <a:lnTo>
                    <a:pt x="338715" y="133677"/>
                  </a:lnTo>
                  <a:lnTo>
                    <a:pt x="361384" y="91195"/>
                  </a:lnTo>
                  <a:cubicBezTo>
                    <a:pt x="378589" y="58942"/>
                    <a:pt x="412173" y="38798"/>
                    <a:pt x="448729" y="38808"/>
                  </a:cubicBezTo>
                  <a:close/>
                  <a:moveTo>
                    <a:pt x="125259" y="38808"/>
                  </a:moveTo>
                  <a:lnTo>
                    <a:pt x="172884" y="38808"/>
                  </a:lnTo>
                  <a:cubicBezTo>
                    <a:pt x="200988" y="38752"/>
                    <a:pt x="228049" y="49453"/>
                    <a:pt x="248513" y="68717"/>
                  </a:cubicBezTo>
                  <a:lnTo>
                    <a:pt x="306329" y="122914"/>
                  </a:lnTo>
                  <a:lnTo>
                    <a:pt x="385482" y="197114"/>
                  </a:lnTo>
                  <a:cubicBezTo>
                    <a:pt x="399415" y="210184"/>
                    <a:pt x="417813" y="217440"/>
                    <a:pt x="436917" y="217402"/>
                  </a:cubicBezTo>
                  <a:lnTo>
                    <a:pt x="484542" y="217402"/>
                  </a:lnTo>
                  <a:cubicBezTo>
                    <a:pt x="483004" y="223213"/>
                    <a:pt x="482235" y="229203"/>
                    <a:pt x="482256" y="235214"/>
                  </a:cubicBezTo>
                  <a:cubicBezTo>
                    <a:pt x="482126" y="241251"/>
                    <a:pt x="482831" y="247277"/>
                    <a:pt x="484352" y="253121"/>
                  </a:cubicBezTo>
                  <a:lnTo>
                    <a:pt x="436727" y="253121"/>
                  </a:lnTo>
                  <a:cubicBezTo>
                    <a:pt x="408630" y="253139"/>
                    <a:pt x="381582" y="242442"/>
                    <a:pt x="361098" y="223212"/>
                  </a:cubicBezTo>
                  <a:lnTo>
                    <a:pt x="306329" y="171872"/>
                  </a:lnTo>
                  <a:lnTo>
                    <a:pt x="224129" y="94815"/>
                  </a:lnTo>
                  <a:cubicBezTo>
                    <a:pt x="210264" y="81757"/>
                    <a:pt x="191929" y="74498"/>
                    <a:pt x="172884" y="74527"/>
                  </a:cubicBezTo>
                  <a:lnTo>
                    <a:pt x="125259" y="74527"/>
                  </a:lnTo>
                  <a:cubicBezTo>
                    <a:pt x="126875" y="68697"/>
                    <a:pt x="127677" y="62670"/>
                    <a:pt x="127640" y="56620"/>
                  </a:cubicBezTo>
                  <a:cubicBezTo>
                    <a:pt x="127676" y="50601"/>
                    <a:pt x="126875" y="44606"/>
                    <a:pt x="125259" y="38808"/>
                  </a:cubicBezTo>
                  <a:close/>
                  <a:moveTo>
                    <a:pt x="545979" y="447"/>
                  </a:moveTo>
                  <a:cubicBezTo>
                    <a:pt x="576983" y="-3446"/>
                    <a:pt x="605272" y="18532"/>
                    <a:pt x="609165" y="49536"/>
                  </a:cubicBezTo>
                  <a:cubicBezTo>
                    <a:pt x="613058" y="80540"/>
                    <a:pt x="591080" y="108829"/>
                    <a:pt x="560076" y="112722"/>
                  </a:cubicBezTo>
                  <a:cubicBezTo>
                    <a:pt x="560085" y="112881"/>
                    <a:pt x="560085" y="113039"/>
                    <a:pt x="560076" y="113198"/>
                  </a:cubicBezTo>
                  <a:lnTo>
                    <a:pt x="560076" y="178635"/>
                  </a:lnTo>
                  <a:cubicBezTo>
                    <a:pt x="560085" y="178794"/>
                    <a:pt x="560085" y="178952"/>
                    <a:pt x="560076" y="179111"/>
                  </a:cubicBezTo>
                  <a:cubicBezTo>
                    <a:pt x="588362" y="182663"/>
                    <a:pt x="609588" y="206705"/>
                    <a:pt x="609606" y="235213"/>
                  </a:cubicBezTo>
                  <a:cubicBezTo>
                    <a:pt x="609830" y="263904"/>
                    <a:pt x="588543" y="288218"/>
                    <a:pt x="560076" y="291792"/>
                  </a:cubicBezTo>
                  <a:lnTo>
                    <a:pt x="560076" y="356752"/>
                  </a:lnTo>
                  <a:cubicBezTo>
                    <a:pt x="585734" y="359974"/>
                    <a:pt x="605943" y="380183"/>
                    <a:pt x="609165" y="405841"/>
                  </a:cubicBezTo>
                  <a:cubicBezTo>
                    <a:pt x="613058" y="436845"/>
                    <a:pt x="591080" y="465135"/>
                    <a:pt x="560076" y="469027"/>
                  </a:cubicBezTo>
                  <a:cubicBezTo>
                    <a:pt x="529072" y="472920"/>
                    <a:pt x="500783" y="450942"/>
                    <a:pt x="496890" y="419938"/>
                  </a:cubicBezTo>
                  <a:cubicBezTo>
                    <a:pt x="492997" y="388934"/>
                    <a:pt x="514975" y="360645"/>
                    <a:pt x="545979" y="356752"/>
                  </a:cubicBezTo>
                  <a:lnTo>
                    <a:pt x="545979" y="291316"/>
                  </a:lnTo>
                  <a:cubicBezTo>
                    <a:pt x="520542" y="287994"/>
                    <a:pt x="500524" y="267976"/>
                    <a:pt x="497202" y="242539"/>
                  </a:cubicBezTo>
                  <a:cubicBezTo>
                    <a:pt x="493156" y="211554"/>
                    <a:pt x="514994" y="183157"/>
                    <a:pt x="545979" y="179111"/>
                  </a:cubicBezTo>
                  <a:cubicBezTo>
                    <a:pt x="545969" y="178952"/>
                    <a:pt x="545969" y="178794"/>
                    <a:pt x="545979" y="178635"/>
                  </a:cubicBezTo>
                  <a:lnTo>
                    <a:pt x="545979" y="113198"/>
                  </a:lnTo>
                  <a:cubicBezTo>
                    <a:pt x="545969" y="113039"/>
                    <a:pt x="545969" y="112881"/>
                    <a:pt x="545979" y="112722"/>
                  </a:cubicBezTo>
                  <a:cubicBezTo>
                    <a:pt x="520320" y="109500"/>
                    <a:pt x="500111" y="89291"/>
                    <a:pt x="496890" y="63633"/>
                  </a:cubicBezTo>
                  <a:cubicBezTo>
                    <a:pt x="492997" y="32629"/>
                    <a:pt x="514975" y="4339"/>
                    <a:pt x="545979" y="447"/>
                  </a:cubicBezTo>
                  <a:close/>
                  <a:moveTo>
                    <a:pt x="56619" y="6"/>
                  </a:moveTo>
                  <a:cubicBezTo>
                    <a:pt x="87867" y="25"/>
                    <a:pt x="113182" y="25372"/>
                    <a:pt x="113162" y="56620"/>
                  </a:cubicBezTo>
                  <a:cubicBezTo>
                    <a:pt x="113144" y="85128"/>
                    <a:pt x="91918" y="109170"/>
                    <a:pt x="63632" y="112722"/>
                  </a:cubicBezTo>
                  <a:cubicBezTo>
                    <a:pt x="63641" y="112881"/>
                    <a:pt x="63641" y="113039"/>
                    <a:pt x="63632" y="113198"/>
                  </a:cubicBezTo>
                  <a:lnTo>
                    <a:pt x="63632" y="179111"/>
                  </a:lnTo>
                  <a:cubicBezTo>
                    <a:pt x="63641" y="179269"/>
                    <a:pt x="63641" y="179428"/>
                    <a:pt x="63632" y="179588"/>
                  </a:cubicBezTo>
                  <a:cubicBezTo>
                    <a:pt x="89069" y="182909"/>
                    <a:pt x="109087" y="202928"/>
                    <a:pt x="112409" y="228364"/>
                  </a:cubicBezTo>
                  <a:cubicBezTo>
                    <a:pt x="116455" y="259349"/>
                    <a:pt x="94617" y="287746"/>
                    <a:pt x="63632" y="291792"/>
                  </a:cubicBezTo>
                  <a:lnTo>
                    <a:pt x="63632" y="356753"/>
                  </a:lnTo>
                  <a:cubicBezTo>
                    <a:pt x="89290" y="359974"/>
                    <a:pt x="109500" y="380183"/>
                    <a:pt x="112721" y="405842"/>
                  </a:cubicBezTo>
                  <a:cubicBezTo>
                    <a:pt x="116614" y="436845"/>
                    <a:pt x="94636" y="465136"/>
                    <a:pt x="63632" y="469028"/>
                  </a:cubicBezTo>
                  <a:cubicBezTo>
                    <a:pt x="32628" y="472920"/>
                    <a:pt x="4339" y="450942"/>
                    <a:pt x="446" y="419939"/>
                  </a:cubicBezTo>
                  <a:cubicBezTo>
                    <a:pt x="-3447" y="388935"/>
                    <a:pt x="18531" y="360645"/>
                    <a:pt x="49535" y="356753"/>
                  </a:cubicBezTo>
                  <a:lnTo>
                    <a:pt x="49535" y="291316"/>
                  </a:lnTo>
                  <a:cubicBezTo>
                    <a:pt x="24099" y="287994"/>
                    <a:pt x="4080" y="267976"/>
                    <a:pt x="758" y="242539"/>
                  </a:cubicBezTo>
                  <a:cubicBezTo>
                    <a:pt x="-3287" y="211554"/>
                    <a:pt x="18551" y="183157"/>
                    <a:pt x="49535" y="179111"/>
                  </a:cubicBezTo>
                  <a:cubicBezTo>
                    <a:pt x="49526" y="178952"/>
                    <a:pt x="49526" y="178794"/>
                    <a:pt x="49535" y="178635"/>
                  </a:cubicBezTo>
                  <a:lnTo>
                    <a:pt x="49535" y="113198"/>
                  </a:lnTo>
                  <a:cubicBezTo>
                    <a:pt x="49526" y="113039"/>
                    <a:pt x="49526" y="112881"/>
                    <a:pt x="49535" y="112722"/>
                  </a:cubicBezTo>
                  <a:cubicBezTo>
                    <a:pt x="21222" y="109167"/>
                    <a:pt x="-13" y="85084"/>
                    <a:pt x="5" y="56548"/>
                  </a:cubicBezTo>
                  <a:cubicBezTo>
                    <a:pt x="25" y="25302"/>
                    <a:pt x="25372" y="-14"/>
                    <a:pt x="56619" y="6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D174E987-8797-9DD1-D54D-C811E5BC65FB}"/>
                </a:ext>
              </a:extLst>
            </p:cNvPr>
            <p:cNvSpPr>
              <a:spLocks/>
            </p:cNvSpPr>
            <p:nvPr/>
          </p:nvSpPr>
          <p:spPr>
            <a:xfrm>
              <a:off x="6458986" y="12528376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create_sankey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Create a 'networkD3' style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sankey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chart based on a long count table with two variables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935B892C-C794-BE32-5198-11C85FC1FFAA}"/>
              </a:ext>
            </a:extLst>
          </p:cNvPr>
          <p:cNvGrpSpPr/>
          <p:nvPr/>
        </p:nvGrpSpPr>
        <p:grpSpPr>
          <a:xfrm>
            <a:off x="12468952" y="5277814"/>
            <a:ext cx="5395736" cy="425758"/>
            <a:chOff x="6458986" y="11768315"/>
            <a:chExt cx="5395736" cy="425758"/>
          </a:xfrm>
        </p:grpSpPr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9A0CEDE4-191B-6567-F670-5FDD0D5792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8986" y="11768315"/>
              <a:ext cx="352949" cy="352949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376C8713-593D-9640-185A-9D5137B9846B}"/>
                </a:ext>
              </a:extLst>
            </p:cNvPr>
            <p:cNvSpPr>
              <a:spLocks/>
            </p:cNvSpPr>
            <p:nvPr/>
          </p:nvSpPr>
          <p:spPr>
            <a:xfrm>
              <a:off x="6458986" y="11768315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create_line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By default, returns a line chart for the defined metric</a:t>
              </a:r>
            </a:p>
          </p:txBody>
        </p:sp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BE816A7-AA32-BA11-E21F-5B518EFBBF8A}"/>
              </a:ext>
            </a:extLst>
          </p:cNvPr>
          <p:cNvGrpSpPr/>
          <p:nvPr/>
        </p:nvGrpSpPr>
        <p:grpSpPr>
          <a:xfrm>
            <a:off x="12468952" y="4530786"/>
            <a:ext cx="5395736" cy="425758"/>
            <a:chOff x="6458986" y="10935747"/>
            <a:chExt cx="5395736" cy="425758"/>
          </a:xfrm>
        </p:grpSpPr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738EDC76-2AF7-A81D-DC41-2B192FA3A678}"/>
                </a:ext>
              </a:extLst>
            </p:cNvPr>
            <p:cNvSpPr>
              <a:spLocks/>
            </p:cNvSpPr>
            <p:nvPr/>
          </p:nvSpPr>
          <p:spPr>
            <a:xfrm>
              <a:off x="6458986" y="10935747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create_inc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Returns a heatmap for the generated incidence analysis </a:t>
              </a: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2724D5B8-2833-47E8-9CCD-44879036C0E9}"/>
                </a:ext>
              </a:extLst>
            </p:cNvPr>
            <p:cNvSpPr/>
            <p:nvPr/>
          </p:nvSpPr>
          <p:spPr>
            <a:xfrm>
              <a:off x="6458986" y="10935747"/>
              <a:ext cx="320863" cy="320863"/>
            </a:xfrm>
            <a:custGeom>
              <a:avLst/>
              <a:gdLst>
                <a:gd name="connsiteX0" fmla="*/ 69773 w 548219"/>
                <a:gd name="connsiteY0" fmla="*/ 0 h 548219"/>
                <a:gd name="connsiteX1" fmla="*/ 0 w 548219"/>
                <a:gd name="connsiteY1" fmla="*/ 0 h 548219"/>
                <a:gd name="connsiteX2" fmla="*/ 0 w 548219"/>
                <a:gd name="connsiteY2" fmla="*/ 69773 h 548219"/>
                <a:gd name="connsiteX3" fmla="*/ 69773 w 548219"/>
                <a:gd name="connsiteY3" fmla="*/ 69773 h 548219"/>
                <a:gd name="connsiteX4" fmla="*/ 69773 w 548219"/>
                <a:gd name="connsiteY4" fmla="*/ 0 h 548219"/>
                <a:gd name="connsiteX5" fmla="*/ 79741 w 548219"/>
                <a:gd name="connsiteY5" fmla="*/ 0 h 548219"/>
                <a:gd name="connsiteX6" fmla="*/ 79741 w 548219"/>
                <a:gd name="connsiteY6" fmla="*/ 69773 h 548219"/>
                <a:gd name="connsiteX7" fmla="*/ 149515 w 548219"/>
                <a:gd name="connsiteY7" fmla="*/ 69773 h 548219"/>
                <a:gd name="connsiteX8" fmla="*/ 149515 w 548219"/>
                <a:gd name="connsiteY8" fmla="*/ 0 h 548219"/>
                <a:gd name="connsiteX9" fmla="*/ 79741 w 548219"/>
                <a:gd name="connsiteY9" fmla="*/ 0 h 548219"/>
                <a:gd name="connsiteX10" fmla="*/ 159482 w 548219"/>
                <a:gd name="connsiteY10" fmla="*/ 0 h 548219"/>
                <a:gd name="connsiteX11" fmla="*/ 159482 w 548219"/>
                <a:gd name="connsiteY11" fmla="*/ 69773 h 548219"/>
                <a:gd name="connsiteX12" fmla="*/ 229256 w 548219"/>
                <a:gd name="connsiteY12" fmla="*/ 69773 h 548219"/>
                <a:gd name="connsiteX13" fmla="*/ 229256 w 548219"/>
                <a:gd name="connsiteY13" fmla="*/ 0 h 548219"/>
                <a:gd name="connsiteX14" fmla="*/ 159482 w 548219"/>
                <a:gd name="connsiteY14" fmla="*/ 0 h 548219"/>
                <a:gd name="connsiteX15" fmla="*/ 239223 w 548219"/>
                <a:gd name="connsiteY15" fmla="*/ 0 h 548219"/>
                <a:gd name="connsiteX16" fmla="*/ 239223 w 548219"/>
                <a:gd name="connsiteY16" fmla="*/ 69773 h 548219"/>
                <a:gd name="connsiteX17" fmla="*/ 308996 w 548219"/>
                <a:gd name="connsiteY17" fmla="*/ 69773 h 548219"/>
                <a:gd name="connsiteX18" fmla="*/ 308996 w 548219"/>
                <a:gd name="connsiteY18" fmla="*/ 0 h 548219"/>
                <a:gd name="connsiteX19" fmla="*/ 239223 w 548219"/>
                <a:gd name="connsiteY19" fmla="*/ 0 h 548219"/>
                <a:gd name="connsiteX20" fmla="*/ 318965 w 548219"/>
                <a:gd name="connsiteY20" fmla="*/ 0 h 548219"/>
                <a:gd name="connsiteX21" fmla="*/ 318965 w 548219"/>
                <a:gd name="connsiteY21" fmla="*/ 69773 h 548219"/>
                <a:gd name="connsiteX22" fmla="*/ 388738 w 548219"/>
                <a:gd name="connsiteY22" fmla="*/ 69773 h 548219"/>
                <a:gd name="connsiteX23" fmla="*/ 388738 w 548219"/>
                <a:gd name="connsiteY23" fmla="*/ 0 h 548219"/>
                <a:gd name="connsiteX24" fmla="*/ 318965 w 548219"/>
                <a:gd name="connsiteY24" fmla="*/ 0 h 548219"/>
                <a:gd name="connsiteX25" fmla="*/ 388738 w 548219"/>
                <a:gd name="connsiteY25" fmla="*/ 149515 h 548219"/>
                <a:gd name="connsiteX26" fmla="*/ 388738 w 548219"/>
                <a:gd name="connsiteY26" fmla="*/ 79742 h 548219"/>
                <a:gd name="connsiteX27" fmla="*/ 318965 w 548219"/>
                <a:gd name="connsiteY27" fmla="*/ 79742 h 548219"/>
                <a:gd name="connsiteX28" fmla="*/ 318965 w 548219"/>
                <a:gd name="connsiteY28" fmla="*/ 149515 h 548219"/>
                <a:gd name="connsiteX29" fmla="*/ 388738 w 548219"/>
                <a:gd name="connsiteY29" fmla="*/ 149515 h 548219"/>
                <a:gd name="connsiteX30" fmla="*/ 388738 w 548219"/>
                <a:gd name="connsiteY30" fmla="*/ 229256 h 548219"/>
                <a:gd name="connsiteX31" fmla="*/ 388738 w 548219"/>
                <a:gd name="connsiteY31" fmla="*/ 159482 h 548219"/>
                <a:gd name="connsiteX32" fmla="*/ 318965 w 548219"/>
                <a:gd name="connsiteY32" fmla="*/ 159482 h 548219"/>
                <a:gd name="connsiteX33" fmla="*/ 318965 w 548219"/>
                <a:gd name="connsiteY33" fmla="*/ 229256 h 548219"/>
                <a:gd name="connsiteX34" fmla="*/ 388738 w 548219"/>
                <a:gd name="connsiteY34" fmla="*/ 229256 h 548219"/>
                <a:gd name="connsiteX35" fmla="*/ 388738 w 548219"/>
                <a:gd name="connsiteY35" fmla="*/ 308996 h 548219"/>
                <a:gd name="connsiteX36" fmla="*/ 388738 w 548219"/>
                <a:gd name="connsiteY36" fmla="*/ 239223 h 548219"/>
                <a:gd name="connsiteX37" fmla="*/ 318965 w 548219"/>
                <a:gd name="connsiteY37" fmla="*/ 239223 h 548219"/>
                <a:gd name="connsiteX38" fmla="*/ 318965 w 548219"/>
                <a:gd name="connsiteY38" fmla="*/ 308996 h 548219"/>
                <a:gd name="connsiteX39" fmla="*/ 388738 w 548219"/>
                <a:gd name="connsiteY39" fmla="*/ 308996 h 548219"/>
                <a:gd name="connsiteX40" fmla="*/ 388738 w 548219"/>
                <a:gd name="connsiteY40" fmla="*/ 388738 h 548219"/>
                <a:gd name="connsiteX41" fmla="*/ 388738 w 548219"/>
                <a:gd name="connsiteY41" fmla="*/ 318965 h 548219"/>
                <a:gd name="connsiteX42" fmla="*/ 318965 w 548219"/>
                <a:gd name="connsiteY42" fmla="*/ 318965 h 548219"/>
                <a:gd name="connsiteX43" fmla="*/ 318965 w 548219"/>
                <a:gd name="connsiteY43" fmla="*/ 388738 h 548219"/>
                <a:gd name="connsiteX44" fmla="*/ 388738 w 548219"/>
                <a:gd name="connsiteY44" fmla="*/ 388738 h 548219"/>
                <a:gd name="connsiteX45" fmla="*/ 388738 w 548219"/>
                <a:gd name="connsiteY45" fmla="*/ 468479 h 548219"/>
                <a:gd name="connsiteX46" fmla="*/ 388738 w 548219"/>
                <a:gd name="connsiteY46" fmla="*/ 398705 h 548219"/>
                <a:gd name="connsiteX47" fmla="*/ 318965 w 548219"/>
                <a:gd name="connsiteY47" fmla="*/ 398705 h 548219"/>
                <a:gd name="connsiteX48" fmla="*/ 318965 w 548219"/>
                <a:gd name="connsiteY48" fmla="*/ 468479 h 548219"/>
                <a:gd name="connsiteX49" fmla="*/ 388738 w 548219"/>
                <a:gd name="connsiteY49" fmla="*/ 468479 h 548219"/>
                <a:gd name="connsiteX50" fmla="*/ 318965 w 548219"/>
                <a:gd name="connsiteY50" fmla="*/ 548220 h 548219"/>
                <a:gd name="connsiteX51" fmla="*/ 388738 w 548219"/>
                <a:gd name="connsiteY51" fmla="*/ 548220 h 548219"/>
                <a:gd name="connsiteX52" fmla="*/ 388738 w 548219"/>
                <a:gd name="connsiteY52" fmla="*/ 478447 h 548219"/>
                <a:gd name="connsiteX53" fmla="*/ 318965 w 548219"/>
                <a:gd name="connsiteY53" fmla="*/ 478447 h 548219"/>
                <a:gd name="connsiteX54" fmla="*/ 318965 w 548219"/>
                <a:gd name="connsiteY54" fmla="*/ 548220 h 548219"/>
                <a:gd name="connsiteX55" fmla="*/ 239223 w 548219"/>
                <a:gd name="connsiteY55" fmla="*/ 548220 h 548219"/>
                <a:gd name="connsiteX56" fmla="*/ 308996 w 548219"/>
                <a:gd name="connsiteY56" fmla="*/ 548220 h 548219"/>
                <a:gd name="connsiteX57" fmla="*/ 308996 w 548219"/>
                <a:gd name="connsiteY57" fmla="*/ 478447 h 548219"/>
                <a:gd name="connsiteX58" fmla="*/ 239223 w 548219"/>
                <a:gd name="connsiteY58" fmla="*/ 478447 h 548219"/>
                <a:gd name="connsiteX59" fmla="*/ 239223 w 548219"/>
                <a:gd name="connsiteY59" fmla="*/ 548220 h 548219"/>
                <a:gd name="connsiteX60" fmla="*/ 159482 w 548219"/>
                <a:gd name="connsiteY60" fmla="*/ 548220 h 548219"/>
                <a:gd name="connsiteX61" fmla="*/ 229256 w 548219"/>
                <a:gd name="connsiteY61" fmla="*/ 548220 h 548219"/>
                <a:gd name="connsiteX62" fmla="*/ 229256 w 548219"/>
                <a:gd name="connsiteY62" fmla="*/ 478447 h 548219"/>
                <a:gd name="connsiteX63" fmla="*/ 159482 w 548219"/>
                <a:gd name="connsiteY63" fmla="*/ 478447 h 548219"/>
                <a:gd name="connsiteX64" fmla="*/ 159482 w 548219"/>
                <a:gd name="connsiteY64" fmla="*/ 548220 h 548219"/>
                <a:gd name="connsiteX65" fmla="*/ 79741 w 548219"/>
                <a:gd name="connsiteY65" fmla="*/ 548220 h 548219"/>
                <a:gd name="connsiteX66" fmla="*/ 149515 w 548219"/>
                <a:gd name="connsiteY66" fmla="*/ 548220 h 548219"/>
                <a:gd name="connsiteX67" fmla="*/ 149515 w 548219"/>
                <a:gd name="connsiteY67" fmla="*/ 478447 h 548219"/>
                <a:gd name="connsiteX68" fmla="*/ 79741 w 548219"/>
                <a:gd name="connsiteY68" fmla="*/ 478447 h 548219"/>
                <a:gd name="connsiteX69" fmla="*/ 79741 w 548219"/>
                <a:gd name="connsiteY69" fmla="*/ 548220 h 548219"/>
                <a:gd name="connsiteX70" fmla="*/ 0 w 548219"/>
                <a:gd name="connsiteY70" fmla="*/ 478447 h 548219"/>
                <a:gd name="connsiteX71" fmla="*/ 0 w 548219"/>
                <a:gd name="connsiteY71" fmla="*/ 548220 h 548219"/>
                <a:gd name="connsiteX72" fmla="*/ 69773 w 548219"/>
                <a:gd name="connsiteY72" fmla="*/ 548220 h 548219"/>
                <a:gd name="connsiteX73" fmla="*/ 69773 w 548219"/>
                <a:gd name="connsiteY73" fmla="*/ 478447 h 548219"/>
                <a:gd name="connsiteX74" fmla="*/ 0 w 548219"/>
                <a:gd name="connsiteY74" fmla="*/ 478447 h 548219"/>
                <a:gd name="connsiteX75" fmla="*/ 0 w 548219"/>
                <a:gd name="connsiteY75" fmla="*/ 398705 h 548219"/>
                <a:gd name="connsiteX76" fmla="*/ 0 w 548219"/>
                <a:gd name="connsiteY76" fmla="*/ 468479 h 548219"/>
                <a:gd name="connsiteX77" fmla="*/ 69773 w 548219"/>
                <a:gd name="connsiteY77" fmla="*/ 468479 h 548219"/>
                <a:gd name="connsiteX78" fmla="*/ 69773 w 548219"/>
                <a:gd name="connsiteY78" fmla="*/ 398705 h 548219"/>
                <a:gd name="connsiteX79" fmla="*/ 0 w 548219"/>
                <a:gd name="connsiteY79" fmla="*/ 398705 h 548219"/>
                <a:gd name="connsiteX80" fmla="*/ 0 w 548219"/>
                <a:gd name="connsiteY80" fmla="*/ 318965 h 548219"/>
                <a:gd name="connsiteX81" fmla="*/ 0 w 548219"/>
                <a:gd name="connsiteY81" fmla="*/ 388738 h 548219"/>
                <a:gd name="connsiteX82" fmla="*/ 69773 w 548219"/>
                <a:gd name="connsiteY82" fmla="*/ 388738 h 548219"/>
                <a:gd name="connsiteX83" fmla="*/ 69773 w 548219"/>
                <a:gd name="connsiteY83" fmla="*/ 318965 h 548219"/>
                <a:gd name="connsiteX84" fmla="*/ 0 w 548219"/>
                <a:gd name="connsiteY84" fmla="*/ 318965 h 548219"/>
                <a:gd name="connsiteX85" fmla="*/ 0 w 548219"/>
                <a:gd name="connsiteY85" fmla="*/ 239223 h 548219"/>
                <a:gd name="connsiteX86" fmla="*/ 0 w 548219"/>
                <a:gd name="connsiteY86" fmla="*/ 308996 h 548219"/>
                <a:gd name="connsiteX87" fmla="*/ 69773 w 548219"/>
                <a:gd name="connsiteY87" fmla="*/ 308996 h 548219"/>
                <a:gd name="connsiteX88" fmla="*/ 69773 w 548219"/>
                <a:gd name="connsiteY88" fmla="*/ 239223 h 548219"/>
                <a:gd name="connsiteX89" fmla="*/ 0 w 548219"/>
                <a:gd name="connsiteY89" fmla="*/ 239223 h 548219"/>
                <a:gd name="connsiteX90" fmla="*/ 0 w 548219"/>
                <a:gd name="connsiteY90" fmla="*/ 159482 h 548219"/>
                <a:gd name="connsiteX91" fmla="*/ 0 w 548219"/>
                <a:gd name="connsiteY91" fmla="*/ 229256 h 548219"/>
                <a:gd name="connsiteX92" fmla="*/ 69773 w 548219"/>
                <a:gd name="connsiteY92" fmla="*/ 229256 h 548219"/>
                <a:gd name="connsiteX93" fmla="*/ 69773 w 548219"/>
                <a:gd name="connsiteY93" fmla="*/ 159482 h 548219"/>
                <a:gd name="connsiteX94" fmla="*/ 0 w 548219"/>
                <a:gd name="connsiteY94" fmla="*/ 159482 h 548219"/>
                <a:gd name="connsiteX95" fmla="*/ 0 w 548219"/>
                <a:gd name="connsiteY95" fmla="*/ 79742 h 548219"/>
                <a:gd name="connsiteX96" fmla="*/ 0 w 548219"/>
                <a:gd name="connsiteY96" fmla="*/ 149515 h 548219"/>
                <a:gd name="connsiteX97" fmla="*/ 69773 w 548219"/>
                <a:gd name="connsiteY97" fmla="*/ 149515 h 548219"/>
                <a:gd name="connsiteX98" fmla="*/ 69773 w 548219"/>
                <a:gd name="connsiteY98" fmla="*/ 79742 h 548219"/>
                <a:gd name="connsiteX99" fmla="*/ 0 w 548219"/>
                <a:gd name="connsiteY99" fmla="*/ 79742 h 548219"/>
                <a:gd name="connsiteX100" fmla="*/ 149515 w 548219"/>
                <a:gd name="connsiteY100" fmla="*/ 79742 h 548219"/>
                <a:gd name="connsiteX101" fmla="*/ 79741 w 548219"/>
                <a:gd name="connsiteY101" fmla="*/ 79742 h 548219"/>
                <a:gd name="connsiteX102" fmla="*/ 79741 w 548219"/>
                <a:gd name="connsiteY102" fmla="*/ 149515 h 548219"/>
                <a:gd name="connsiteX103" fmla="*/ 149515 w 548219"/>
                <a:gd name="connsiteY103" fmla="*/ 149515 h 548219"/>
                <a:gd name="connsiteX104" fmla="*/ 149515 w 548219"/>
                <a:gd name="connsiteY104" fmla="*/ 79742 h 548219"/>
                <a:gd name="connsiteX105" fmla="*/ 229256 w 548219"/>
                <a:gd name="connsiteY105" fmla="*/ 79742 h 548219"/>
                <a:gd name="connsiteX106" fmla="*/ 159482 w 548219"/>
                <a:gd name="connsiteY106" fmla="*/ 79742 h 548219"/>
                <a:gd name="connsiteX107" fmla="*/ 159482 w 548219"/>
                <a:gd name="connsiteY107" fmla="*/ 149515 h 548219"/>
                <a:gd name="connsiteX108" fmla="*/ 229256 w 548219"/>
                <a:gd name="connsiteY108" fmla="*/ 149515 h 548219"/>
                <a:gd name="connsiteX109" fmla="*/ 229256 w 548219"/>
                <a:gd name="connsiteY109" fmla="*/ 79742 h 548219"/>
                <a:gd name="connsiteX110" fmla="*/ 308996 w 548219"/>
                <a:gd name="connsiteY110" fmla="*/ 79742 h 548219"/>
                <a:gd name="connsiteX111" fmla="*/ 239223 w 548219"/>
                <a:gd name="connsiteY111" fmla="*/ 79742 h 548219"/>
                <a:gd name="connsiteX112" fmla="*/ 239223 w 548219"/>
                <a:gd name="connsiteY112" fmla="*/ 149515 h 548219"/>
                <a:gd name="connsiteX113" fmla="*/ 308996 w 548219"/>
                <a:gd name="connsiteY113" fmla="*/ 149515 h 548219"/>
                <a:gd name="connsiteX114" fmla="*/ 308996 w 548219"/>
                <a:gd name="connsiteY114" fmla="*/ 79742 h 548219"/>
                <a:gd name="connsiteX115" fmla="*/ 308996 w 548219"/>
                <a:gd name="connsiteY115" fmla="*/ 229256 h 548219"/>
                <a:gd name="connsiteX116" fmla="*/ 308996 w 548219"/>
                <a:gd name="connsiteY116" fmla="*/ 159482 h 548219"/>
                <a:gd name="connsiteX117" fmla="*/ 239223 w 548219"/>
                <a:gd name="connsiteY117" fmla="*/ 159482 h 548219"/>
                <a:gd name="connsiteX118" fmla="*/ 239223 w 548219"/>
                <a:gd name="connsiteY118" fmla="*/ 229256 h 548219"/>
                <a:gd name="connsiteX119" fmla="*/ 308996 w 548219"/>
                <a:gd name="connsiteY119" fmla="*/ 229256 h 548219"/>
                <a:gd name="connsiteX120" fmla="*/ 308996 w 548219"/>
                <a:gd name="connsiteY120" fmla="*/ 308996 h 548219"/>
                <a:gd name="connsiteX121" fmla="*/ 308996 w 548219"/>
                <a:gd name="connsiteY121" fmla="*/ 239223 h 548219"/>
                <a:gd name="connsiteX122" fmla="*/ 239223 w 548219"/>
                <a:gd name="connsiteY122" fmla="*/ 239223 h 548219"/>
                <a:gd name="connsiteX123" fmla="*/ 239223 w 548219"/>
                <a:gd name="connsiteY123" fmla="*/ 308996 h 548219"/>
                <a:gd name="connsiteX124" fmla="*/ 308996 w 548219"/>
                <a:gd name="connsiteY124" fmla="*/ 308996 h 548219"/>
                <a:gd name="connsiteX125" fmla="*/ 308996 w 548219"/>
                <a:gd name="connsiteY125" fmla="*/ 388738 h 548219"/>
                <a:gd name="connsiteX126" fmla="*/ 308996 w 548219"/>
                <a:gd name="connsiteY126" fmla="*/ 318965 h 548219"/>
                <a:gd name="connsiteX127" fmla="*/ 239223 w 548219"/>
                <a:gd name="connsiteY127" fmla="*/ 318965 h 548219"/>
                <a:gd name="connsiteX128" fmla="*/ 239223 w 548219"/>
                <a:gd name="connsiteY128" fmla="*/ 388738 h 548219"/>
                <a:gd name="connsiteX129" fmla="*/ 308996 w 548219"/>
                <a:gd name="connsiteY129" fmla="*/ 388738 h 548219"/>
                <a:gd name="connsiteX130" fmla="*/ 308996 w 548219"/>
                <a:gd name="connsiteY130" fmla="*/ 468479 h 548219"/>
                <a:gd name="connsiteX131" fmla="*/ 308996 w 548219"/>
                <a:gd name="connsiteY131" fmla="*/ 398705 h 548219"/>
                <a:gd name="connsiteX132" fmla="*/ 239223 w 548219"/>
                <a:gd name="connsiteY132" fmla="*/ 398705 h 548219"/>
                <a:gd name="connsiteX133" fmla="*/ 239223 w 548219"/>
                <a:gd name="connsiteY133" fmla="*/ 468479 h 548219"/>
                <a:gd name="connsiteX134" fmla="*/ 308996 w 548219"/>
                <a:gd name="connsiteY134" fmla="*/ 468479 h 548219"/>
                <a:gd name="connsiteX135" fmla="*/ 159482 w 548219"/>
                <a:gd name="connsiteY135" fmla="*/ 468479 h 548219"/>
                <a:gd name="connsiteX136" fmla="*/ 229256 w 548219"/>
                <a:gd name="connsiteY136" fmla="*/ 468479 h 548219"/>
                <a:gd name="connsiteX137" fmla="*/ 229256 w 548219"/>
                <a:gd name="connsiteY137" fmla="*/ 398705 h 548219"/>
                <a:gd name="connsiteX138" fmla="*/ 159482 w 548219"/>
                <a:gd name="connsiteY138" fmla="*/ 398705 h 548219"/>
                <a:gd name="connsiteX139" fmla="*/ 159482 w 548219"/>
                <a:gd name="connsiteY139" fmla="*/ 468479 h 548219"/>
                <a:gd name="connsiteX140" fmla="*/ 79741 w 548219"/>
                <a:gd name="connsiteY140" fmla="*/ 468479 h 548219"/>
                <a:gd name="connsiteX141" fmla="*/ 149515 w 548219"/>
                <a:gd name="connsiteY141" fmla="*/ 468479 h 548219"/>
                <a:gd name="connsiteX142" fmla="*/ 149515 w 548219"/>
                <a:gd name="connsiteY142" fmla="*/ 398705 h 548219"/>
                <a:gd name="connsiteX143" fmla="*/ 79741 w 548219"/>
                <a:gd name="connsiteY143" fmla="*/ 398705 h 548219"/>
                <a:gd name="connsiteX144" fmla="*/ 79741 w 548219"/>
                <a:gd name="connsiteY144" fmla="*/ 468479 h 548219"/>
                <a:gd name="connsiteX145" fmla="*/ 79741 w 548219"/>
                <a:gd name="connsiteY145" fmla="*/ 318965 h 548219"/>
                <a:gd name="connsiteX146" fmla="*/ 79741 w 548219"/>
                <a:gd name="connsiteY146" fmla="*/ 388738 h 548219"/>
                <a:gd name="connsiteX147" fmla="*/ 149515 w 548219"/>
                <a:gd name="connsiteY147" fmla="*/ 388738 h 548219"/>
                <a:gd name="connsiteX148" fmla="*/ 149515 w 548219"/>
                <a:gd name="connsiteY148" fmla="*/ 318965 h 548219"/>
                <a:gd name="connsiteX149" fmla="*/ 79741 w 548219"/>
                <a:gd name="connsiteY149" fmla="*/ 318965 h 548219"/>
                <a:gd name="connsiteX150" fmla="*/ 79741 w 548219"/>
                <a:gd name="connsiteY150" fmla="*/ 239223 h 548219"/>
                <a:gd name="connsiteX151" fmla="*/ 79741 w 548219"/>
                <a:gd name="connsiteY151" fmla="*/ 308996 h 548219"/>
                <a:gd name="connsiteX152" fmla="*/ 149515 w 548219"/>
                <a:gd name="connsiteY152" fmla="*/ 308996 h 548219"/>
                <a:gd name="connsiteX153" fmla="*/ 149515 w 548219"/>
                <a:gd name="connsiteY153" fmla="*/ 239223 h 548219"/>
                <a:gd name="connsiteX154" fmla="*/ 79741 w 548219"/>
                <a:gd name="connsiteY154" fmla="*/ 239223 h 548219"/>
                <a:gd name="connsiteX155" fmla="*/ 79741 w 548219"/>
                <a:gd name="connsiteY155" fmla="*/ 159482 h 548219"/>
                <a:gd name="connsiteX156" fmla="*/ 79741 w 548219"/>
                <a:gd name="connsiteY156" fmla="*/ 229256 h 548219"/>
                <a:gd name="connsiteX157" fmla="*/ 149515 w 548219"/>
                <a:gd name="connsiteY157" fmla="*/ 229256 h 548219"/>
                <a:gd name="connsiteX158" fmla="*/ 149515 w 548219"/>
                <a:gd name="connsiteY158" fmla="*/ 159482 h 548219"/>
                <a:gd name="connsiteX159" fmla="*/ 79741 w 548219"/>
                <a:gd name="connsiteY159" fmla="*/ 159482 h 548219"/>
                <a:gd name="connsiteX160" fmla="*/ 229256 w 548219"/>
                <a:gd name="connsiteY160" fmla="*/ 159482 h 548219"/>
                <a:gd name="connsiteX161" fmla="*/ 159482 w 548219"/>
                <a:gd name="connsiteY161" fmla="*/ 159482 h 548219"/>
                <a:gd name="connsiteX162" fmla="*/ 159482 w 548219"/>
                <a:gd name="connsiteY162" fmla="*/ 229256 h 548219"/>
                <a:gd name="connsiteX163" fmla="*/ 229256 w 548219"/>
                <a:gd name="connsiteY163" fmla="*/ 229256 h 548219"/>
                <a:gd name="connsiteX164" fmla="*/ 229256 w 548219"/>
                <a:gd name="connsiteY164" fmla="*/ 159482 h 548219"/>
                <a:gd name="connsiteX165" fmla="*/ 229256 w 548219"/>
                <a:gd name="connsiteY165" fmla="*/ 308996 h 548219"/>
                <a:gd name="connsiteX166" fmla="*/ 229256 w 548219"/>
                <a:gd name="connsiteY166" fmla="*/ 239223 h 548219"/>
                <a:gd name="connsiteX167" fmla="*/ 159482 w 548219"/>
                <a:gd name="connsiteY167" fmla="*/ 239223 h 548219"/>
                <a:gd name="connsiteX168" fmla="*/ 159482 w 548219"/>
                <a:gd name="connsiteY168" fmla="*/ 308996 h 548219"/>
                <a:gd name="connsiteX169" fmla="*/ 229256 w 548219"/>
                <a:gd name="connsiteY169" fmla="*/ 308996 h 548219"/>
                <a:gd name="connsiteX170" fmla="*/ 229256 w 548219"/>
                <a:gd name="connsiteY170" fmla="*/ 388738 h 548219"/>
                <a:gd name="connsiteX171" fmla="*/ 229256 w 548219"/>
                <a:gd name="connsiteY171" fmla="*/ 318965 h 548219"/>
                <a:gd name="connsiteX172" fmla="*/ 159482 w 548219"/>
                <a:gd name="connsiteY172" fmla="*/ 318965 h 548219"/>
                <a:gd name="connsiteX173" fmla="*/ 159482 w 548219"/>
                <a:gd name="connsiteY173" fmla="*/ 388738 h 548219"/>
                <a:gd name="connsiteX174" fmla="*/ 229256 w 548219"/>
                <a:gd name="connsiteY174" fmla="*/ 388738 h 548219"/>
                <a:gd name="connsiteX175" fmla="*/ 548220 w 548219"/>
                <a:gd name="connsiteY175" fmla="*/ 69773 h 548219"/>
                <a:gd name="connsiteX176" fmla="*/ 548220 w 548219"/>
                <a:gd name="connsiteY176" fmla="*/ 0 h 548219"/>
                <a:gd name="connsiteX177" fmla="*/ 478446 w 548219"/>
                <a:gd name="connsiteY177" fmla="*/ 0 h 548219"/>
                <a:gd name="connsiteX178" fmla="*/ 478446 w 548219"/>
                <a:gd name="connsiteY178" fmla="*/ 39870 h 548219"/>
                <a:gd name="connsiteX179" fmla="*/ 478446 w 548219"/>
                <a:gd name="connsiteY179" fmla="*/ 69773 h 548219"/>
                <a:gd name="connsiteX180" fmla="*/ 548220 w 548219"/>
                <a:gd name="connsiteY180" fmla="*/ 69773 h 548219"/>
                <a:gd name="connsiteX181" fmla="*/ 548220 w 548219"/>
                <a:gd name="connsiteY181" fmla="*/ 149515 h 548219"/>
                <a:gd name="connsiteX182" fmla="*/ 548220 w 548219"/>
                <a:gd name="connsiteY182" fmla="*/ 79742 h 548219"/>
                <a:gd name="connsiteX183" fmla="*/ 478446 w 548219"/>
                <a:gd name="connsiteY183" fmla="*/ 79742 h 548219"/>
                <a:gd name="connsiteX184" fmla="*/ 478446 w 548219"/>
                <a:gd name="connsiteY184" fmla="*/ 149515 h 548219"/>
                <a:gd name="connsiteX185" fmla="*/ 548220 w 548219"/>
                <a:gd name="connsiteY185" fmla="*/ 149515 h 548219"/>
                <a:gd name="connsiteX186" fmla="*/ 548220 w 548219"/>
                <a:gd name="connsiteY186" fmla="*/ 229256 h 548219"/>
                <a:gd name="connsiteX187" fmla="*/ 548220 w 548219"/>
                <a:gd name="connsiteY187" fmla="*/ 159482 h 548219"/>
                <a:gd name="connsiteX188" fmla="*/ 478446 w 548219"/>
                <a:gd name="connsiteY188" fmla="*/ 159482 h 548219"/>
                <a:gd name="connsiteX189" fmla="*/ 478446 w 548219"/>
                <a:gd name="connsiteY189" fmla="*/ 229256 h 548219"/>
                <a:gd name="connsiteX190" fmla="*/ 548220 w 548219"/>
                <a:gd name="connsiteY190" fmla="*/ 229256 h 548219"/>
                <a:gd name="connsiteX191" fmla="*/ 548220 w 548219"/>
                <a:gd name="connsiteY191" fmla="*/ 308996 h 548219"/>
                <a:gd name="connsiteX192" fmla="*/ 548220 w 548219"/>
                <a:gd name="connsiteY192" fmla="*/ 239223 h 548219"/>
                <a:gd name="connsiteX193" fmla="*/ 478446 w 548219"/>
                <a:gd name="connsiteY193" fmla="*/ 239223 h 548219"/>
                <a:gd name="connsiteX194" fmla="*/ 478446 w 548219"/>
                <a:gd name="connsiteY194" fmla="*/ 308996 h 548219"/>
                <a:gd name="connsiteX195" fmla="*/ 548220 w 548219"/>
                <a:gd name="connsiteY195" fmla="*/ 308996 h 548219"/>
                <a:gd name="connsiteX196" fmla="*/ 548220 w 548219"/>
                <a:gd name="connsiteY196" fmla="*/ 388738 h 548219"/>
                <a:gd name="connsiteX197" fmla="*/ 548220 w 548219"/>
                <a:gd name="connsiteY197" fmla="*/ 318965 h 548219"/>
                <a:gd name="connsiteX198" fmla="*/ 478446 w 548219"/>
                <a:gd name="connsiteY198" fmla="*/ 318965 h 548219"/>
                <a:gd name="connsiteX199" fmla="*/ 478446 w 548219"/>
                <a:gd name="connsiteY199" fmla="*/ 388738 h 548219"/>
                <a:gd name="connsiteX200" fmla="*/ 548220 w 548219"/>
                <a:gd name="connsiteY200" fmla="*/ 388738 h 548219"/>
                <a:gd name="connsiteX201" fmla="*/ 548220 w 548219"/>
                <a:gd name="connsiteY201" fmla="*/ 468479 h 548219"/>
                <a:gd name="connsiteX202" fmla="*/ 548220 w 548219"/>
                <a:gd name="connsiteY202" fmla="*/ 398705 h 548219"/>
                <a:gd name="connsiteX203" fmla="*/ 478446 w 548219"/>
                <a:gd name="connsiteY203" fmla="*/ 398705 h 548219"/>
                <a:gd name="connsiteX204" fmla="*/ 478446 w 548219"/>
                <a:gd name="connsiteY204" fmla="*/ 468479 h 548219"/>
                <a:gd name="connsiteX205" fmla="*/ 548220 w 548219"/>
                <a:gd name="connsiteY205" fmla="*/ 468479 h 548219"/>
                <a:gd name="connsiteX206" fmla="*/ 478446 w 548219"/>
                <a:gd name="connsiteY206" fmla="*/ 478447 h 548219"/>
                <a:gd name="connsiteX207" fmla="*/ 478446 w 548219"/>
                <a:gd name="connsiteY207" fmla="*/ 548220 h 548219"/>
                <a:gd name="connsiteX208" fmla="*/ 548220 w 548219"/>
                <a:gd name="connsiteY208" fmla="*/ 548220 h 548219"/>
                <a:gd name="connsiteX209" fmla="*/ 548220 w 548219"/>
                <a:gd name="connsiteY209" fmla="*/ 478447 h 548219"/>
                <a:gd name="connsiteX210" fmla="*/ 478446 w 548219"/>
                <a:gd name="connsiteY210" fmla="*/ 478447 h 54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548219" h="548219">
                  <a:moveTo>
                    <a:pt x="69773" y="0"/>
                  </a:moveTo>
                  <a:cubicBezTo>
                    <a:pt x="69773" y="0"/>
                    <a:pt x="0" y="0"/>
                    <a:pt x="0" y="0"/>
                  </a:cubicBezTo>
                  <a:lnTo>
                    <a:pt x="0" y="69773"/>
                  </a:lnTo>
                  <a:lnTo>
                    <a:pt x="69773" y="69773"/>
                  </a:lnTo>
                  <a:lnTo>
                    <a:pt x="69773" y="0"/>
                  </a:lnTo>
                  <a:close/>
                  <a:moveTo>
                    <a:pt x="79741" y="0"/>
                  </a:moveTo>
                  <a:lnTo>
                    <a:pt x="79741" y="69773"/>
                  </a:lnTo>
                  <a:lnTo>
                    <a:pt x="149515" y="69773"/>
                  </a:lnTo>
                  <a:lnTo>
                    <a:pt x="149515" y="0"/>
                  </a:lnTo>
                  <a:cubicBezTo>
                    <a:pt x="149515" y="0"/>
                    <a:pt x="79741" y="0"/>
                    <a:pt x="79741" y="0"/>
                  </a:cubicBezTo>
                  <a:close/>
                  <a:moveTo>
                    <a:pt x="159482" y="0"/>
                  </a:moveTo>
                  <a:lnTo>
                    <a:pt x="159482" y="69773"/>
                  </a:lnTo>
                  <a:lnTo>
                    <a:pt x="229256" y="69773"/>
                  </a:lnTo>
                  <a:lnTo>
                    <a:pt x="229256" y="0"/>
                  </a:lnTo>
                  <a:cubicBezTo>
                    <a:pt x="229256" y="0"/>
                    <a:pt x="159482" y="0"/>
                    <a:pt x="159482" y="0"/>
                  </a:cubicBezTo>
                  <a:close/>
                  <a:moveTo>
                    <a:pt x="239223" y="0"/>
                  </a:moveTo>
                  <a:lnTo>
                    <a:pt x="239223" y="69773"/>
                  </a:lnTo>
                  <a:lnTo>
                    <a:pt x="308996" y="69773"/>
                  </a:lnTo>
                  <a:lnTo>
                    <a:pt x="308996" y="0"/>
                  </a:lnTo>
                  <a:cubicBezTo>
                    <a:pt x="308996" y="0"/>
                    <a:pt x="239223" y="0"/>
                    <a:pt x="239223" y="0"/>
                  </a:cubicBezTo>
                  <a:close/>
                  <a:moveTo>
                    <a:pt x="318965" y="0"/>
                  </a:moveTo>
                  <a:lnTo>
                    <a:pt x="318965" y="69773"/>
                  </a:lnTo>
                  <a:lnTo>
                    <a:pt x="388738" y="69773"/>
                  </a:lnTo>
                  <a:lnTo>
                    <a:pt x="388738" y="0"/>
                  </a:lnTo>
                  <a:cubicBezTo>
                    <a:pt x="388738" y="0"/>
                    <a:pt x="318965" y="0"/>
                    <a:pt x="318965" y="0"/>
                  </a:cubicBezTo>
                  <a:close/>
                  <a:moveTo>
                    <a:pt x="388738" y="149515"/>
                  </a:moveTo>
                  <a:lnTo>
                    <a:pt x="388738" y="79742"/>
                  </a:lnTo>
                  <a:lnTo>
                    <a:pt x="318965" y="79742"/>
                  </a:lnTo>
                  <a:lnTo>
                    <a:pt x="318965" y="149515"/>
                  </a:lnTo>
                  <a:lnTo>
                    <a:pt x="388738" y="149515"/>
                  </a:lnTo>
                  <a:close/>
                  <a:moveTo>
                    <a:pt x="388738" y="229256"/>
                  </a:moveTo>
                  <a:lnTo>
                    <a:pt x="388738" y="159482"/>
                  </a:lnTo>
                  <a:lnTo>
                    <a:pt x="318965" y="159482"/>
                  </a:lnTo>
                  <a:lnTo>
                    <a:pt x="318965" y="229256"/>
                  </a:lnTo>
                  <a:lnTo>
                    <a:pt x="388738" y="229256"/>
                  </a:lnTo>
                  <a:close/>
                  <a:moveTo>
                    <a:pt x="388738" y="308996"/>
                  </a:moveTo>
                  <a:lnTo>
                    <a:pt x="388738" y="239223"/>
                  </a:lnTo>
                  <a:lnTo>
                    <a:pt x="318965" y="239223"/>
                  </a:lnTo>
                  <a:lnTo>
                    <a:pt x="318965" y="308996"/>
                  </a:lnTo>
                  <a:lnTo>
                    <a:pt x="388738" y="308996"/>
                  </a:lnTo>
                  <a:close/>
                  <a:moveTo>
                    <a:pt x="388738" y="388738"/>
                  </a:moveTo>
                  <a:lnTo>
                    <a:pt x="388738" y="318965"/>
                  </a:lnTo>
                  <a:lnTo>
                    <a:pt x="318965" y="318965"/>
                  </a:lnTo>
                  <a:lnTo>
                    <a:pt x="318965" y="388738"/>
                  </a:lnTo>
                  <a:lnTo>
                    <a:pt x="388738" y="388738"/>
                  </a:lnTo>
                  <a:close/>
                  <a:moveTo>
                    <a:pt x="388738" y="468479"/>
                  </a:moveTo>
                  <a:lnTo>
                    <a:pt x="388738" y="398705"/>
                  </a:lnTo>
                  <a:lnTo>
                    <a:pt x="318965" y="398705"/>
                  </a:lnTo>
                  <a:lnTo>
                    <a:pt x="318965" y="468479"/>
                  </a:lnTo>
                  <a:lnTo>
                    <a:pt x="388738" y="468479"/>
                  </a:lnTo>
                  <a:close/>
                  <a:moveTo>
                    <a:pt x="318965" y="548220"/>
                  </a:moveTo>
                  <a:lnTo>
                    <a:pt x="388738" y="548220"/>
                  </a:lnTo>
                  <a:lnTo>
                    <a:pt x="388738" y="478447"/>
                  </a:lnTo>
                  <a:lnTo>
                    <a:pt x="318965" y="478447"/>
                  </a:lnTo>
                  <a:lnTo>
                    <a:pt x="318965" y="548220"/>
                  </a:lnTo>
                  <a:close/>
                  <a:moveTo>
                    <a:pt x="239223" y="548220"/>
                  </a:moveTo>
                  <a:lnTo>
                    <a:pt x="308996" y="548220"/>
                  </a:lnTo>
                  <a:lnTo>
                    <a:pt x="308996" y="478447"/>
                  </a:lnTo>
                  <a:lnTo>
                    <a:pt x="239223" y="478447"/>
                  </a:lnTo>
                  <a:lnTo>
                    <a:pt x="239223" y="548220"/>
                  </a:lnTo>
                  <a:close/>
                  <a:moveTo>
                    <a:pt x="159482" y="548220"/>
                  </a:moveTo>
                  <a:lnTo>
                    <a:pt x="229256" y="548220"/>
                  </a:lnTo>
                  <a:lnTo>
                    <a:pt x="229256" y="478447"/>
                  </a:lnTo>
                  <a:lnTo>
                    <a:pt x="159482" y="478447"/>
                  </a:lnTo>
                  <a:lnTo>
                    <a:pt x="159482" y="548220"/>
                  </a:lnTo>
                  <a:close/>
                  <a:moveTo>
                    <a:pt x="79741" y="548220"/>
                  </a:moveTo>
                  <a:lnTo>
                    <a:pt x="149515" y="548220"/>
                  </a:lnTo>
                  <a:lnTo>
                    <a:pt x="149515" y="478447"/>
                  </a:lnTo>
                  <a:lnTo>
                    <a:pt x="79741" y="478447"/>
                  </a:lnTo>
                  <a:lnTo>
                    <a:pt x="79741" y="548220"/>
                  </a:lnTo>
                  <a:close/>
                  <a:moveTo>
                    <a:pt x="0" y="478447"/>
                  </a:moveTo>
                  <a:lnTo>
                    <a:pt x="0" y="548220"/>
                  </a:lnTo>
                  <a:lnTo>
                    <a:pt x="69773" y="548220"/>
                  </a:lnTo>
                  <a:lnTo>
                    <a:pt x="69773" y="478447"/>
                  </a:lnTo>
                  <a:lnTo>
                    <a:pt x="0" y="478447"/>
                  </a:lnTo>
                  <a:close/>
                  <a:moveTo>
                    <a:pt x="0" y="398705"/>
                  </a:moveTo>
                  <a:lnTo>
                    <a:pt x="0" y="468479"/>
                  </a:lnTo>
                  <a:lnTo>
                    <a:pt x="69773" y="468479"/>
                  </a:lnTo>
                  <a:lnTo>
                    <a:pt x="69773" y="398705"/>
                  </a:lnTo>
                  <a:lnTo>
                    <a:pt x="0" y="398705"/>
                  </a:lnTo>
                  <a:close/>
                  <a:moveTo>
                    <a:pt x="0" y="318965"/>
                  </a:moveTo>
                  <a:lnTo>
                    <a:pt x="0" y="388738"/>
                  </a:lnTo>
                  <a:lnTo>
                    <a:pt x="69773" y="388738"/>
                  </a:lnTo>
                  <a:lnTo>
                    <a:pt x="69773" y="318965"/>
                  </a:lnTo>
                  <a:lnTo>
                    <a:pt x="0" y="318965"/>
                  </a:lnTo>
                  <a:close/>
                  <a:moveTo>
                    <a:pt x="0" y="239223"/>
                  </a:moveTo>
                  <a:lnTo>
                    <a:pt x="0" y="308996"/>
                  </a:lnTo>
                  <a:lnTo>
                    <a:pt x="69773" y="308996"/>
                  </a:lnTo>
                  <a:lnTo>
                    <a:pt x="69773" y="239223"/>
                  </a:lnTo>
                  <a:lnTo>
                    <a:pt x="0" y="239223"/>
                  </a:lnTo>
                  <a:close/>
                  <a:moveTo>
                    <a:pt x="0" y="159482"/>
                  </a:moveTo>
                  <a:lnTo>
                    <a:pt x="0" y="229256"/>
                  </a:lnTo>
                  <a:lnTo>
                    <a:pt x="69773" y="229256"/>
                  </a:lnTo>
                  <a:lnTo>
                    <a:pt x="69773" y="159482"/>
                  </a:lnTo>
                  <a:lnTo>
                    <a:pt x="0" y="159482"/>
                  </a:lnTo>
                  <a:close/>
                  <a:moveTo>
                    <a:pt x="0" y="79742"/>
                  </a:moveTo>
                  <a:lnTo>
                    <a:pt x="0" y="149515"/>
                  </a:lnTo>
                  <a:lnTo>
                    <a:pt x="69773" y="149515"/>
                  </a:lnTo>
                  <a:lnTo>
                    <a:pt x="69773" y="79742"/>
                  </a:lnTo>
                  <a:lnTo>
                    <a:pt x="0" y="79742"/>
                  </a:lnTo>
                  <a:close/>
                  <a:moveTo>
                    <a:pt x="149515" y="79742"/>
                  </a:moveTo>
                  <a:lnTo>
                    <a:pt x="79741" y="79742"/>
                  </a:lnTo>
                  <a:lnTo>
                    <a:pt x="79741" y="149515"/>
                  </a:lnTo>
                  <a:lnTo>
                    <a:pt x="149515" y="149515"/>
                  </a:lnTo>
                  <a:lnTo>
                    <a:pt x="149515" y="79742"/>
                  </a:lnTo>
                  <a:close/>
                  <a:moveTo>
                    <a:pt x="229256" y="79742"/>
                  </a:moveTo>
                  <a:lnTo>
                    <a:pt x="159482" y="79742"/>
                  </a:lnTo>
                  <a:lnTo>
                    <a:pt x="159482" y="149515"/>
                  </a:lnTo>
                  <a:lnTo>
                    <a:pt x="229256" y="149515"/>
                  </a:lnTo>
                  <a:lnTo>
                    <a:pt x="229256" y="79742"/>
                  </a:lnTo>
                  <a:close/>
                  <a:moveTo>
                    <a:pt x="308996" y="79742"/>
                  </a:moveTo>
                  <a:lnTo>
                    <a:pt x="239223" y="79742"/>
                  </a:lnTo>
                  <a:lnTo>
                    <a:pt x="239223" y="149515"/>
                  </a:lnTo>
                  <a:lnTo>
                    <a:pt x="308996" y="149515"/>
                  </a:lnTo>
                  <a:lnTo>
                    <a:pt x="308996" y="79742"/>
                  </a:lnTo>
                  <a:close/>
                  <a:moveTo>
                    <a:pt x="308996" y="229256"/>
                  </a:moveTo>
                  <a:lnTo>
                    <a:pt x="308996" y="159482"/>
                  </a:lnTo>
                  <a:lnTo>
                    <a:pt x="239223" y="159482"/>
                  </a:lnTo>
                  <a:lnTo>
                    <a:pt x="239223" y="229256"/>
                  </a:lnTo>
                  <a:lnTo>
                    <a:pt x="308996" y="229256"/>
                  </a:lnTo>
                  <a:close/>
                  <a:moveTo>
                    <a:pt x="308996" y="308996"/>
                  </a:moveTo>
                  <a:lnTo>
                    <a:pt x="308996" y="239223"/>
                  </a:lnTo>
                  <a:lnTo>
                    <a:pt x="239223" y="239223"/>
                  </a:lnTo>
                  <a:lnTo>
                    <a:pt x="239223" y="308996"/>
                  </a:lnTo>
                  <a:lnTo>
                    <a:pt x="308996" y="308996"/>
                  </a:lnTo>
                  <a:close/>
                  <a:moveTo>
                    <a:pt x="308996" y="388738"/>
                  </a:moveTo>
                  <a:lnTo>
                    <a:pt x="308996" y="318965"/>
                  </a:lnTo>
                  <a:lnTo>
                    <a:pt x="239223" y="318965"/>
                  </a:lnTo>
                  <a:lnTo>
                    <a:pt x="239223" y="388738"/>
                  </a:lnTo>
                  <a:lnTo>
                    <a:pt x="308996" y="388738"/>
                  </a:lnTo>
                  <a:close/>
                  <a:moveTo>
                    <a:pt x="308996" y="468479"/>
                  </a:moveTo>
                  <a:lnTo>
                    <a:pt x="308996" y="398705"/>
                  </a:lnTo>
                  <a:lnTo>
                    <a:pt x="239223" y="398705"/>
                  </a:lnTo>
                  <a:lnTo>
                    <a:pt x="239223" y="468479"/>
                  </a:lnTo>
                  <a:lnTo>
                    <a:pt x="308996" y="468479"/>
                  </a:lnTo>
                  <a:close/>
                  <a:moveTo>
                    <a:pt x="159482" y="468479"/>
                  </a:moveTo>
                  <a:lnTo>
                    <a:pt x="229256" y="468479"/>
                  </a:lnTo>
                  <a:lnTo>
                    <a:pt x="229256" y="398705"/>
                  </a:lnTo>
                  <a:lnTo>
                    <a:pt x="159482" y="398705"/>
                  </a:lnTo>
                  <a:lnTo>
                    <a:pt x="159482" y="468479"/>
                  </a:lnTo>
                  <a:close/>
                  <a:moveTo>
                    <a:pt x="79741" y="468479"/>
                  </a:moveTo>
                  <a:lnTo>
                    <a:pt x="149515" y="468479"/>
                  </a:lnTo>
                  <a:lnTo>
                    <a:pt x="149515" y="398705"/>
                  </a:lnTo>
                  <a:lnTo>
                    <a:pt x="79741" y="398705"/>
                  </a:lnTo>
                  <a:lnTo>
                    <a:pt x="79741" y="468479"/>
                  </a:lnTo>
                  <a:close/>
                  <a:moveTo>
                    <a:pt x="79741" y="318965"/>
                  </a:moveTo>
                  <a:lnTo>
                    <a:pt x="79741" y="388738"/>
                  </a:lnTo>
                  <a:lnTo>
                    <a:pt x="149515" y="388738"/>
                  </a:lnTo>
                  <a:lnTo>
                    <a:pt x="149515" y="318965"/>
                  </a:lnTo>
                  <a:lnTo>
                    <a:pt x="79741" y="318965"/>
                  </a:lnTo>
                  <a:close/>
                  <a:moveTo>
                    <a:pt x="79741" y="239223"/>
                  </a:moveTo>
                  <a:lnTo>
                    <a:pt x="79741" y="308996"/>
                  </a:lnTo>
                  <a:lnTo>
                    <a:pt x="149515" y="308996"/>
                  </a:lnTo>
                  <a:lnTo>
                    <a:pt x="149515" y="239223"/>
                  </a:lnTo>
                  <a:lnTo>
                    <a:pt x="79741" y="239223"/>
                  </a:lnTo>
                  <a:close/>
                  <a:moveTo>
                    <a:pt x="79741" y="159482"/>
                  </a:moveTo>
                  <a:lnTo>
                    <a:pt x="79741" y="229256"/>
                  </a:lnTo>
                  <a:lnTo>
                    <a:pt x="149515" y="229256"/>
                  </a:lnTo>
                  <a:lnTo>
                    <a:pt x="149515" y="159482"/>
                  </a:lnTo>
                  <a:lnTo>
                    <a:pt x="79741" y="159482"/>
                  </a:lnTo>
                  <a:close/>
                  <a:moveTo>
                    <a:pt x="229256" y="159482"/>
                  </a:moveTo>
                  <a:lnTo>
                    <a:pt x="159482" y="159482"/>
                  </a:lnTo>
                  <a:lnTo>
                    <a:pt x="159482" y="229256"/>
                  </a:lnTo>
                  <a:lnTo>
                    <a:pt x="229256" y="229256"/>
                  </a:lnTo>
                  <a:lnTo>
                    <a:pt x="229256" y="159482"/>
                  </a:lnTo>
                  <a:close/>
                  <a:moveTo>
                    <a:pt x="229256" y="308996"/>
                  </a:moveTo>
                  <a:lnTo>
                    <a:pt x="229256" y="239223"/>
                  </a:lnTo>
                  <a:lnTo>
                    <a:pt x="159482" y="239223"/>
                  </a:lnTo>
                  <a:lnTo>
                    <a:pt x="159482" y="308996"/>
                  </a:lnTo>
                  <a:lnTo>
                    <a:pt x="229256" y="308996"/>
                  </a:lnTo>
                  <a:close/>
                  <a:moveTo>
                    <a:pt x="229256" y="388738"/>
                  </a:moveTo>
                  <a:lnTo>
                    <a:pt x="229256" y="318965"/>
                  </a:lnTo>
                  <a:lnTo>
                    <a:pt x="159482" y="318965"/>
                  </a:lnTo>
                  <a:lnTo>
                    <a:pt x="159482" y="388738"/>
                  </a:lnTo>
                  <a:lnTo>
                    <a:pt x="229256" y="388738"/>
                  </a:lnTo>
                  <a:close/>
                  <a:moveTo>
                    <a:pt x="548220" y="69773"/>
                  </a:moveTo>
                  <a:lnTo>
                    <a:pt x="548220" y="0"/>
                  </a:lnTo>
                  <a:lnTo>
                    <a:pt x="478446" y="0"/>
                  </a:lnTo>
                  <a:lnTo>
                    <a:pt x="478446" y="39870"/>
                  </a:lnTo>
                  <a:lnTo>
                    <a:pt x="478446" y="69773"/>
                  </a:lnTo>
                  <a:lnTo>
                    <a:pt x="548220" y="69773"/>
                  </a:lnTo>
                  <a:close/>
                  <a:moveTo>
                    <a:pt x="548220" y="149515"/>
                  </a:moveTo>
                  <a:lnTo>
                    <a:pt x="548220" y="79742"/>
                  </a:lnTo>
                  <a:lnTo>
                    <a:pt x="478446" y="79742"/>
                  </a:lnTo>
                  <a:lnTo>
                    <a:pt x="478446" y="149515"/>
                  </a:lnTo>
                  <a:lnTo>
                    <a:pt x="548220" y="149515"/>
                  </a:lnTo>
                  <a:close/>
                  <a:moveTo>
                    <a:pt x="548220" y="229256"/>
                  </a:moveTo>
                  <a:lnTo>
                    <a:pt x="548220" y="159482"/>
                  </a:lnTo>
                  <a:lnTo>
                    <a:pt x="478446" y="159482"/>
                  </a:lnTo>
                  <a:lnTo>
                    <a:pt x="478446" y="229256"/>
                  </a:lnTo>
                  <a:lnTo>
                    <a:pt x="548220" y="229256"/>
                  </a:lnTo>
                  <a:close/>
                  <a:moveTo>
                    <a:pt x="548220" y="308996"/>
                  </a:moveTo>
                  <a:lnTo>
                    <a:pt x="548220" y="239223"/>
                  </a:lnTo>
                  <a:lnTo>
                    <a:pt x="478446" y="239223"/>
                  </a:lnTo>
                  <a:lnTo>
                    <a:pt x="478446" y="308996"/>
                  </a:lnTo>
                  <a:lnTo>
                    <a:pt x="548220" y="308996"/>
                  </a:lnTo>
                  <a:close/>
                  <a:moveTo>
                    <a:pt x="548220" y="388738"/>
                  </a:moveTo>
                  <a:lnTo>
                    <a:pt x="548220" y="318965"/>
                  </a:lnTo>
                  <a:lnTo>
                    <a:pt x="478446" y="318965"/>
                  </a:lnTo>
                  <a:lnTo>
                    <a:pt x="478446" y="388738"/>
                  </a:lnTo>
                  <a:lnTo>
                    <a:pt x="548220" y="388738"/>
                  </a:lnTo>
                  <a:close/>
                  <a:moveTo>
                    <a:pt x="548220" y="468479"/>
                  </a:moveTo>
                  <a:lnTo>
                    <a:pt x="548220" y="398705"/>
                  </a:lnTo>
                  <a:lnTo>
                    <a:pt x="478446" y="398705"/>
                  </a:lnTo>
                  <a:lnTo>
                    <a:pt x="478446" y="468479"/>
                  </a:lnTo>
                  <a:lnTo>
                    <a:pt x="548220" y="468479"/>
                  </a:lnTo>
                  <a:close/>
                  <a:moveTo>
                    <a:pt x="478446" y="478447"/>
                  </a:moveTo>
                  <a:lnTo>
                    <a:pt x="478446" y="548220"/>
                  </a:lnTo>
                  <a:cubicBezTo>
                    <a:pt x="478446" y="548220"/>
                    <a:pt x="548220" y="548220"/>
                    <a:pt x="548220" y="548220"/>
                  </a:cubicBezTo>
                  <a:lnTo>
                    <a:pt x="548220" y="478447"/>
                  </a:lnTo>
                  <a:lnTo>
                    <a:pt x="478446" y="478447"/>
                  </a:lnTo>
                  <a:close/>
                </a:path>
              </a:pathLst>
            </a:custGeom>
            <a:solidFill>
              <a:srgbClr val="0070C0"/>
            </a:solidFill>
            <a:ln w="1195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449D86EF-FC51-9DAD-824F-237F43B255E9}"/>
              </a:ext>
            </a:extLst>
          </p:cNvPr>
          <p:cNvSpPr>
            <a:spLocks/>
          </p:cNvSpPr>
          <p:nvPr/>
        </p:nvSpPr>
        <p:spPr>
          <a:xfrm>
            <a:off x="12468952" y="1655619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Flexible analysis</a:t>
            </a: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98112154-E618-C02C-C900-C6D3750F2672}"/>
              </a:ext>
            </a:extLst>
          </p:cNvPr>
          <p:cNvSpPr>
            <a:spLocks/>
          </p:cNvSpPr>
          <p:nvPr/>
        </p:nvSpPr>
        <p:spPr>
          <a:xfrm>
            <a:off x="12468952" y="2052638"/>
            <a:ext cx="539573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sz="1300" dirty="0">
                <a:solidFill>
                  <a:prstClr val="black"/>
                </a:solidFill>
                <a:latin typeface="Segoe UI Semibold"/>
              </a:rPr>
              <a:t>Flexible analysis </a:t>
            </a:r>
            <a:r>
              <a:rPr lang="en-US" sz="1300" dirty="0">
                <a:solidFill>
                  <a:prstClr val="black"/>
                </a:solidFill>
              </a:rPr>
              <a:t>functions are versatile, allowing you to pass any metric as a string parameter, e.g., metric = '</a:t>
            </a:r>
            <a:r>
              <a:rPr lang="en-US" sz="1300" dirty="0" err="1">
                <a:solidFill>
                  <a:prstClr val="black"/>
                </a:solidFill>
              </a:rPr>
              <a:t>Email_hours</a:t>
            </a:r>
            <a:r>
              <a:rPr lang="en-US" sz="1300" dirty="0">
                <a:solidFill>
                  <a:prstClr val="black"/>
                </a:solidFill>
              </a:rPr>
              <a:t>'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FA71B4-1A7B-0D17-35B3-A3D70659D88A}"/>
              </a:ext>
            </a:extLst>
          </p:cNvPr>
          <p:cNvCxnSpPr>
            <a:cxnSpLocks/>
          </p:cNvCxnSpPr>
          <p:nvPr/>
        </p:nvCxnSpPr>
        <p:spPr>
          <a:xfrm flipV="1">
            <a:off x="12468952" y="1512312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05A1785-6D82-A799-BE4E-49670919C74A}"/>
              </a:ext>
            </a:extLst>
          </p:cNvPr>
          <p:cNvCxnSpPr>
            <a:cxnSpLocks/>
          </p:cNvCxnSpPr>
          <p:nvPr/>
        </p:nvCxnSpPr>
        <p:spPr>
          <a:xfrm>
            <a:off x="12468952" y="6811289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C068031-ABF9-12F7-2EDF-A6E9C5F7FE67}"/>
              </a:ext>
            </a:extLst>
          </p:cNvPr>
          <p:cNvCxnSpPr>
            <a:cxnSpLocks/>
          </p:cNvCxnSpPr>
          <p:nvPr/>
        </p:nvCxnSpPr>
        <p:spPr>
          <a:xfrm>
            <a:off x="12468952" y="7785256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F6B93C-2654-3EB7-0760-B9AB01839FF0}"/>
              </a:ext>
            </a:extLst>
          </p:cNvPr>
          <p:cNvCxnSpPr>
            <a:cxnSpLocks/>
          </p:cNvCxnSpPr>
          <p:nvPr/>
        </p:nvCxnSpPr>
        <p:spPr>
          <a:xfrm>
            <a:off x="6458986" y="936715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D51CCA7-8DB5-97D4-B530-44318FB7C4CE}"/>
              </a:ext>
            </a:extLst>
          </p:cNvPr>
          <p:cNvGrpSpPr/>
          <p:nvPr/>
        </p:nvGrpSpPr>
        <p:grpSpPr>
          <a:xfrm>
            <a:off x="6458986" y="9499184"/>
            <a:ext cx="5395736" cy="625812"/>
            <a:chOff x="6458986" y="9870800"/>
            <a:chExt cx="5395736" cy="62581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315BF70-9DC7-55AB-F522-30B30269B9FD}"/>
                </a:ext>
              </a:extLst>
            </p:cNvPr>
            <p:cNvSpPr>
              <a:spLocks/>
            </p:cNvSpPr>
            <p:nvPr/>
          </p:nvSpPr>
          <p:spPr>
            <a:xfrm>
              <a:off x="6458986" y="9870800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network_p2p()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Pass a data frame containing a person-to-person query and return a network visualization</a:t>
              </a: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23011429-BEE0-570D-9285-4AE17CDE2BB7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58986" y="9870800"/>
              <a:ext cx="357037" cy="348923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BF0883-F440-A40A-F9D2-E2613787F903}"/>
              </a:ext>
            </a:extLst>
          </p:cNvPr>
          <p:cNvGrpSpPr/>
          <p:nvPr/>
        </p:nvGrpSpPr>
        <p:grpSpPr>
          <a:xfrm>
            <a:off x="6458986" y="8609314"/>
            <a:ext cx="5395736" cy="625812"/>
            <a:chOff x="6458986" y="8896302"/>
            <a:chExt cx="5395736" cy="62581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040E42C-2F84-D5E7-2C47-072D74DBE513}"/>
                </a:ext>
              </a:extLst>
            </p:cNvPr>
            <p:cNvSpPr>
              <a:spLocks/>
            </p:cNvSpPr>
            <p:nvPr/>
          </p:nvSpPr>
          <p:spPr>
            <a:xfrm>
              <a:off x="6458986" y="8896302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network_g2g()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Pass a data frame containing a group-to-group query and return a network plot</a:t>
              </a: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FC7C481-0B73-E7D2-653B-C92CA40007D4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8986" y="8896302"/>
              <a:ext cx="357037" cy="348923"/>
            </a:xfrm>
            <a:prstGeom prst="rect">
              <a:avLst/>
            </a:prstGeom>
          </p:spPr>
        </p:pic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BA2CBD4-01EC-2C2E-3CFF-921491F56426}"/>
              </a:ext>
            </a:extLst>
          </p:cNvPr>
          <p:cNvSpPr>
            <a:spLocks/>
          </p:cNvSpPr>
          <p:nvPr/>
        </p:nvSpPr>
        <p:spPr>
          <a:xfrm>
            <a:off x="6458986" y="7655197"/>
            <a:ext cx="539573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Aft>
                <a:spcPts val="286"/>
              </a:spcAft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Network analysis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508DDBE-09B4-2610-962B-9C260F53F5E0}"/>
              </a:ext>
            </a:extLst>
          </p:cNvPr>
          <p:cNvSpPr>
            <a:spLocks/>
          </p:cNvSpPr>
          <p:nvPr/>
        </p:nvSpPr>
        <p:spPr>
          <a:xfrm>
            <a:off x="6458986" y="8031999"/>
            <a:ext cx="539573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sz="1300" dirty="0">
                <a:solidFill>
                  <a:prstClr val="black"/>
                </a:solidFill>
              </a:rPr>
              <a:t>Analyze edge list datasets (e.g., Person-to-person, Group-to-group) from Viva Insights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F0E3AD-D2A2-4D6D-DBDB-1C01642A161E}"/>
              </a:ext>
            </a:extLst>
          </p:cNvPr>
          <p:cNvCxnSpPr>
            <a:cxnSpLocks/>
          </p:cNvCxnSpPr>
          <p:nvPr/>
        </p:nvCxnSpPr>
        <p:spPr>
          <a:xfrm flipV="1">
            <a:off x="6458986" y="7511890"/>
            <a:ext cx="539573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E5EFDF4-C445-B873-5C99-E6ACF919279C}"/>
              </a:ext>
            </a:extLst>
          </p:cNvPr>
          <p:cNvGrpSpPr/>
          <p:nvPr/>
        </p:nvGrpSpPr>
        <p:grpSpPr>
          <a:xfrm>
            <a:off x="6458986" y="10389055"/>
            <a:ext cx="5395736" cy="625812"/>
            <a:chOff x="6458986" y="14035274"/>
            <a:chExt cx="5395736" cy="62581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2DDBFC6-F56F-C1F6-9249-430A376FD3D5}"/>
                </a:ext>
              </a:extLst>
            </p:cNvPr>
            <p:cNvSpPr>
              <a:spLocks/>
            </p:cNvSpPr>
            <p:nvPr/>
          </p:nvSpPr>
          <p:spPr>
            <a:xfrm>
              <a:off x="6458986" y="14035274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network_summary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Summarizes key network/node statistics (centrality-style metrics) from an </a:t>
              </a:r>
              <a:r>
                <a:rPr lang="en-US" sz="1300" dirty="0" err="1">
                  <a:solidFill>
                    <a:prstClr val="black"/>
                  </a:solidFill>
                </a:rPr>
                <a:t>igraph</a:t>
              </a:r>
              <a:r>
                <a:rPr lang="en-US" sz="1300" dirty="0">
                  <a:solidFill>
                    <a:prstClr val="black"/>
                  </a:solidFill>
                </a:rPr>
                <a:t> network, optionally split by HR group.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0446175-3664-13A3-CC7E-93513832830E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8986" y="14035274"/>
              <a:ext cx="357037" cy="348923"/>
            </a:xfrm>
            <a:prstGeom prst="rect">
              <a:avLst/>
            </a:prstGeom>
          </p:spPr>
        </p:pic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01E9174-AC08-A8CF-0D79-989A968A7E44}"/>
              </a:ext>
            </a:extLst>
          </p:cNvPr>
          <p:cNvCxnSpPr>
            <a:cxnSpLocks/>
          </p:cNvCxnSpPr>
          <p:nvPr/>
        </p:nvCxnSpPr>
        <p:spPr>
          <a:xfrm>
            <a:off x="6458986" y="1025702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39E9FCE-64A0-704B-67F3-8E1410E0D598}"/>
              </a:ext>
            </a:extLst>
          </p:cNvPr>
          <p:cNvCxnSpPr>
            <a:cxnSpLocks/>
          </p:cNvCxnSpPr>
          <p:nvPr/>
        </p:nvCxnSpPr>
        <p:spPr>
          <a:xfrm>
            <a:off x="18478919" y="265311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74B518-DD8B-4495-8EB0-DEC197D0A34E}"/>
              </a:ext>
            </a:extLst>
          </p:cNvPr>
          <p:cNvGrpSpPr/>
          <p:nvPr/>
        </p:nvGrpSpPr>
        <p:grpSpPr>
          <a:xfrm>
            <a:off x="18478919" y="2052638"/>
            <a:ext cx="5395736" cy="425758"/>
            <a:chOff x="18478919" y="2083882"/>
            <a:chExt cx="5395736" cy="425758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0272363-EF9E-5746-4A77-B9E7C4F93B32}"/>
                </a:ext>
              </a:extLst>
            </p:cNvPr>
            <p:cNvSpPr>
              <a:spLocks/>
            </p:cNvSpPr>
            <p:nvPr/>
          </p:nvSpPr>
          <p:spPr>
            <a:xfrm flipH="1">
              <a:off x="18478919" y="2083882"/>
              <a:ext cx="258379" cy="352949"/>
            </a:xfrm>
            <a:custGeom>
              <a:avLst/>
              <a:gdLst>
                <a:gd name="connsiteX0" fmla="*/ 228267 w 229518"/>
                <a:gd name="connsiteY0" fmla="*/ 41731 h 292113"/>
                <a:gd name="connsiteX1" fmla="*/ 187788 w 229518"/>
                <a:gd name="connsiteY1" fmla="*/ 41731 h 292113"/>
                <a:gd name="connsiteX2" fmla="*/ 187788 w 229518"/>
                <a:gd name="connsiteY2" fmla="*/ 1252 h 292113"/>
                <a:gd name="connsiteX3" fmla="*/ 201246 w 229518"/>
                <a:gd name="connsiteY3" fmla="*/ 9181 h 292113"/>
                <a:gd name="connsiteX4" fmla="*/ 220338 w 229518"/>
                <a:gd name="connsiteY4" fmla="*/ 28273 h 292113"/>
                <a:gd name="connsiteX5" fmla="*/ 228267 w 229518"/>
                <a:gd name="connsiteY5" fmla="*/ 41731 h 292113"/>
                <a:gd name="connsiteX6" fmla="*/ 229519 w 229518"/>
                <a:gd name="connsiteY6" fmla="*/ 62596 h 292113"/>
                <a:gd name="connsiteX7" fmla="*/ 229519 w 229518"/>
                <a:gd name="connsiteY7" fmla="*/ 260816 h 292113"/>
                <a:gd name="connsiteX8" fmla="*/ 198221 w 229518"/>
                <a:gd name="connsiteY8" fmla="*/ 292114 h 292113"/>
                <a:gd name="connsiteX9" fmla="*/ 31298 w 229518"/>
                <a:gd name="connsiteY9" fmla="*/ 292114 h 292113"/>
                <a:gd name="connsiteX10" fmla="*/ 0 w 229518"/>
                <a:gd name="connsiteY10" fmla="*/ 260816 h 292113"/>
                <a:gd name="connsiteX11" fmla="*/ 0 w 229518"/>
                <a:gd name="connsiteY11" fmla="*/ 31298 h 292113"/>
                <a:gd name="connsiteX12" fmla="*/ 31298 w 229518"/>
                <a:gd name="connsiteY12" fmla="*/ 0 h 292113"/>
                <a:gd name="connsiteX13" fmla="*/ 166923 w 229518"/>
                <a:gd name="connsiteY13" fmla="*/ 0 h 292113"/>
                <a:gd name="connsiteX14" fmla="*/ 166923 w 229518"/>
                <a:gd name="connsiteY14" fmla="*/ 41731 h 292113"/>
                <a:gd name="connsiteX15" fmla="*/ 187788 w 229518"/>
                <a:gd name="connsiteY15" fmla="*/ 62596 h 292113"/>
                <a:gd name="connsiteX16" fmla="*/ 187788 w 229518"/>
                <a:gd name="connsiteY16" fmla="*/ 93894 h 292113"/>
                <a:gd name="connsiteX17" fmla="*/ 166923 w 229518"/>
                <a:gd name="connsiteY17" fmla="*/ 73028 h 292113"/>
                <a:gd name="connsiteX18" fmla="*/ 62596 w 229518"/>
                <a:gd name="connsiteY18" fmla="*/ 73028 h 292113"/>
                <a:gd name="connsiteX19" fmla="*/ 41731 w 229518"/>
                <a:gd name="connsiteY19" fmla="*/ 93894 h 292113"/>
                <a:gd name="connsiteX20" fmla="*/ 41731 w 229518"/>
                <a:gd name="connsiteY20" fmla="*/ 239951 h 292113"/>
                <a:gd name="connsiteX21" fmla="*/ 62596 w 229518"/>
                <a:gd name="connsiteY21" fmla="*/ 260816 h 292113"/>
                <a:gd name="connsiteX22" fmla="*/ 166923 w 229518"/>
                <a:gd name="connsiteY22" fmla="*/ 260816 h 292113"/>
                <a:gd name="connsiteX23" fmla="*/ 187788 w 229518"/>
                <a:gd name="connsiteY23" fmla="*/ 239951 h 292113"/>
                <a:gd name="connsiteX24" fmla="*/ 62596 w 229518"/>
                <a:gd name="connsiteY24" fmla="*/ 219085 h 292113"/>
                <a:gd name="connsiteX25" fmla="*/ 62596 w 229518"/>
                <a:gd name="connsiteY25" fmla="*/ 239951 h 292113"/>
                <a:gd name="connsiteX26" fmla="*/ 83461 w 229518"/>
                <a:gd name="connsiteY26" fmla="*/ 239951 h 292113"/>
                <a:gd name="connsiteX27" fmla="*/ 83461 w 229518"/>
                <a:gd name="connsiteY27" fmla="*/ 219085 h 292113"/>
                <a:gd name="connsiteX28" fmla="*/ 104327 w 229518"/>
                <a:gd name="connsiteY28" fmla="*/ 219085 h 292113"/>
                <a:gd name="connsiteX29" fmla="*/ 104327 w 229518"/>
                <a:gd name="connsiteY29" fmla="*/ 239951 h 292113"/>
                <a:gd name="connsiteX30" fmla="*/ 166923 w 229518"/>
                <a:gd name="connsiteY30" fmla="*/ 239951 h 292113"/>
                <a:gd name="connsiteX31" fmla="*/ 166923 w 229518"/>
                <a:gd name="connsiteY31" fmla="*/ 219085 h 292113"/>
                <a:gd name="connsiteX32" fmla="*/ 104327 w 229518"/>
                <a:gd name="connsiteY32" fmla="*/ 177355 h 292113"/>
                <a:gd name="connsiteX33" fmla="*/ 104327 w 229518"/>
                <a:gd name="connsiteY33" fmla="*/ 198220 h 292113"/>
                <a:gd name="connsiteX34" fmla="*/ 166923 w 229518"/>
                <a:gd name="connsiteY34" fmla="*/ 198220 h 292113"/>
                <a:gd name="connsiteX35" fmla="*/ 166923 w 229518"/>
                <a:gd name="connsiteY35" fmla="*/ 177355 h 292113"/>
                <a:gd name="connsiteX36" fmla="*/ 62596 w 229518"/>
                <a:gd name="connsiteY36" fmla="*/ 177355 h 292113"/>
                <a:gd name="connsiteX37" fmla="*/ 62596 w 229518"/>
                <a:gd name="connsiteY37" fmla="*/ 198220 h 292113"/>
                <a:gd name="connsiteX38" fmla="*/ 83461 w 229518"/>
                <a:gd name="connsiteY38" fmla="*/ 198220 h 292113"/>
                <a:gd name="connsiteX39" fmla="*/ 83461 w 229518"/>
                <a:gd name="connsiteY39" fmla="*/ 177355 h 292113"/>
                <a:gd name="connsiteX40" fmla="*/ 104327 w 229518"/>
                <a:gd name="connsiteY40" fmla="*/ 135624 h 292113"/>
                <a:gd name="connsiteX41" fmla="*/ 104327 w 229518"/>
                <a:gd name="connsiteY41" fmla="*/ 156490 h 292113"/>
                <a:gd name="connsiteX42" fmla="*/ 166923 w 229518"/>
                <a:gd name="connsiteY42" fmla="*/ 156490 h 292113"/>
                <a:gd name="connsiteX43" fmla="*/ 166923 w 229518"/>
                <a:gd name="connsiteY43" fmla="*/ 135624 h 292113"/>
                <a:gd name="connsiteX44" fmla="*/ 62596 w 229518"/>
                <a:gd name="connsiteY44" fmla="*/ 135624 h 292113"/>
                <a:gd name="connsiteX45" fmla="*/ 62596 w 229518"/>
                <a:gd name="connsiteY45" fmla="*/ 156490 h 292113"/>
                <a:gd name="connsiteX46" fmla="*/ 83461 w 229518"/>
                <a:gd name="connsiteY46" fmla="*/ 156490 h 292113"/>
                <a:gd name="connsiteX47" fmla="*/ 83461 w 229518"/>
                <a:gd name="connsiteY47" fmla="*/ 135624 h 292113"/>
                <a:gd name="connsiteX48" fmla="*/ 62596 w 229518"/>
                <a:gd name="connsiteY48" fmla="*/ 93894 h 292113"/>
                <a:gd name="connsiteX49" fmla="*/ 62596 w 229518"/>
                <a:gd name="connsiteY49" fmla="*/ 114759 h 292113"/>
                <a:gd name="connsiteX50" fmla="*/ 83461 w 229518"/>
                <a:gd name="connsiteY50" fmla="*/ 114759 h 292113"/>
                <a:gd name="connsiteX51" fmla="*/ 83461 w 229518"/>
                <a:gd name="connsiteY51" fmla="*/ 93894 h 292113"/>
                <a:gd name="connsiteX52" fmla="*/ 104327 w 229518"/>
                <a:gd name="connsiteY52" fmla="*/ 93894 h 292113"/>
                <a:gd name="connsiteX53" fmla="*/ 104327 w 229518"/>
                <a:gd name="connsiteY53" fmla="*/ 114759 h 292113"/>
                <a:gd name="connsiteX54" fmla="*/ 166923 w 229518"/>
                <a:gd name="connsiteY54" fmla="*/ 114759 h 292113"/>
                <a:gd name="connsiteX55" fmla="*/ 166923 w 229518"/>
                <a:gd name="connsiteY55" fmla="*/ 93894 h 29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9518" h="292113">
                  <a:moveTo>
                    <a:pt x="228267" y="41731"/>
                  </a:moveTo>
                  <a:lnTo>
                    <a:pt x="187788" y="41731"/>
                  </a:lnTo>
                  <a:lnTo>
                    <a:pt x="187788" y="1252"/>
                  </a:lnTo>
                  <a:cubicBezTo>
                    <a:pt x="192900" y="2608"/>
                    <a:pt x="197490" y="5321"/>
                    <a:pt x="201246" y="9181"/>
                  </a:cubicBezTo>
                  <a:lnTo>
                    <a:pt x="220338" y="28273"/>
                  </a:lnTo>
                  <a:cubicBezTo>
                    <a:pt x="224198" y="32028"/>
                    <a:pt x="226911" y="36619"/>
                    <a:pt x="228267" y="41731"/>
                  </a:cubicBezTo>
                  <a:close/>
                  <a:moveTo>
                    <a:pt x="229519" y="62596"/>
                  </a:moveTo>
                  <a:lnTo>
                    <a:pt x="229519" y="260816"/>
                  </a:lnTo>
                  <a:cubicBezTo>
                    <a:pt x="229519" y="278030"/>
                    <a:pt x="215434" y="292114"/>
                    <a:pt x="198221" y="292114"/>
                  </a:cubicBezTo>
                  <a:lnTo>
                    <a:pt x="31298" y="292114"/>
                  </a:lnTo>
                  <a:cubicBezTo>
                    <a:pt x="14084" y="292114"/>
                    <a:pt x="0" y="278030"/>
                    <a:pt x="0" y="260816"/>
                  </a:cubicBezTo>
                  <a:lnTo>
                    <a:pt x="0" y="31298"/>
                  </a:lnTo>
                  <a:cubicBezTo>
                    <a:pt x="0" y="14084"/>
                    <a:pt x="14084" y="0"/>
                    <a:pt x="31298" y="0"/>
                  </a:cubicBezTo>
                  <a:lnTo>
                    <a:pt x="166923" y="0"/>
                  </a:lnTo>
                  <a:lnTo>
                    <a:pt x="166923" y="41731"/>
                  </a:lnTo>
                  <a:cubicBezTo>
                    <a:pt x="166923" y="53206"/>
                    <a:pt x="176312" y="62596"/>
                    <a:pt x="187788" y="62596"/>
                  </a:cubicBezTo>
                  <a:close/>
                  <a:moveTo>
                    <a:pt x="187788" y="93894"/>
                  </a:moveTo>
                  <a:cubicBezTo>
                    <a:pt x="187788" y="82418"/>
                    <a:pt x="178399" y="73028"/>
                    <a:pt x="166923" y="73028"/>
                  </a:cubicBezTo>
                  <a:lnTo>
                    <a:pt x="62596" y="73028"/>
                  </a:lnTo>
                  <a:cubicBezTo>
                    <a:pt x="51120" y="73028"/>
                    <a:pt x="41731" y="82418"/>
                    <a:pt x="41731" y="93894"/>
                  </a:cubicBezTo>
                  <a:lnTo>
                    <a:pt x="41731" y="239951"/>
                  </a:lnTo>
                  <a:cubicBezTo>
                    <a:pt x="41731" y="251427"/>
                    <a:pt x="51120" y="260816"/>
                    <a:pt x="62596" y="260816"/>
                  </a:cubicBezTo>
                  <a:lnTo>
                    <a:pt x="166923" y="260816"/>
                  </a:lnTo>
                  <a:cubicBezTo>
                    <a:pt x="178399" y="260816"/>
                    <a:pt x="187788" y="251427"/>
                    <a:pt x="187788" y="239951"/>
                  </a:cubicBezTo>
                  <a:close/>
                  <a:moveTo>
                    <a:pt x="62596" y="219085"/>
                  </a:moveTo>
                  <a:lnTo>
                    <a:pt x="62596" y="239951"/>
                  </a:lnTo>
                  <a:lnTo>
                    <a:pt x="83461" y="239951"/>
                  </a:lnTo>
                  <a:lnTo>
                    <a:pt x="83461" y="219085"/>
                  </a:lnTo>
                  <a:close/>
                  <a:moveTo>
                    <a:pt x="104327" y="219085"/>
                  </a:moveTo>
                  <a:lnTo>
                    <a:pt x="104327" y="239951"/>
                  </a:lnTo>
                  <a:lnTo>
                    <a:pt x="166923" y="239951"/>
                  </a:lnTo>
                  <a:lnTo>
                    <a:pt x="166923" y="219085"/>
                  </a:lnTo>
                  <a:close/>
                  <a:moveTo>
                    <a:pt x="104327" y="177355"/>
                  </a:moveTo>
                  <a:lnTo>
                    <a:pt x="104327" y="198220"/>
                  </a:lnTo>
                  <a:lnTo>
                    <a:pt x="166923" y="198220"/>
                  </a:lnTo>
                  <a:lnTo>
                    <a:pt x="166923" y="177355"/>
                  </a:lnTo>
                  <a:close/>
                  <a:moveTo>
                    <a:pt x="62596" y="177355"/>
                  </a:moveTo>
                  <a:lnTo>
                    <a:pt x="62596" y="198220"/>
                  </a:lnTo>
                  <a:lnTo>
                    <a:pt x="83461" y="198220"/>
                  </a:lnTo>
                  <a:lnTo>
                    <a:pt x="83461" y="177355"/>
                  </a:lnTo>
                  <a:close/>
                  <a:moveTo>
                    <a:pt x="104327" y="135624"/>
                  </a:moveTo>
                  <a:lnTo>
                    <a:pt x="104327" y="156490"/>
                  </a:lnTo>
                  <a:lnTo>
                    <a:pt x="166923" y="156490"/>
                  </a:lnTo>
                  <a:lnTo>
                    <a:pt x="166923" y="135624"/>
                  </a:lnTo>
                  <a:close/>
                  <a:moveTo>
                    <a:pt x="62596" y="135624"/>
                  </a:moveTo>
                  <a:lnTo>
                    <a:pt x="62596" y="156490"/>
                  </a:lnTo>
                  <a:lnTo>
                    <a:pt x="83461" y="156490"/>
                  </a:lnTo>
                  <a:lnTo>
                    <a:pt x="83461" y="135624"/>
                  </a:lnTo>
                  <a:close/>
                  <a:moveTo>
                    <a:pt x="62596" y="93894"/>
                  </a:moveTo>
                  <a:lnTo>
                    <a:pt x="62596" y="114759"/>
                  </a:lnTo>
                  <a:lnTo>
                    <a:pt x="83461" y="114759"/>
                  </a:lnTo>
                  <a:lnTo>
                    <a:pt x="83461" y="93894"/>
                  </a:lnTo>
                  <a:close/>
                  <a:moveTo>
                    <a:pt x="104327" y="93894"/>
                  </a:moveTo>
                  <a:lnTo>
                    <a:pt x="104327" y="114759"/>
                  </a:lnTo>
                  <a:lnTo>
                    <a:pt x="166923" y="114759"/>
                  </a:lnTo>
                  <a:lnTo>
                    <a:pt x="166923" y="93894"/>
                  </a:lnTo>
                  <a:close/>
                </a:path>
              </a:pathLst>
            </a:custGeom>
            <a:solidFill>
              <a:srgbClr val="0070C0"/>
            </a:solidFill>
            <a:ln w="329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3DD0828-B7DE-AC32-27FF-E102C4D19EC9}"/>
                </a:ext>
              </a:extLst>
            </p:cNvPr>
            <p:cNvSpPr>
              <a:spLocks/>
            </p:cNvSpPr>
            <p:nvPr/>
          </p:nvSpPr>
          <p:spPr>
            <a:xfrm>
              <a:off x="18478919" y="2083882"/>
              <a:ext cx="5395736" cy="425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create_IV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Specify an outcome variable and return IV outputs</a:t>
              </a:r>
            </a:p>
          </p:txBody>
        </p:sp>
      </p:grp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4D00541-7E50-4DF2-CD4C-2B4478061940}"/>
              </a:ext>
            </a:extLst>
          </p:cNvPr>
          <p:cNvCxnSpPr>
            <a:cxnSpLocks/>
          </p:cNvCxnSpPr>
          <p:nvPr/>
        </p:nvCxnSpPr>
        <p:spPr>
          <a:xfrm>
            <a:off x="18478919" y="362835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DCBA0A9-7B02-DC8F-7D27-056BB61A194A}"/>
              </a:ext>
            </a:extLst>
          </p:cNvPr>
          <p:cNvCxnSpPr>
            <a:cxnSpLocks/>
          </p:cNvCxnSpPr>
          <p:nvPr/>
        </p:nvCxnSpPr>
        <p:spPr>
          <a:xfrm>
            <a:off x="18478919" y="460359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FF9DF2E-130B-6778-AE5F-7D38D71C7954}"/>
              </a:ext>
            </a:extLst>
          </p:cNvPr>
          <p:cNvGrpSpPr/>
          <p:nvPr/>
        </p:nvGrpSpPr>
        <p:grpSpPr>
          <a:xfrm>
            <a:off x="18478919" y="4778304"/>
            <a:ext cx="5395736" cy="625812"/>
            <a:chOff x="18478918" y="5633696"/>
            <a:chExt cx="5395736" cy="62581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B0E39D5-0E35-5CE3-F9AF-E9DB0AEEFD13}"/>
                </a:ext>
              </a:extLst>
            </p:cNvPr>
            <p:cNvSpPr>
              <a:spLocks/>
            </p:cNvSpPr>
            <p:nvPr/>
          </p:nvSpPr>
          <p:spPr>
            <a:xfrm>
              <a:off x="18478918" y="5633696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create_lorenz</a:t>
              </a: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This function computes the Gini coefficient and plots the Lorenz curve based on a selected metric from a Person Query data frame</a:t>
              </a: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05B8C45-307D-7AA6-0B75-3D2B2D74EBAA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478918" y="5633696"/>
              <a:ext cx="357037" cy="348923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D9A42D9-ADF0-238E-211C-E18C6E3B55A4}"/>
              </a:ext>
            </a:extLst>
          </p:cNvPr>
          <p:cNvGrpSpPr/>
          <p:nvPr/>
        </p:nvGrpSpPr>
        <p:grpSpPr>
          <a:xfrm>
            <a:off x="18478919" y="2827824"/>
            <a:ext cx="5395736" cy="625812"/>
            <a:chOff x="18478918" y="3719513"/>
            <a:chExt cx="5395736" cy="625812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063097E-A6CB-0FAC-2003-BD3E4255DF2A}"/>
                </a:ext>
              </a:extLst>
            </p:cNvPr>
            <p:cNvSpPr>
              <a:spLocks/>
            </p:cNvSpPr>
            <p:nvPr/>
          </p:nvSpPr>
          <p:spPr>
            <a:xfrm>
              <a:off x="18478918" y="3719513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p_test</a:t>
              </a: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Specify an outcome variable and return p-test outputs. All numeric variables in the dataset are used as predictor variables</a:t>
              </a: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B2DC972-693C-8D39-90B4-AA36CADA1680}"/>
                </a:ext>
              </a:extLst>
            </p:cNvPr>
            <p:cNvSpPr>
              <a:spLocks/>
            </p:cNvSpPr>
            <p:nvPr/>
          </p:nvSpPr>
          <p:spPr>
            <a:xfrm>
              <a:off x="18478918" y="3719513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1634FE4-0C61-EC96-8427-363296C6F7B5}"/>
              </a:ext>
            </a:extLst>
          </p:cNvPr>
          <p:cNvGrpSpPr/>
          <p:nvPr/>
        </p:nvGrpSpPr>
        <p:grpSpPr>
          <a:xfrm>
            <a:off x="18478919" y="3803064"/>
            <a:ext cx="5395736" cy="625812"/>
            <a:chOff x="18478918" y="4676605"/>
            <a:chExt cx="5395736" cy="625812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0C9EF0C-12E9-EDF9-9B23-EAC43C18020C}"/>
                </a:ext>
              </a:extLst>
            </p:cNvPr>
            <p:cNvSpPr>
              <a:spLocks/>
            </p:cNvSpPr>
            <p:nvPr/>
          </p:nvSpPr>
          <p:spPr>
            <a:xfrm>
              <a:off x="18478918" y="4676605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compute_gini</a:t>
              </a: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()</a:t>
              </a:r>
            </a:p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Compute the Gini coefficient, a measure of statistical dispersion to represent inequality</a:t>
              </a: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5683E2A-5EA8-911C-3ABA-1FBBE7BCCC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4676605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6376288-31C7-C1B3-A059-EE9764948CD3}"/>
              </a:ext>
            </a:extLst>
          </p:cNvPr>
          <p:cNvCxnSpPr>
            <a:cxnSpLocks/>
          </p:cNvCxnSpPr>
          <p:nvPr/>
        </p:nvCxnSpPr>
        <p:spPr>
          <a:xfrm>
            <a:off x="18478919" y="655407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75BCA2A-9817-1856-E922-B2F83DE437BC}"/>
              </a:ext>
            </a:extLst>
          </p:cNvPr>
          <p:cNvCxnSpPr>
            <a:cxnSpLocks/>
          </p:cNvCxnSpPr>
          <p:nvPr/>
        </p:nvCxnSpPr>
        <p:spPr>
          <a:xfrm>
            <a:off x="18478919" y="772936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B5397B7-48C9-9691-23AE-77D8C4686058}"/>
              </a:ext>
            </a:extLst>
          </p:cNvPr>
          <p:cNvCxnSpPr>
            <a:cxnSpLocks/>
          </p:cNvCxnSpPr>
          <p:nvPr/>
        </p:nvCxnSpPr>
        <p:spPr>
          <a:xfrm>
            <a:off x="18478919" y="870460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202DBCC-42F3-FC25-5303-DF76ADF1B26E}"/>
              </a:ext>
            </a:extLst>
          </p:cNvPr>
          <p:cNvCxnSpPr>
            <a:cxnSpLocks/>
          </p:cNvCxnSpPr>
          <p:nvPr/>
        </p:nvCxnSpPr>
        <p:spPr>
          <a:xfrm>
            <a:off x="18478919" y="967984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F29BD8D-A807-4698-7B55-723282B7EB1B}"/>
              </a:ext>
            </a:extLst>
          </p:cNvPr>
          <p:cNvCxnSpPr>
            <a:cxnSpLocks/>
          </p:cNvCxnSpPr>
          <p:nvPr/>
        </p:nvCxnSpPr>
        <p:spPr>
          <a:xfrm>
            <a:off x="18478919" y="10655085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0AE5831-1B23-55DE-A678-2B10CD78A66A}"/>
              </a:ext>
            </a:extLst>
          </p:cNvPr>
          <p:cNvGrpSpPr/>
          <p:nvPr/>
        </p:nvGrpSpPr>
        <p:grpSpPr>
          <a:xfrm>
            <a:off x="18478919" y="5753544"/>
            <a:ext cx="5395736" cy="625812"/>
            <a:chOff x="18478918" y="6811078"/>
            <a:chExt cx="5395736" cy="625812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EFA1EB0-1860-7557-A368-7CB344FA820B}"/>
                </a:ext>
              </a:extLst>
            </p:cNvPr>
            <p:cNvSpPr>
              <a:spLocks/>
            </p:cNvSpPr>
            <p:nvPr/>
          </p:nvSpPr>
          <p:spPr>
            <a:xfrm>
              <a:off x="18478918" y="681107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create_odds_ratios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(), 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Computes odds ratios for ordinal variables against a chosen metric (returns a results table).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0ED8B9D-21BF-C04A-742E-E6CC3E1A4C32}"/>
                </a:ext>
              </a:extLst>
            </p:cNvPr>
            <p:cNvSpPr>
              <a:spLocks/>
            </p:cNvSpPr>
            <p:nvPr/>
          </p:nvSpPr>
          <p:spPr>
            <a:xfrm flipH="1">
              <a:off x="18478918" y="6811078"/>
              <a:ext cx="277717" cy="353456"/>
            </a:xfrm>
            <a:custGeom>
              <a:avLst/>
              <a:gdLst>
                <a:gd name="connsiteX0" fmla="*/ 228267 w 229518"/>
                <a:gd name="connsiteY0" fmla="*/ 41731 h 292113"/>
                <a:gd name="connsiteX1" fmla="*/ 187788 w 229518"/>
                <a:gd name="connsiteY1" fmla="*/ 41731 h 292113"/>
                <a:gd name="connsiteX2" fmla="*/ 187788 w 229518"/>
                <a:gd name="connsiteY2" fmla="*/ 1252 h 292113"/>
                <a:gd name="connsiteX3" fmla="*/ 201246 w 229518"/>
                <a:gd name="connsiteY3" fmla="*/ 9181 h 292113"/>
                <a:gd name="connsiteX4" fmla="*/ 220338 w 229518"/>
                <a:gd name="connsiteY4" fmla="*/ 28273 h 292113"/>
                <a:gd name="connsiteX5" fmla="*/ 228267 w 229518"/>
                <a:gd name="connsiteY5" fmla="*/ 41731 h 292113"/>
                <a:gd name="connsiteX6" fmla="*/ 229519 w 229518"/>
                <a:gd name="connsiteY6" fmla="*/ 62596 h 292113"/>
                <a:gd name="connsiteX7" fmla="*/ 229519 w 229518"/>
                <a:gd name="connsiteY7" fmla="*/ 260816 h 292113"/>
                <a:gd name="connsiteX8" fmla="*/ 198221 w 229518"/>
                <a:gd name="connsiteY8" fmla="*/ 292114 h 292113"/>
                <a:gd name="connsiteX9" fmla="*/ 31298 w 229518"/>
                <a:gd name="connsiteY9" fmla="*/ 292114 h 292113"/>
                <a:gd name="connsiteX10" fmla="*/ 0 w 229518"/>
                <a:gd name="connsiteY10" fmla="*/ 260816 h 292113"/>
                <a:gd name="connsiteX11" fmla="*/ 0 w 229518"/>
                <a:gd name="connsiteY11" fmla="*/ 31298 h 292113"/>
                <a:gd name="connsiteX12" fmla="*/ 31298 w 229518"/>
                <a:gd name="connsiteY12" fmla="*/ 0 h 292113"/>
                <a:gd name="connsiteX13" fmla="*/ 166923 w 229518"/>
                <a:gd name="connsiteY13" fmla="*/ 0 h 292113"/>
                <a:gd name="connsiteX14" fmla="*/ 166923 w 229518"/>
                <a:gd name="connsiteY14" fmla="*/ 41731 h 292113"/>
                <a:gd name="connsiteX15" fmla="*/ 187788 w 229518"/>
                <a:gd name="connsiteY15" fmla="*/ 62596 h 292113"/>
                <a:gd name="connsiteX16" fmla="*/ 187788 w 229518"/>
                <a:gd name="connsiteY16" fmla="*/ 93894 h 292113"/>
                <a:gd name="connsiteX17" fmla="*/ 166923 w 229518"/>
                <a:gd name="connsiteY17" fmla="*/ 73028 h 292113"/>
                <a:gd name="connsiteX18" fmla="*/ 62596 w 229518"/>
                <a:gd name="connsiteY18" fmla="*/ 73028 h 292113"/>
                <a:gd name="connsiteX19" fmla="*/ 41731 w 229518"/>
                <a:gd name="connsiteY19" fmla="*/ 93894 h 292113"/>
                <a:gd name="connsiteX20" fmla="*/ 41731 w 229518"/>
                <a:gd name="connsiteY20" fmla="*/ 239951 h 292113"/>
                <a:gd name="connsiteX21" fmla="*/ 62596 w 229518"/>
                <a:gd name="connsiteY21" fmla="*/ 260816 h 292113"/>
                <a:gd name="connsiteX22" fmla="*/ 166923 w 229518"/>
                <a:gd name="connsiteY22" fmla="*/ 260816 h 292113"/>
                <a:gd name="connsiteX23" fmla="*/ 187788 w 229518"/>
                <a:gd name="connsiteY23" fmla="*/ 239951 h 292113"/>
                <a:gd name="connsiteX24" fmla="*/ 62596 w 229518"/>
                <a:gd name="connsiteY24" fmla="*/ 219085 h 292113"/>
                <a:gd name="connsiteX25" fmla="*/ 62596 w 229518"/>
                <a:gd name="connsiteY25" fmla="*/ 239951 h 292113"/>
                <a:gd name="connsiteX26" fmla="*/ 83461 w 229518"/>
                <a:gd name="connsiteY26" fmla="*/ 239951 h 292113"/>
                <a:gd name="connsiteX27" fmla="*/ 83461 w 229518"/>
                <a:gd name="connsiteY27" fmla="*/ 219085 h 292113"/>
                <a:gd name="connsiteX28" fmla="*/ 104327 w 229518"/>
                <a:gd name="connsiteY28" fmla="*/ 219085 h 292113"/>
                <a:gd name="connsiteX29" fmla="*/ 104327 w 229518"/>
                <a:gd name="connsiteY29" fmla="*/ 239951 h 292113"/>
                <a:gd name="connsiteX30" fmla="*/ 166923 w 229518"/>
                <a:gd name="connsiteY30" fmla="*/ 239951 h 292113"/>
                <a:gd name="connsiteX31" fmla="*/ 166923 w 229518"/>
                <a:gd name="connsiteY31" fmla="*/ 219085 h 292113"/>
                <a:gd name="connsiteX32" fmla="*/ 104327 w 229518"/>
                <a:gd name="connsiteY32" fmla="*/ 177355 h 292113"/>
                <a:gd name="connsiteX33" fmla="*/ 104327 w 229518"/>
                <a:gd name="connsiteY33" fmla="*/ 198220 h 292113"/>
                <a:gd name="connsiteX34" fmla="*/ 166923 w 229518"/>
                <a:gd name="connsiteY34" fmla="*/ 198220 h 292113"/>
                <a:gd name="connsiteX35" fmla="*/ 166923 w 229518"/>
                <a:gd name="connsiteY35" fmla="*/ 177355 h 292113"/>
                <a:gd name="connsiteX36" fmla="*/ 62596 w 229518"/>
                <a:gd name="connsiteY36" fmla="*/ 177355 h 292113"/>
                <a:gd name="connsiteX37" fmla="*/ 62596 w 229518"/>
                <a:gd name="connsiteY37" fmla="*/ 198220 h 292113"/>
                <a:gd name="connsiteX38" fmla="*/ 83461 w 229518"/>
                <a:gd name="connsiteY38" fmla="*/ 198220 h 292113"/>
                <a:gd name="connsiteX39" fmla="*/ 83461 w 229518"/>
                <a:gd name="connsiteY39" fmla="*/ 177355 h 292113"/>
                <a:gd name="connsiteX40" fmla="*/ 104327 w 229518"/>
                <a:gd name="connsiteY40" fmla="*/ 135624 h 292113"/>
                <a:gd name="connsiteX41" fmla="*/ 104327 w 229518"/>
                <a:gd name="connsiteY41" fmla="*/ 156490 h 292113"/>
                <a:gd name="connsiteX42" fmla="*/ 166923 w 229518"/>
                <a:gd name="connsiteY42" fmla="*/ 156490 h 292113"/>
                <a:gd name="connsiteX43" fmla="*/ 166923 w 229518"/>
                <a:gd name="connsiteY43" fmla="*/ 135624 h 292113"/>
                <a:gd name="connsiteX44" fmla="*/ 62596 w 229518"/>
                <a:gd name="connsiteY44" fmla="*/ 135624 h 292113"/>
                <a:gd name="connsiteX45" fmla="*/ 62596 w 229518"/>
                <a:gd name="connsiteY45" fmla="*/ 156490 h 292113"/>
                <a:gd name="connsiteX46" fmla="*/ 83461 w 229518"/>
                <a:gd name="connsiteY46" fmla="*/ 156490 h 292113"/>
                <a:gd name="connsiteX47" fmla="*/ 83461 w 229518"/>
                <a:gd name="connsiteY47" fmla="*/ 135624 h 292113"/>
                <a:gd name="connsiteX48" fmla="*/ 62596 w 229518"/>
                <a:gd name="connsiteY48" fmla="*/ 93894 h 292113"/>
                <a:gd name="connsiteX49" fmla="*/ 62596 w 229518"/>
                <a:gd name="connsiteY49" fmla="*/ 114759 h 292113"/>
                <a:gd name="connsiteX50" fmla="*/ 83461 w 229518"/>
                <a:gd name="connsiteY50" fmla="*/ 114759 h 292113"/>
                <a:gd name="connsiteX51" fmla="*/ 83461 w 229518"/>
                <a:gd name="connsiteY51" fmla="*/ 93894 h 292113"/>
                <a:gd name="connsiteX52" fmla="*/ 104327 w 229518"/>
                <a:gd name="connsiteY52" fmla="*/ 93894 h 292113"/>
                <a:gd name="connsiteX53" fmla="*/ 104327 w 229518"/>
                <a:gd name="connsiteY53" fmla="*/ 114759 h 292113"/>
                <a:gd name="connsiteX54" fmla="*/ 166923 w 229518"/>
                <a:gd name="connsiteY54" fmla="*/ 114759 h 292113"/>
                <a:gd name="connsiteX55" fmla="*/ 166923 w 229518"/>
                <a:gd name="connsiteY55" fmla="*/ 93894 h 29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9518" h="292113">
                  <a:moveTo>
                    <a:pt x="228267" y="41731"/>
                  </a:moveTo>
                  <a:lnTo>
                    <a:pt x="187788" y="41731"/>
                  </a:lnTo>
                  <a:lnTo>
                    <a:pt x="187788" y="1252"/>
                  </a:lnTo>
                  <a:cubicBezTo>
                    <a:pt x="192900" y="2608"/>
                    <a:pt x="197490" y="5321"/>
                    <a:pt x="201246" y="9181"/>
                  </a:cubicBezTo>
                  <a:lnTo>
                    <a:pt x="220338" y="28273"/>
                  </a:lnTo>
                  <a:cubicBezTo>
                    <a:pt x="224198" y="32028"/>
                    <a:pt x="226911" y="36619"/>
                    <a:pt x="228267" y="41731"/>
                  </a:cubicBezTo>
                  <a:close/>
                  <a:moveTo>
                    <a:pt x="229519" y="62596"/>
                  </a:moveTo>
                  <a:lnTo>
                    <a:pt x="229519" y="260816"/>
                  </a:lnTo>
                  <a:cubicBezTo>
                    <a:pt x="229519" y="278030"/>
                    <a:pt x="215434" y="292114"/>
                    <a:pt x="198221" y="292114"/>
                  </a:cubicBezTo>
                  <a:lnTo>
                    <a:pt x="31298" y="292114"/>
                  </a:lnTo>
                  <a:cubicBezTo>
                    <a:pt x="14084" y="292114"/>
                    <a:pt x="0" y="278030"/>
                    <a:pt x="0" y="260816"/>
                  </a:cubicBezTo>
                  <a:lnTo>
                    <a:pt x="0" y="31298"/>
                  </a:lnTo>
                  <a:cubicBezTo>
                    <a:pt x="0" y="14084"/>
                    <a:pt x="14084" y="0"/>
                    <a:pt x="31298" y="0"/>
                  </a:cubicBezTo>
                  <a:lnTo>
                    <a:pt x="166923" y="0"/>
                  </a:lnTo>
                  <a:lnTo>
                    <a:pt x="166923" y="41731"/>
                  </a:lnTo>
                  <a:cubicBezTo>
                    <a:pt x="166923" y="53206"/>
                    <a:pt x="176312" y="62596"/>
                    <a:pt x="187788" y="62596"/>
                  </a:cubicBezTo>
                  <a:close/>
                  <a:moveTo>
                    <a:pt x="187788" y="93894"/>
                  </a:moveTo>
                  <a:cubicBezTo>
                    <a:pt x="187788" y="82418"/>
                    <a:pt x="178399" y="73028"/>
                    <a:pt x="166923" y="73028"/>
                  </a:cubicBezTo>
                  <a:lnTo>
                    <a:pt x="62596" y="73028"/>
                  </a:lnTo>
                  <a:cubicBezTo>
                    <a:pt x="51120" y="73028"/>
                    <a:pt x="41731" y="82418"/>
                    <a:pt x="41731" y="93894"/>
                  </a:cubicBezTo>
                  <a:lnTo>
                    <a:pt x="41731" y="239951"/>
                  </a:lnTo>
                  <a:cubicBezTo>
                    <a:pt x="41731" y="251427"/>
                    <a:pt x="51120" y="260816"/>
                    <a:pt x="62596" y="260816"/>
                  </a:cubicBezTo>
                  <a:lnTo>
                    <a:pt x="166923" y="260816"/>
                  </a:lnTo>
                  <a:cubicBezTo>
                    <a:pt x="178399" y="260816"/>
                    <a:pt x="187788" y="251427"/>
                    <a:pt x="187788" y="239951"/>
                  </a:cubicBezTo>
                  <a:close/>
                  <a:moveTo>
                    <a:pt x="62596" y="219085"/>
                  </a:moveTo>
                  <a:lnTo>
                    <a:pt x="62596" y="239951"/>
                  </a:lnTo>
                  <a:lnTo>
                    <a:pt x="83461" y="239951"/>
                  </a:lnTo>
                  <a:lnTo>
                    <a:pt x="83461" y="219085"/>
                  </a:lnTo>
                  <a:close/>
                  <a:moveTo>
                    <a:pt x="104327" y="219085"/>
                  </a:moveTo>
                  <a:lnTo>
                    <a:pt x="104327" y="239951"/>
                  </a:lnTo>
                  <a:lnTo>
                    <a:pt x="166923" y="239951"/>
                  </a:lnTo>
                  <a:lnTo>
                    <a:pt x="166923" y="219085"/>
                  </a:lnTo>
                  <a:close/>
                  <a:moveTo>
                    <a:pt x="104327" y="177355"/>
                  </a:moveTo>
                  <a:lnTo>
                    <a:pt x="104327" y="198220"/>
                  </a:lnTo>
                  <a:lnTo>
                    <a:pt x="166923" y="198220"/>
                  </a:lnTo>
                  <a:lnTo>
                    <a:pt x="166923" y="177355"/>
                  </a:lnTo>
                  <a:close/>
                  <a:moveTo>
                    <a:pt x="62596" y="177355"/>
                  </a:moveTo>
                  <a:lnTo>
                    <a:pt x="62596" y="198220"/>
                  </a:lnTo>
                  <a:lnTo>
                    <a:pt x="83461" y="198220"/>
                  </a:lnTo>
                  <a:lnTo>
                    <a:pt x="83461" y="177355"/>
                  </a:lnTo>
                  <a:close/>
                  <a:moveTo>
                    <a:pt x="104327" y="135624"/>
                  </a:moveTo>
                  <a:lnTo>
                    <a:pt x="104327" y="156490"/>
                  </a:lnTo>
                  <a:lnTo>
                    <a:pt x="166923" y="156490"/>
                  </a:lnTo>
                  <a:lnTo>
                    <a:pt x="166923" y="135624"/>
                  </a:lnTo>
                  <a:close/>
                  <a:moveTo>
                    <a:pt x="62596" y="135624"/>
                  </a:moveTo>
                  <a:lnTo>
                    <a:pt x="62596" y="156490"/>
                  </a:lnTo>
                  <a:lnTo>
                    <a:pt x="83461" y="156490"/>
                  </a:lnTo>
                  <a:lnTo>
                    <a:pt x="83461" y="135624"/>
                  </a:lnTo>
                  <a:close/>
                  <a:moveTo>
                    <a:pt x="62596" y="93894"/>
                  </a:moveTo>
                  <a:lnTo>
                    <a:pt x="62596" y="114759"/>
                  </a:lnTo>
                  <a:lnTo>
                    <a:pt x="83461" y="114759"/>
                  </a:lnTo>
                  <a:lnTo>
                    <a:pt x="83461" y="93894"/>
                  </a:lnTo>
                  <a:close/>
                  <a:moveTo>
                    <a:pt x="104327" y="93894"/>
                  </a:moveTo>
                  <a:lnTo>
                    <a:pt x="104327" y="114759"/>
                  </a:lnTo>
                  <a:lnTo>
                    <a:pt x="166923" y="114759"/>
                  </a:lnTo>
                  <a:lnTo>
                    <a:pt x="166923" y="93894"/>
                  </a:lnTo>
                  <a:close/>
                </a:path>
              </a:pathLst>
            </a:custGeom>
            <a:solidFill>
              <a:srgbClr val="0070C0"/>
            </a:solidFill>
            <a:ln w="329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IN" sz="1300"/>
            </a:p>
          </p:txBody>
        </p: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116DECB-3DF0-BA89-A987-65124C2CE710}"/>
              </a:ext>
            </a:extLst>
          </p:cNvPr>
          <p:cNvCxnSpPr>
            <a:cxnSpLocks/>
          </p:cNvCxnSpPr>
          <p:nvPr/>
        </p:nvCxnSpPr>
        <p:spPr>
          <a:xfrm>
            <a:off x="18478919" y="5578830"/>
            <a:ext cx="539573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074248A-00C2-0FEA-44FF-A14CF229F7C0}"/>
              </a:ext>
            </a:extLst>
          </p:cNvPr>
          <p:cNvGrpSpPr/>
          <p:nvPr/>
        </p:nvGrpSpPr>
        <p:grpSpPr>
          <a:xfrm>
            <a:off x="18478919" y="6728784"/>
            <a:ext cx="5395736" cy="825867"/>
            <a:chOff x="18478918" y="7956862"/>
            <a:chExt cx="5395736" cy="825867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A3B40DF-6144-77A3-2EFA-DA941F695739}"/>
                </a:ext>
              </a:extLst>
            </p:cNvPr>
            <p:cNvSpPr>
              <a:spLocks/>
            </p:cNvSpPr>
            <p:nvPr/>
          </p:nvSpPr>
          <p:spPr>
            <a:xfrm>
              <a:off x="18478918" y="7956862"/>
              <a:ext cx="5395736" cy="8258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compute_fav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Computes “Focus, Alignment, and Value” (FAV) metrics by aggregating key collaboration/meeting signals into a single summary output (typically by person or HR group)</a:t>
              </a: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56BF32F-DBCB-CB3F-5370-E843054EB9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8" y="7956862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74836BA-D08B-95CE-C482-18CC298DFF39}"/>
              </a:ext>
            </a:extLst>
          </p:cNvPr>
          <p:cNvGrpSpPr/>
          <p:nvPr/>
        </p:nvGrpSpPr>
        <p:grpSpPr>
          <a:xfrm>
            <a:off x="18478919" y="8879319"/>
            <a:ext cx="5395736" cy="625812"/>
            <a:chOff x="18478919" y="8879319"/>
            <a:chExt cx="5395736" cy="625812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7AEEAE0-C2E2-DAE2-10A6-398A3359F0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9" y="8879319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CE3CFBF-43A0-5498-0DC1-7E38BED2C2FB}"/>
                </a:ext>
              </a:extLst>
            </p:cNvPr>
            <p:cNvSpPr>
              <a:spLocks/>
            </p:cNvSpPr>
            <p:nvPr/>
          </p:nvSpPr>
          <p:spPr>
            <a:xfrm>
              <a:off x="18478919" y="887931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identify_habit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Identifies habitual behavior over time for a metric using threshold/window rules, returning plot/data/summary.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F95994B-7F85-D019-576C-780AB1B9FF22}"/>
              </a:ext>
            </a:extLst>
          </p:cNvPr>
          <p:cNvGrpSpPr/>
          <p:nvPr/>
        </p:nvGrpSpPr>
        <p:grpSpPr>
          <a:xfrm>
            <a:off x="12468952" y="6971924"/>
            <a:ext cx="5395736" cy="652697"/>
            <a:chOff x="12468952" y="6971924"/>
            <a:chExt cx="5395736" cy="652697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33897C3-3139-DE8B-EE02-A2170F6694B8}"/>
                </a:ext>
              </a:extLst>
            </p:cNvPr>
            <p:cNvSpPr>
              <a:spLocks/>
            </p:cNvSpPr>
            <p:nvPr/>
          </p:nvSpPr>
          <p:spPr>
            <a:xfrm>
              <a:off x="12468952" y="699880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create_bubble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Creates a bubble plot (or summary table) comparing two metrics by HR group, with bubble size representing group size.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17AF44B-FFCC-FF75-1A3A-985C0D644095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2468952" y="6971924"/>
              <a:ext cx="320863" cy="320863"/>
            </a:xfrm>
            <a:custGeom>
              <a:avLst/>
              <a:gdLst>
                <a:gd name="connsiteX0" fmla="*/ 466725 w 781050"/>
                <a:gd name="connsiteY0" fmla="*/ 161925 h 781050"/>
                <a:gd name="connsiteX1" fmla="*/ 542925 w 781050"/>
                <a:gd name="connsiteY1" fmla="*/ 85725 h 781050"/>
                <a:gd name="connsiteX2" fmla="*/ 619125 w 781050"/>
                <a:gd name="connsiteY2" fmla="*/ 161925 h 781050"/>
                <a:gd name="connsiteX3" fmla="*/ 542925 w 781050"/>
                <a:gd name="connsiteY3" fmla="*/ 238125 h 781050"/>
                <a:gd name="connsiteX4" fmla="*/ 466725 w 781050"/>
                <a:gd name="connsiteY4" fmla="*/ 161925 h 781050"/>
                <a:gd name="connsiteX5" fmla="*/ 466725 w 781050"/>
                <a:gd name="connsiteY5" fmla="*/ 581025 h 781050"/>
                <a:gd name="connsiteX6" fmla="*/ 523875 w 781050"/>
                <a:gd name="connsiteY6" fmla="*/ 523875 h 781050"/>
                <a:gd name="connsiteX7" fmla="*/ 581025 w 781050"/>
                <a:gd name="connsiteY7" fmla="*/ 581025 h 781050"/>
                <a:gd name="connsiteX8" fmla="*/ 523875 w 781050"/>
                <a:gd name="connsiteY8" fmla="*/ 638175 h 781050"/>
                <a:gd name="connsiteX9" fmla="*/ 466725 w 781050"/>
                <a:gd name="connsiteY9" fmla="*/ 581025 h 781050"/>
                <a:gd name="connsiteX10" fmla="*/ 200025 w 781050"/>
                <a:gd name="connsiteY10" fmla="*/ 371475 h 781050"/>
                <a:gd name="connsiteX11" fmla="*/ 323850 w 781050"/>
                <a:gd name="connsiteY11" fmla="*/ 247650 h 781050"/>
                <a:gd name="connsiteX12" fmla="*/ 447675 w 781050"/>
                <a:gd name="connsiteY12" fmla="*/ 371475 h 781050"/>
                <a:gd name="connsiteX13" fmla="*/ 323850 w 781050"/>
                <a:gd name="connsiteY13" fmla="*/ 495300 h 781050"/>
                <a:gd name="connsiteX14" fmla="*/ 200025 w 781050"/>
                <a:gd name="connsiteY14" fmla="*/ 371475 h 781050"/>
                <a:gd name="connsiteX15" fmla="*/ 66675 w 781050"/>
                <a:gd name="connsiteY15" fmla="*/ 238125 h 781050"/>
                <a:gd name="connsiteX16" fmla="*/ 104775 w 781050"/>
                <a:gd name="connsiteY16" fmla="*/ 200025 h 781050"/>
                <a:gd name="connsiteX17" fmla="*/ 142875 w 781050"/>
                <a:gd name="connsiteY17" fmla="*/ 238125 h 781050"/>
                <a:gd name="connsiteX18" fmla="*/ 104775 w 781050"/>
                <a:gd name="connsiteY18" fmla="*/ 276225 h 781050"/>
                <a:gd name="connsiteX19" fmla="*/ 66675 w 781050"/>
                <a:gd name="connsiteY19" fmla="*/ 238125 h 781050"/>
                <a:gd name="connsiteX20" fmla="*/ 0 w 781050"/>
                <a:gd name="connsiteY20" fmla="*/ 781050 h 781050"/>
                <a:gd name="connsiteX21" fmla="*/ 0 w 781050"/>
                <a:gd name="connsiteY21" fmla="*/ 742950 h 781050"/>
                <a:gd name="connsiteX22" fmla="*/ 742950 w 781050"/>
                <a:gd name="connsiteY22" fmla="*/ 742950 h 781050"/>
                <a:gd name="connsiteX23" fmla="*/ 742950 w 781050"/>
                <a:gd name="connsiteY23" fmla="*/ 0 h 781050"/>
                <a:gd name="connsiteX24" fmla="*/ 781050 w 781050"/>
                <a:gd name="connsiteY24" fmla="*/ 0 h 781050"/>
                <a:gd name="connsiteX25" fmla="*/ 781050 w 781050"/>
                <a:gd name="connsiteY25" fmla="*/ 78105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81050" h="781050">
                  <a:moveTo>
                    <a:pt x="466725" y="161925"/>
                  </a:moveTo>
                  <a:cubicBezTo>
                    <a:pt x="466725" y="119841"/>
                    <a:pt x="500841" y="85725"/>
                    <a:pt x="542925" y="85725"/>
                  </a:cubicBezTo>
                  <a:cubicBezTo>
                    <a:pt x="585009" y="85725"/>
                    <a:pt x="619125" y="119841"/>
                    <a:pt x="619125" y="161925"/>
                  </a:cubicBezTo>
                  <a:cubicBezTo>
                    <a:pt x="619125" y="204009"/>
                    <a:pt x="585009" y="238125"/>
                    <a:pt x="542925" y="238125"/>
                  </a:cubicBezTo>
                  <a:cubicBezTo>
                    <a:pt x="500841" y="238125"/>
                    <a:pt x="466725" y="204009"/>
                    <a:pt x="466725" y="161925"/>
                  </a:cubicBezTo>
                  <a:close/>
                  <a:moveTo>
                    <a:pt x="466725" y="581025"/>
                  </a:moveTo>
                  <a:cubicBezTo>
                    <a:pt x="466725" y="549462"/>
                    <a:pt x="492312" y="523875"/>
                    <a:pt x="523875" y="523875"/>
                  </a:cubicBezTo>
                  <a:cubicBezTo>
                    <a:pt x="555438" y="523875"/>
                    <a:pt x="581025" y="549462"/>
                    <a:pt x="581025" y="581025"/>
                  </a:cubicBezTo>
                  <a:cubicBezTo>
                    <a:pt x="581025" y="612588"/>
                    <a:pt x="555438" y="638175"/>
                    <a:pt x="523875" y="638175"/>
                  </a:cubicBezTo>
                  <a:cubicBezTo>
                    <a:pt x="492312" y="638175"/>
                    <a:pt x="466725" y="612588"/>
                    <a:pt x="466725" y="581025"/>
                  </a:cubicBezTo>
                  <a:close/>
                  <a:moveTo>
                    <a:pt x="200025" y="371475"/>
                  </a:moveTo>
                  <a:cubicBezTo>
                    <a:pt x="200025" y="303088"/>
                    <a:pt x="255463" y="247650"/>
                    <a:pt x="323850" y="247650"/>
                  </a:cubicBezTo>
                  <a:cubicBezTo>
                    <a:pt x="392237" y="247650"/>
                    <a:pt x="447675" y="303088"/>
                    <a:pt x="447675" y="371475"/>
                  </a:cubicBezTo>
                  <a:cubicBezTo>
                    <a:pt x="447675" y="439862"/>
                    <a:pt x="392237" y="495300"/>
                    <a:pt x="323850" y="495300"/>
                  </a:cubicBezTo>
                  <a:cubicBezTo>
                    <a:pt x="255463" y="495300"/>
                    <a:pt x="200025" y="439862"/>
                    <a:pt x="200025" y="371475"/>
                  </a:cubicBezTo>
                  <a:close/>
                  <a:moveTo>
                    <a:pt x="66675" y="238125"/>
                  </a:moveTo>
                  <a:cubicBezTo>
                    <a:pt x="66675" y="217083"/>
                    <a:pt x="83733" y="200025"/>
                    <a:pt x="104775" y="200025"/>
                  </a:cubicBezTo>
                  <a:cubicBezTo>
                    <a:pt x="125817" y="200025"/>
                    <a:pt x="142875" y="217083"/>
                    <a:pt x="142875" y="238125"/>
                  </a:cubicBezTo>
                  <a:cubicBezTo>
                    <a:pt x="142875" y="259167"/>
                    <a:pt x="125817" y="276225"/>
                    <a:pt x="104775" y="276225"/>
                  </a:cubicBezTo>
                  <a:cubicBezTo>
                    <a:pt x="83733" y="276225"/>
                    <a:pt x="66675" y="259167"/>
                    <a:pt x="66675" y="238125"/>
                  </a:cubicBezTo>
                  <a:close/>
                  <a:moveTo>
                    <a:pt x="0" y="781050"/>
                  </a:moveTo>
                  <a:lnTo>
                    <a:pt x="0" y="742950"/>
                  </a:lnTo>
                  <a:lnTo>
                    <a:pt x="742950" y="742950"/>
                  </a:lnTo>
                  <a:lnTo>
                    <a:pt x="742950" y="0"/>
                  </a:lnTo>
                  <a:lnTo>
                    <a:pt x="781050" y="0"/>
                  </a:lnTo>
                  <a:lnTo>
                    <a:pt x="781050" y="781050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0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A58E789-8134-956A-4C1F-7655D7BF431E}"/>
              </a:ext>
            </a:extLst>
          </p:cNvPr>
          <p:cNvGrpSpPr/>
          <p:nvPr/>
        </p:nvGrpSpPr>
        <p:grpSpPr>
          <a:xfrm>
            <a:off x="12468952" y="7945891"/>
            <a:ext cx="5395736" cy="625812"/>
            <a:chOff x="12468952" y="7945891"/>
            <a:chExt cx="5395736" cy="625812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12821FA-19BC-9612-FAE3-33F4B07E54DD}"/>
                </a:ext>
              </a:extLst>
            </p:cNvPr>
            <p:cNvSpPr>
              <a:spLocks/>
            </p:cNvSpPr>
            <p:nvPr/>
          </p:nvSpPr>
          <p:spPr>
            <a:xfrm>
              <a:off x="12468952" y="7945891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create_trend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Produces a week-by-week heatmap-style trend view (or table) for a selected metric, optionally grouped by HR variable.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2DF1DC6-01E7-8B15-FBC3-59834AECB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68952" y="7945891"/>
              <a:ext cx="291694" cy="291694"/>
            </a:xfrm>
            <a:custGeom>
              <a:avLst/>
              <a:gdLst>
                <a:gd name="connsiteX0" fmla="*/ 828675 w 828675"/>
                <a:gd name="connsiteY0" fmla="*/ 828675 h 828675"/>
                <a:gd name="connsiteX1" fmla="*/ 0 w 828675"/>
                <a:gd name="connsiteY1" fmla="*/ 828675 h 828675"/>
                <a:gd name="connsiteX2" fmla="*/ 0 w 828675"/>
                <a:gd name="connsiteY2" fmla="*/ 0 h 828675"/>
                <a:gd name="connsiteX3" fmla="*/ 57150 w 828675"/>
                <a:gd name="connsiteY3" fmla="*/ 0 h 828675"/>
                <a:gd name="connsiteX4" fmla="*/ 57150 w 828675"/>
                <a:gd name="connsiteY4" fmla="*/ 771525 h 828675"/>
                <a:gd name="connsiteX5" fmla="*/ 828675 w 828675"/>
                <a:gd name="connsiteY5" fmla="*/ 771525 h 828675"/>
                <a:gd name="connsiteX6" fmla="*/ 477403 w 828675"/>
                <a:gd name="connsiteY6" fmla="*/ 431159 h 828675"/>
                <a:gd name="connsiteX7" fmla="*/ 550552 w 828675"/>
                <a:gd name="connsiteY7" fmla="*/ 518447 h 828675"/>
                <a:gd name="connsiteX8" fmla="*/ 610120 w 828675"/>
                <a:gd name="connsiteY8" fmla="*/ 399870 h 828675"/>
                <a:gd name="connsiteX9" fmla="*/ 703249 w 828675"/>
                <a:gd name="connsiteY9" fmla="*/ 281922 h 828675"/>
                <a:gd name="connsiteX10" fmla="*/ 773831 w 828675"/>
                <a:gd name="connsiteY10" fmla="*/ 157430 h 828675"/>
                <a:gd name="connsiteX11" fmla="*/ 657559 w 828675"/>
                <a:gd name="connsiteY11" fmla="*/ 247955 h 828675"/>
                <a:gd name="connsiteX12" fmla="*/ 560747 w 828675"/>
                <a:gd name="connsiteY12" fmla="*/ 370589 h 828675"/>
                <a:gd name="connsiteX13" fmla="*/ 509662 w 828675"/>
                <a:gd name="connsiteY13" fmla="*/ 382160 h 828675"/>
                <a:gd name="connsiteX14" fmla="*/ 449758 w 828675"/>
                <a:gd name="connsiteY14" fmla="*/ 317755 h 828675"/>
                <a:gd name="connsiteX15" fmla="*/ 432383 w 828675"/>
                <a:gd name="connsiteY15" fmla="*/ 240179 h 828675"/>
                <a:gd name="connsiteX16" fmla="*/ 311568 w 828675"/>
                <a:gd name="connsiteY16" fmla="*/ 321848 h 828675"/>
                <a:gd name="connsiteX17" fmla="*/ 219889 w 828675"/>
                <a:gd name="connsiteY17" fmla="*/ 439234 h 828675"/>
                <a:gd name="connsiteX18" fmla="*/ 156563 w 828675"/>
                <a:gd name="connsiteY18" fmla="*/ 460218 h 828675"/>
                <a:gd name="connsiteX19" fmla="*/ 209099 w 828675"/>
                <a:gd name="connsiteY19" fmla="*/ 587053 h 828675"/>
                <a:gd name="connsiteX20" fmla="*/ 268966 w 828675"/>
                <a:gd name="connsiteY20" fmla="*/ 468924 h 828675"/>
                <a:gd name="connsiteX21" fmla="*/ 352645 w 828675"/>
                <a:gd name="connsiteY21" fmla="*/ 361768 h 828675"/>
                <a:gd name="connsiteX22" fmla="*/ 411134 w 828675"/>
                <a:gd name="connsiteY22" fmla="*/ 36001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8675" h="828675">
                  <a:moveTo>
                    <a:pt x="828675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771525"/>
                  </a:lnTo>
                  <a:lnTo>
                    <a:pt x="828675" y="771525"/>
                  </a:lnTo>
                  <a:close/>
                  <a:moveTo>
                    <a:pt x="477403" y="431159"/>
                  </a:moveTo>
                  <a:cubicBezTo>
                    <a:pt x="469365" y="476738"/>
                    <a:pt x="504601" y="518447"/>
                    <a:pt x="550552" y="518447"/>
                  </a:cubicBezTo>
                  <a:cubicBezTo>
                    <a:pt x="611496" y="518447"/>
                    <a:pt x="646545" y="448721"/>
                    <a:pt x="610120" y="399870"/>
                  </a:cubicBezTo>
                  <a:lnTo>
                    <a:pt x="703249" y="281922"/>
                  </a:lnTo>
                  <a:cubicBezTo>
                    <a:pt x="775766" y="300117"/>
                    <a:pt x="826960" y="210670"/>
                    <a:pt x="773831" y="157430"/>
                  </a:cubicBezTo>
                  <a:cubicBezTo>
                    <a:pt x="712141" y="95666"/>
                    <a:pt x="613059" y="173987"/>
                    <a:pt x="657559" y="247955"/>
                  </a:cubicBezTo>
                  <a:lnTo>
                    <a:pt x="560747" y="370589"/>
                  </a:lnTo>
                  <a:cubicBezTo>
                    <a:pt x="542515" y="368059"/>
                    <a:pt x="524433" y="372375"/>
                    <a:pt x="509662" y="382160"/>
                  </a:cubicBezTo>
                  <a:lnTo>
                    <a:pt x="449758" y="317755"/>
                  </a:lnTo>
                  <a:cubicBezTo>
                    <a:pt x="459580" y="290445"/>
                    <a:pt x="452512" y="260382"/>
                    <a:pt x="432383" y="240179"/>
                  </a:cubicBezTo>
                  <a:cubicBezTo>
                    <a:pt x="374712" y="182396"/>
                    <a:pt x="279573" y="247658"/>
                    <a:pt x="311568" y="321848"/>
                  </a:cubicBezTo>
                  <a:lnTo>
                    <a:pt x="219889" y="439234"/>
                  </a:lnTo>
                  <a:cubicBezTo>
                    <a:pt x="196077" y="435736"/>
                    <a:pt x="172823" y="443959"/>
                    <a:pt x="156563" y="460218"/>
                  </a:cubicBezTo>
                  <a:cubicBezTo>
                    <a:pt x="109719" y="507062"/>
                    <a:pt x="143541" y="587053"/>
                    <a:pt x="209099" y="587053"/>
                  </a:cubicBezTo>
                  <a:cubicBezTo>
                    <a:pt x="269784" y="587053"/>
                    <a:pt x="304940" y="517849"/>
                    <a:pt x="268966" y="468924"/>
                  </a:cubicBezTo>
                  <a:lnTo>
                    <a:pt x="352645" y="361768"/>
                  </a:lnTo>
                  <a:cubicBezTo>
                    <a:pt x="371546" y="369247"/>
                    <a:pt x="392791" y="368539"/>
                    <a:pt x="411134" y="360019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>
                <a:spcAft>
                  <a:spcPts val="200"/>
                </a:spcAft>
              </a:pPr>
              <a:endParaRPr lang="en-US" sz="130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3DFFB62-B667-2D18-3860-4C0986751FA4}"/>
              </a:ext>
            </a:extLst>
          </p:cNvPr>
          <p:cNvGrpSpPr/>
          <p:nvPr/>
        </p:nvGrpSpPr>
        <p:grpSpPr>
          <a:xfrm>
            <a:off x="18478919" y="7904079"/>
            <a:ext cx="5395736" cy="625812"/>
            <a:chOff x="18478919" y="7904079"/>
            <a:chExt cx="5395736" cy="625812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78F5933-1613-FAC2-A642-19CD711A8C1C}"/>
                </a:ext>
              </a:extLst>
            </p:cNvPr>
            <p:cNvSpPr>
              <a:spLocks/>
            </p:cNvSpPr>
            <p:nvPr/>
          </p:nvSpPr>
          <p:spPr>
            <a:xfrm>
              <a:off x="18478919" y="790407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xicor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Calculates Chatterjee’s Xi rank correlation to quantify association between two variables (handles ties optionally).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081DDA9-9429-FCA8-D959-6A5D6E31FE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9" y="7904079"/>
              <a:ext cx="320863" cy="320601"/>
            </a:xfrm>
            <a:custGeom>
              <a:avLst/>
              <a:gdLst>
                <a:gd name="connsiteX0" fmla="*/ 189099 w 857953"/>
                <a:gd name="connsiteY0" fmla="*/ 147638 h 857250"/>
                <a:gd name="connsiteX1" fmla="*/ 189114 w 857953"/>
                <a:gd name="connsiteY1" fmla="*/ 170321 h 857250"/>
                <a:gd name="connsiteX2" fmla="*/ 189099 w 857953"/>
                <a:gd name="connsiteY2" fmla="*/ 170336 h 857250"/>
                <a:gd name="connsiteX3" fmla="*/ 189099 w 857953"/>
                <a:gd name="connsiteY3" fmla="*/ 170336 h 857250"/>
                <a:gd name="connsiteX4" fmla="*/ 168011 w 857953"/>
                <a:gd name="connsiteY4" fmla="*/ 171717 h 857250"/>
                <a:gd name="connsiteX5" fmla="*/ 166420 w 857953"/>
                <a:gd name="connsiteY5" fmla="*/ 170364 h 857250"/>
                <a:gd name="connsiteX6" fmla="*/ 166406 w 857953"/>
                <a:gd name="connsiteY6" fmla="*/ 147680 h 857250"/>
                <a:gd name="connsiteX7" fmla="*/ 166420 w 857953"/>
                <a:gd name="connsiteY7" fmla="*/ 147666 h 857250"/>
                <a:gd name="connsiteX8" fmla="*/ 166420 w 857953"/>
                <a:gd name="connsiteY8" fmla="*/ 147666 h 857250"/>
                <a:gd name="connsiteX9" fmla="*/ 166420 w 857953"/>
                <a:gd name="connsiteY9" fmla="*/ 147666 h 857250"/>
                <a:gd name="connsiteX10" fmla="*/ 187432 w 857953"/>
                <a:gd name="connsiteY10" fmla="*/ 146285 h 857250"/>
                <a:gd name="connsiteX11" fmla="*/ 189061 w 857953"/>
                <a:gd name="connsiteY11" fmla="*/ 147666 h 857250"/>
                <a:gd name="connsiteX12" fmla="*/ 293265 w 857953"/>
                <a:gd name="connsiteY12" fmla="*/ 208912 h 857250"/>
                <a:gd name="connsiteX13" fmla="*/ 294655 w 857953"/>
                <a:gd name="connsiteY13" fmla="*/ 229972 h 857250"/>
                <a:gd name="connsiteX14" fmla="*/ 293265 w 857953"/>
                <a:gd name="connsiteY14" fmla="*/ 231610 h 857250"/>
                <a:gd name="connsiteX15" fmla="*/ 270594 w 857953"/>
                <a:gd name="connsiteY15" fmla="*/ 231677 h 857250"/>
                <a:gd name="connsiteX16" fmla="*/ 269214 w 857953"/>
                <a:gd name="connsiteY16" fmla="*/ 210503 h 857250"/>
                <a:gd name="connsiteX17" fmla="*/ 270567 w 857953"/>
                <a:gd name="connsiteY17" fmla="*/ 208921 h 857250"/>
                <a:gd name="connsiteX18" fmla="*/ 293250 w 857953"/>
                <a:gd name="connsiteY18" fmla="*/ 208907 h 857250"/>
                <a:gd name="connsiteX19" fmla="*/ 293265 w 857953"/>
                <a:gd name="connsiteY19" fmla="*/ 208921 h 857250"/>
                <a:gd name="connsiteX20" fmla="*/ 248316 w 857953"/>
                <a:gd name="connsiteY20" fmla="*/ 327431 h 857250"/>
                <a:gd name="connsiteX21" fmla="*/ 248311 w 857953"/>
                <a:gd name="connsiteY21" fmla="*/ 350115 h 857250"/>
                <a:gd name="connsiteX22" fmla="*/ 225628 w 857953"/>
                <a:gd name="connsiteY22" fmla="*/ 350111 h 857250"/>
                <a:gd name="connsiteX23" fmla="*/ 220932 w 857953"/>
                <a:gd name="connsiteY23" fmla="*/ 338757 h 857250"/>
                <a:gd name="connsiteX24" fmla="*/ 224256 w 857953"/>
                <a:gd name="connsiteY24" fmla="*/ 329041 h 857250"/>
                <a:gd name="connsiteX25" fmla="*/ 225637 w 857953"/>
                <a:gd name="connsiteY25" fmla="*/ 327403 h 857250"/>
                <a:gd name="connsiteX26" fmla="*/ 248335 w 857953"/>
                <a:gd name="connsiteY26" fmla="*/ 327403 h 857250"/>
                <a:gd name="connsiteX27" fmla="*/ 248335 w 857953"/>
                <a:gd name="connsiteY27" fmla="*/ 327403 h 857250"/>
                <a:gd name="connsiteX28" fmla="*/ 342261 w 857953"/>
                <a:gd name="connsiteY28" fmla="*/ 327431 h 857250"/>
                <a:gd name="connsiteX29" fmla="*/ 342105 w 857953"/>
                <a:gd name="connsiteY29" fmla="*/ 350048 h 857250"/>
                <a:gd name="connsiteX30" fmla="*/ 319489 w 857953"/>
                <a:gd name="connsiteY30" fmla="*/ 349891 h 857250"/>
                <a:gd name="connsiteX31" fmla="*/ 319645 w 857953"/>
                <a:gd name="connsiteY31" fmla="*/ 327275 h 857250"/>
                <a:gd name="connsiteX32" fmla="*/ 330936 w 857953"/>
                <a:gd name="connsiteY32" fmla="*/ 322669 h 857250"/>
                <a:gd name="connsiteX33" fmla="*/ 342261 w 857953"/>
                <a:gd name="connsiteY33" fmla="*/ 327431 h 857250"/>
                <a:gd name="connsiteX34" fmla="*/ 342261 w 857953"/>
                <a:gd name="connsiteY34" fmla="*/ 327431 h 857250"/>
                <a:gd name="connsiteX35" fmla="*/ 372922 w 857953"/>
                <a:gd name="connsiteY35" fmla="*/ 245707 h 857250"/>
                <a:gd name="connsiteX36" fmla="*/ 372937 w 857953"/>
                <a:gd name="connsiteY36" fmla="*/ 268418 h 857250"/>
                <a:gd name="connsiteX37" fmla="*/ 350227 w 857953"/>
                <a:gd name="connsiteY37" fmla="*/ 268434 h 857250"/>
                <a:gd name="connsiteX38" fmla="*/ 350211 w 857953"/>
                <a:gd name="connsiteY38" fmla="*/ 245722 h 857250"/>
                <a:gd name="connsiteX39" fmla="*/ 361578 w 857953"/>
                <a:gd name="connsiteY39" fmla="*/ 241011 h 857250"/>
                <a:gd name="connsiteX40" fmla="*/ 372922 w 857953"/>
                <a:gd name="connsiteY40" fmla="*/ 245707 h 857250"/>
                <a:gd name="connsiteX41" fmla="*/ 76771 w 857953"/>
                <a:gd name="connsiteY41" fmla="*/ 754275 h 857250"/>
                <a:gd name="connsiteX42" fmla="*/ 76780 w 857953"/>
                <a:gd name="connsiteY42" fmla="*/ 776973 h 857250"/>
                <a:gd name="connsiteX43" fmla="*/ 76771 w 857953"/>
                <a:gd name="connsiteY43" fmla="*/ 776983 h 857250"/>
                <a:gd name="connsiteX44" fmla="*/ 76771 w 857953"/>
                <a:gd name="connsiteY44" fmla="*/ 776983 h 857250"/>
                <a:gd name="connsiteX45" fmla="*/ 54060 w 857953"/>
                <a:gd name="connsiteY45" fmla="*/ 777042 h 857250"/>
                <a:gd name="connsiteX46" fmla="*/ 54001 w 857953"/>
                <a:gd name="connsiteY46" fmla="*/ 754331 h 857250"/>
                <a:gd name="connsiteX47" fmla="*/ 75171 w 857953"/>
                <a:gd name="connsiteY47" fmla="*/ 752923 h 857250"/>
                <a:gd name="connsiteX48" fmla="*/ 76800 w 857953"/>
                <a:gd name="connsiteY48" fmla="*/ 754304 h 857250"/>
                <a:gd name="connsiteX49" fmla="*/ 111499 w 857953"/>
                <a:gd name="connsiteY49" fmla="*/ 684838 h 857250"/>
                <a:gd name="connsiteX50" fmla="*/ 111476 w 857953"/>
                <a:gd name="connsiteY50" fmla="*/ 707549 h 857250"/>
                <a:gd name="connsiteX51" fmla="*/ 100145 w 857953"/>
                <a:gd name="connsiteY51" fmla="*/ 712241 h 857250"/>
                <a:gd name="connsiteX52" fmla="*/ 90382 w 857953"/>
                <a:gd name="connsiteY52" fmla="*/ 708889 h 857250"/>
                <a:gd name="connsiteX53" fmla="*/ 88791 w 857953"/>
                <a:gd name="connsiteY53" fmla="*/ 707536 h 857250"/>
                <a:gd name="connsiteX54" fmla="*/ 88814 w 857953"/>
                <a:gd name="connsiteY54" fmla="*/ 684825 h 857250"/>
                <a:gd name="connsiteX55" fmla="*/ 100145 w 857953"/>
                <a:gd name="connsiteY55" fmla="*/ 680133 h 857250"/>
                <a:gd name="connsiteX56" fmla="*/ 109908 w 857953"/>
                <a:gd name="connsiteY56" fmla="*/ 683485 h 857250"/>
                <a:gd name="connsiteX57" fmla="*/ 111499 w 857953"/>
                <a:gd name="connsiteY57" fmla="*/ 684838 h 857250"/>
                <a:gd name="connsiteX58" fmla="*/ 111499 w 857953"/>
                <a:gd name="connsiteY58" fmla="*/ 592931 h 857250"/>
                <a:gd name="connsiteX59" fmla="*/ 111634 w 857953"/>
                <a:gd name="connsiteY59" fmla="*/ 615602 h 857250"/>
                <a:gd name="connsiteX60" fmla="*/ 90382 w 857953"/>
                <a:gd name="connsiteY60" fmla="*/ 616982 h 857250"/>
                <a:gd name="connsiteX61" fmla="*/ 88791 w 857953"/>
                <a:gd name="connsiteY61" fmla="*/ 615629 h 857250"/>
                <a:gd name="connsiteX62" fmla="*/ 88796 w 857953"/>
                <a:gd name="connsiteY62" fmla="*/ 592926 h 857250"/>
                <a:gd name="connsiteX63" fmla="*/ 111499 w 857953"/>
                <a:gd name="connsiteY63" fmla="*/ 592931 h 857250"/>
                <a:gd name="connsiteX64" fmla="*/ 150294 w 857953"/>
                <a:gd name="connsiteY64" fmla="*/ 488766 h 857250"/>
                <a:gd name="connsiteX65" fmla="*/ 150309 w 857953"/>
                <a:gd name="connsiteY65" fmla="*/ 511478 h 857250"/>
                <a:gd name="connsiteX66" fmla="*/ 127596 w 857953"/>
                <a:gd name="connsiteY66" fmla="*/ 511493 h 857250"/>
                <a:gd name="connsiteX67" fmla="*/ 127596 w 857953"/>
                <a:gd name="connsiteY67" fmla="*/ 511493 h 857250"/>
                <a:gd name="connsiteX68" fmla="*/ 127596 w 857953"/>
                <a:gd name="connsiteY68" fmla="*/ 511493 h 857250"/>
                <a:gd name="connsiteX69" fmla="*/ 127534 w 857953"/>
                <a:gd name="connsiteY69" fmla="*/ 488849 h 857250"/>
                <a:gd name="connsiteX70" fmla="*/ 148666 w 857953"/>
                <a:gd name="connsiteY70" fmla="*/ 487461 h 857250"/>
                <a:gd name="connsiteX71" fmla="*/ 150294 w 857953"/>
                <a:gd name="connsiteY71" fmla="*/ 488842 h 857250"/>
                <a:gd name="connsiteX72" fmla="*/ 225866 w 857953"/>
                <a:gd name="connsiteY72" fmla="*/ 566376 h 857250"/>
                <a:gd name="connsiteX73" fmla="*/ 227247 w 857953"/>
                <a:gd name="connsiteY73" fmla="*/ 587445 h 857250"/>
                <a:gd name="connsiteX74" fmla="*/ 225866 w 857953"/>
                <a:gd name="connsiteY74" fmla="*/ 589074 h 857250"/>
                <a:gd name="connsiteX75" fmla="*/ 203195 w 857953"/>
                <a:gd name="connsiteY75" fmla="*/ 589209 h 857250"/>
                <a:gd name="connsiteX76" fmla="*/ 201815 w 857953"/>
                <a:gd name="connsiteY76" fmla="*/ 567957 h 857250"/>
                <a:gd name="connsiteX77" fmla="*/ 203168 w 857953"/>
                <a:gd name="connsiteY77" fmla="*/ 566376 h 857250"/>
                <a:gd name="connsiteX78" fmla="*/ 225851 w 857953"/>
                <a:gd name="connsiteY78" fmla="*/ 566361 h 857250"/>
                <a:gd name="connsiteX79" fmla="*/ 225866 w 857953"/>
                <a:gd name="connsiteY79" fmla="*/ 566376 h 857250"/>
                <a:gd name="connsiteX80" fmla="*/ 366769 w 857953"/>
                <a:gd name="connsiteY80" fmla="*/ 535762 h 857250"/>
                <a:gd name="connsiteX81" fmla="*/ 366998 w 857953"/>
                <a:gd name="connsiteY81" fmla="*/ 558432 h 857250"/>
                <a:gd name="connsiteX82" fmla="*/ 344328 w 857953"/>
                <a:gd name="connsiteY82" fmla="*/ 558660 h 857250"/>
                <a:gd name="connsiteX83" fmla="*/ 344100 w 857953"/>
                <a:gd name="connsiteY83" fmla="*/ 558432 h 857250"/>
                <a:gd name="connsiteX84" fmla="*/ 344100 w 857953"/>
                <a:gd name="connsiteY84" fmla="*/ 558432 h 857250"/>
                <a:gd name="connsiteX85" fmla="*/ 344100 w 857953"/>
                <a:gd name="connsiteY85" fmla="*/ 558432 h 857250"/>
                <a:gd name="connsiteX86" fmla="*/ 344123 w 857953"/>
                <a:gd name="connsiteY86" fmla="*/ 535757 h 857250"/>
                <a:gd name="connsiteX87" fmla="*/ 366798 w 857953"/>
                <a:gd name="connsiteY87" fmla="*/ 535781 h 857250"/>
                <a:gd name="connsiteX88" fmla="*/ 366798 w 857953"/>
                <a:gd name="connsiteY88" fmla="*/ 535781 h 857250"/>
                <a:gd name="connsiteX89" fmla="*/ 297332 w 857953"/>
                <a:gd name="connsiteY89" fmla="*/ 519427 h 857250"/>
                <a:gd name="connsiteX90" fmla="*/ 298713 w 857953"/>
                <a:gd name="connsiteY90" fmla="*/ 540515 h 857250"/>
                <a:gd name="connsiteX91" fmla="*/ 297351 w 857953"/>
                <a:gd name="connsiteY91" fmla="*/ 542096 h 857250"/>
                <a:gd name="connsiteX92" fmla="*/ 274686 w 857953"/>
                <a:gd name="connsiteY92" fmla="*/ 542629 h 857250"/>
                <a:gd name="connsiteX93" fmla="*/ 274155 w 857953"/>
                <a:gd name="connsiteY93" fmla="*/ 519964 h 857250"/>
                <a:gd name="connsiteX94" fmla="*/ 274672 w 857953"/>
                <a:gd name="connsiteY94" fmla="*/ 519446 h 857250"/>
                <a:gd name="connsiteX95" fmla="*/ 274672 w 857953"/>
                <a:gd name="connsiteY95" fmla="*/ 519446 h 857250"/>
                <a:gd name="connsiteX96" fmla="*/ 297275 w 857953"/>
                <a:gd name="connsiteY96" fmla="*/ 519398 h 857250"/>
                <a:gd name="connsiteX97" fmla="*/ 297322 w 857953"/>
                <a:gd name="connsiteY97" fmla="*/ 519446 h 857250"/>
                <a:gd name="connsiteX98" fmla="*/ 297322 w 857953"/>
                <a:gd name="connsiteY98" fmla="*/ 519446 h 857250"/>
                <a:gd name="connsiteX99" fmla="*/ 505663 w 857953"/>
                <a:gd name="connsiteY99" fmla="*/ 490852 h 857250"/>
                <a:gd name="connsiteX100" fmla="*/ 505784 w 857953"/>
                <a:gd name="connsiteY100" fmla="*/ 513496 h 857250"/>
                <a:gd name="connsiteX101" fmla="*/ 484622 w 857953"/>
                <a:gd name="connsiteY101" fmla="*/ 514912 h 857250"/>
                <a:gd name="connsiteX102" fmla="*/ 482984 w 857953"/>
                <a:gd name="connsiteY102" fmla="*/ 513521 h 857250"/>
                <a:gd name="connsiteX103" fmla="*/ 482936 w 857953"/>
                <a:gd name="connsiteY103" fmla="*/ 490919 h 857250"/>
                <a:gd name="connsiteX104" fmla="*/ 482984 w 857953"/>
                <a:gd name="connsiteY104" fmla="*/ 490871 h 857250"/>
                <a:gd name="connsiteX105" fmla="*/ 482984 w 857953"/>
                <a:gd name="connsiteY105" fmla="*/ 490823 h 857250"/>
                <a:gd name="connsiteX106" fmla="*/ 505586 w 857953"/>
                <a:gd name="connsiteY106" fmla="*/ 490776 h 857250"/>
                <a:gd name="connsiteX107" fmla="*/ 505634 w 857953"/>
                <a:gd name="connsiteY107" fmla="*/ 490823 h 857250"/>
                <a:gd name="connsiteX108" fmla="*/ 505634 w 857953"/>
                <a:gd name="connsiteY108" fmla="*/ 490823 h 857250"/>
                <a:gd name="connsiteX109" fmla="*/ 585339 w 857953"/>
                <a:gd name="connsiteY109" fmla="*/ 468354 h 857250"/>
                <a:gd name="connsiteX110" fmla="*/ 585430 w 857953"/>
                <a:gd name="connsiteY110" fmla="*/ 491092 h 857250"/>
                <a:gd name="connsiteX111" fmla="*/ 562692 w 857953"/>
                <a:gd name="connsiteY111" fmla="*/ 491181 h 857250"/>
                <a:gd name="connsiteX112" fmla="*/ 561251 w 857953"/>
                <a:gd name="connsiteY112" fmla="*/ 469992 h 857250"/>
                <a:gd name="connsiteX113" fmla="*/ 562641 w 857953"/>
                <a:gd name="connsiteY113" fmla="*/ 468354 h 857250"/>
                <a:gd name="connsiteX114" fmla="*/ 583749 w 857953"/>
                <a:gd name="connsiteY114" fmla="*/ 467001 h 857250"/>
                <a:gd name="connsiteX115" fmla="*/ 585339 w 857953"/>
                <a:gd name="connsiteY115" fmla="*/ 468354 h 857250"/>
                <a:gd name="connsiteX116" fmla="*/ 701754 w 857953"/>
                <a:gd name="connsiteY116" fmla="*/ 161973 h 857250"/>
                <a:gd name="connsiteX117" fmla="*/ 701768 w 857953"/>
                <a:gd name="connsiteY117" fmla="*/ 184656 h 857250"/>
                <a:gd name="connsiteX118" fmla="*/ 701754 w 857953"/>
                <a:gd name="connsiteY118" fmla="*/ 184671 h 857250"/>
                <a:gd name="connsiteX119" fmla="*/ 701754 w 857953"/>
                <a:gd name="connsiteY119" fmla="*/ 184671 h 857250"/>
                <a:gd name="connsiteX120" fmla="*/ 679057 w 857953"/>
                <a:gd name="connsiteY120" fmla="*/ 184722 h 857250"/>
                <a:gd name="connsiteX121" fmla="*/ 679004 w 857953"/>
                <a:gd name="connsiteY121" fmla="*/ 162025 h 857250"/>
                <a:gd name="connsiteX122" fmla="*/ 700144 w 857953"/>
                <a:gd name="connsiteY122" fmla="*/ 160611 h 857250"/>
                <a:gd name="connsiteX123" fmla="*/ 701773 w 857953"/>
                <a:gd name="connsiteY123" fmla="*/ 162001 h 857250"/>
                <a:gd name="connsiteX124" fmla="*/ 683352 w 857953"/>
                <a:gd name="connsiteY124" fmla="*/ 266157 h 857250"/>
                <a:gd name="connsiteX125" fmla="*/ 683418 w 857953"/>
                <a:gd name="connsiteY125" fmla="*/ 288869 h 857250"/>
                <a:gd name="connsiteX126" fmla="*/ 660708 w 857953"/>
                <a:gd name="connsiteY126" fmla="*/ 288935 h 857250"/>
                <a:gd name="connsiteX127" fmla="*/ 659291 w 857953"/>
                <a:gd name="connsiteY127" fmla="*/ 267767 h 857250"/>
                <a:gd name="connsiteX128" fmla="*/ 660672 w 857953"/>
                <a:gd name="connsiteY128" fmla="*/ 266138 h 857250"/>
                <a:gd name="connsiteX129" fmla="*/ 683370 w 857953"/>
                <a:gd name="connsiteY129" fmla="*/ 266129 h 857250"/>
                <a:gd name="connsiteX130" fmla="*/ 683380 w 857953"/>
                <a:gd name="connsiteY130" fmla="*/ 266138 h 857250"/>
                <a:gd name="connsiteX131" fmla="*/ 683380 w 857953"/>
                <a:gd name="connsiteY131" fmla="*/ 266138 h 857250"/>
                <a:gd name="connsiteX132" fmla="*/ 607809 w 857953"/>
                <a:gd name="connsiteY132" fmla="*/ 223237 h 857250"/>
                <a:gd name="connsiteX133" fmla="*/ 607824 w 857953"/>
                <a:gd name="connsiteY133" fmla="*/ 245949 h 857250"/>
                <a:gd name="connsiteX134" fmla="*/ 585114 w 857953"/>
                <a:gd name="connsiteY134" fmla="*/ 245964 h 857250"/>
                <a:gd name="connsiteX135" fmla="*/ 585097 w 857953"/>
                <a:gd name="connsiteY135" fmla="*/ 223253 h 857250"/>
                <a:gd name="connsiteX136" fmla="*/ 596455 w 857953"/>
                <a:gd name="connsiteY136" fmla="*/ 218542 h 857250"/>
                <a:gd name="connsiteX137" fmla="*/ 607809 w 857953"/>
                <a:gd name="connsiteY137" fmla="*/ 223237 h 857250"/>
                <a:gd name="connsiteX138" fmla="*/ 607809 w 857953"/>
                <a:gd name="connsiteY138" fmla="*/ 313115 h 857250"/>
                <a:gd name="connsiteX139" fmla="*/ 607800 w 857953"/>
                <a:gd name="connsiteY139" fmla="*/ 335813 h 857250"/>
                <a:gd name="connsiteX140" fmla="*/ 585102 w 857953"/>
                <a:gd name="connsiteY140" fmla="*/ 335804 h 857250"/>
                <a:gd name="connsiteX141" fmla="*/ 585112 w 857953"/>
                <a:gd name="connsiteY141" fmla="*/ 313107 h 857250"/>
                <a:gd name="connsiteX142" fmla="*/ 596455 w 857953"/>
                <a:gd name="connsiteY142" fmla="*/ 308410 h 857250"/>
                <a:gd name="connsiteX143" fmla="*/ 607809 w 857953"/>
                <a:gd name="connsiteY143" fmla="*/ 313115 h 857250"/>
                <a:gd name="connsiteX144" fmla="*/ 564946 w 857953"/>
                <a:gd name="connsiteY144" fmla="*/ 368303 h 857250"/>
                <a:gd name="connsiteX145" fmla="*/ 564922 w 857953"/>
                <a:gd name="connsiteY145" fmla="*/ 390977 h 857250"/>
                <a:gd name="connsiteX146" fmla="*/ 542248 w 857953"/>
                <a:gd name="connsiteY146" fmla="*/ 390954 h 857250"/>
                <a:gd name="connsiteX147" fmla="*/ 542248 w 857953"/>
                <a:gd name="connsiteY147" fmla="*/ 390954 h 857250"/>
                <a:gd name="connsiteX148" fmla="*/ 541767 w 857953"/>
                <a:gd name="connsiteY148" fmla="*/ 368275 h 857250"/>
                <a:gd name="connsiteX149" fmla="*/ 564446 w 857953"/>
                <a:gd name="connsiteY149" fmla="*/ 367794 h 857250"/>
                <a:gd name="connsiteX150" fmla="*/ 564927 w 857953"/>
                <a:gd name="connsiteY150" fmla="*/ 368275 h 857250"/>
                <a:gd name="connsiteX151" fmla="*/ 564927 w 857953"/>
                <a:gd name="connsiteY151" fmla="*/ 368275 h 857250"/>
                <a:gd name="connsiteX152" fmla="*/ 564927 w 857953"/>
                <a:gd name="connsiteY152" fmla="*/ 368275 h 857250"/>
                <a:gd name="connsiteX153" fmla="*/ 505710 w 857953"/>
                <a:gd name="connsiteY153" fmla="*/ 353959 h 857250"/>
                <a:gd name="connsiteX154" fmla="*/ 507063 w 857953"/>
                <a:gd name="connsiteY154" fmla="*/ 375075 h 857250"/>
                <a:gd name="connsiteX155" fmla="*/ 505710 w 857953"/>
                <a:gd name="connsiteY155" fmla="*/ 376666 h 857250"/>
                <a:gd name="connsiteX156" fmla="*/ 483007 w 857953"/>
                <a:gd name="connsiteY156" fmla="*/ 376661 h 857250"/>
                <a:gd name="connsiteX157" fmla="*/ 483012 w 857953"/>
                <a:gd name="connsiteY157" fmla="*/ 353959 h 857250"/>
                <a:gd name="connsiteX158" fmla="*/ 483012 w 857953"/>
                <a:gd name="connsiteY158" fmla="*/ 353959 h 857250"/>
                <a:gd name="connsiteX159" fmla="*/ 505602 w 857953"/>
                <a:gd name="connsiteY159" fmla="*/ 353879 h 857250"/>
                <a:gd name="connsiteX160" fmla="*/ 505682 w 857953"/>
                <a:gd name="connsiteY160" fmla="*/ 353959 h 857250"/>
                <a:gd name="connsiteX161" fmla="*/ 552688 w 857953"/>
                <a:gd name="connsiteY161" fmla="*/ 309029 h 857250"/>
                <a:gd name="connsiteX162" fmla="*/ 552702 w 857953"/>
                <a:gd name="connsiteY162" fmla="*/ 331713 h 857250"/>
                <a:gd name="connsiteX163" fmla="*/ 552688 w 857953"/>
                <a:gd name="connsiteY163" fmla="*/ 331727 h 857250"/>
                <a:gd name="connsiteX164" fmla="*/ 552688 w 857953"/>
                <a:gd name="connsiteY164" fmla="*/ 331727 h 857250"/>
                <a:gd name="connsiteX165" fmla="*/ 552688 w 857953"/>
                <a:gd name="connsiteY165" fmla="*/ 331727 h 857250"/>
                <a:gd name="connsiteX166" fmla="*/ 531675 w 857953"/>
                <a:gd name="connsiteY166" fmla="*/ 333108 h 857250"/>
                <a:gd name="connsiteX167" fmla="*/ 530037 w 857953"/>
                <a:gd name="connsiteY167" fmla="*/ 331727 h 857250"/>
                <a:gd name="connsiteX168" fmla="*/ 528685 w 857953"/>
                <a:gd name="connsiteY168" fmla="*/ 310620 h 857250"/>
                <a:gd name="connsiteX169" fmla="*/ 530037 w 857953"/>
                <a:gd name="connsiteY169" fmla="*/ 309020 h 857250"/>
                <a:gd name="connsiteX170" fmla="*/ 552734 w 857953"/>
                <a:gd name="connsiteY170" fmla="*/ 309020 h 857250"/>
                <a:gd name="connsiteX171" fmla="*/ 552735 w 857953"/>
                <a:gd name="connsiteY171" fmla="*/ 309020 h 857250"/>
                <a:gd name="connsiteX172" fmla="*/ 534304 w 857953"/>
                <a:gd name="connsiteY172" fmla="*/ 247755 h 857250"/>
                <a:gd name="connsiteX173" fmla="*/ 534328 w 857953"/>
                <a:gd name="connsiteY173" fmla="*/ 270429 h 857250"/>
                <a:gd name="connsiteX174" fmla="*/ 511654 w 857953"/>
                <a:gd name="connsiteY174" fmla="*/ 270453 h 857250"/>
                <a:gd name="connsiteX175" fmla="*/ 511606 w 857953"/>
                <a:gd name="connsiteY175" fmla="*/ 270453 h 857250"/>
                <a:gd name="connsiteX176" fmla="*/ 511559 w 857953"/>
                <a:gd name="connsiteY176" fmla="*/ 247850 h 857250"/>
                <a:gd name="connsiteX177" fmla="*/ 511606 w 857953"/>
                <a:gd name="connsiteY177" fmla="*/ 247802 h 857250"/>
                <a:gd name="connsiteX178" fmla="*/ 511606 w 857953"/>
                <a:gd name="connsiteY178" fmla="*/ 247802 h 857250"/>
                <a:gd name="connsiteX179" fmla="*/ 532695 w 857953"/>
                <a:gd name="connsiteY179" fmla="*/ 246431 h 857250"/>
                <a:gd name="connsiteX180" fmla="*/ 534276 w 857953"/>
                <a:gd name="connsiteY180" fmla="*/ 247783 h 857250"/>
                <a:gd name="connsiteX181" fmla="*/ 503672 w 857953"/>
                <a:gd name="connsiteY181" fmla="*/ 292684 h 857250"/>
                <a:gd name="connsiteX182" fmla="*/ 503701 w 857953"/>
                <a:gd name="connsiteY182" fmla="*/ 315287 h 857250"/>
                <a:gd name="connsiteX183" fmla="*/ 503672 w 857953"/>
                <a:gd name="connsiteY183" fmla="*/ 315316 h 857250"/>
                <a:gd name="connsiteX184" fmla="*/ 503605 w 857953"/>
                <a:gd name="connsiteY184" fmla="*/ 315382 h 857250"/>
                <a:gd name="connsiteX185" fmla="*/ 480988 w 857953"/>
                <a:gd name="connsiteY185" fmla="*/ 315416 h 857250"/>
                <a:gd name="connsiteX186" fmla="*/ 480955 w 857953"/>
                <a:gd name="connsiteY186" fmla="*/ 315382 h 857250"/>
                <a:gd name="connsiteX187" fmla="*/ 480955 w 857953"/>
                <a:gd name="connsiteY187" fmla="*/ 315382 h 857250"/>
                <a:gd name="connsiteX188" fmla="*/ 480955 w 857953"/>
                <a:gd name="connsiteY188" fmla="*/ 315382 h 857250"/>
                <a:gd name="connsiteX189" fmla="*/ 479574 w 857953"/>
                <a:gd name="connsiteY189" fmla="*/ 294370 h 857250"/>
                <a:gd name="connsiteX190" fmla="*/ 480955 w 857953"/>
                <a:gd name="connsiteY190" fmla="*/ 292732 h 857250"/>
                <a:gd name="connsiteX191" fmla="*/ 503653 w 857953"/>
                <a:gd name="connsiteY191" fmla="*/ 292732 h 857250"/>
                <a:gd name="connsiteX192" fmla="*/ 76771 w 857953"/>
                <a:gd name="connsiteY192" fmla="*/ 114995 h 857250"/>
                <a:gd name="connsiteX193" fmla="*/ 76757 w 857953"/>
                <a:gd name="connsiteY193" fmla="*/ 137679 h 857250"/>
                <a:gd name="connsiteX194" fmla="*/ 54072 w 857953"/>
                <a:gd name="connsiteY194" fmla="*/ 137665 h 857250"/>
                <a:gd name="connsiteX195" fmla="*/ 54087 w 857953"/>
                <a:gd name="connsiteY195" fmla="*/ 114981 h 857250"/>
                <a:gd name="connsiteX196" fmla="*/ 65427 w 857953"/>
                <a:gd name="connsiteY196" fmla="*/ 110290 h 857250"/>
                <a:gd name="connsiteX197" fmla="*/ 76771 w 857953"/>
                <a:gd name="connsiteY197" fmla="*/ 114995 h 857250"/>
                <a:gd name="connsiteX198" fmla="*/ 414966 w 857953"/>
                <a:gd name="connsiteY198" fmla="*/ 12992 h 857250"/>
                <a:gd name="connsiteX199" fmla="*/ 414966 w 857953"/>
                <a:gd name="connsiteY199" fmla="*/ 414614 h 857250"/>
                <a:gd name="connsiteX200" fmla="*/ 13344 w 857953"/>
                <a:gd name="connsiteY200" fmla="*/ 414614 h 857250"/>
                <a:gd name="connsiteX201" fmla="*/ 5 w 857953"/>
                <a:gd name="connsiteY201" fmla="*/ 427250 h 857250"/>
                <a:gd name="connsiteX202" fmla="*/ 12640 w 857953"/>
                <a:gd name="connsiteY202" fmla="*/ 440588 h 857250"/>
                <a:gd name="connsiteX203" fmla="*/ 13344 w 857953"/>
                <a:gd name="connsiteY203" fmla="*/ 440588 h 857250"/>
                <a:gd name="connsiteX204" fmla="*/ 414966 w 857953"/>
                <a:gd name="connsiteY204" fmla="*/ 440588 h 857250"/>
                <a:gd name="connsiteX205" fmla="*/ 414966 w 857953"/>
                <a:gd name="connsiteY205" fmla="*/ 844258 h 857250"/>
                <a:gd name="connsiteX206" fmla="*/ 427958 w 857953"/>
                <a:gd name="connsiteY206" fmla="*/ 857250 h 857250"/>
                <a:gd name="connsiteX207" fmla="*/ 440950 w 857953"/>
                <a:gd name="connsiteY207" fmla="*/ 844258 h 857250"/>
                <a:gd name="connsiteX208" fmla="*/ 440950 w 857953"/>
                <a:gd name="connsiteY208" fmla="*/ 440588 h 857250"/>
                <a:gd name="connsiteX209" fmla="*/ 844610 w 857953"/>
                <a:gd name="connsiteY209" fmla="*/ 440588 h 857250"/>
                <a:gd name="connsiteX210" fmla="*/ 857949 w 857953"/>
                <a:gd name="connsiteY210" fmla="*/ 427953 h 857250"/>
                <a:gd name="connsiteX211" fmla="*/ 845314 w 857953"/>
                <a:gd name="connsiteY211" fmla="*/ 414614 h 857250"/>
                <a:gd name="connsiteX212" fmla="*/ 844610 w 857953"/>
                <a:gd name="connsiteY212" fmla="*/ 414614 h 857250"/>
                <a:gd name="connsiteX213" fmla="*/ 440950 w 857953"/>
                <a:gd name="connsiteY213" fmla="*/ 414614 h 857250"/>
                <a:gd name="connsiteX214" fmla="*/ 440950 w 857953"/>
                <a:gd name="connsiteY214" fmla="*/ 12992 h 857250"/>
                <a:gd name="connsiteX215" fmla="*/ 427958 w 857953"/>
                <a:gd name="connsiteY215" fmla="*/ 0 h 857250"/>
                <a:gd name="connsiteX216" fmla="*/ 414966 w 857953"/>
                <a:gd name="connsiteY216" fmla="*/ 12992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</a:cxnLst>
              <a:rect l="l" t="t" r="r" b="b"/>
              <a:pathLst>
                <a:path w="857953" h="857250">
                  <a:moveTo>
                    <a:pt x="189099" y="147638"/>
                  </a:moveTo>
                  <a:cubicBezTo>
                    <a:pt x="195367" y="153897"/>
                    <a:pt x="195373" y="164054"/>
                    <a:pt x="189114" y="170321"/>
                  </a:cubicBezTo>
                  <a:cubicBezTo>
                    <a:pt x="189109" y="170326"/>
                    <a:pt x="189104" y="170331"/>
                    <a:pt x="189099" y="170336"/>
                  </a:cubicBezTo>
                  <a:lnTo>
                    <a:pt x="189099" y="170336"/>
                  </a:lnTo>
                  <a:cubicBezTo>
                    <a:pt x="183436" y="176073"/>
                    <a:pt x="174375" y="176667"/>
                    <a:pt x="168011" y="171717"/>
                  </a:cubicBezTo>
                  <a:cubicBezTo>
                    <a:pt x="167446" y="171309"/>
                    <a:pt x="166914" y="170857"/>
                    <a:pt x="166420" y="170364"/>
                  </a:cubicBezTo>
                  <a:cubicBezTo>
                    <a:pt x="160153" y="164104"/>
                    <a:pt x="160146" y="153948"/>
                    <a:pt x="166406" y="147680"/>
                  </a:cubicBezTo>
                  <a:cubicBezTo>
                    <a:pt x="166411" y="147676"/>
                    <a:pt x="166415" y="147671"/>
                    <a:pt x="166420" y="147666"/>
                  </a:cubicBezTo>
                  <a:lnTo>
                    <a:pt x="166420" y="147666"/>
                  </a:lnTo>
                  <a:lnTo>
                    <a:pt x="166420" y="147666"/>
                  </a:lnTo>
                  <a:cubicBezTo>
                    <a:pt x="172070" y="141963"/>
                    <a:pt x="181085" y="141371"/>
                    <a:pt x="187432" y="146285"/>
                  </a:cubicBezTo>
                  <a:cubicBezTo>
                    <a:pt x="188014" y="146697"/>
                    <a:pt x="188559" y="147159"/>
                    <a:pt x="189061" y="147666"/>
                  </a:cubicBezTo>
                  <a:close/>
                  <a:moveTo>
                    <a:pt x="293265" y="208912"/>
                  </a:moveTo>
                  <a:cubicBezTo>
                    <a:pt x="298964" y="214580"/>
                    <a:pt x="299560" y="223603"/>
                    <a:pt x="294655" y="229972"/>
                  </a:cubicBezTo>
                  <a:cubicBezTo>
                    <a:pt x="294240" y="230557"/>
                    <a:pt x="293775" y="231105"/>
                    <a:pt x="293265" y="231610"/>
                  </a:cubicBezTo>
                  <a:cubicBezTo>
                    <a:pt x="287023" y="237889"/>
                    <a:pt x="276873" y="237918"/>
                    <a:pt x="270594" y="231677"/>
                  </a:cubicBezTo>
                  <a:cubicBezTo>
                    <a:pt x="264860" y="225977"/>
                    <a:pt x="264269" y="216899"/>
                    <a:pt x="269214" y="210503"/>
                  </a:cubicBezTo>
                  <a:cubicBezTo>
                    <a:pt x="269623" y="209941"/>
                    <a:pt x="270075" y="209412"/>
                    <a:pt x="270567" y="208921"/>
                  </a:cubicBezTo>
                  <a:cubicBezTo>
                    <a:pt x="276826" y="202654"/>
                    <a:pt x="286983" y="202647"/>
                    <a:pt x="293250" y="208907"/>
                  </a:cubicBezTo>
                  <a:cubicBezTo>
                    <a:pt x="293255" y="208912"/>
                    <a:pt x="293260" y="208917"/>
                    <a:pt x="293265" y="208921"/>
                  </a:cubicBezTo>
                  <a:close/>
                  <a:moveTo>
                    <a:pt x="248316" y="327431"/>
                  </a:moveTo>
                  <a:cubicBezTo>
                    <a:pt x="254579" y="333697"/>
                    <a:pt x="254577" y="343853"/>
                    <a:pt x="248311" y="350115"/>
                  </a:cubicBezTo>
                  <a:cubicBezTo>
                    <a:pt x="242047" y="356378"/>
                    <a:pt x="231890" y="356376"/>
                    <a:pt x="225628" y="350111"/>
                  </a:cubicBezTo>
                  <a:cubicBezTo>
                    <a:pt x="222618" y="347100"/>
                    <a:pt x="220928" y="343014"/>
                    <a:pt x="220932" y="338757"/>
                  </a:cubicBezTo>
                  <a:cubicBezTo>
                    <a:pt x="220933" y="335239"/>
                    <a:pt x="222101" y="331821"/>
                    <a:pt x="224256" y="329041"/>
                  </a:cubicBezTo>
                  <a:cubicBezTo>
                    <a:pt x="224671" y="328458"/>
                    <a:pt x="225133" y="327911"/>
                    <a:pt x="225637" y="327403"/>
                  </a:cubicBezTo>
                  <a:cubicBezTo>
                    <a:pt x="231907" y="321140"/>
                    <a:pt x="242065" y="321140"/>
                    <a:pt x="248335" y="327403"/>
                  </a:cubicBezTo>
                  <a:lnTo>
                    <a:pt x="248335" y="327403"/>
                  </a:lnTo>
                  <a:close/>
                  <a:moveTo>
                    <a:pt x="342261" y="327431"/>
                  </a:moveTo>
                  <a:cubicBezTo>
                    <a:pt x="348463" y="333720"/>
                    <a:pt x="348393" y="343846"/>
                    <a:pt x="342105" y="350048"/>
                  </a:cubicBezTo>
                  <a:cubicBezTo>
                    <a:pt x="335817" y="356249"/>
                    <a:pt x="325691" y="356180"/>
                    <a:pt x="319489" y="349891"/>
                  </a:cubicBezTo>
                  <a:cubicBezTo>
                    <a:pt x="313286" y="343603"/>
                    <a:pt x="313357" y="333477"/>
                    <a:pt x="319645" y="327275"/>
                  </a:cubicBezTo>
                  <a:cubicBezTo>
                    <a:pt x="322653" y="324308"/>
                    <a:pt x="326712" y="322653"/>
                    <a:pt x="330936" y="322669"/>
                  </a:cubicBezTo>
                  <a:cubicBezTo>
                    <a:pt x="335194" y="322691"/>
                    <a:pt x="339268" y="324403"/>
                    <a:pt x="342261" y="327431"/>
                  </a:cubicBezTo>
                  <a:lnTo>
                    <a:pt x="342261" y="327431"/>
                  </a:lnTo>
                  <a:close/>
                  <a:moveTo>
                    <a:pt x="372922" y="245707"/>
                  </a:moveTo>
                  <a:cubicBezTo>
                    <a:pt x="379198" y="251974"/>
                    <a:pt x="379205" y="262142"/>
                    <a:pt x="372937" y="268418"/>
                  </a:cubicBezTo>
                  <a:cubicBezTo>
                    <a:pt x="366671" y="274693"/>
                    <a:pt x="356503" y="274701"/>
                    <a:pt x="350227" y="268434"/>
                  </a:cubicBezTo>
                  <a:cubicBezTo>
                    <a:pt x="343951" y="262166"/>
                    <a:pt x="343944" y="251998"/>
                    <a:pt x="350211" y="245722"/>
                  </a:cubicBezTo>
                  <a:cubicBezTo>
                    <a:pt x="353225" y="242706"/>
                    <a:pt x="357314" y="241010"/>
                    <a:pt x="361578" y="241011"/>
                  </a:cubicBezTo>
                  <a:cubicBezTo>
                    <a:pt x="365833" y="241008"/>
                    <a:pt x="369914" y="242697"/>
                    <a:pt x="372922" y="245707"/>
                  </a:cubicBezTo>
                  <a:close/>
                  <a:moveTo>
                    <a:pt x="76771" y="754275"/>
                  </a:moveTo>
                  <a:cubicBezTo>
                    <a:pt x="83041" y="760540"/>
                    <a:pt x="83046" y="770702"/>
                    <a:pt x="76780" y="776973"/>
                  </a:cubicBezTo>
                  <a:cubicBezTo>
                    <a:pt x="76778" y="776976"/>
                    <a:pt x="76774" y="776980"/>
                    <a:pt x="76771" y="776983"/>
                  </a:cubicBezTo>
                  <a:lnTo>
                    <a:pt x="76771" y="776983"/>
                  </a:lnTo>
                  <a:cubicBezTo>
                    <a:pt x="70516" y="783270"/>
                    <a:pt x="60348" y="783297"/>
                    <a:pt x="54060" y="777042"/>
                  </a:cubicBezTo>
                  <a:cubicBezTo>
                    <a:pt x="47772" y="770787"/>
                    <a:pt x="47746" y="760618"/>
                    <a:pt x="54001" y="754331"/>
                  </a:cubicBezTo>
                  <a:cubicBezTo>
                    <a:pt x="59699" y="748603"/>
                    <a:pt x="68764" y="748000"/>
                    <a:pt x="75171" y="752923"/>
                  </a:cubicBezTo>
                  <a:cubicBezTo>
                    <a:pt x="75748" y="753341"/>
                    <a:pt x="76293" y="753802"/>
                    <a:pt x="76800" y="754304"/>
                  </a:cubicBezTo>
                  <a:close/>
                  <a:moveTo>
                    <a:pt x="111499" y="684838"/>
                  </a:moveTo>
                  <a:cubicBezTo>
                    <a:pt x="117765" y="691116"/>
                    <a:pt x="117754" y="701284"/>
                    <a:pt x="111476" y="707549"/>
                  </a:cubicBezTo>
                  <a:cubicBezTo>
                    <a:pt x="108469" y="710551"/>
                    <a:pt x="104394" y="712238"/>
                    <a:pt x="100145" y="712241"/>
                  </a:cubicBezTo>
                  <a:cubicBezTo>
                    <a:pt x="96609" y="712241"/>
                    <a:pt x="93173" y="711062"/>
                    <a:pt x="90382" y="708889"/>
                  </a:cubicBezTo>
                  <a:cubicBezTo>
                    <a:pt x="89817" y="708481"/>
                    <a:pt x="89285" y="708029"/>
                    <a:pt x="88791" y="707536"/>
                  </a:cubicBezTo>
                  <a:cubicBezTo>
                    <a:pt x="82526" y="701258"/>
                    <a:pt x="82536" y="691090"/>
                    <a:pt x="88814" y="684825"/>
                  </a:cubicBezTo>
                  <a:cubicBezTo>
                    <a:pt x="91821" y="681823"/>
                    <a:pt x="95896" y="680136"/>
                    <a:pt x="100145" y="680133"/>
                  </a:cubicBezTo>
                  <a:cubicBezTo>
                    <a:pt x="103683" y="680131"/>
                    <a:pt x="107119" y="681311"/>
                    <a:pt x="109908" y="683485"/>
                  </a:cubicBezTo>
                  <a:cubicBezTo>
                    <a:pt x="110473" y="683893"/>
                    <a:pt x="111006" y="684346"/>
                    <a:pt x="111499" y="684838"/>
                  </a:cubicBezTo>
                  <a:close/>
                  <a:moveTo>
                    <a:pt x="111499" y="592931"/>
                  </a:moveTo>
                  <a:cubicBezTo>
                    <a:pt x="117797" y="599154"/>
                    <a:pt x="117857" y="609304"/>
                    <a:pt x="111634" y="615602"/>
                  </a:cubicBezTo>
                  <a:cubicBezTo>
                    <a:pt x="105924" y="621381"/>
                    <a:pt x="96792" y="621974"/>
                    <a:pt x="90382" y="616982"/>
                  </a:cubicBezTo>
                  <a:cubicBezTo>
                    <a:pt x="89821" y="616569"/>
                    <a:pt x="89290" y="616116"/>
                    <a:pt x="88791" y="615629"/>
                  </a:cubicBezTo>
                  <a:cubicBezTo>
                    <a:pt x="82524" y="609359"/>
                    <a:pt x="82526" y="599194"/>
                    <a:pt x="88796" y="592926"/>
                  </a:cubicBezTo>
                  <a:cubicBezTo>
                    <a:pt x="95067" y="586659"/>
                    <a:pt x="105232" y="586661"/>
                    <a:pt x="111499" y="592931"/>
                  </a:cubicBezTo>
                  <a:close/>
                  <a:moveTo>
                    <a:pt x="150294" y="488766"/>
                  </a:moveTo>
                  <a:cubicBezTo>
                    <a:pt x="156570" y="495033"/>
                    <a:pt x="156576" y="505202"/>
                    <a:pt x="150309" y="511478"/>
                  </a:cubicBezTo>
                  <a:cubicBezTo>
                    <a:pt x="144041" y="517754"/>
                    <a:pt x="133872" y="517760"/>
                    <a:pt x="127596" y="511493"/>
                  </a:cubicBezTo>
                  <a:lnTo>
                    <a:pt x="127596" y="511493"/>
                  </a:lnTo>
                  <a:lnTo>
                    <a:pt x="127596" y="511493"/>
                  </a:lnTo>
                  <a:cubicBezTo>
                    <a:pt x="121326" y="505256"/>
                    <a:pt x="121298" y="495119"/>
                    <a:pt x="127534" y="488849"/>
                  </a:cubicBezTo>
                  <a:cubicBezTo>
                    <a:pt x="133223" y="483129"/>
                    <a:pt x="142278" y="482535"/>
                    <a:pt x="148666" y="487461"/>
                  </a:cubicBezTo>
                  <a:cubicBezTo>
                    <a:pt x="149248" y="487873"/>
                    <a:pt x="149792" y="488335"/>
                    <a:pt x="150294" y="488842"/>
                  </a:cubicBezTo>
                  <a:close/>
                  <a:moveTo>
                    <a:pt x="225866" y="566376"/>
                  </a:moveTo>
                  <a:cubicBezTo>
                    <a:pt x="231568" y="572048"/>
                    <a:pt x="232160" y="581076"/>
                    <a:pt x="227247" y="587445"/>
                  </a:cubicBezTo>
                  <a:cubicBezTo>
                    <a:pt x="226832" y="588025"/>
                    <a:pt x="226370" y="588570"/>
                    <a:pt x="225866" y="589074"/>
                  </a:cubicBezTo>
                  <a:cubicBezTo>
                    <a:pt x="219643" y="595372"/>
                    <a:pt x="209493" y="595432"/>
                    <a:pt x="203195" y="589209"/>
                  </a:cubicBezTo>
                  <a:cubicBezTo>
                    <a:pt x="197416" y="583499"/>
                    <a:pt x="196823" y="574367"/>
                    <a:pt x="201815" y="567957"/>
                  </a:cubicBezTo>
                  <a:cubicBezTo>
                    <a:pt x="202224" y="567395"/>
                    <a:pt x="202676" y="566866"/>
                    <a:pt x="203168" y="566376"/>
                  </a:cubicBezTo>
                  <a:cubicBezTo>
                    <a:pt x="209428" y="560108"/>
                    <a:pt x="219584" y="560101"/>
                    <a:pt x="225851" y="566361"/>
                  </a:cubicBezTo>
                  <a:cubicBezTo>
                    <a:pt x="225856" y="566366"/>
                    <a:pt x="225861" y="566371"/>
                    <a:pt x="225866" y="566376"/>
                  </a:cubicBezTo>
                  <a:close/>
                  <a:moveTo>
                    <a:pt x="366769" y="535762"/>
                  </a:moveTo>
                  <a:cubicBezTo>
                    <a:pt x="373093" y="541959"/>
                    <a:pt x="373195" y="552108"/>
                    <a:pt x="366998" y="558432"/>
                  </a:cubicBezTo>
                  <a:cubicBezTo>
                    <a:pt x="360802" y="564755"/>
                    <a:pt x="350652" y="564857"/>
                    <a:pt x="344328" y="558660"/>
                  </a:cubicBezTo>
                  <a:cubicBezTo>
                    <a:pt x="344251" y="558585"/>
                    <a:pt x="344175" y="558509"/>
                    <a:pt x="344100" y="558432"/>
                  </a:cubicBezTo>
                  <a:lnTo>
                    <a:pt x="344100" y="558432"/>
                  </a:lnTo>
                  <a:lnTo>
                    <a:pt x="344100" y="558432"/>
                  </a:lnTo>
                  <a:cubicBezTo>
                    <a:pt x="337845" y="552164"/>
                    <a:pt x="337856" y="542013"/>
                    <a:pt x="344123" y="535757"/>
                  </a:cubicBezTo>
                  <a:cubicBezTo>
                    <a:pt x="350391" y="529502"/>
                    <a:pt x="360543" y="529513"/>
                    <a:pt x="366798" y="535781"/>
                  </a:cubicBezTo>
                  <a:lnTo>
                    <a:pt x="366798" y="535781"/>
                  </a:lnTo>
                  <a:close/>
                  <a:moveTo>
                    <a:pt x="297332" y="519427"/>
                  </a:moveTo>
                  <a:cubicBezTo>
                    <a:pt x="303057" y="525096"/>
                    <a:pt x="303651" y="534148"/>
                    <a:pt x="298713" y="540515"/>
                  </a:cubicBezTo>
                  <a:cubicBezTo>
                    <a:pt x="298301" y="541077"/>
                    <a:pt x="297845" y="541606"/>
                    <a:pt x="297351" y="542096"/>
                  </a:cubicBezTo>
                  <a:cubicBezTo>
                    <a:pt x="291240" y="548502"/>
                    <a:pt x="281092" y="548740"/>
                    <a:pt x="274686" y="542629"/>
                  </a:cubicBezTo>
                  <a:cubicBezTo>
                    <a:pt x="268281" y="536517"/>
                    <a:pt x="268042" y="526370"/>
                    <a:pt x="274155" y="519964"/>
                  </a:cubicBezTo>
                  <a:cubicBezTo>
                    <a:pt x="274323" y="519788"/>
                    <a:pt x="274496" y="519614"/>
                    <a:pt x="274672" y="519446"/>
                  </a:cubicBezTo>
                  <a:lnTo>
                    <a:pt x="274672" y="519446"/>
                  </a:lnTo>
                  <a:cubicBezTo>
                    <a:pt x="280900" y="513191"/>
                    <a:pt x="291021" y="513170"/>
                    <a:pt x="297275" y="519398"/>
                  </a:cubicBezTo>
                  <a:cubicBezTo>
                    <a:pt x="297291" y="519414"/>
                    <a:pt x="297307" y="519430"/>
                    <a:pt x="297322" y="519446"/>
                  </a:cubicBezTo>
                  <a:lnTo>
                    <a:pt x="297322" y="519446"/>
                  </a:lnTo>
                  <a:close/>
                  <a:moveTo>
                    <a:pt x="505663" y="490852"/>
                  </a:moveTo>
                  <a:cubicBezTo>
                    <a:pt x="511949" y="497071"/>
                    <a:pt x="512003" y="507209"/>
                    <a:pt x="505784" y="513496"/>
                  </a:cubicBezTo>
                  <a:cubicBezTo>
                    <a:pt x="500099" y="519241"/>
                    <a:pt x="491023" y="519849"/>
                    <a:pt x="484622" y="514912"/>
                  </a:cubicBezTo>
                  <a:cubicBezTo>
                    <a:pt x="484039" y="514494"/>
                    <a:pt x="483491" y="514029"/>
                    <a:pt x="482984" y="513521"/>
                  </a:cubicBezTo>
                  <a:cubicBezTo>
                    <a:pt x="476729" y="507293"/>
                    <a:pt x="476708" y="497173"/>
                    <a:pt x="482936" y="490919"/>
                  </a:cubicBezTo>
                  <a:cubicBezTo>
                    <a:pt x="482952" y="490902"/>
                    <a:pt x="482967" y="490886"/>
                    <a:pt x="482984" y="490871"/>
                  </a:cubicBezTo>
                  <a:lnTo>
                    <a:pt x="482984" y="490823"/>
                  </a:lnTo>
                  <a:cubicBezTo>
                    <a:pt x="489212" y="484568"/>
                    <a:pt x="499332" y="484547"/>
                    <a:pt x="505586" y="490776"/>
                  </a:cubicBezTo>
                  <a:cubicBezTo>
                    <a:pt x="505603" y="490792"/>
                    <a:pt x="505619" y="490807"/>
                    <a:pt x="505634" y="490823"/>
                  </a:cubicBezTo>
                  <a:lnTo>
                    <a:pt x="505634" y="490823"/>
                  </a:lnTo>
                  <a:close/>
                  <a:moveTo>
                    <a:pt x="585339" y="468354"/>
                  </a:moveTo>
                  <a:cubicBezTo>
                    <a:pt x="591643" y="474608"/>
                    <a:pt x="591684" y="484788"/>
                    <a:pt x="585430" y="491092"/>
                  </a:cubicBezTo>
                  <a:cubicBezTo>
                    <a:pt x="579176" y="497396"/>
                    <a:pt x="568995" y="497436"/>
                    <a:pt x="562692" y="491181"/>
                  </a:cubicBezTo>
                  <a:cubicBezTo>
                    <a:pt x="556951" y="485486"/>
                    <a:pt x="556334" y="476413"/>
                    <a:pt x="561251" y="469992"/>
                  </a:cubicBezTo>
                  <a:cubicBezTo>
                    <a:pt x="561669" y="469409"/>
                    <a:pt x="562134" y="468861"/>
                    <a:pt x="562641" y="468354"/>
                  </a:cubicBezTo>
                  <a:cubicBezTo>
                    <a:pt x="568327" y="462638"/>
                    <a:pt x="577380" y="462058"/>
                    <a:pt x="583749" y="467001"/>
                  </a:cubicBezTo>
                  <a:cubicBezTo>
                    <a:pt x="584313" y="467409"/>
                    <a:pt x="584846" y="467861"/>
                    <a:pt x="585339" y="468354"/>
                  </a:cubicBezTo>
                  <a:close/>
                  <a:moveTo>
                    <a:pt x="701754" y="161973"/>
                  </a:moveTo>
                  <a:cubicBezTo>
                    <a:pt x="708022" y="168232"/>
                    <a:pt x="708028" y="178389"/>
                    <a:pt x="701768" y="184656"/>
                  </a:cubicBezTo>
                  <a:cubicBezTo>
                    <a:pt x="701763" y="184661"/>
                    <a:pt x="701759" y="184666"/>
                    <a:pt x="701754" y="184671"/>
                  </a:cubicBezTo>
                  <a:lnTo>
                    <a:pt x="701754" y="184671"/>
                  </a:lnTo>
                  <a:cubicBezTo>
                    <a:pt x="695501" y="190952"/>
                    <a:pt x="685338" y="190976"/>
                    <a:pt x="679057" y="184722"/>
                  </a:cubicBezTo>
                  <a:cubicBezTo>
                    <a:pt x="672774" y="178469"/>
                    <a:pt x="672751" y="168307"/>
                    <a:pt x="679004" y="162025"/>
                  </a:cubicBezTo>
                  <a:cubicBezTo>
                    <a:pt x="684695" y="156309"/>
                    <a:pt x="693743" y="155703"/>
                    <a:pt x="700144" y="160611"/>
                  </a:cubicBezTo>
                  <a:cubicBezTo>
                    <a:pt x="700726" y="161027"/>
                    <a:pt x="701271" y="161492"/>
                    <a:pt x="701773" y="162001"/>
                  </a:cubicBezTo>
                  <a:close/>
                  <a:moveTo>
                    <a:pt x="683352" y="266157"/>
                  </a:moveTo>
                  <a:cubicBezTo>
                    <a:pt x="689642" y="272410"/>
                    <a:pt x="689671" y="282578"/>
                    <a:pt x="683418" y="288869"/>
                  </a:cubicBezTo>
                  <a:cubicBezTo>
                    <a:pt x="677166" y="295158"/>
                    <a:pt x="666998" y="295188"/>
                    <a:pt x="660708" y="288935"/>
                  </a:cubicBezTo>
                  <a:cubicBezTo>
                    <a:pt x="654978" y="283239"/>
                    <a:pt x="654372" y="274174"/>
                    <a:pt x="659291" y="267767"/>
                  </a:cubicBezTo>
                  <a:cubicBezTo>
                    <a:pt x="659707" y="267188"/>
                    <a:pt x="660169" y="266643"/>
                    <a:pt x="660672" y="266138"/>
                  </a:cubicBezTo>
                  <a:cubicBezTo>
                    <a:pt x="666937" y="259868"/>
                    <a:pt x="677099" y="259863"/>
                    <a:pt x="683370" y="266129"/>
                  </a:cubicBezTo>
                  <a:cubicBezTo>
                    <a:pt x="683373" y="266131"/>
                    <a:pt x="683376" y="266135"/>
                    <a:pt x="683380" y="266138"/>
                  </a:cubicBezTo>
                  <a:lnTo>
                    <a:pt x="683380" y="266138"/>
                  </a:lnTo>
                  <a:close/>
                  <a:moveTo>
                    <a:pt x="607809" y="223237"/>
                  </a:moveTo>
                  <a:cubicBezTo>
                    <a:pt x="614085" y="229505"/>
                    <a:pt x="614091" y="239673"/>
                    <a:pt x="607824" y="245949"/>
                  </a:cubicBezTo>
                  <a:cubicBezTo>
                    <a:pt x="601557" y="252224"/>
                    <a:pt x="591389" y="252232"/>
                    <a:pt x="585114" y="245964"/>
                  </a:cubicBezTo>
                  <a:cubicBezTo>
                    <a:pt x="578838" y="239697"/>
                    <a:pt x="578831" y="229529"/>
                    <a:pt x="585097" y="223253"/>
                  </a:cubicBezTo>
                  <a:cubicBezTo>
                    <a:pt x="588108" y="220238"/>
                    <a:pt x="592194" y="218544"/>
                    <a:pt x="596455" y="218542"/>
                  </a:cubicBezTo>
                  <a:cubicBezTo>
                    <a:pt x="600714" y="218534"/>
                    <a:pt x="604800" y="220224"/>
                    <a:pt x="607809" y="223237"/>
                  </a:cubicBezTo>
                  <a:close/>
                  <a:moveTo>
                    <a:pt x="607809" y="313115"/>
                  </a:moveTo>
                  <a:cubicBezTo>
                    <a:pt x="614074" y="319386"/>
                    <a:pt x="614071" y="329548"/>
                    <a:pt x="607800" y="335813"/>
                  </a:cubicBezTo>
                  <a:cubicBezTo>
                    <a:pt x="601530" y="342078"/>
                    <a:pt x="591368" y="342074"/>
                    <a:pt x="585102" y="335804"/>
                  </a:cubicBezTo>
                  <a:cubicBezTo>
                    <a:pt x="578837" y="329534"/>
                    <a:pt x="578841" y="319371"/>
                    <a:pt x="585112" y="313107"/>
                  </a:cubicBezTo>
                  <a:cubicBezTo>
                    <a:pt x="588121" y="310100"/>
                    <a:pt x="592201" y="308410"/>
                    <a:pt x="596455" y="308410"/>
                  </a:cubicBezTo>
                  <a:cubicBezTo>
                    <a:pt x="600715" y="308402"/>
                    <a:pt x="604803" y="310096"/>
                    <a:pt x="607809" y="313115"/>
                  </a:cubicBezTo>
                  <a:close/>
                  <a:moveTo>
                    <a:pt x="564946" y="368303"/>
                  </a:moveTo>
                  <a:cubicBezTo>
                    <a:pt x="571201" y="374571"/>
                    <a:pt x="571190" y="384722"/>
                    <a:pt x="564922" y="390977"/>
                  </a:cubicBezTo>
                  <a:cubicBezTo>
                    <a:pt x="558655" y="397233"/>
                    <a:pt x="548503" y="397221"/>
                    <a:pt x="542248" y="390954"/>
                  </a:cubicBezTo>
                  <a:lnTo>
                    <a:pt x="542248" y="390954"/>
                  </a:lnTo>
                  <a:cubicBezTo>
                    <a:pt x="535853" y="384824"/>
                    <a:pt x="535637" y="374670"/>
                    <a:pt x="541767" y="368275"/>
                  </a:cubicBezTo>
                  <a:cubicBezTo>
                    <a:pt x="547897" y="361880"/>
                    <a:pt x="558050" y="361663"/>
                    <a:pt x="564446" y="367794"/>
                  </a:cubicBezTo>
                  <a:cubicBezTo>
                    <a:pt x="564610" y="367951"/>
                    <a:pt x="564770" y="368111"/>
                    <a:pt x="564927" y="368275"/>
                  </a:cubicBezTo>
                  <a:lnTo>
                    <a:pt x="564927" y="368275"/>
                  </a:lnTo>
                  <a:lnTo>
                    <a:pt x="564927" y="368275"/>
                  </a:lnTo>
                  <a:close/>
                  <a:moveTo>
                    <a:pt x="505710" y="353959"/>
                  </a:moveTo>
                  <a:cubicBezTo>
                    <a:pt x="511423" y="359649"/>
                    <a:pt x="512003" y="368703"/>
                    <a:pt x="507063" y="375075"/>
                  </a:cubicBezTo>
                  <a:cubicBezTo>
                    <a:pt x="506655" y="375640"/>
                    <a:pt x="506203" y="376173"/>
                    <a:pt x="505710" y="376666"/>
                  </a:cubicBezTo>
                  <a:cubicBezTo>
                    <a:pt x="499440" y="382934"/>
                    <a:pt x="489275" y="382932"/>
                    <a:pt x="483007" y="376661"/>
                  </a:cubicBezTo>
                  <a:cubicBezTo>
                    <a:pt x="476740" y="370391"/>
                    <a:pt x="476742" y="360226"/>
                    <a:pt x="483012" y="353959"/>
                  </a:cubicBezTo>
                  <a:lnTo>
                    <a:pt x="483012" y="353959"/>
                  </a:lnTo>
                  <a:cubicBezTo>
                    <a:pt x="489228" y="347699"/>
                    <a:pt x="499342" y="347663"/>
                    <a:pt x="505602" y="353879"/>
                  </a:cubicBezTo>
                  <a:cubicBezTo>
                    <a:pt x="505628" y="353905"/>
                    <a:pt x="505655" y="353932"/>
                    <a:pt x="505682" y="353959"/>
                  </a:cubicBezTo>
                  <a:close/>
                  <a:moveTo>
                    <a:pt x="552688" y="309029"/>
                  </a:moveTo>
                  <a:cubicBezTo>
                    <a:pt x="558955" y="315289"/>
                    <a:pt x="558962" y="325445"/>
                    <a:pt x="552702" y="331713"/>
                  </a:cubicBezTo>
                  <a:cubicBezTo>
                    <a:pt x="552697" y="331718"/>
                    <a:pt x="552692" y="331722"/>
                    <a:pt x="552688" y="331727"/>
                  </a:cubicBezTo>
                  <a:lnTo>
                    <a:pt x="552688" y="331727"/>
                  </a:lnTo>
                  <a:lnTo>
                    <a:pt x="552688" y="331727"/>
                  </a:lnTo>
                  <a:cubicBezTo>
                    <a:pt x="547033" y="337417"/>
                    <a:pt x="538027" y="338009"/>
                    <a:pt x="531675" y="333108"/>
                  </a:cubicBezTo>
                  <a:cubicBezTo>
                    <a:pt x="531092" y="332693"/>
                    <a:pt x="530545" y="332231"/>
                    <a:pt x="530037" y="331727"/>
                  </a:cubicBezTo>
                  <a:cubicBezTo>
                    <a:pt x="524321" y="326042"/>
                    <a:pt x="523741" y="316988"/>
                    <a:pt x="528685" y="310620"/>
                  </a:cubicBezTo>
                  <a:cubicBezTo>
                    <a:pt x="529090" y="310049"/>
                    <a:pt x="529543" y="309514"/>
                    <a:pt x="530037" y="309020"/>
                  </a:cubicBezTo>
                  <a:cubicBezTo>
                    <a:pt x="536305" y="302752"/>
                    <a:pt x="546467" y="302751"/>
                    <a:pt x="552734" y="309020"/>
                  </a:cubicBezTo>
                  <a:cubicBezTo>
                    <a:pt x="552735" y="309020"/>
                    <a:pt x="552735" y="309020"/>
                    <a:pt x="552735" y="309020"/>
                  </a:cubicBezTo>
                  <a:close/>
                  <a:moveTo>
                    <a:pt x="534304" y="247755"/>
                  </a:moveTo>
                  <a:cubicBezTo>
                    <a:pt x="540572" y="254010"/>
                    <a:pt x="540583" y="264162"/>
                    <a:pt x="534328" y="270429"/>
                  </a:cubicBezTo>
                  <a:cubicBezTo>
                    <a:pt x="528073" y="276696"/>
                    <a:pt x="517921" y="276708"/>
                    <a:pt x="511654" y="270453"/>
                  </a:cubicBezTo>
                  <a:lnTo>
                    <a:pt x="511606" y="270453"/>
                  </a:lnTo>
                  <a:cubicBezTo>
                    <a:pt x="505351" y="264224"/>
                    <a:pt x="505330" y="254104"/>
                    <a:pt x="511559" y="247850"/>
                  </a:cubicBezTo>
                  <a:cubicBezTo>
                    <a:pt x="511575" y="247834"/>
                    <a:pt x="511590" y="247818"/>
                    <a:pt x="511606" y="247802"/>
                  </a:cubicBezTo>
                  <a:lnTo>
                    <a:pt x="511606" y="247802"/>
                  </a:lnTo>
                  <a:cubicBezTo>
                    <a:pt x="517275" y="242071"/>
                    <a:pt x="526332" y="241483"/>
                    <a:pt x="532695" y="246431"/>
                  </a:cubicBezTo>
                  <a:cubicBezTo>
                    <a:pt x="533258" y="246837"/>
                    <a:pt x="533787" y="247289"/>
                    <a:pt x="534276" y="247783"/>
                  </a:cubicBezTo>
                  <a:close/>
                  <a:moveTo>
                    <a:pt x="503672" y="292684"/>
                  </a:moveTo>
                  <a:cubicBezTo>
                    <a:pt x="509921" y="298918"/>
                    <a:pt x="509934" y="309038"/>
                    <a:pt x="503701" y="315287"/>
                  </a:cubicBezTo>
                  <a:cubicBezTo>
                    <a:pt x="503691" y="315297"/>
                    <a:pt x="503681" y="315306"/>
                    <a:pt x="503672" y="315316"/>
                  </a:cubicBezTo>
                  <a:lnTo>
                    <a:pt x="503605" y="315382"/>
                  </a:lnTo>
                  <a:cubicBezTo>
                    <a:pt x="497369" y="321637"/>
                    <a:pt x="487243" y="321652"/>
                    <a:pt x="480988" y="315416"/>
                  </a:cubicBezTo>
                  <a:cubicBezTo>
                    <a:pt x="480978" y="315405"/>
                    <a:pt x="480966" y="315394"/>
                    <a:pt x="480955" y="315382"/>
                  </a:cubicBezTo>
                  <a:lnTo>
                    <a:pt x="480955" y="315382"/>
                  </a:lnTo>
                  <a:lnTo>
                    <a:pt x="480955" y="315382"/>
                  </a:lnTo>
                  <a:cubicBezTo>
                    <a:pt x="475252" y="309733"/>
                    <a:pt x="474660" y="300718"/>
                    <a:pt x="479574" y="294370"/>
                  </a:cubicBezTo>
                  <a:cubicBezTo>
                    <a:pt x="479989" y="293787"/>
                    <a:pt x="480451" y="293240"/>
                    <a:pt x="480955" y="292732"/>
                  </a:cubicBezTo>
                  <a:cubicBezTo>
                    <a:pt x="487225" y="286469"/>
                    <a:pt x="497383" y="286469"/>
                    <a:pt x="503653" y="292732"/>
                  </a:cubicBezTo>
                  <a:close/>
                  <a:moveTo>
                    <a:pt x="76771" y="114995"/>
                  </a:moveTo>
                  <a:cubicBezTo>
                    <a:pt x="83031" y="121264"/>
                    <a:pt x="83024" y="131419"/>
                    <a:pt x="76757" y="137679"/>
                  </a:cubicBezTo>
                  <a:cubicBezTo>
                    <a:pt x="70488" y="143940"/>
                    <a:pt x="60332" y="143933"/>
                    <a:pt x="54072" y="137665"/>
                  </a:cubicBezTo>
                  <a:cubicBezTo>
                    <a:pt x="47812" y="131396"/>
                    <a:pt x="47819" y="121241"/>
                    <a:pt x="54087" y="114981"/>
                  </a:cubicBezTo>
                  <a:cubicBezTo>
                    <a:pt x="57095" y="111976"/>
                    <a:pt x="61175" y="110289"/>
                    <a:pt x="65427" y="110290"/>
                  </a:cubicBezTo>
                  <a:cubicBezTo>
                    <a:pt x="69683" y="110287"/>
                    <a:pt x="73766" y="111981"/>
                    <a:pt x="76771" y="114995"/>
                  </a:cubicBezTo>
                  <a:close/>
                  <a:moveTo>
                    <a:pt x="414966" y="12992"/>
                  </a:moveTo>
                  <a:lnTo>
                    <a:pt x="414966" y="414614"/>
                  </a:lnTo>
                  <a:lnTo>
                    <a:pt x="13344" y="414614"/>
                  </a:lnTo>
                  <a:cubicBezTo>
                    <a:pt x="6171" y="414419"/>
                    <a:pt x="199" y="420076"/>
                    <a:pt x="5" y="427250"/>
                  </a:cubicBezTo>
                  <a:cubicBezTo>
                    <a:pt x="-189" y="434422"/>
                    <a:pt x="5468" y="440394"/>
                    <a:pt x="12640" y="440588"/>
                  </a:cubicBezTo>
                  <a:cubicBezTo>
                    <a:pt x="12875" y="440595"/>
                    <a:pt x="13110" y="440595"/>
                    <a:pt x="13344" y="440588"/>
                  </a:cubicBezTo>
                  <a:lnTo>
                    <a:pt x="414966" y="440588"/>
                  </a:lnTo>
                  <a:lnTo>
                    <a:pt x="414966" y="844258"/>
                  </a:lnTo>
                  <a:cubicBezTo>
                    <a:pt x="414966" y="851433"/>
                    <a:pt x="420783" y="857250"/>
                    <a:pt x="427958" y="857250"/>
                  </a:cubicBezTo>
                  <a:cubicBezTo>
                    <a:pt x="435133" y="857250"/>
                    <a:pt x="440950" y="851433"/>
                    <a:pt x="440950" y="844258"/>
                  </a:cubicBezTo>
                  <a:lnTo>
                    <a:pt x="440950" y="440588"/>
                  </a:lnTo>
                  <a:lnTo>
                    <a:pt x="844610" y="440588"/>
                  </a:lnTo>
                  <a:cubicBezTo>
                    <a:pt x="851782" y="440783"/>
                    <a:pt x="857754" y="435126"/>
                    <a:pt x="857949" y="427953"/>
                  </a:cubicBezTo>
                  <a:cubicBezTo>
                    <a:pt x="858143" y="420780"/>
                    <a:pt x="852486" y="414808"/>
                    <a:pt x="845314" y="414614"/>
                  </a:cubicBezTo>
                  <a:cubicBezTo>
                    <a:pt x="845078" y="414607"/>
                    <a:pt x="844844" y="414607"/>
                    <a:pt x="844610" y="414614"/>
                  </a:cubicBezTo>
                  <a:lnTo>
                    <a:pt x="440950" y="414614"/>
                  </a:lnTo>
                  <a:lnTo>
                    <a:pt x="440950" y="12992"/>
                  </a:lnTo>
                  <a:cubicBezTo>
                    <a:pt x="440950" y="5817"/>
                    <a:pt x="435133" y="0"/>
                    <a:pt x="427958" y="0"/>
                  </a:cubicBezTo>
                  <a:cubicBezTo>
                    <a:pt x="420783" y="0"/>
                    <a:pt x="414966" y="5817"/>
                    <a:pt x="414966" y="12992"/>
                  </a:cubicBezTo>
                  <a:close/>
                </a:path>
              </a:pathLst>
            </a:custGeom>
            <a:solidFill>
              <a:srgbClr val="0070C0"/>
            </a:solidFill>
            <a:ln w="3175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CB874FC-CB49-68A1-9F74-7383D0777CCD}"/>
              </a:ext>
            </a:extLst>
          </p:cNvPr>
          <p:cNvGrpSpPr/>
          <p:nvPr/>
        </p:nvGrpSpPr>
        <p:grpSpPr>
          <a:xfrm>
            <a:off x="18478919" y="9854559"/>
            <a:ext cx="5395736" cy="625812"/>
            <a:chOff x="18478919" y="9854559"/>
            <a:chExt cx="5395736" cy="62581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B19583C-40D0-7363-8707-407D777BBA01}"/>
                </a:ext>
              </a:extLst>
            </p:cNvPr>
            <p:cNvSpPr>
              <a:spLocks/>
            </p:cNvSpPr>
            <p:nvPr/>
          </p:nvSpPr>
          <p:spPr>
            <a:xfrm>
              <a:off x="18478919" y="9854559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identify_churn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Identifies people who “churned” out between the first n weeks and last n weeks (can flip to find new joiners)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54CEEE0-41A0-926D-3C79-7109F91156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9" y="9854559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10DD738-0EBF-883B-9F18-7F656585B7BB}"/>
              </a:ext>
            </a:extLst>
          </p:cNvPr>
          <p:cNvGrpSpPr/>
          <p:nvPr/>
        </p:nvGrpSpPr>
        <p:grpSpPr>
          <a:xfrm>
            <a:off x="18478919" y="10829808"/>
            <a:ext cx="5395736" cy="625812"/>
            <a:chOff x="18478919" y="10829808"/>
            <a:chExt cx="5395736" cy="625812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3CA9548-B2CF-69FC-C11F-EF7F434C3F21}"/>
                </a:ext>
              </a:extLst>
            </p:cNvPr>
            <p:cNvSpPr>
              <a:spLocks/>
            </p:cNvSpPr>
            <p:nvPr/>
          </p:nvSpPr>
          <p:spPr>
            <a:xfrm>
              <a:off x="18478919" y="10829808"/>
              <a:ext cx="5395736" cy="6258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 err="1">
                  <a:solidFill>
                    <a:prstClr val="black"/>
                  </a:solidFill>
                  <a:latin typeface="Segoe UI Semibold"/>
                </a:rPr>
                <a:t>identify_tenure</a:t>
              </a:r>
              <a:r>
                <a:rPr lang="en-US" sz="1300" dirty="0">
                  <a:solidFill>
                    <a:prstClr val="black"/>
                  </a:solidFill>
                  <a:latin typeface="Segoe UI Semibold"/>
                </a:rPr>
                <a:t>()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  <a:p>
              <a:pPr marL="514350" lvl="0">
                <a:spcAft>
                  <a:spcPts val="200"/>
                </a:spcAft>
                <a:defRPr/>
              </a:pPr>
              <a:r>
                <a:rPr lang="en-US" sz="1300" dirty="0">
                  <a:solidFill>
                    <a:prstClr val="black"/>
                  </a:solidFill>
                </a:rPr>
                <a:t>Calculates and summarizes employee tenure using hire date vs metric date, with flexible return options.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F25E103-439D-819B-2C41-736720D8C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78919" y="10829808"/>
              <a:ext cx="258379" cy="352949"/>
            </a:xfrm>
            <a:custGeom>
              <a:avLst/>
              <a:gdLst>
                <a:gd name="connsiteX0" fmla="*/ 70246 w 247535"/>
                <a:gd name="connsiteY0" fmla="*/ 175688 h 338137"/>
                <a:gd name="connsiteX1" fmla="*/ 70246 w 247535"/>
                <a:gd name="connsiteY1" fmla="*/ 267614 h 338137"/>
                <a:gd name="connsiteX2" fmla="*/ 102498 w 247535"/>
                <a:gd name="connsiteY2" fmla="*/ 267614 h 338137"/>
                <a:gd name="connsiteX3" fmla="*/ 102498 w 247535"/>
                <a:gd name="connsiteY3" fmla="*/ 175688 h 338137"/>
                <a:gd name="connsiteX4" fmla="*/ 126625 w 247535"/>
                <a:gd name="connsiteY4" fmla="*/ 146599 h 338137"/>
                <a:gd name="connsiteX5" fmla="*/ 126625 w 247535"/>
                <a:gd name="connsiteY5" fmla="*/ 267614 h 338137"/>
                <a:gd name="connsiteX6" fmla="*/ 158886 w 247535"/>
                <a:gd name="connsiteY6" fmla="*/ 267614 h 338137"/>
                <a:gd name="connsiteX7" fmla="*/ 158886 w 247535"/>
                <a:gd name="connsiteY7" fmla="*/ 146599 h 338137"/>
                <a:gd name="connsiteX8" fmla="*/ 183013 w 247535"/>
                <a:gd name="connsiteY8" fmla="*/ 103851 h 338137"/>
                <a:gd name="connsiteX9" fmla="*/ 183013 w 247535"/>
                <a:gd name="connsiteY9" fmla="*/ 267614 h 338137"/>
                <a:gd name="connsiteX10" fmla="*/ 215274 w 247535"/>
                <a:gd name="connsiteY10" fmla="*/ 267614 h 338137"/>
                <a:gd name="connsiteX11" fmla="*/ 215274 w 247535"/>
                <a:gd name="connsiteY11" fmla="*/ 103851 h 338137"/>
                <a:gd name="connsiteX12" fmla="*/ 109423 w 247535"/>
                <a:gd name="connsiteY12" fmla="*/ 38157 h 338137"/>
                <a:gd name="connsiteX13" fmla="*/ 109423 w 247535"/>
                <a:gd name="connsiteY13" fmla="*/ 98431 h 338137"/>
                <a:gd name="connsiteX14" fmla="*/ 43586 w 247535"/>
                <a:gd name="connsiteY14" fmla="*/ 98431 h 338137"/>
                <a:gd name="connsiteX15" fmla="*/ 45005 w 247535"/>
                <a:gd name="connsiteY15" fmla="*/ 96755 h 338137"/>
                <a:gd name="connsiteX16" fmla="*/ 107175 w 247535"/>
                <a:gd name="connsiteY16" fmla="*/ 39776 h 338137"/>
                <a:gd name="connsiteX17" fmla="*/ 109423 w 247535"/>
                <a:gd name="connsiteY17" fmla="*/ 38157 h 338137"/>
                <a:gd name="connsiteX18" fmla="*/ 123710 w 247535"/>
                <a:gd name="connsiteY18" fmla="*/ 33337 h 338137"/>
                <a:gd name="connsiteX19" fmla="*/ 238010 w 247535"/>
                <a:gd name="connsiteY19" fmla="*/ 33337 h 338137"/>
                <a:gd name="connsiteX20" fmla="*/ 247535 w 247535"/>
                <a:gd name="connsiteY20" fmla="*/ 42862 h 338137"/>
                <a:gd name="connsiteX21" fmla="*/ 247535 w 247535"/>
                <a:gd name="connsiteY21" fmla="*/ 328612 h 338137"/>
                <a:gd name="connsiteX22" fmla="*/ 238010 w 247535"/>
                <a:gd name="connsiteY22" fmla="*/ 338137 h 338137"/>
                <a:gd name="connsiteX23" fmla="*/ 47510 w 247535"/>
                <a:gd name="connsiteY23" fmla="*/ 338137 h 338137"/>
                <a:gd name="connsiteX24" fmla="*/ 37985 w 247535"/>
                <a:gd name="connsiteY24" fmla="*/ 328612 h 338137"/>
                <a:gd name="connsiteX25" fmla="*/ 37985 w 247535"/>
                <a:gd name="connsiteY25" fmla="*/ 112718 h 338137"/>
                <a:gd name="connsiteX26" fmla="*/ 38709 w 247535"/>
                <a:gd name="connsiteY26" fmla="*/ 107956 h 338137"/>
                <a:gd name="connsiteX27" fmla="*/ 114185 w 247535"/>
                <a:gd name="connsiteY27" fmla="*/ 107956 h 338137"/>
                <a:gd name="connsiteX28" fmla="*/ 118947 w 247535"/>
                <a:gd name="connsiteY28" fmla="*/ 103193 h 338137"/>
                <a:gd name="connsiteX29" fmla="*/ 118947 w 247535"/>
                <a:gd name="connsiteY29" fmla="*/ 34004 h 338137"/>
                <a:gd name="connsiteX30" fmla="*/ 123710 w 247535"/>
                <a:gd name="connsiteY30" fmla="*/ 33337 h 338137"/>
                <a:gd name="connsiteX31" fmla="*/ 9525 w 247535"/>
                <a:gd name="connsiteY31" fmla="*/ 0 h 338137"/>
                <a:gd name="connsiteX32" fmla="*/ 200025 w 247535"/>
                <a:gd name="connsiteY32" fmla="*/ 0 h 338137"/>
                <a:gd name="connsiteX33" fmla="*/ 209550 w 247535"/>
                <a:gd name="connsiteY33" fmla="*/ 9525 h 338137"/>
                <a:gd name="connsiteX34" fmla="*/ 209550 w 247535"/>
                <a:gd name="connsiteY34" fmla="*/ 23813 h 338137"/>
                <a:gd name="connsiteX35" fmla="*/ 123711 w 247535"/>
                <a:gd name="connsiteY35" fmla="*/ 23813 h 338137"/>
                <a:gd name="connsiteX36" fmla="*/ 103727 w 247535"/>
                <a:gd name="connsiteY36" fmla="*/ 30509 h 338137"/>
                <a:gd name="connsiteX37" fmla="*/ 100736 w 247535"/>
                <a:gd name="connsiteY37" fmla="*/ 32756 h 338137"/>
                <a:gd name="connsiteX38" fmla="*/ 38672 w 247535"/>
                <a:gd name="connsiteY38" fmla="*/ 89659 h 338137"/>
                <a:gd name="connsiteX39" fmla="*/ 36328 w 247535"/>
                <a:gd name="connsiteY39" fmla="*/ 92278 h 338137"/>
                <a:gd name="connsiteX40" fmla="*/ 28461 w 247535"/>
                <a:gd name="connsiteY40" fmla="*/ 112719 h 338137"/>
                <a:gd name="connsiteX41" fmla="*/ 28461 w 247535"/>
                <a:gd name="connsiteY41" fmla="*/ 304800 h 338137"/>
                <a:gd name="connsiteX42" fmla="*/ 9525 w 247535"/>
                <a:gd name="connsiteY42" fmla="*/ 304800 h 338137"/>
                <a:gd name="connsiteX43" fmla="*/ 0 w 247535"/>
                <a:gd name="connsiteY43" fmla="*/ 295275 h 338137"/>
                <a:gd name="connsiteX44" fmla="*/ 0 w 247535"/>
                <a:gd name="connsiteY44" fmla="*/ 9525 h 338137"/>
                <a:gd name="connsiteX45" fmla="*/ 9525 w 247535"/>
                <a:gd name="connsiteY45" fmla="*/ 0 h 33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535" h="338137">
                  <a:moveTo>
                    <a:pt x="70246" y="175688"/>
                  </a:moveTo>
                  <a:lnTo>
                    <a:pt x="70246" y="267614"/>
                  </a:lnTo>
                  <a:lnTo>
                    <a:pt x="102498" y="267614"/>
                  </a:lnTo>
                  <a:lnTo>
                    <a:pt x="102498" y="175688"/>
                  </a:lnTo>
                  <a:close/>
                  <a:moveTo>
                    <a:pt x="126625" y="146599"/>
                  </a:moveTo>
                  <a:lnTo>
                    <a:pt x="126625" y="267614"/>
                  </a:lnTo>
                  <a:lnTo>
                    <a:pt x="158886" y="267614"/>
                  </a:lnTo>
                  <a:lnTo>
                    <a:pt x="158886" y="146599"/>
                  </a:lnTo>
                  <a:close/>
                  <a:moveTo>
                    <a:pt x="183013" y="103851"/>
                  </a:moveTo>
                  <a:lnTo>
                    <a:pt x="183013" y="267614"/>
                  </a:lnTo>
                  <a:lnTo>
                    <a:pt x="215274" y="267614"/>
                  </a:lnTo>
                  <a:lnTo>
                    <a:pt x="215274" y="103851"/>
                  </a:lnTo>
                  <a:close/>
                  <a:moveTo>
                    <a:pt x="109423" y="38157"/>
                  </a:moveTo>
                  <a:lnTo>
                    <a:pt x="109423" y="98431"/>
                  </a:lnTo>
                  <a:lnTo>
                    <a:pt x="43586" y="98431"/>
                  </a:lnTo>
                  <a:cubicBezTo>
                    <a:pt x="44072" y="97869"/>
                    <a:pt x="44500" y="97202"/>
                    <a:pt x="45005" y="96755"/>
                  </a:cubicBezTo>
                  <a:lnTo>
                    <a:pt x="107175" y="39776"/>
                  </a:lnTo>
                  <a:cubicBezTo>
                    <a:pt x="107785" y="39195"/>
                    <a:pt x="108623" y="38700"/>
                    <a:pt x="109423" y="38157"/>
                  </a:cubicBezTo>
                  <a:close/>
                  <a:moveTo>
                    <a:pt x="123710" y="33337"/>
                  </a:moveTo>
                  <a:lnTo>
                    <a:pt x="238010" y="33337"/>
                  </a:lnTo>
                  <a:cubicBezTo>
                    <a:pt x="243239" y="33337"/>
                    <a:pt x="247535" y="37633"/>
                    <a:pt x="247535" y="42862"/>
                  </a:cubicBezTo>
                  <a:lnTo>
                    <a:pt x="247535" y="328612"/>
                  </a:lnTo>
                  <a:cubicBezTo>
                    <a:pt x="247535" y="333860"/>
                    <a:pt x="243239" y="338137"/>
                    <a:pt x="238010" y="338137"/>
                  </a:cubicBezTo>
                  <a:lnTo>
                    <a:pt x="47510" y="338137"/>
                  </a:lnTo>
                  <a:cubicBezTo>
                    <a:pt x="42262" y="338137"/>
                    <a:pt x="37985" y="333860"/>
                    <a:pt x="37985" y="328612"/>
                  </a:cubicBezTo>
                  <a:lnTo>
                    <a:pt x="37985" y="112718"/>
                  </a:lnTo>
                  <a:cubicBezTo>
                    <a:pt x="37985" y="111252"/>
                    <a:pt x="38280" y="109613"/>
                    <a:pt x="38709" y="107956"/>
                  </a:cubicBezTo>
                  <a:lnTo>
                    <a:pt x="114185" y="107956"/>
                  </a:lnTo>
                  <a:cubicBezTo>
                    <a:pt x="116804" y="107956"/>
                    <a:pt x="118947" y="105832"/>
                    <a:pt x="118947" y="103193"/>
                  </a:cubicBezTo>
                  <a:lnTo>
                    <a:pt x="118947" y="34004"/>
                  </a:lnTo>
                  <a:cubicBezTo>
                    <a:pt x="120624" y="33594"/>
                    <a:pt x="122262" y="33337"/>
                    <a:pt x="123710" y="33337"/>
                  </a:cubicBezTo>
                  <a:close/>
                  <a:moveTo>
                    <a:pt x="9525" y="0"/>
                  </a:moveTo>
                  <a:lnTo>
                    <a:pt x="200025" y="0"/>
                  </a:lnTo>
                  <a:cubicBezTo>
                    <a:pt x="205254" y="0"/>
                    <a:pt x="209550" y="4277"/>
                    <a:pt x="209550" y="9525"/>
                  </a:cubicBezTo>
                  <a:lnTo>
                    <a:pt x="209550" y="23813"/>
                  </a:lnTo>
                  <a:lnTo>
                    <a:pt x="123711" y="23813"/>
                  </a:lnTo>
                  <a:cubicBezTo>
                    <a:pt x="111338" y="23813"/>
                    <a:pt x="103727" y="30509"/>
                    <a:pt x="103727" y="30509"/>
                  </a:cubicBezTo>
                  <a:cubicBezTo>
                    <a:pt x="102613" y="31232"/>
                    <a:pt x="101556" y="31994"/>
                    <a:pt x="100736" y="32756"/>
                  </a:cubicBezTo>
                  <a:lnTo>
                    <a:pt x="38672" y="89659"/>
                  </a:lnTo>
                  <a:cubicBezTo>
                    <a:pt x="37929" y="90307"/>
                    <a:pt x="37224" y="91145"/>
                    <a:pt x="36328" y="92278"/>
                  </a:cubicBezTo>
                  <a:cubicBezTo>
                    <a:pt x="36328" y="92278"/>
                    <a:pt x="28461" y="99755"/>
                    <a:pt x="28461" y="112719"/>
                  </a:cubicBezTo>
                  <a:lnTo>
                    <a:pt x="28461" y="304800"/>
                  </a:lnTo>
                  <a:lnTo>
                    <a:pt x="9525" y="304800"/>
                  </a:lnTo>
                  <a:cubicBezTo>
                    <a:pt x="4277" y="304800"/>
                    <a:pt x="0" y="300504"/>
                    <a:pt x="0" y="295275"/>
                  </a:cubicBezTo>
                  <a:lnTo>
                    <a:pt x="0" y="9525"/>
                  </a:lnTo>
                  <a:cubicBezTo>
                    <a:pt x="0" y="4277"/>
                    <a:pt x="4277" y="0"/>
                    <a:pt x="9525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5143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41019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NEWSLIDENUMBER" val="False"/>
  <p:tag name="PREVIOUSNAME" val="https://microsofteur.sharepoint.com/teams/wpa-Rlibrary-Developers/Shared Documents/Developers/Cheat sheet/20260212/vivainsights-r-py.pptx"/>
</p:tagLst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70C0"/>
      </a:hlink>
      <a:folHlink>
        <a:srgbClr val="96607D"/>
      </a:folHlink>
    </a:clrScheme>
    <a:fontScheme name="Custom 2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260432B3272249B54B452608E7C89E" ma:contentTypeVersion="17" ma:contentTypeDescription="Create a new document." ma:contentTypeScope="" ma:versionID="e3bf68832e32da2845b4dd0ac23b7bd4">
  <xsd:schema xmlns:xsd="http://www.w3.org/2001/XMLSchema" xmlns:xs="http://www.w3.org/2001/XMLSchema" xmlns:p="http://schemas.microsoft.com/office/2006/metadata/properties" xmlns:ns1="http://schemas.microsoft.com/sharepoint/v3" xmlns:ns2="49d1f944-d188-4381-99f4-def42f295732" xmlns:ns3="230e9df3-be65-4c73-a93b-d1236ebd677e" targetNamespace="http://schemas.microsoft.com/office/2006/metadata/properties" ma:root="true" ma:fieldsID="1ba58b172b82252f830c090fdfb20c71" ns1:_="" ns2:_="" ns3:_="">
    <xsd:import namespace="http://schemas.microsoft.com/sharepoint/v3"/>
    <xsd:import namespace="49d1f944-d188-4381-99f4-def42f29573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1f944-d188-4381-99f4-def42f2957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e5908623-42be-4dc8-8af8-7c12909c4aff}" ma:internalName="TaxCatchAll" ma:showField="CatchAllData" ma:web="2b88ed76-0dfb-41a2-99c7-ba5303478d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9d1f944-d188-4381-99f4-def42f295732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9D71FD8C-838C-4C60-ADA2-9C781E93CA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7E0B02-D3D5-43C4-86A2-D707F42E6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9d1f944-d188-4381-99f4-def42f29573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121672-B974-458E-BE62-3388420025F5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49d1f944-d188-4381-99f4-def42f295732"/>
    <ds:schemaRef ds:uri="http://purl.org/dc/terms/"/>
    <ds:schemaRef ds:uri="230e9df3-be65-4c73-a93b-d1236ebd677e"/>
    <ds:schemaRef ds:uri="http://schemas.microsoft.com/sharepoint/v3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1109</TotalTime>
  <Words>2696</Words>
  <Application>Microsoft Office PowerPoint</Application>
  <PresentationFormat>Custom</PresentationFormat>
  <Paragraphs>278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Courier New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Rishikanth Heroda A (Calibrated Consulting &amp; Analyt)</dc:creator>
  <cp:lastModifiedBy>Martin Chan</cp:lastModifiedBy>
  <cp:revision>4</cp:revision>
  <dcterms:created xsi:type="dcterms:W3CDTF">2024-11-14T15:19:10Z</dcterms:created>
  <dcterms:modified xsi:type="dcterms:W3CDTF">2026-02-19T18:51:31Z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0x01010064260432B3272249B54B452608E7C89E</vt:lpwstr>
  </property>
</Properties>
</file>